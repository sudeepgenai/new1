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-1-1.png"/><Relationship Id="rId3" Type="http://schemas.openxmlformats.org/officeDocument/2006/relationships/image" Target="../media/image-1-2.png"/><Relationship Id="rId4" Type="http://schemas.openxmlformats.org/officeDocument/2006/relationships/image" Target="../media/image-1-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0000"/>
            <a:ext cx="400000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D31242"/>
                </a:solidFill>
                <a:latin typeface="Arial"/>
              </a:rPr>
              <a:t>BJ's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000"/>
            <a:ext cx="4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F2733"/>
                </a:solidFill>
                <a:latin typeface="Arial"/>
              </a:rPr>
              <a:t>WHOLESALE CLUB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0000"/>
            <a:ext cx="11274552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400" b="1" i="0">
                <a:solidFill>
                  <a:srgbClr val="1F2733"/>
                </a:solidFill>
                <a:latin typeface="Arial"/>
              </a:rPr>
              <a:t>AI Connect Essentials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480000"/>
            <a:ext cx="1500000" cy="60000"/>
          </a:xfrm>
          <a:prstGeom prst="rect">
            <a:avLst/>
          </a:prstGeom>
          <a:solidFill>
            <a:srgbClr val="D3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720000"/>
            <a:ext cx="11274552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5E6A78"/>
                </a:solidFill>
                <a:latin typeface="Arial"/>
              </a:rPr>
              <a:t>Use AI effectively, responsibly, and economically on real BJ's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50000"/>
            <a:ext cx="11274552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8A93A0"/>
                </a:solidFill>
                <a:latin typeface="Arial"/>
              </a:rPr>
              <a:t>July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0000"/>
            <a:ext cx="12192000" cy="298000"/>
          </a:xfrm>
          <a:prstGeom prst="rect">
            <a:avLst/>
          </a:prstGeom>
          <a:solidFill>
            <a:srgbClr val="D3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8800"/>
            <a:ext cx="3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D31242"/>
                </a:solidFill>
                <a:latin typeface="Arial"/>
              </a:rPr>
              <a:t>BJ's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3680"/>
            <a:ext cx="30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1F2733"/>
                </a:solidFill>
                <a:latin typeface="Arial"/>
              </a:rPr>
              <a:t>WHOLESALE CLUB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0" y="430000"/>
            <a:ext cx="3735352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D31242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4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1F2733"/>
                </a:solidFill>
                <a:latin typeface="Arial"/>
              </a:rPr>
              <a:t>Training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1274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5E6A78"/>
                </a:solidFill>
                <a:latin typeface="Arial"/>
              </a:rPr>
              <a:t>Course offerings mapped to each stage of the AI Learning Framework. This session is the starting point.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31720"/>
            <a:ext cx="1900000" cy="1279426"/>
          </a:xfrm>
          <a:prstGeom prst="roundRect">
            <a:avLst>
              <a:gd name="adj" fmla="val 7000"/>
            </a:avLst>
          </a:prstGeom>
          <a:solidFill>
            <a:srgbClr val="D3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1900000" cy="12794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FOUNDATION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7200" y="2331720"/>
            <a:ext cx="2978184" cy="1279426"/>
          </a:xfrm>
          <a:prstGeom prst="roundRect">
            <a:avLst>
              <a:gd name="adj" fmla="val 7000"/>
            </a:avLst>
          </a:prstGeom>
          <a:solidFill>
            <a:srgbClr val="FCE4EA"/>
          </a:solidFill>
          <a:ln w="22225">
            <a:solidFill>
              <a:srgbClr val="D31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87200" y="2441720"/>
            <a:ext cx="2638184" cy="10594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>
                <a:solidFill>
                  <a:srgbClr val="1F2733"/>
                </a:solidFill>
                <a:latin typeface="Arial"/>
              </a:rPr>
              <a:t>AI Connect Essentials</a:t>
            </a:r>
            <a:r>
              <a:rPr sz="750" b="1" i="0">
                <a:solidFill>
                  <a:srgbClr val="D31242"/>
                </a:solidFill>
                <a:latin typeface="Arial"/>
              </a:rPr>
              <a:t>   THIS SESSION</a:t>
            </a:r>
          </a:p>
          <a:p>
            <a:pPr>
              <a:spcBef>
                <a:spcPts val="300"/>
              </a:spcBef>
            </a:pPr>
            <a:r>
              <a:rPr sz="900" b="0" i="0">
                <a:solidFill>
                  <a:srgbClr val="5E6A78"/>
                </a:solidFill>
                <a:latin typeface="Arial"/>
              </a:rPr>
              <a:t>Gives everyone a safe, reliable way to start using AI on real 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35384" y="2331720"/>
            <a:ext cx="2978184" cy="127942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5384" y="2441720"/>
            <a:ext cx="2638184" cy="10594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>
                <a:solidFill>
                  <a:srgbClr val="1F2733"/>
                </a:solidFill>
                <a:latin typeface="Arial"/>
              </a:rPr>
              <a:t>Thinking with AI</a:t>
            </a:r>
          </a:p>
          <a:p>
            <a:pPr>
              <a:spcBef>
                <a:spcPts val="300"/>
              </a:spcBef>
            </a:pPr>
            <a:r>
              <a:rPr sz="900" b="0" i="0">
                <a:solidFill>
                  <a:srgbClr val="5E6A78"/>
                </a:solidFill>
                <a:latin typeface="Arial"/>
              </a:rPr>
              <a:t>Shifts the habit from asking AI for answers to thinking things through with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53568" y="2331720"/>
            <a:ext cx="2978184" cy="127942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23568" y="2441720"/>
            <a:ext cx="2638184" cy="10594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>
                <a:solidFill>
                  <a:srgbClr val="1F2733"/>
                </a:solidFill>
                <a:latin typeface="Arial"/>
              </a:rPr>
              <a:t>Responsible AI &amp; Data Boundaries</a:t>
            </a:r>
          </a:p>
          <a:p>
            <a:pPr>
              <a:spcBef>
                <a:spcPts val="300"/>
              </a:spcBef>
            </a:pPr>
            <a:r>
              <a:rPr sz="900" b="0" i="0">
                <a:solidFill>
                  <a:srgbClr val="5E6A78"/>
                </a:solidFill>
                <a:latin typeface="Arial"/>
              </a:rPr>
              <a:t>Keeps employees and BJ's protected by making the rules of AI use clear.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01146"/>
            <a:ext cx="1900000" cy="1279426"/>
          </a:xfrm>
          <a:prstGeom prst="roundRect">
            <a:avLst>
              <a:gd name="adj" fmla="val 7000"/>
            </a:avLst>
          </a:prstGeom>
          <a:solidFill>
            <a:srgbClr val="A60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701146"/>
            <a:ext cx="1900000" cy="12794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CORE SKILLS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17200" y="3701146"/>
            <a:ext cx="2198638" cy="127942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87200" y="3811146"/>
            <a:ext cx="1858638" cy="10594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>
                <a:solidFill>
                  <a:srgbClr val="1F2733"/>
                </a:solidFill>
                <a:latin typeface="Arial"/>
              </a:rPr>
              <a:t>Prompt Engineering Essentials</a:t>
            </a:r>
          </a:p>
          <a:p>
            <a:pPr>
              <a:spcBef>
                <a:spcPts val="300"/>
              </a:spcBef>
            </a:pPr>
            <a:r>
              <a:rPr sz="900" b="0" i="0">
                <a:solidFill>
                  <a:srgbClr val="5E6A78"/>
                </a:solidFill>
                <a:latin typeface="Arial"/>
              </a:rPr>
              <a:t>Helps get better, more useful results out of any AI tool.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55838" y="3701146"/>
            <a:ext cx="2198638" cy="127942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5838" y="3811146"/>
            <a:ext cx="1858638" cy="10594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>
                <a:solidFill>
                  <a:srgbClr val="1F2733"/>
                </a:solidFill>
                <a:latin typeface="Arial"/>
              </a:rPr>
              <a:t>Choosing Models &amp; Effort Levels</a:t>
            </a:r>
          </a:p>
          <a:p>
            <a:pPr>
              <a:spcBef>
                <a:spcPts val="300"/>
              </a:spcBef>
            </a:pPr>
            <a:r>
              <a:rPr sz="900" b="0" i="0">
                <a:solidFill>
                  <a:srgbClr val="5E6A78"/>
                </a:solidFill>
                <a:latin typeface="Arial"/>
              </a:rPr>
              <a:t>Helps pick the right tool and effort level for the task at hand.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94476" y="3701146"/>
            <a:ext cx="2198638" cy="127942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4476" y="3811146"/>
            <a:ext cx="1858638" cy="10594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>
                <a:solidFill>
                  <a:srgbClr val="1F2733"/>
                </a:solidFill>
                <a:latin typeface="Arial"/>
              </a:rPr>
              <a:t>Claude Essentials</a:t>
            </a:r>
          </a:p>
          <a:p>
            <a:pPr>
              <a:spcBef>
                <a:spcPts val="300"/>
              </a:spcBef>
            </a:pPr>
            <a:r>
              <a:rPr sz="900" b="0" i="0">
                <a:solidFill>
                  <a:srgbClr val="5E6A78"/>
                </a:solidFill>
                <a:latin typeface="Arial"/>
              </a:rPr>
              <a:t>Builds confidence using Claude for real, recurring work.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33114" y="3701146"/>
            <a:ext cx="2198638" cy="127942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03114" y="3811146"/>
            <a:ext cx="1858638" cy="10594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>
                <a:solidFill>
                  <a:srgbClr val="1F2733"/>
                </a:solidFill>
                <a:latin typeface="Arial"/>
              </a:rPr>
              <a:t>ChatGPT Essentials</a:t>
            </a:r>
          </a:p>
          <a:p>
            <a:pPr>
              <a:spcBef>
                <a:spcPts val="300"/>
              </a:spcBef>
            </a:pPr>
            <a:r>
              <a:rPr sz="900" b="0" i="0">
                <a:solidFill>
                  <a:srgbClr val="5E6A78"/>
                </a:solidFill>
                <a:latin typeface="Arial"/>
              </a:rPr>
              <a:t>Builds confidence using ChatGPT for real, recurring work.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070573"/>
            <a:ext cx="1900000" cy="1279426"/>
          </a:xfrm>
          <a:prstGeom prst="roundRect">
            <a:avLst>
              <a:gd name="adj" fmla="val 7000"/>
            </a:avLst>
          </a:prstGeom>
          <a:solidFill>
            <a:srgbClr val="1F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070573"/>
            <a:ext cx="1900000" cy="12794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ADVANCED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17200" y="5070573"/>
            <a:ext cx="2978184" cy="127942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87200" y="5180573"/>
            <a:ext cx="2638184" cy="10594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>
                <a:solidFill>
                  <a:srgbClr val="1F2733"/>
                </a:solidFill>
                <a:latin typeface="Arial"/>
              </a:rPr>
              <a:t>Advanced Prompting Techniques</a:t>
            </a:r>
          </a:p>
          <a:p>
            <a:pPr>
              <a:spcBef>
                <a:spcPts val="300"/>
              </a:spcBef>
            </a:pPr>
            <a:r>
              <a:rPr sz="900" b="0" i="0">
                <a:solidFill>
                  <a:srgbClr val="5E6A78"/>
                </a:solidFill>
                <a:latin typeface="Arial"/>
              </a:rPr>
              <a:t>Builds the advanced skills needed for harder AI tasks.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35384" y="5070573"/>
            <a:ext cx="2978184" cy="127942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05384" y="5180573"/>
            <a:ext cx="2638184" cy="10594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>
                <a:solidFill>
                  <a:srgbClr val="1F2733"/>
                </a:solidFill>
                <a:latin typeface="Arial"/>
              </a:rPr>
              <a:t>Claude Advanced</a:t>
            </a:r>
          </a:p>
          <a:p>
            <a:pPr>
              <a:spcBef>
                <a:spcPts val="300"/>
              </a:spcBef>
            </a:pPr>
            <a:r>
              <a:rPr sz="900" b="0" i="0">
                <a:solidFill>
                  <a:srgbClr val="5E6A78"/>
                </a:solidFill>
                <a:latin typeface="Arial"/>
              </a:rPr>
              <a:t>Helps experienced users get more out of Claude's full capability.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53568" y="5070573"/>
            <a:ext cx="2978184" cy="127942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23568" y="5180573"/>
            <a:ext cx="2638184" cy="10594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>
                <a:solidFill>
                  <a:srgbClr val="1F2733"/>
                </a:solidFill>
                <a:latin typeface="Arial"/>
              </a:rPr>
              <a:t>ChatGPT Advanced</a:t>
            </a:r>
          </a:p>
          <a:p>
            <a:pPr>
              <a:spcBef>
                <a:spcPts val="300"/>
              </a:spcBef>
            </a:pPr>
            <a:r>
              <a:rPr sz="900" b="0" i="0">
                <a:solidFill>
                  <a:srgbClr val="5E6A78"/>
                </a:solidFill>
                <a:latin typeface="Arial"/>
              </a:rPr>
              <a:t>Helps experienced users get more out of ChatGPT's full capability.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8800"/>
            <a:ext cx="3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D31242"/>
                </a:solidFill>
                <a:latin typeface="Arial"/>
              </a:rPr>
              <a:t>BJ's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3680"/>
            <a:ext cx="30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1F2733"/>
                </a:solidFill>
                <a:latin typeface="Arial"/>
              </a:rPr>
              <a:t>WHOLESALE CLUB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0" y="430000"/>
            <a:ext cx="3735352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D31242"/>
                </a:solidFill>
                <a:latin typeface="Arial"/>
              </a:rPr>
              <a:t>GETTING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4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1F2733"/>
                </a:solidFill>
                <a:latin typeface="Arial"/>
              </a:rPr>
              <a:t>Set up Claude before your first 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1274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5E6A78"/>
                </a:solidFill>
                <a:latin typeface="Arial"/>
              </a:rPr>
              <a:t>Four settings that make Claude work like it already knows you. Set them once.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31720"/>
            <a:ext cx="5507276" cy="143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7200" y="2451720"/>
            <a:ext cx="240000" cy="240000"/>
          </a:xfrm>
          <a:prstGeom prst="ellipse">
            <a:avLst/>
          </a:prstGeom>
          <a:solidFill>
            <a:srgbClr val="D3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200" y="2451720"/>
            <a:ext cx="24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7200" y="2451720"/>
            <a:ext cx="4777276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1" i="0">
                <a:solidFill>
                  <a:srgbClr val="1F2733"/>
                </a:solidFill>
                <a:latin typeface="Arial"/>
              </a:rPr>
              <a:t>Introduce yourself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200" y="2746720"/>
            <a:ext cx="5147276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D31242"/>
                </a:solidFill>
                <a:latin typeface="Arial"/>
              </a:rPr>
              <a:t>Settings →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200" y="2956720"/>
            <a:ext cx="5147276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5E6A78"/>
                </a:solidFill>
                <a:latin typeface="Arial"/>
              </a:rPr>
              <a:t>Your name, what you do, and how you like responses. Claude carries it into every chat.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7200" y="3316200"/>
            <a:ext cx="5227276" cy="350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3970">
            <a:solidFill>
              <a:srgbClr val="5E6A7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00" y="3316200"/>
            <a:ext cx="5147276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5E6A78"/>
                </a:solidFill>
                <a:latin typeface="Arial"/>
              </a:rPr>
              <a:t>[ Screenshot: Settings → Profile 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4476" y="2331720"/>
            <a:ext cx="5507276" cy="143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4476" y="2451720"/>
            <a:ext cx="240000" cy="240000"/>
          </a:xfrm>
          <a:prstGeom prst="ellipse">
            <a:avLst/>
          </a:prstGeom>
          <a:solidFill>
            <a:srgbClr val="D3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4476" y="2451720"/>
            <a:ext cx="24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4476" y="2451720"/>
            <a:ext cx="4777276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1" i="0">
                <a:solidFill>
                  <a:srgbClr val="1F2733"/>
                </a:solidFill>
                <a:latin typeface="Arial"/>
              </a:rPr>
              <a:t>Check memory is 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4476" y="2746720"/>
            <a:ext cx="5147276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D31242"/>
                </a:solidFill>
                <a:latin typeface="Arial"/>
              </a:rPr>
              <a:t>Settings → Memory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4476" y="2956720"/>
            <a:ext cx="5147276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5E6A78"/>
                </a:solidFill>
                <a:latin typeface="Arial"/>
              </a:rPr>
              <a:t>Two toggles, on by default: “Search and reference chats” and “Generate memory from chats.” This is also where you edit what Claude remembers.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64476" y="3316200"/>
            <a:ext cx="5227276" cy="350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3970">
            <a:solidFill>
              <a:srgbClr val="5E6A7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4476" y="3316200"/>
            <a:ext cx="5147276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5E6A78"/>
                </a:solidFill>
                <a:latin typeface="Arial"/>
              </a:rPr>
              <a:t>[ Screenshot: Settings → Memory 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886200"/>
            <a:ext cx="5507276" cy="143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7200" y="4006200"/>
            <a:ext cx="240000" cy="240000"/>
          </a:xfrm>
          <a:prstGeom prst="ellipse">
            <a:avLst/>
          </a:prstGeom>
          <a:solidFill>
            <a:srgbClr val="D3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200" y="4006200"/>
            <a:ext cx="24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7200" y="4006200"/>
            <a:ext cx="4777276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1" i="0">
                <a:solidFill>
                  <a:srgbClr val="1F2733"/>
                </a:solidFill>
                <a:latin typeface="Arial"/>
              </a:rPr>
              <a:t>Set your style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200" y="4301200"/>
            <a:ext cx="5147276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D31242"/>
                </a:solidFill>
                <a:latin typeface="Arial"/>
              </a:rPr>
              <a:t>In chat: Search and tools → Use style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00" y="4511200"/>
            <a:ext cx="5147276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5E6A78"/>
                </a:solidFill>
                <a:latin typeface="Arial"/>
              </a:rPr>
              <a:t>Normal, Concise, Formal, or Explanatory. Or create a custom style from a sample of your own writing.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7200" y="4870680"/>
            <a:ext cx="5227276" cy="350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3970">
            <a:solidFill>
              <a:srgbClr val="5E6A7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200" y="4870680"/>
            <a:ext cx="5147276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5E6A78"/>
                </a:solidFill>
                <a:latin typeface="Arial"/>
              </a:rPr>
              <a:t>[ Screenshot: style picker 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24476" y="3886200"/>
            <a:ext cx="5507276" cy="143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4476" y="4006200"/>
            <a:ext cx="240000" cy="240000"/>
          </a:xfrm>
          <a:prstGeom prst="ellipse">
            <a:avLst/>
          </a:prstGeom>
          <a:solidFill>
            <a:srgbClr val="D3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4476" y="4006200"/>
            <a:ext cx="24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74476" y="4006200"/>
            <a:ext cx="4777276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1" i="0">
                <a:solidFill>
                  <a:srgbClr val="1F2733"/>
                </a:solidFill>
                <a:latin typeface="Arial"/>
              </a:rPr>
              <a:t>Know the model picker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4476" y="4301200"/>
            <a:ext cx="5147276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D31242"/>
                </a:solidFill>
                <a:latin typeface="Arial"/>
              </a:rPr>
              <a:t>In the chat input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4476" y="4511200"/>
            <a:ext cx="5147276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5E6A78"/>
                </a:solidFill>
                <a:latin typeface="Arial"/>
              </a:rPr>
              <a:t>Model and effort level, right where you type. How to choose them well is covered later in this session.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64476" y="4870680"/>
            <a:ext cx="5227276" cy="350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3970">
            <a:solidFill>
              <a:srgbClr val="5E6A7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4476" y="4870680"/>
            <a:ext cx="5147276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5E6A78"/>
                </a:solidFill>
                <a:latin typeface="Arial"/>
              </a:rPr>
              <a:t>[ Screenshot: model &amp; effort picker 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440680"/>
            <a:ext cx="11274552" cy="749808"/>
          </a:xfrm>
          <a:prstGeom prst="roundRect">
            <a:avLst>
              <a:gd name="adj" fmla="val 8000"/>
            </a:avLst>
          </a:prstGeom>
          <a:solidFill>
            <a:srgbClr val="F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440680"/>
            <a:ext cx="11274552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1F2733"/>
                </a:solidFill>
                <a:latin typeface="Arial"/>
              </a:rPr>
              <a:t>This takes five minutes, once. </a:t>
            </a:r>
            <a:r>
              <a:rPr sz="1500" b="1" i="0">
                <a:solidFill>
                  <a:srgbClr val="A60E34"/>
                </a:solidFill>
                <a:latin typeface="Arial"/>
              </a:rPr>
              <a:t>Every chat you run after today benefits from it.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510528"/>
            <a:ext cx="1050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8A93A0"/>
                </a:solidFill>
                <a:latin typeface="Arial"/>
              </a:rPr>
              <a:t>Illustrative, not an official BJ's publication. Menu names from the Claude app, July 2026; options can vary by plan.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74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-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 CLUB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772400" y="38404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CONNECT ESSENTIALS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-5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should be able to do after this session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session, you'll run any AI task through the same three steps — in order.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3514039" cy="2788920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27000" dist="38100" dir="5400000">
              <a:srgbClr val="141E2D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606040"/>
            <a:ext cx="658368" cy="658368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752344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3429000"/>
            <a:ext cx="29288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49808" y="3703320"/>
            <a:ext cx="29288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the problem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49808" y="4142232"/>
            <a:ext cx="292882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which tasks AI can help with, and decide what a good result looks like before you start.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36999" y="2331720"/>
            <a:ext cx="3514039" cy="2788920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27000" dist="38100" dir="5400000">
              <a:srgbClr val="141E2D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11319" y="2606040"/>
            <a:ext cx="658368" cy="658368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623" y="2752344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29607" y="3429000"/>
            <a:ext cx="29288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629607" y="3703320"/>
            <a:ext cx="29288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the AI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4629607" y="4142232"/>
            <a:ext cx="292882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clear direction and context, then review and improve the first response before you use it.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216798" y="2331720"/>
            <a:ext cx="3514039" cy="2788920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27000" dist="38100" dir="5400000">
              <a:srgbClr val="141E2D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491118" y="2606040"/>
            <a:ext cx="658368" cy="658368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7422" y="2752344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509406" y="3429000"/>
            <a:ext cx="29288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509406" y="3703320"/>
            <a:ext cx="29288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the results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8509406" y="4142232"/>
            <a:ext cx="292882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work for accuracy, gaps, and risk, and stay accountable for how it is used.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3971239" y="3429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7851038" y="3429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2"/>
          <p:cNvSpPr/>
          <p:nvPr/>
        </p:nvSpPr>
        <p:spPr>
          <a:xfrm>
            <a:off x="457200" y="5440680"/>
            <a:ext cx="11274552" cy="749808"/>
          </a:xfrm>
          <a:prstGeom prst="roundRect">
            <a:avLst>
              <a:gd name="adj" fmla="val 12195"/>
            </a:avLst>
          </a:prstGeom>
          <a:solidFill>
            <a:srgbClr val="FCE4EA"/>
          </a:solidFill>
          <a:ln/>
        </p:spPr>
      </p:sp>
      <p:sp>
        <p:nvSpPr>
          <p:cNvPr id="28" name="Text 23"/>
          <p:cNvSpPr/>
          <p:nvPr/>
        </p:nvSpPr>
        <p:spPr>
          <a:xfrm>
            <a:off x="640080" y="5440680"/>
            <a:ext cx="10908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is not to become an AI expert in one hour. </a:t>
            </a:r>
            <a:pPr algn="ctr" indent="0" marL="0">
              <a:buNone/>
            </a:pPr>
            <a:r>
              <a:rPr lang="en-US" sz="1350" b="1" dirty="0">
                <a:solidFill>
                  <a:srgbClr val="A60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to leave with a safe, practical way to start using AI on real work.</a:t>
            </a:r>
            <a:endParaRPr lang="en-US" sz="1350" dirty="0"/>
          </a:p>
        </p:txBody>
      </p:sp>
      <p:sp>
        <p:nvSpPr>
          <p:cNvPr id="29" name="Text 24"/>
          <p:cNvSpPr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— not an official BJ's publication.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D31242"/>
                </a:solidFill>
                <a:latin typeface="Arial"/>
              </a:rPr>
              <a:t>BJ's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5836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D31242"/>
                </a:solidFill>
                <a:latin typeface="Arial"/>
              </a:rPr>
              <a:t>WHOLESALE CLUB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84048"/>
            <a:ext cx="39593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D31242"/>
                </a:solidFill>
                <a:latin typeface="Arial"/>
              </a:rPr>
              <a:t>SELECT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Is AI the right choice for this task?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5E6A78"/>
                </a:solidFill>
                <a:latin typeface="Arial"/>
              </a:rPr>
              <a:t>Run any task through this test before you open the tool.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5454396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31242"/>
                </a:solidFill>
                <a:latin typeface="Arial"/>
              </a:rPr>
              <a:t>THE TASK-FIT TEST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681720"/>
            <a:ext cx="384048" cy="384048"/>
          </a:xfrm>
          <a:prstGeom prst="ellipse">
            <a:avLst/>
          </a:prstGeom>
          <a:solidFill>
            <a:srgbClr val="D31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6817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1248" y="2656720"/>
            <a:ext cx="4920348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F2733"/>
                </a:solidFill>
                <a:latin typeface="Arial"/>
              </a:rPr>
              <a:t>Information-based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1248" y="2951720"/>
            <a:ext cx="4920348" cy="3659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E6A78"/>
                </a:solidFill>
                <a:latin typeface="Arial"/>
              </a:rPr>
              <a:t>Writing, summarizing, comparing, organizing, analyzing, or planning.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362710"/>
            <a:ext cx="384048" cy="384048"/>
          </a:xfrm>
          <a:prstGeom prst="ellipse">
            <a:avLst/>
          </a:prstGeom>
          <a:solidFill>
            <a:srgbClr val="D31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36271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1248" y="3337710"/>
            <a:ext cx="4920348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F2733"/>
                </a:solidFill>
                <a:latin typeface="Arial"/>
              </a:rPr>
              <a:t>Repeatable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1248" y="3632710"/>
            <a:ext cx="4920348" cy="3659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E6A78"/>
                </a:solidFill>
                <a:latin typeface="Arial"/>
              </a:rPr>
              <a:t>Happens regularly or follows a recognizable pattern.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4043700"/>
            <a:ext cx="384048" cy="384048"/>
          </a:xfrm>
          <a:prstGeom prst="ellipse">
            <a:avLst/>
          </a:prstGeom>
          <a:solidFill>
            <a:srgbClr val="D31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0437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1248" y="4018700"/>
            <a:ext cx="4920348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F2733"/>
                </a:solidFill>
                <a:latin typeface="Arial"/>
              </a:rPr>
              <a:t>Reviewable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1248" y="4313700"/>
            <a:ext cx="4920348" cy="3659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E6A78"/>
                </a:solidFill>
                <a:latin typeface="Arial"/>
              </a:rPr>
              <a:t>You have enough expertise to judge whether the result is useful.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4724690"/>
            <a:ext cx="384048" cy="384048"/>
          </a:xfrm>
          <a:prstGeom prst="ellipse">
            <a:avLst/>
          </a:prstGeom>
          <a:solidFill>
            <a:srgbClr val="D31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72469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1248" y="4699690"/>
            <a:ext cx="4920348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F2733"/>
                </a:solidFill>
                <a:latin typeface="Arial"/>
              </a:rPr>
              <a:t>High-volume or time-consuming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1248" y="4994690"/>
            <a:ext cx="4920348" cy="3659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E6A78"/>
                </a:solidFill>
                <a:latin typeface="Arial"/>
              </a:rPr>
              <a:t>Requires significant manual effort, occurs frequently, or must be done at scale.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7356" y="2331720"/>
            <a:ext cx="5454396" cy="3018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7356" y="2571720"/>
            <a:ext cx="5014396" cy="2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5E6A78"/>
                </a:solidFill>
                <a:latin typeface="Arial"/>
              </a:rPr>
              <a:t>TASK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7356" y="2821720"/>
            <a:ext cx="5014396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1">
                <a:solidFill>
                  <a:srgbClr val="1F2733"/>
                </a:solidFill>
                <a:latin typeface="Arial"/>
              </a:rPr>
              <a:t>"Summarize this week’s member survey comments into themes."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7356" y="3291720"/>
            <a:ext cx="5014396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D31242"/>
                </a:solidFill>
                <a:latin typeface="Arial"/>
              </a:rPr>
              <a:t>✓  </a:t>
            </a:r>
            <a:r>
              <a:rPr sz="1200" b="1" i="0">
                <a:solidFill>
                  <a:srgbClr val="1F2733"/>
                </a:solidFill>
                <a:latin typeface="Arial"/>
              </a:rPr>
              <a:t>Information-based: </a:t>
            </a:r>
            <a:r>
              <a:rPr sz="1200" b="0" i="0">
                <a:solidFill>
                  <a:srgbClr val="5E6A78"/>
                </a:solidFill>
                <a:latin typeface="Arial"/>
              </a:rPr>
              <a:t>comments are text to synthesize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7356" y="3591720"/>
            <a:ext cx="5014396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D31242"/>
                </a:solidFill>
                <a:latin typeface="Arial"/>
              </a:rPr>
              <a:t>✓  </a:t>
            </a:r>
            <a:r>
              <a:rPr sz="1200" b="1" i="0">
                <a:solidFill>
                  <a:srgbClr val="1F2733"/>
                </a:solidFill>
                <a:latin typeface="Arial"/>
              </a:rPr>
              <a:t>Repeatable: </a:t>
            </a:r>
            <a:r>
              <a:rPr sz="1200" b="0" i="0">
                <a:solidFill>
                  <a:srgbClr val="5E6A78"/>
                </a:solidFill>
                <a:latin typeface="Arial"/>
              </a:rPr>
              <a:t>member surveys come in every week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7356" y="3891720"/>
            <a:ext cx="5014396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D31242"/>
                </a:solidFill>
                <a:latin typeface="Arial"/>
              </a:rPr>
              <a:t>✓  </a:t>
            </a:r>
            <a:r>
              <a:rPr sz="1200" b="1" i="0">
                <a:solidFill>
                  <a:srgbClr val="1F2733"/>
                </a:solidFill>
                <a:latin typeface="Arial"/>
              </a:rPr>
              <a:t>Reviewable: </a:t>
            </a:r>
            <a:r>
              <a:rPr sz="1200" b="0" i="0">
                <a:solidFill>
                  <a:srgbClr val="5E6A78"/>
                </a:solidFill>
                <a:latin typeface="Arial"/>
              </a:rPr>
              <a:t>you know the club and can judge the themes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7356" y="4191720"/>
            <a:ext cx="5014396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D31242"/>
                </a:solidFill>
                <a:latin typeface="Arial"/>
              </a:rPr>
              <a:t>✓  </a:t>
            </a:r>
            <a:r>
              <a:rPr sz="1200" b="1" i="0">
                <a:solidFill>
                  <a:srgbClr val="1F2733"/>
                </a:solidFill>
                <a:latin typeface="Arial"/>
              </a:rPr>
              <a:t>High-volume: </a:t>
            </a:r>
            <a:r>
              <a:rPr sz="1200" b="0" i="0">
                <a:solidFill>
                  <a:srgbClr val="5E6A78"/>
                </a:solidFill>
                <a:latin typeface="Arial"/>
              </a:rPr>
              <a:t>25+ open-text comments to work through by hand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17356" y="4551720"/>
            <a:ext cx="5174396" cy="380000"/>
          </a:xfrm>
          <a:prstGeom prst="rect">
            <a:avLst/>
          </a:prstGeom>
          <a:solidFill>
            <a:srgbClr val="F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7356" y="4551720"/>
            <a:ext cx="5174396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A60E34"/>
                </a:solidFill>
                <a:latin typeface="Arial"/>
              </a:rPr>
              <a:t>✓ Passes all four. Good candidate for AI.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440680"/>
            <a:ext cx="11274552" cy="749808"/>
          </a:xfrm>
          <a:prstGeom prst="roundRect">
            <a:avLst>
              <a:gd name="adj" fmla="val 6000"/>
            </a:avLst>
          </a:prstGeom>
          <a:solidFill>
            <a:srgbClr val="F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440680"/>
            <a:ext cx="10908792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0" i="0">
                <a:solidFill>
                  <a:srgbClr val="1F2733"/>
                </a:solidFill>
                <a:latin typeface="Arial"/>
              </a:rPr>
              <a:t>Not every task deserves AI. </a:t>
            </a:r>
            <a:r>
              <a:rPr sz="1350" b="1" i="0">
                <a:solidFill>
                  <a:srgbClr val="A60E34"/>
                </a:solidFill>
                <a:latin typeface="Arial"/>
              </a:rPr>
              <a:t>Filter first, then engage the tool.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8A93A0"/>
                </a:solidFill>
                <a:latin typeface="Arial"/>
              </a:rPr>
              <a:t>Illustrative, not an official BJ's publication.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D31242"/>
                </a:solidFill>
                <a:latin typeface="Arial"/>
              </a:rPr>
              <a:t>BJ's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5836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D31242"/>
                </a:solidFill>
                <a:latin typeface="Arial"/>
              </a:rPr>
              <a:t>WHOLESALE CLUB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84048"/>
            <a:ext cx="39593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D31242"/>
                </a:solidFill>
                <a:latin typeface="Arial"/>
              </a:rPr>
              <a:t>SELECT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Where AI can help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5E6A78"/>
                </a:solidFill>
                <a:latin typeface="Arial"/>
              </a:rPr>
              <a:t>Once a task passes the test, these are common places to start.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31720"/>
            <a:ext cx="2683638" cy="146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7200" y="2511720"/>
            <a:ext cx="360000" cy="360000"/>
          </a:xfrm>
          <a:prstGeom prst="ellipse">
            <a:avLst/>
          </a:prstGeom>
          <a:solidFill>
            <a:srgbClr val="D31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ummar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00" y="2590920"/>
            <a:ext cx="201600" cy="201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37200" y="2511720"/>
            <a:ext cx="1823638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D31242"/>
                </a:solidFill>
                <a:latin typeface="Arial"/>
              </a:rPr>
              <a:t>SUMMARIZE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200" y="3041720"/>
            <a:ext cx="2323638" cy="57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733"/>
                </a:solidFill>
                <a:latin typeface="Arial"/>
              </a:rPr>
              <a:t>Turn long meeting notes into decisions, owners, and next steps.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20838" y="2331720"/>
            <a:ext cx="2683638" cy="146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00838" y="2511720"/>
            <a:ext cx="360000" cy="360000"/>
          </a:xfrm>
          <a:prstGeom prst="ellipse">
            <a:avLst/>
          </a:prstGeom>
          <a:solidFill>
            <a:srgbClr val="D31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0038" y="2590920"/>
            <a:ext cx="201600" cy="201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000838" y="2511720"/>
            <a:ext cx="1823638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D31242"/>
                </a:solidFill>
                <a:latin typeface="Arial"/>
              </a:rPr>
              <a:t>COMPARE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838" y="3041720"/>
            <a:ext cx="2323638" cy="57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733"/>
                </a:solidFill>
                <a:latin typeface="Arial"/>
              </a:rPr>
              <a:t>Compare two vendor proposals across cost, risk, and timeline.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4476" y="2331720"/>
            <a:ext cx="2683638" cy="146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64476" y="2511720"/>
            <a:ext cx="360000" cy="360000"/>
          </a:xfrm>
          <a:prstGeom prst="ellipse">
            <a:avLst/>
          </a:prstGeom>
          <a:solidFill>
            <a:srgbClr val="D31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dra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3676" y="2590920"/>
            <a:ext cx="201600" cy="201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864476" y="2511720"/>
            <a:ext cx="1823638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D31242"/>
                </a:solidFill>
                <a:latin typeface="Arial"/>
              </a:rP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476" y="3041720"/>
            <a:ext cx="2323638" cy="57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733"/>
                </a:solidFill>
                <a:latin typeface="Arial"/>
              </a:rPr>
              <a:t>Draft a first version of this week's leadership update.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48114" y="2331720"/>
            <a:ext cx="2683638" cy="146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28114" y="2511720"/>
            <a:ext cx="360000" cy="360000"/>
          </a:xfrm>
          <a:prstGeom prst="ellipse">
            <a:avLst/>
          </a:prstGeom>
          <a:solidFill>
            <a:srgbClr val="D31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analyz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7314" y="2590920"/>
            <a:ext cx="201600" cy="201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728114" y="2511720"/>
            <a:ext cx="1823638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D31242"/>
                </a:solidFill>
                <a:latin typeface="Arial"/>
              </a:rPr>
              <a:t>ANALYZE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8114" y="3041720"/>
            <a:ext cx="2323638" cy="57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733"/>
                </a:solidFill>
                <a:latin typeface="Arial"/>
              </a:rPr>
              <a:t>Spot the pattern behind rising checkout wait times.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976200"/>
            <a:ext cx="2683638" cy="146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7200" y="4156200"/>
            <a:ext cx="360000" cy="360000"/>
          </a:xfrm>
          <a:prstGeom prst="ellipse">
            <a:avLst/>
          </a:prstGeom>
          <a:solidFill>
            <a:srgbClr val="D31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prepa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400" y="4235400"/>
            <a:ext cx="201600" cy="2016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37200" y="4156200"/>
            <a:ext cx="1823638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D31242"/>
                </a:solidFill>
                <a:latin typeface="Arial"/>
              </a:rPr>
              <a:t>PREPARE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200" y="4686200"/>
            <a:ext cx="2323638" cy="57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733"/>
                </a:solidFill>
                <a:latin typeface="Arial"/>
              </a:rPr>
              <a:t>Build talking points for an upcoming club or vendor visit.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20838" y="3976200"/>
            <a:ext cx="2683638" cy="146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0838" y="4156200"/>
            <a:ext cx="360000" cy="360000"/>
          </a:xfrm>
          <a:prstGeom prst="ellipse">
            <a:avLst/>
          </a:prstGeom>
          <a:solidFill>
            <a:srgbClr val="D31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brainstor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0038" y="4235400"/>
            <a:ext cx="201600" cy="2016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000838" y="4156200"/>
            <a:ext cx="1823638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D31242"/>
                </a:solidFill>
                <a:latin typeface="Arial"/>
              </a:rPr>
              <a:t>BRAINSTORM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00838" y="4686200"/>
            <a:ext cx="2323638" cy="57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733"/>
                </a:solidFill>
                <a:latin typeface="Arial"/>
              </a:rPr>
              <a:t>Explore ideas to improve the in-club member experience.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84476" y="3976200"/>
            <a:ext cx="2683638" cy="146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64476" y="4156200"/>
            <a:ext cx="360000" cy="360000"/>
          </a:xfrm>
          <a:prstGeom prst="ellipse">
            <a:avLst/>
          </a:prstGeom>
          <a:solidFill>
            <a:srgbClr val="D31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challen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3676" y="4235400"/>
            <a:ext cx="201600" cy="2016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864476" y="4156200"/>
            <a:ext cx="1823638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D31242"/>
                </a:solidFill>
                <a:latin typeface="Arial"/>
              </a:rPr>
              <a:t>CHALLENGE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4476" y="4686200"/>
            <a:ext cx="2323638" cy="57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733"/>
                </a:solidFill>
                <a:latin typeface="Arial"/>
              </a:rPr>
              <a:t>Find the weak points in a plan before it goes to leadership.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48114" y="3976200"/>
            <a:ext cx="2683638" cy="146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228114" y="4156200"/>
            <a:ext cx="360000" cy="360000"/>
          </a:xfrm>
          <a:prstGeom prst="ellipse">
            <a:avLst/>
          </a:prstGeom>
          <a:solidFill>
            <a:srgbClr val="D31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simplif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07314" y="4235400"/>
            <a:ext cx="201600" cy="2016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728114" y="4156200"/>
            <a:ext cx="1823638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D31242"/>
                </a:solidFill>
                <a:latin typeface="Arial"/>
              </a:rPr>
              <a:t>SIMPLIFY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28114" y="4686200"/>
            <a:ext cx="2323638" cy="57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733"/>
                </a:solidFill>
                <a:latin typeface="Arial"/>
              </a:rPr>
              <a:t>Rewrite a dense policy into plain guidance for club teams.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5440680"/>
            <a:ext cx="11274552" cy="749808"/>
          </a:xfrm>
          <a:prstGeom prst="roundRect">
            <a:avLst>
              <a:gd name="adj" fmla="val 6000"/>
            </a:avLst>
          </a:prstGeom>
          <a:solidFill>
            <a:srgbClr val="F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440680"/>
            <a:ext cx="10908792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0" i="0">
                <a:solidFill>
                  <a:srgbClr val="1F2733"/>
                </a:solidFill>
                <a:latin typeface="Arial"/>
              </a:rPr>
              <a:t>You don't need all eight patterns for one task. </a:t>
            </a:r>
            <a:r>
              <a:rPr sz="1350" b="1" i="0">
                <a:solidFill>
                  <a:srgbClr val="A60E34"/>
                </a:solidFill>
                <a:latin typeface="Arial"/>
              </a:rPr>
              <a:t>Pick the one that fits, and start there.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8A93A0"/>
                </a:solidFill>
                <a:latin typeface="Arial"/>
              </a:rPr>
              <a:t>Illustrative, not an official BJ's publication.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D31242"/>
                </a:solidFill>
                <a:latin typeface="Arial"/>
              </a:rPr>
              <a:t>BJ's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5836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D31242"/>
                </a:solidFill>
                <a:latin typeface="Arial"/>
              </a:rPr>
              <a:t>WHOLESALE CLUB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84048"/>
            <a:ext cx="39593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D31242"/>
                </a:solidFill>
                <a:latin typeface="Arial"/>
              </a:rPr>
              <a:t>SELECT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Thinking with AI, not just asking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 i="0">
                <a:solidFill>
                  <a:srgbClr val="5E6A78"/>
                </a:solidFill>
                <a:latin typeface="Arial"/>
              </a:rPr>
              <a:t>This shift matters most in research, exploration, and one-off work, when the problem isn't defined yet.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31720"/>
            <a:ext cx="5454396" cy="3108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7200" y="2631720"/>
            <a:ext cx="4854396" cy="2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5E6A78"/>
                </a:solidFill>
                <a:latin typeface="Arial"/>
              </a:rPr>
              <a:t>FROM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200" y="2931720"/>
            <a:ext cx="4854396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1">
                <a:solidFill>
                  <a:srgbClr val="1F2733"/>
                </a:solidFill>
                <a:latin typeface="Arial"/>
              </a:rPr>
              <a:t>"Explain why membership renewals dipped this quarter."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7200" y="3631720"/>
            <a:ext cx="4854396" cy="4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5E6A78"/>
                </a:solidFill>
                <a:latin typeface="Arial"/>
              </a:rPr>
              <a:t>–  </a:t>
            </a:r>
            <a:r>
              <a:rPr sz="1250" b="0" i="0">
                <a:solidFill>
                  <a:srgbClr val="5E6A78"/>
                </a:solidFill>
                <a:latin typeface="Arial"/>
              </a:rPr>
              <a:t>Has to guess at what actually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7200" y="4061720"/>
            <a:ext cx="4854396" cy="4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5E6A78"/>
                </a:solidFill>
                <a:latin typeface="Arial"/>
              </a:rPr>
              <a:t>–  </a:t>
            </a:r>
            <a:r>
              <a:rPr sz="1250" b="0" i="0">
                <a:solidFill>
                  <a:srgbClr val="5E6A78"/>
                </a:solidFill>
                <a:latin typeface="Arial"/>
              </a:rPr>
              <a:t>May miss the real driver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7200" y="4491720"/>
            <a:ext cx="4854396" cy="4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5E6A78"/>
                </a:solidFill>
                <a:latin typeface="Arial"/>
              </a:rPr>
              <a:t>–  </a:t>
            </a:r>
            <a:r>
              <a:rPr sz="1250" b="0" i="0">
                <a:solidFill>
                  <a:srgbClr val="5E6A78"/>
                </a:solidFill>
                <a:latin typeface="Arial"/>
              </a:rPr>
              <a:t>Often needs heavy cleanup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7356" y="2331720"/>
            <a:ext cx="5454396" cy="3108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7356" y="2631720"/>
            <a:ext cx="4854396" cy="2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31242"/>
                </a:solidFill>
                <a:latin typeface="Arial"/>
              </a:rPr>
              <a:t>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7356" y="2931720"/>
            <a:ext cx="4854396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1">
                <a:solidFill>
                  <a:srgbClr val="1F2733"/>
                </a:solidFill>
                <a:latin typeface="Arial"/>
              </a:rPr>
              <a:t>"I’m trying to understand why renewals dipped. Walk me through the possible drivers before you land on one."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7356" y="3631720"/>
            <a:ext cx="4854396" cy="4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D31242"/>
                </a:solidFill>
                <a:latin typeface="Arial"/>
              </a:rPr>
              <a:t>✓  </a:t>
            </a:r>
            <a:r>
              <a:rPr sz="1250" b="0" i="0">
                <a:solidFill>
                  <a:srgbClr val="1F2733"/>
                </a:solidFill>
                <a:latin typeface="Arial"/>
              </a:rPr>
              <a:t>Clarifies the problem 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7356" y="4061720"/>
            <a:ext cx="4854396" cy="4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D31242"/>
                </a:solidFill>
                <a:latin typeface="Arial"/>
              </a:rPr>
              <a:t>✓  </a:t>
            </a:r>
            <a:r>
              <a:rPr sz="1250" b="0" i="0">
                <a:solidFill>
                  <a:srgbClr val="1F2733"/>
                </a:solidFill>
                <a:latin typeface="Arial"/>
              </a:rPr>
              <a:t>Explores more than one driver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7356" y="4491720"/>
            <a:ext cx="4854396" cy="4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D31242"/>
                </a:solidFill>
                <a:latin typeface="Arial"/>
              </a:rPr>
              <a:t>✓  </a:t>
            </a:r>
            <a:r>
              <a:rPr sz="1250" b="0" i="0">
                <a:solidFill>
                  <a:srgbClr val="1F2733"/>
                </a:solidFill>
                <a:latin typeface="Arial"/>
              </a:rPr>
              <a:t>Challenges assumptions before landing on an answer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440680"/>
            <a:ext cx="11274552" cy="749808"/>
          </a:xfrm>
          <a:prstGeom prst="roundRect">
            <a:avLst>
              <a:gd name="adj" fmla="val 6000"/>
            </a:avLst>
          </a:prstGeom>
          <a:solidFill>
            <a:srgbClr val="F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440680"/>
            <a:ext cx="10908792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0" i="0">
                <a:solidFill>
                  <a:srgbClr val="1F2733"/>
                </a:solidFill>
                <a:latin typeface="Arial"/>
              </a:rPr>
              <a:t>If the task is routine and clear, a quick prompt is fine. </a:t>
            </a:r>
            <a:r>
              <a:rPr sz="1350" b="1" i="0">
                <a:solidFill>
                  <a:srgbClr val="A60E34"/>
                </a:solidFill>
                <a:latin typeface="Arial"/>
              </a:rPr>
              <a:t>If the problem isn't defined yet, use this shift first.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8A93A0"/>
                </a:solidFill>
                <a:latin typeface="Arial"/>
              </a:rPr>
              <a:t>Illustrative, not an official BJ's publication.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D31242"/>
                </a:solidFill>
                <a:latin typeface="Arial"/>
              </a:rPr>
              <a:t>BJ's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5836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D31242"/>
                </a:solidFill>
                <a:latin typeface="Arial"/>
              </a:rPr>
              <a:t>WHOLESALE CLUB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84048"/>
            <a:ext cx="39593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D31242"/>
                </a:solidFill>
                <a:latin typeface="Arial"/>
              </a:rPr>
              <a:t>GUIDE THE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1F2733"/>
                </a:solidFill>
                <a:latin typeface="Arial"/>
              </a:rPr>
              <a:t>When direction is missing, AI has to decide what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 i="0">
                <a:solidFill>
                  <a:srgbClr val="5E6A78"/>
                </a:solidFill>
                <a:latin typeface="Arial"/>
              </a:rPr>
              <a:t>Same task, two different levels of direction. One leaves AI guessing.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31720"/>
            <a:ext cx="5454396" cy="3108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7200" y="2551720"/>
            <a:ext cx="5014396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5E6A78"/>
                </a:solidFill>
                <a:latin typeface="Arial"/>
              </a:rPr>
              <a:t>WEAK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200" y="2821720"/>
            <a:ext cx="5014396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1">
                <a:solidFill>
                  <a:srgbClr val="1F2733"/>
                </a:solidFill>
                <a:latin typeface="Arial"/>
              </a:rPr>
              <a:t>"Summarize this member feedback."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200" y="3241720"/>
            <a:ext cx="5014396" cy="1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5E6A78"/>
                </a:solidFill>
                <a:latin typeface="Arial"/>
              </a:rPr>
              <a:t>AI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200" y="3491720"/>
            <a:ext cx="5014396" cy="172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E6A78"/>
                </a:solidFill>
                <a:latin typeface="Arial"/>
              </a:rPr>
              <a:t>Members shared feedback about checkout lines, coupons, and service. Mostly general comments, with no clear priority or next step.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7356" y="2331720"/>
            <a:ext cx="5454396" cy="3108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7356" y="2551720"/>
            <a:ext cx="5014396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D31242"/>
                </a:solidFill>
                <a:latin typeface="Arial"/>
              </a:rPr>
              <a:t>STRONG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7356" y="2821720"/>
            <a:ext cx="5014396" cy="7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9" b="1" i="1">
                <a:solidFill>
                  <a:srgbClr val="1F2733"/>
                </a:solidFill>
                <a:latin typeface="Arial"/>
              </a:rPr>
              <a:t>"You have 25 member comments from last week’s club survey below. Identify the three most frequently mentioned issues and recommend two practical next steps. Write it as a short, scannable briefing, a one-line headline followed by bullets. Keep the tone factual and neutral, with no hype. It’s for a regional operations leader skimming between meetings. Keep it under 150 words, and don’t infer causes the comments don’t support."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7356" y="3721720"/>
            <a:ext cx="5014396" cy="1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5E6A78"/>
                </a:solidFill>
                <a:latin typeface="Arial"/>
              </a:rPr>
              <a:t>AI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7356" y="3961720"/>
            <a:ext cx="5014396" cy="1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2733"/>
                </a:solidFill>
                <a:latin typeface="Arial"/>
              </a:rPr>
              <a:t>Checkout wait times are this week's top member concern.</a:t>
            </a:r>
          </a:p>
          <a:p>
            <a:r>
              <a:rPr sz="1030" b="1" i="0">
                <a:solidFill>
                  <a:srgbClr val="D31242"/>
                </a:solidFill>
                <a:latin typeface="Arial"/>
              </a:rPr>
              <a:t>•  </a:t>
            </a:r>
            <a:r>
              <a:rPr sz="1030" b="0" i="0">
                <a:solidFill>
                  <a:srgbClr val="1F2733"/>
                </a:solidFill>
                <a:latin typeface="Arial"/>
              </a:rPr>
              <a:t>Weekend checkout wait times: 9 of 25 comments</a:t>
            </a:r>
          </a:p>
          <a:p>
            <a:r>
              <a:rPr sz="1030" b="1" i="0">
                <a:solidFill>
                  <a:srgbClr val="D31242"/>
                </a:solidFill>
                <a:latin typeface="Arial"/>
              </a:rPr>
              <a:t>•  </a:t>
            </a:r>
            <a:r>
              <a:rPr sz="1030" b="0" i="0">
                <a:solidFill>
                  <a:srgbClr val="1F2733"/>
                </a:solidFill>
                <a:latin typeface="Arial"/>
              </a:rPr>
              <a:t>Coupons not loading or applying: 6 comments</a:t>
            </a:r>
          </a:p>
          <a:p>
            <a:r>
              <a:rPr sz="1030" b="1" i="0">
                <a:solidFill>
                  <a:srgbClr val="D31242"/>
                </a:solidFill>
                <a:latin typeface="Arial"/>
              </a:rPr>
              <a:t>•  </a:t>
            </a:r>
            <a:r>
              <a:rPr sz="1030" b="0" i="0">
                <a:solidFill>
                  <a:srgbClr val="1F2733"/>
                </a:solidFill>
                <a:latin typeface="Arial"/>
              </a:rPr>
              <a:t>Popular items out of stock later in the day: 5 comments</a:t>
            </a:r>
          </a:p>
          <a:p>
            <a:r>
              <a:rPr sz="1030" b="0" i="0">
                <a:solidFill>
                  <a:srgbClr val="5E6A78"/>
                </a:solidFill>
                <a:latin typeface="Arial"/>
              </a:rPr>
              <a:t>Next: review weekend checkout coverage and look into the coupon issue before assuming a cause.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440680"/>
            <a:ext cx="11274552" cy="749808"/>
          </a:xfrm>
          <a:prstGeom prst="roundRect">
            <a:avLst>
              <a:gd name="adj" fmla="val 6000"/>
            </a:avLst>
          </a:prstGeom>
          <a:solidFill>
            <a:srgbClr val="F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440680"/>
            <a:ext cx="10908792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0" i="0">
                <a:solidFill>
                  <a:srgbClr val="1F2733"/>
                </a:solidFill>
                <a:latin typeface="Arial"/>
              </a:rPr>
              <a:t>Same task, same AI. </a:t>
            </a:r>
            <a:r>
              <a:rPr sz="1350" b="1" i="0">
                <a:solidFill>
                  <a:srgbClr val="A60E34"/>
                </a:solidFill>
                <a:latin typeface="Arial"/>
              </a:rPr>
              <a:t>The direction made the difference.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8A93A0"/>
                </a:solidFill>
                <a:latin typeface="Arial"/>
              </a:rPr>
              <a:t>Illustrative, not an official BJ's publication.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8800"/>
            <a:ext cx="3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D31242"/>
                </a:solidFill>
                <a:latin typeface="Arial"/>
              </a:rPr>
              <a:t>BJ's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3680"/>
            <a:ext cx="30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1F2733"/>
                </a:solidFill>
                <a:latin typeface="Arial"/>
              </a:rPr>
              <a:t>WHOLESALE CLUB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0" y="430000"/>
            <a:ext cx="3735352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D31242"/>
                </a:solidFill>
                <a:latin typeface="Arial"/>
              </a:rPr>
              <a:t>GUIDE THE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4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1F2733"/>
                </a:solidFill>
                <a:latin typeface="Arial"/>
              </a:rPr>
              <a:t>CO-STAR: a practical checklist for a strong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1274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5E6A78"/>
                </a:solidFill>
                <a:latin typeface="Arial"/>
              </a:rPr>
              <a:t>The same strong prompt from the last slide, broken into its six CO-STAR parts. Each one removes another piece of guesswork for the 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31720"/>
            <a:ext cx="11274552" cy="47482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7200" y="2419133"/>
            <a:ext cx="300000" cy="300000"/>
          </a:xfrm>
          <a:prstGeom prst="roundRect">
            <a:avLst>
              <a:gd name="adj" fmla="val 25000"/>
            </a:avLst>
          </a:prstGeom>
          <a:solidFill>
            <a:srgbClr val="D3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7200" y="2419133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7200" y="2331720"/>
            <a:ext cx="2950000" cy="4748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 i="0">
                <a:solidFill>
                  <a:srgbClr val="1F2733"/>
                </a:solidFill>
                <a:latin typeface="Arial"/>
              </a:rPr>
              <a:t>Context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5E6A78"/>
                </a:solidFill>
                <a:latin typeface="Arial"/>
              </a:rPr>
              <a:t>Relevant background and source information.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7200" y="2431433"/>
            <a:ext cx="12000" cy="275399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7200" y="2331720"/>
            <a:ext cx="7254552" cy="4748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 i="1">
                <a:solidFill>
                  <a:srgbClr val="1F2733"/>
                </a:solidFill>
                <a:latin typeface="Arial"/>
              </a:rPr>
              <a:t>You have 25 member comments from last week’s club survey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58546"/>
            <a:ext cx="11274552" cy="47482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7200" y="2945960"/>
            <a:ext cx="300000" cy="300000"/>
          </a:xfrm>
          <a:prstGeom prst="roundRect">
            <a:avLst>
              <a:gd name="adj" fmla="val 25000"/>
            </a:avLst>
          </a:prstGeom>
          <a:solidFill>
            <a:srgbClr val="D3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7200" y="2945960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7200" y="2858546"/>
            <a:ext cx="2950000" cy="4748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 i="0">
                <a:solidFill>
                  <a:srgbClr val="1F2733"/>
                </a:solidFill>
                <a:latin typeface="Arial"/>
              </a:rPr>
              <a:t>Objective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5E6A78"/>
                </a:solidFill>
                <a:latin typeface="Arial"/>
              </a:rPr>
              <a:t>What you want it to accomplish.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7200" y="2958260"/>
            <a:ext cx="12000" cy="275399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07200" y="2858546"/>
            <a:ext cx="7254552" cy="4748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 i="1">
                <a:solidFill>
                  <a:srgbClr val="1F2733"/>
                </a:solidFill>
                <a:latin typeface="Arial"/>
              </a:rPr>
              <a:t>Identify the three most frequently mentioned issues and recommend two practical next steps.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385373"/>
            <a:ext cx="11274552" cy="47482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77200" y="3472786"/>
            <a:ext cx="300000" cy="300000"/>
          </a:xfrm>
          <a:prstGeom prst="roundRect">
            <a:avLst>
              <a:gd name="adj" fmla="val 25000"/>
            </a:avLst>
          </a:prstGeom>
          <a:solidFill>
            <a:srgbClr val="D3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7200" y="3472786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7200" y="3385373"/>
            <a:ext cx="2950000" cy="4748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 i="0">
                <a:solidFill>
                  <a:srgbClr val="1F2733"/>
                </a:solidFill>
                <a:latin typeface="Arial"/>
              </a:rPr>
              <a:t>Style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5E6A78"/>
                </a:solidFill>
                <a:latin typeface="Arial"/>
              </a:rPr>
              <a:t>How it should be written or presented.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7200" y="3485086"/>
            <a:ext cx="12000" cy="275399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07200" y="3385373"/>
            <a:ext cx="7254552" cy="4748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 i="1">
                <a:solidFill>
                  <a:srgbClr val="1F2733"/>
                </a:solidFill>
                <a:latin typeface="Arial"/>
              </a:rPr>
              <a:t>Write it as a short, scannable briefing, a one-line headline followed by bullets.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912200"/>
            <a:ext cx="11274552" cy="47482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77200" y="3999613"/>
            <a:ext cx="300000" cy="300000"/>
          </a:xfrm>
          <a:prstGeom prst="roundRect">
            <a:avLst>
              <a:gd name="adj" fmla="val 25000"/>
            </a:avLst>
          </a:prstGeom>
          <a:solidFill>
            <a:srgbClr val="D3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7200" y="3999613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7200" y="3912200"/>
            <a:ext cx="2950000" cy="4748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 i="0">
                <a:solidFill>
                  <a:srgbClr val="1F2733"/>
                </a:solidFill>
                <a:latin typeface="Arial"/>
              </a:rPr>
              <a:t>Tone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5E6A78"/>
                </a:solidFill>
                <a:latin typeface="Arial"/>
              </a:rPr>
              <a:t>The voice it should use.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7200" y="4011913"/>
            <a:ext cx="12000" cy="275399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07200" y="3912200"/>
            <a:ext cx="7254552" cy="4748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 i="1">
                <a:solidFill>
                  <a:srgbClr val="1F2733"/>
                </a:solidFill>
                <a:latin typeface="Arial"/>
              </a:rPr>
              <a:t>Keep the tone factual and neutral, with no hype.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439026"/>
            <a:ext cx="11274552" cy="47482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77200" y="4526440"/>
            <a:ext cx="300000" cy="300000"/>
          </a:xfrm>
          <a:prstGeom prst="roundRect">
            <a:avLst>
              <a:gd name="adj" fmla="val 25000"/>
            </a:avLst>
          </a:prstGeom>
          <a:solidFill>
            <a:srgbClr val="D3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7200" y="4526440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7200" y="4439026"/>
            <a:ext cx="2950000" cy="4748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 i="0">
                <a:solidFill>
                  <a:srgbClr val="1F2733"/>
                </a:solidFill>
                <a:latin typeface="Arial"/>
              </a:rPr>
              <a:t>Audience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5E6A78"/>
                </a:solidFill>
                <a:latin typeface="Arial"/>
              </a:rPr>
              <a:t>Who will read or use the output.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7200" y="4538740"/>
            <a:ext cx="12000" cy="275399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07200" y="4439026"/>
            <a:ext cx="7254552" cy="4748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 i="1">
                <a:solidFill>
                  <a:srgbClr val="1F2733"/>
                </a:solidFill>
                <a:latin typeface="Arial"/>
              </a:rPr>
              <a:t>It’s for a regional operations leader skimming between meetings.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965853"/>
            <a:ext cx="11274552" cy="47482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77200" y="5053266"/>
            <a:ext cx="300000" cy="300000"/>
          </a:xfrm>
          <a:prstGeom prst="roundRect">
            <a:avLst>
              <a:gd name="adj" fmla="val 25000"/>
            </a:avLst>
          </a:prstGeom>
          <a:solidFill>
            <a:srgbClr val="D3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7200" y="5053266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7200" y="4965853"/>
            <a:ext cx="2950000" cy="4748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 i="0">
                <a:solidFill>
                  <a:srgbClr val="1F2733"/>
                </a:solidFill>
                <a:latin typeface="Arial"/>
              </a:rPr>
              <a:t>Response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5E6A78"/>
                </a:solidFill>
                <a:latin typeface="Arial"/>
              </a:rPr>
              <a:t>The exact output structure you need.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7200" y="5065566"/>
            <a:ext cx="12000" cy="275399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07200" y="4965853"/>
            <a:ext cx="7254552" cy="4748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 i="1">
                <a:solidFill>
                  <a:srgbClr val="1F2733"/>
                </a:solidFill>
                <a:latin typeface="Arial"/>
              </a:rPr>
              <a:t>Keep it under 150 words, and don’t infer causes the comments don’t support.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440680"/>
            <a:ext cx="11274552" cy="749808"/>
          </a:xfrm>
          <a:prstGeom prst="roundRect">
            <a:avLst>
              <a:gd name="adj" fmla="val 8000"/>
            </a:avLst>
          </a:prstGeom>
          <a:solidFill>
            <a:srgbClr val="F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440680"/>
            <a:ext cx="11274552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1F2733"/>
                </a:solidFill>
                <a:latin typeface="Arial"/>
              </a:rPr>
              <a:t>Not every prompt needs every element. </a:t>
            </a:r>
            <a:r>
              <a:rPr sz="1500" b="1" i="0">
                <a:solidFill>
                  <a:srgbClr val="A60E34"/>
                </a:solidFill>
                <a:latin typeface="Arial"/>
              </a:rPr>
              <a:t>Use the ones that reduce ambiguity.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8A93A0"/>
                </a:solidFill>
                <a:latin typeface="Arial"/>
              </a:rPr>
              <a:t>Illustrative, not an official BJ's publication.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8800"/>
            <a:ext cx="3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D31242"/>
                </a:solidFill>
                <a:latin typeface="Arial"/>
              </a:rPr>
              <a:t>BJ's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3680"/>
            <a:ext cx="30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1F2733"/>
                </a:solidFill>
                <a:latin typeface="Arial"/>
              </a:rPr>
              <a:t>WHOLESALE CLUB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0" y="430000"/>
            <a:ext cx="3735352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D31242"/>
                </a:solidFill>
                <a:latin typeface="Arial"/>
              </a:rPr>
              <a:t>GUIDE THE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4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1F2733"/>
                </a:solidFill>
                <a:latin typeface="Arial"/>
              </a:rPr>
              <a:t>AI usage is not one setting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1274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5E6A78"/>
                </a:solidFill>
                <a:latin typeface="Arial"/>
              </a:rPr>
              <a:t>Every AI task runs on five dials you control. Each one you turn up adds capability, and adds usage.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50000" y="2361720"/>
            <a:ext cx="20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5E6A78"/>
                </a:solidFill>
                <a:latin typeface="Arial"/>
              </a:rPr>
              <a:t>USES LESS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0000" y="2361720"/>
            <a:ext cx="275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D31242"/>
                </a:solidFill>
                <a:latin typeface="Arial"/>
              </a:rPr>
              <a:t>USES MORE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80000"/>
            <a:ext cx="11274552" cy="5305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7200" y="2580000"/>
            <a:ext cx="2700000" cy="530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 i="0">
                <a:solidFill>
                  <a:srgbClr val="1F2733"/>
                </a:solidFill>
                <a:latin typeface="Arial"/>
              </a:rPr>
              <a:t>Model</a:t>
            </a:r>
          </a:p>
          <a:p>
            <a:pPr>
              <a:spcBef>
                <a:spcPts val="200"/>
              </a:spcBef>
            </a:pPr>
            <a:r>
              <a:rPr sz="1000" b="0" i="0">
                <a:solidFill>
                  <a:srgbClr val="5E6A78"/>
                </a:solidFill>
                <a:latin typeface="Arial"/>
              </a:rPr>
              <a:t>Which model does the 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0000" y="2580000"/>
            <a:ext cx="1750000" cy="530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E6A78"/>
                </a:solidFill>
                <a:latin typeface="Arial"/>
              </a:rPr>
              <a:t>Haiku · GPT Luna</a:t>
            </a:r>
          </a:p>
          <a:p>
            <a:pPr algn="r">
              <a:spcBef>
                <a:spcPts val="100"/>
              </a:spcBef>
            </a:pPr>
            <a:r>
              <a:rPr sz="950" b="0" i="0">
                <a:solidFill>
                  <a:srgbClr val="5E6A78"/>
                </a:solidFill>
                <a:latin typeface="Arial"/>
              </a:rPr>
              <a:t>quick everyday tasks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20000" y="2813268"/>
            <a:ext cx="3300000" cy="64000"/>
          </a:xfrm>
          <a:prstGeom prst="roundRect">
            <a:avLst>
              <a:gd name="adj" fmla="val 50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360000" y="2770268"/>
            <a:ext cx="150000" cy="15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E6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8470000" y="2765268"/>
            <a:ext cx="180000" cy="160000"/>
          </a:xfrm>
          <a:prstGeom prst="chevron">
            <a:avLst/>
          </a:prstGeom>
          <a:solidFill>
            <a:srgbClr val="D3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40000" y="2580000"/>
            <a:ext cx="2750000" cy="530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1F2733"/>
                </a:solidFill>
                <a:latin typeface="Arial"/>
              </a:rPr>
              <a:t>Opus · GPT Sol</a:t>
            </a:r>
          </a:p>
          <a:p>
            <a:pPr>
              <a:spcBef>
                <a:spcPts val="100"/>
              </a:spcBef>
            </a:pPr>
            <a:r>
              <a:rPr sz="950" b="0" i="0">
                <a:solidFill>
                  <a:srgbClr val="D31242"/>
                </a:solidFill>
                <a:latin typeface="Arial"/>
              </a:rPr>
              <a:t>about 5× the cost per token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162536"/>
            <a:ext cx="11274552" cy="5305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200" y="3162536"/>
            <a:ext cx="2700000" cy="530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 i="0">
                <a:solidFill>
                  <a:srgbClr val="1F2733"/>
                </a:solidFill>
                <a:latin typeface="Arial"/>
              </a:rPr>
              <a:t>Reasoning</a:t>
            </a:r>
          </a:p>
          <a:p>
            <a:pPr>
              <a:spcBef>
                <a:spcPts val="200"/>
              </a:spcBef>
            </a:pPr>
            <a:r>
              <a:rPr sz="1000" b="0" i="0">
                <a:solidFill>
                  <a:srgbClr val="5E6A78"/>
                </a:solidFill>
                <a:latin typeface="Arial"/>
              </a:rPr>
              <a:t>How long it thinks before it answers.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0000" y="3162536"/>
            <a:ext cx="1750000" cy="530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E6A78"/>
                </a:solidFill>
                <a:latin typeface="Arial"/>
              </a:rPr>
              <a:t>quick answer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20000" y="3395804"/>
            <a:ext cx="3300000" cy="64000"/>
          </a:xfrm>
          <a:prstGeom prst="roundRect">
            <a:avLst>
              <a:gd name="adj" fmla="val 50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60000" y="3352804"/>
            <a:ext cx="150000" cy="15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E6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evron 20"/>
          <p:cNvSpPr/>
          <p:nvPr/>
        </p:nvSpPr>
        <p:spPr>
          <a:xfrm>
            <a:off x="8470000" y="3347804"/>
            <a:ext cx="180000" cy="160000"/>
          </a:xfrm>
          <a:prstGeom prst="chevron">
            <a:avLst/>
          </a:prstGeom>
          <a:solidFill>
            <a:srgbClr val="D3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40000" y="3162536"/>
            <a:ext cx="2750000" cy="530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0" i="0">
                <a:solidFill>
                  <a:srgbClr val="1F2733"/>
                </a:solidFill>
                <a:latin typeface="Arial"/>
              </a:rPr>
              <a:t>extended thinking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745072"/>
            <a:ext cx="11274552" cy="5305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7200" y="3745072"/>
            <a:ext cx="2700000" cy="530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 i="0">
                <a:solidFill>
                  <a:srgbClr val="1F2733"/>
                </a:solidFill>
                <a:latin typeface="Arial"/>
              </a:rPr>
              <a:t>Tools</a:t>
            </a:r>
          </a:p>
          <a:p>
            <a:pPr>
              <a:spcBef>
                <a:spcPts val="200"/>
              </a:spcBef>
            </a:pPr>
            <a:r>
              <a:rPr sz="1000" b="0" i="0">
                <a:solidFill>
                  <a:srgbClr val="5E6A78"/>
                </a:solidFill>
                <a:latin typeface="Arial"/>
              </a:rPr>
              <a:t>What it can use while it works.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0000" y="3745072"/>
            <a:ext cx="1750000" cy="530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E6A78"/>
                </a:solidFill>
                <a:latin typeface="Arial"/>
              </a:rPr>
              <a:t>just chat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20000" y="3978340"/>
            <a:ext cx="3300000" cy="64000"/>
          </a:xfrm>
          <a:prstGeom prst="roundRect">
            <a:avLst>
              <a:gd name="adj" fmla="val 50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360000" y="3935340"/>
            <a:ext cx="150000" cy="15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E6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evron 27"/>
          <p:cNvSpPr/>
          <p:nvPr/>
        </p:nvSpPr>
        <p:spPr>
          <a:xfrm>
            <a:off x="8470000" y="3930340"/>
            <a:ext cx="180000" cy="160000"/>
          </a:xfrm>
          <a:prstGeom prst="chevron">
            <a:avLst/>
          </a:prstGeom>
          <a:solidFill>
            <a:srgbClr val="D3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40000" y="3745072"/>
            <a:ext cx="2750000" cy="530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0" i="0">
                <a:solidFill>
                  <a:srgbClr val="1F2733"/>
                </a:solidFill>
                <a:latin typeface="Arial"/>
              </a:rPr>
              <a:t>search, files, and agents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327608"/>
            <a:ext cx="11274552" cy="5305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7200" y="4327608"/>
            <a:ext cx="2700000" cy="530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 i="0">
                <a:solidFill>
                  <a:srgbClr val="1F2733"/>
                </a:solidFill>
                <a:latin typeface="Arial"/>
              </a:rPr>
              <a:t>Context</a:t>
            </a:r>
          </a:p>
          <a:p>
            <a:pPr>
              <a:spcBef>
                <a:spcPts val="200"/>
              </a:spcBef>
            </a:pPr>
            <a:r>
              <a:rPr sz="1000" b="0" i="0">
                <a:solidFill>
                  <a:srgbClr val="5E6A78"/>
                </a:solidFill>
                <a:latin typeface="Arial"/>
              </a:rPr>
              <a:t>How much material you give it.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0000" y="4327608"/>
            <a:ext cx="1750000" cy="530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E6A78"/>
                </a:solidFill>
                <a:latin typeface="Arial"/>
              </a:rPr>
              <a:t>a short question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20000" y="4560876"/>
            <a:ext cx="3300000" cy="64000"/>
          </a:xfrm>
          <a:prstGeom prst="roundRect">
            <a:avLst>
              <a:gd name="adj" fmla="val 50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360000" y="4517876"/>
            <a:ext cx="150000" cy="15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E6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evron 34"/>
          <p:cNvSpPr/>
          <p:nvPr/>
        </p:nvSpPr>
        <p:spPr>
          <a:xfrm>
            <a:off x="8470000" y="4512876"/>
            <a:ext cx="180000" cy="160000"/>
          </a:xfrm>
          <a:prstGeom prst="chevron">
            <a:avLst/>
          </a:prstGeom>
          <a:solidFill>
            <a:srgbClr val="D3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40000" y="4327608"/>
            <a:ext cx="2750000" cy="530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0" i="0">
                <a:solidFill>
                  <a:srgbClr val="1F2733"/>
                </a:solidFill>
                <a:latin typeface="Arial"/>
              </a:rPr>
              <a:t>whole files and long threads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910144"/>
            <a:ext cx="11274552" cy="5305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7200" y="4910144"/>
            <a:ext cx="2700000" cy="530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 i="0">
                <a:solidFill>
                  <a:srgbClr val="1F2733"/>
                </a:solidFill>
                <a:latin typeface="Arial"/>
              </a:rPr>
              <a:t>Iterations</a:t>
            </a:r>
          </a:p>
          <a:p>
            <a:pPr>
              <a:spcBef>
                <a:spcPts val="200"/>
              </a:spcBef>
            </a:pPr>
            <a:r>
              <a:rPr sz="1000" b="0" i="0">
                <a:solidFill>
                  <a:srgbClr val="5E6A78"/>
                </a:solidFill>
                <a:latin typeface="Arial"/>
              </a:rPr>
              <a:t>How many passes you ask for.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50000" y="4910144"/>
            <a:ext cx="1750000" cy="530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E6A78"/>
                </a:solidFill>
                <a:latin typeface="Arial"/>
              </a:rPr>
              <a:t>one pass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20000" y="5143412"/>
            <a:ext cx="3300000" cy="64000"/>
          </a:xfrm>
          <a:prstGeom prst="roundRect">
            <a:avLst>
              <a:gd name="adj" fmla="val 50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360000" y="5100412"/>
            <a:ext cx="150000" cy="15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E6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evron 41"/>
          <p:cNvSpPr/>
          <p:nvPr/>
        </p:nvSpPr>
        <p:spPr>
          <a:xfrm>
            <a:off x="8470000" y="5095412"/>
            <a:ext cx="180000" cy="160000"/>
          </a:xfrm>
          <a:prstGeom prst="chevron">
            <a:avLst/>
          </a:prstGeom>
          <a:solidFill>
            <a:srgbClr val="D3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40000" y="4910144"/>
            <a:ext cx="2750000" cy="530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0" i="0">
                <a:solidFill>
                  <a:srgbClr val="1F2733"/>
                </a:solidFill>
                <a:latin typeface="Arial"/>
              </a:rPr>
              <a:t>draft after draft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440680"/>
            <a:ext cx="11274552" cy="749808"/>
          </a:xfrm>
          <a:prstGeom prst="roundRect">
            <a:avLst>
              <a:gd name="adj" fmla="val 8000"/>
            </a:avLst>
          </a:prstGeom>
          <a:solidFill>
            <a:srgbClr val="F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440680"/>
            <a:ext cx="11274552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1F2733"/>
                </a:solidFill>
                <a:latin typeface="Arial"/>
              </a:rPr>
              <a:t>Match the dials to the task. </a:t>
            </a:r>
            <a:r>
              <a:rPr sz="1500" b="1" i="0">
                <a:solidFill>
                  <a:srgbClr val="A60E34"/>
                </a:solidFill>
                <a:latin typeface="Arial"/>
              </a:rPr>
              <a:t>Turn them up only when the task earns it.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510528"/>
            <a:ext cx="420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8A93A0"/>
                </a:solidFill>
                <a:latin typeface="Arial"/>
              </a:rPr>
              <a:t>Illustrative, not an official BJ's publication.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00000" y="6510528"/>
            <a:ext cx="6931752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A93A0"/>
                </a:solidFill>
                <a:latin typeface="Arial"/>
              </a:rPr>
              <a:t>Model rates (API list, July 2026), per million tokens in/out: Claude Haiku $1/$5 · Sonnet $3/$15 · Opus $5/$25 · ChatGPT Luna $0.50/$3 · Terra $1.25/$7.50 · Sol $2.50/$15.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8800"/>
            <a:ext cx="3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D31242"/>
                </a:solidFill>
                <a:latin typeface="Arial"/>
              </a:rPr>
              <a:t>BJ's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3680"/>
            <a:ext cx="30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1F2733"/>
                </a:solidFill>
                <a:latin typeface="Arial"/>
              </a:rPr>
              <a:t>WHOLESALE CLUB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0" y="430000"/>
            <a:ext cx="3735352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D31242"/>
                </a:solidFill>
                <a:latin typeface="Arial"/>
              </a:rPr>
              <a:t>GUIDE THE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4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1F2733"/>
                </a:solidFill>
                <a:latin typeface="Arial"/>
              </a:rPr>
              <a:t>Start efficient, then escalate deliberately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1274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5E6A78"/>
                </a:solidFill>
                <a:latin typeface="Arial"/>
              </a:rPr>
              <a:t>Every Claude task is one cell on this map: a model times an effort level. Cost climbs toward the top right.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24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D31242"/>
                </a:solidFill>
                <a:latin typeface="Arial"/>
              </a:rPr>
              <a:t>MODEL</a:t>
            </a:r>
            <a:r>
              <a:rPr sz="950" b="0" i="0">
                <a:solidFill>
                  <a:srgbClr val="5E6A78"/>
                </a:solidFill>
                <a:latin typeface="Arial"/>
              </a:rPr>
              <a:t>  capability and cost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50000" y="2331720"/>
            <a:ext cx="8531752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D31242"/>
                </a:solidFill>
                <a:latin typeface="Arial"/>
              </a:rPr>
              <a:t>EFFORT</a:t>
            </a:r>
            <a:r>
              <a:rPr sz="950" b="0" i="0">
                <a:solidFill>
                  <a:srgbClr val="5E6A78"/>
                </a:solidFill>
                <a:latin typeface="Arial"/>
              </a:rPr>
              <a:t>  how hard it thinks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0000" y="2551720"/>
            <a:ext cx="166635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F2733"/>
                </a:solidFill>
                <a:latin typeface="Arial"/>
              </a:rPr>
              <a:t>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6350" y="2551720"/>
            <a:ext cx="166635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F2733"/>
                </a:solidFill>
                <a:latin typeface="Arial"/>
              </a:rPr>
              <a:t>Medium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2700" y="2551720"/>
            <a:ext cx="166635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F2733"/>
                </a:solidFill>
                <a:latin typeface="Arial"/>
              </a:rPr>
              <a:t>High</a:t>
            </a:r>
          </a:p>
          <a:p>
            <a:pPr algn="ctr"/>
            <a:r>
              <a:rPr sz="750" b="1" i="0">
                <a:solidFill>
                  <a:srgbClr val="D31242"/>
                </a:solidFill>
                <a:latin typeface="Arial"/>
              </a:rPr>
              <a:t>DEFAULT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9051" y="2551720"/>
            <a:ext cx="166635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F2733"/>
                </a:solidFill>
                <a:latin typeface="Arial"/>
              </a:rPr>
              <a:t>Extra 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15401" y="2551720"/>
            <a:ext cx="166635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F2733"/>
                </a:solidFill>
                <a:latin typeface="Arial"/>
              </a:rPr>
              <a:t>Max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91720"/>
            <a:ext cx="2450000" cy="7896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F2733"/>
                </a:solidFill>
                <a:latin typeface="Arial"/>
              </a:rPr>
              <a:t>Opus</a:t>
            </a:r>
          </a:p>
          <a:p>
            <a:pPr algn="r">
              <a:spcBef>
                <a:spcPts val="100"/>
              </a:spcBef>
            </a:pPr>
            <a:r>
              <a:rPr sz="900" b="0" i="0">
                <a:solidFill>
                  <a:srgbClr val="5E6A78"/>
                </a:solidFill>
                <a:latin typeface="Arial"/>
              </a:rPr>
              <a:t>deepest work  ·  5× cost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50000" y="2891720"/>
            <a:ext cx="1666350" cy="789653"/>
          </a:xfrm>
          <a:prstGeom prst="roundRect">
            <a:avLst>
              <a:gd name="adj" fmla="val 10000"/>
            </a:avLst>
          </a:prstGeom>
          <a:solidFill>
            <a:srgbClr val="EB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66350" y="2891720"/>
            <a:ext cx="1666350" cy="789653"/>
          </a:xfrm>
          <a:prstGeom prst="roundRect">
            <a:avLst>
              <a:gd name="adj" fmla="val 10000"/>
            </a:avLst>
          </a:prstGeom>
          <a:solidFill>
            <a:srgbClr val="DA9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82700" y="2891720"/>
            <a:ext cx="1666350" cy="789653"/>
          </a:xfrm>
          <a:prstGeom prst="roundRect">
            <a:avLst>
              <a:gd name="adj" fmla="val 10000"/>
            </a:avLst>
          </a:prstGeom>
          <a:solidFill>
            <a:srgbClr val="C86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99051" y="2891720"/>
            <a:ext cx="1666350" cy="789653"/>
          </a:xfrm>
          <a:prstGeom prst="roundRect">
            <a:avLst>
              <a:gd name="adj" fmla="val 10000"/>
            </a:avLst>
          </a:prstGeom>
          <a:solidFill>
            <a:srgbClr val="B73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915401" y="2891720"/>
            <a:ext cx="1666350" cy="789653"/>
          </a:xfrm>
          <a:prstGeom prst="roundRect">
            <a:avLst>
              <a:gd name="adj" fmla="val 10000"/>
            </a:avLst>
          </a:prstGeom>
          <a:solidFill>
            <a:srgbClr val="A60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731373"/>
            <a:ext cx="2450000" cy="7896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F2733"/>
                </a:solidFill>
                <a:latin typeface="Arial"/>
              </a:rPr>
              <a:t>Sonnet</a:t>
            </a:r>
          </a:p>
          <a:p>
            <a:pPr algn="r">
              <a:spcBef>
                <a:spcPts val="100"/>
              </a:spcBef>
            </a:pPr>
            <a:r>
              <a:rPr sz="900" b="0" i="0">
                <a:solidFill>
                  <a:srgbClr val="5E6A78"/>
                </a:solidFill>
                <a:latin typeface="Arial"/>
              </a:rPr>
              <a:t>the default  ·  3× cost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50000" y="3731373"/>
            <a:ext cx="1666350" cy="789653"/>
          </a:xfrm>
          <a:prstGeom prst="roundRect">
            <a:avLst>
              <a:gd name="adj" fmla="val 10000"/>
            </a:avLst>
          </a:prstGeom>
          <a:solidFill>
            <a:srgbClr val="F2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766350" y="3731373"/>
            <a:ext cx="1666350" cy="789653"/>
          </a:xfrm>
          <a:prstGeom prst="roundRect">
            <a:avLst>
              <a:gd name="adj" fmla="val 10000"/>
            </a:avLst>
          </a:prstGeom>
          <a:solidFill>
            <a:srgbClr val="E8B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82700" y="3731373"/>
            <a:ext cx="1666350" cy="789653"/>
          </a:xfrm>
          <a:prstGeom prst="roundRect">
            <a:avLst>
              <a:gd name="adj" fmla="val 10000"/>
            </a:avLst>
          </a:prstGeom>
          <a:solidFill>
            <a:srgbClr val="DD9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99051" y="3731373"/>
            <a:ext cx="1666350" cy="789653"/>
          </a:xfrm>
          <a:prstGeom prst="roundRect">
            <a:avLst>
              <a:gd name="adj" fmla="val 10000"/>
            </a:avLst>
          </a:prstGeom>
          <a:solidFill>
            <a:srgbClr val="D383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915401" y="3731373"/>
            <a:ext cx="1666350" cy="789653"/>
          </a:xfrm>
          <a:prstGeom prst="roundRect">
            <a:avLst>
              <a:gd name="adj" fmla="val 10000"/>
            </a:avLst>
          </a:prstGeom>
          <a:solidFill>
            <a:srgbClr val="C86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571026"/>
            <a:ext cx="2450000" cy="7896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F2733"/>
                </a:solidFill>
                <a:latin typeface="Arial"/>
              </a:rPr>
              <a:t>Haiku</a:t>
            </a:r>
          </a:p>
          <a:p>
            <a:pPr algn="r">
              <a:spcBef>
                <a:spcPts val="100"/>
              </a:spcBef>
            </a:pPr>
            <a:r>
              <a:rPr sz="900" b="0" i="0">
                <a:solidFill>
                  <a:srgbClr val="5E6A78"/>
                </a:solidFill>
                <a:latin typeface="Arial"/>
              </a:rPr>
              <a:t>fastest  ·  1× cost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50000" y="4571026"/>
            <a:ext cx="1666350" cy="789653"/>
          </a:xfrm>
          <a:prstGeom prst="roundRect">
            <a:avLst>
              <a:gd name="adj" fmla="val 10000"/>
            </a:avLst>
          </a:prstGeom>
          <a:solidFill>
            <a:srgbClr val="F9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766350" y="4571026"/>
            <a:ext cx="1666350" cy="789653"/>
          </a:xfrm>
          <a:prstGeom prst="roundRect">
            <a:avLst>
              <a:gd name="adj" fmla="val 10000"/>
            </a:avLst>
          </a:prstGeom>
          <a:solidFill>
            <a:srgbClr val="F6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82700" y="4571026"/>
            <a:ext cx="1666350" cy="789653"/>
          </a:xfrm>
          <a:prstGeom prst="roundRect">
            <a:avLst>
              <a:gd name="adj" fmla="val 10000"/>
            </a:avLst>
          </a:prstGeom>
          <a:solidFill>
            <a:srgbClr val="F2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99051" y="4571026"/>
            <a:ext cx="1666350" cy="789653"/>
          </a:xfrm>
          <a:prstGeom prst="roundRect">
            <a:avLst>
              <a:gd name="adj" fmla="val 10000"/>
            </a:avLst>
          </a:prstGeom>
          <a:solidFill>
            <a:srgbClr val="EFC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15401" y="4571026"/>
            <a:ext cx="1666350" cy="789653"/>
          </a:xfrm>
          <a:prstGeom prst="roundRect">
            <a:avLst>
              <a:gd name="adj" fmla="val 10000"/>
            </a:avLst>
          </a:prstGeom>
          <a:solidFill>
            <a:srgbClr val="EB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050000" y="3731373"/>
            <a:ext cx="3382700" cy="1629306"/>
          </a:xfrm>
          <a:prstGeom prst="roundRect">
            <a:avLst>
              <a:gd name="adj" fmla="val 6000"/>
            </a:avLst>
          </a:prstGeom>
          <a:noFill/>
          <a:ln w="28575">
            <a:solidFill>
              <a:srgbClr val="1F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216350" y="4276026"/>
            <a:ext cx="3050000" cy="54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1F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86350" y="4276026"/>
            <a:ext cx="291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D31242"/>
                </a:solidFill>
                <a:latin typeface="Arial"/>
              </a:rPr>
              <a:t>1</a:t>
            </a:r>
            <a:r>
              <a:rPr sz="1100" b="1" i="0">
                <a:solidFill>
                  <a:srgbClr val="1F2733"/>
                </a:solidFill>
                <a:latin typeface="Arial"/>
              </a:rPr>
              <a:t>  EVERYDAY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5E6A78"/>
                </a:solidFill>
                <a:latin typeface="Arial"/>
              </a:rPr>
              <a:t>quick drafts  ·  short summaries  ·  basic Q&amp;A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82700" y="3731373"/>
            <a:ext cx="1666350" cy="789653"/>
          </a:xfrm>
          <a:prstGeom prst="roundRect">
            <a:avLst>
              <a:gd name="adj" fmla="val 6000"/>
            </a:avLst>
          </a:prstGeom>
          <a:noFill/>
          <a:ln w="28575">
            <a:solidFill>
              <a:srgbClr val="1F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535876" y="3856200"/>
            <a:ext cx="1560000" cy="54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1F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05876" y="3856200"/>
            <a:ext cx="142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D31242"/>
                </a:solidFill>
                <a:latin typeface="Arial"/>
              </a:rPr>
              <a:t>2</a:t>
            </a:r>
            <a:r>
              <a:rPr sz="1100" b="1" i="0">
                <a:solidFill>
                  <a:srgbClr val="1F2733"/>
                </a:solidFill>
                <a:latin typeface="Arial"/>
              </a:rPr>
              <a:t>  ANALYTICAL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5E6A78"/>
                </a:solidFill>
                <a:latin typeface="Arial"/>
              </a:rPr>
              <a:t>compare · recommend · plan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99051" y="2891720"/>
            <a:ext cx="3382700" cy="1629306"/>
          </a:xfrm>
          <a:prstGeom prst="roundRect">
            <a:avLst>
              <a:gd name="adj" fmla="val 6000"/>
            </a:avLst>
          </a:prstGeom>
          <a:noFill/>
          <a:ln w="28575">
            <a:solidFill>
              <a:srgbClr val="1F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15401" y="3436373"/>
            <a:ext cx="3350000" cy="54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1F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85401" y="3436373"/>
            <a:ext cx="321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D31242"/>
                </a:solidFill>
                <a:latin typeface="Arial"/>
              </a:rPr>
              <a:t>3</a:t>
            </a:r>
            <a:r>
              <a:rPr sz="1100" b="1" i="0">
                <a:solidFill>
                  <a:srgbClr val="1F2733"/>
                </a:solidFill>
                <a:latin typeface="Arial"/>
              </a:rPr>
              <a:t>  COMPLEX WORK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5E6A78"/>
                </a:solidFill>
                <a:latin typeface="Arial"/>
              </a:rPr>
              <a:t>high-stakes analysis  ·  long research  ·  big multi-step jobs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440680"/>
            <a:ext cx="11274552" cy="749808"/>
          </a:xfrm>
          <a:prstGeom prst="roundRect">
            <a:avLst>
              <a:gd name="adj" fmla="val 8000"/>
            </a:avLst>
          </a:prstGeom>
          <a:solidFill>
            <a:srgbClr val="F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440680"/>
            <a:ext cx="11274552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1F2733"/>
                </a:solidFill>
                <a:latin typeface="Arial"/>
              </a:rPr>
              <a:t>Start in the everyday zone. </a:t>
            </a:r>
            <a:r>
              <a:rPr sz="1500" b="1" i="0">
                <a:solidFill>
                  <a:srgbClr val="A60E34"/>
                </a:solidFill>
                <a:latin typeface="Arial"/>
              </a:rPr>
              <a:t>Move up only when quality, complexity, or tool needs earn the added usage.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510528"/>
            <a:ext cx="420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8A93A0"/>
                </a:solidFill>
                <a:latin typeface="Arial"/>
              </a:rPr>
              <a:t>Illustrative, not an official BJ's publication.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00000" y="6510528"/>
            <a:ext cx="6931752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A93A0"/>
                </a:solidFill>
                <a:latin typeface="Arial"/>
              </a:rPr>
              <a:t>Cost multiples from API list prices, July 2026 (Haiku $1/$5 · Sonnet $3/$15 · Opus $5/$25 per million tokens). Shading shows relative cost. Effort selector available on Opus and newer Sonnet models.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8800"/>
            <a:ext cx="3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D31242"/>
                </a:solidFill>
                <a:latin typeface="Arial"/>
              </a:rPr>
              <a:t>BJ's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3680"/>
            <a:ext cx="30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1F2733"/>
                </a:solidFill>
                <a:latin typeface="Arial"/>
              </a:rPr>
              <a:t>WHOLESALE CLUB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0" y="430000"/>
            <a:ext cx="3735352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D31242"/>
                </a:solidFill>
                <a:latin typeface="Arial"/>
              </a:rPr>
              <a:t>GUIDE THE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4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1F2733"/>
                </a:solidFill>
                <a:latin typeface="Arial"/>
              </a:rPr>
              <a:t>Give AI the right data, and only what it needs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1274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5E6A78"/>
                </a:solidFill>
                <a:latin typeface="Arial"/>
              </a:rPr>
              <a:t>Not sure whether something can go into an AI tool? Check its color first.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31720"/>
            <a:ext cx="3591517" cy="256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7200" y="2511720"/>
            <a:ext cx="170000" cy="1700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7200" y="2471720"/>
            <a:ext cx="3041517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E7D32"/>
                </a:solidFill>
                <a:latin typeface="Arial"/>
              </a:rPr>
              <a:t>GREEN</a:t>
            </a:r>
            <a:r>
              <a:rPr sz="1050" b="0" i="0">
                <a:solidFill>
                  <a:srgbClr val="5E6A78"/>
                </a:solidFill>
                <a:latin typeface="Arial"/>
              </a:rPr>
              <a:t>   generally 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200" y="2851720"/>
            <a:ext cx="3211517" cy="161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2E7D32"/>
                </a:solidFill>
                <a:latin typeface="Arial"/>
              </a:rPr>
              <a:t>•  </a:t>
            </a:r>
            <a:r>
              <a:rPr sz="950" b="0" i="0">
                <a:solidFill>
                  <a:srgbClr val="1F2733"/>
                </a:solidFill>
                <a:latin typeface="Arial"/>
              </a:rPr>
              <a:t>Public information</a:t>
            </a:r>
          </a:p>
          <a:p>
            <a:pPr>
              <a:spcBef>
                <a:spcPts val="450"/>
              </a:spcBef>
            </a:pPr>
            <a:r>
              <a:rPr sz="950" b="0" i="0">
                <a:solidFill>
                  <a:srgbClr val="2E7D32"/>
                </a:solidFill>
                <a:latin typeface="Arial"/>
              </a:rPr>
              <a:t>•  </a:t>
            </a:r>
            <a:r>
              <a:rPr sz="950" b="0" i="0">
                <a:solidFill>
                  <a:srgbClr val="1F2733"/>
                </a:solidFill>
                <a:latin typeface="Arial"/>
              </a:rPr>
              <a:t>Published BJ's materials</a:t>
            </a:r>
          </a:p>
          <a:p>
            <a:pPr>
              <a:spcBef>
                <a:spcPts val="450"/>
              </a:spcBef>
            </a:pPr>
            <a:r>
              <a:rPr sz="950" b="0" i="0">
                <a:solidFill>
                  <a:srgbClr val="2E7D32"/>
                </a:solidFill>
                <a:latin typeface="Arial"/>
              </a:rPr>
              <a:t>•  </a:t>
            </a:r>
            <a:r>
              <a:rPr sz="950" b="0" i="0">
                <a:solidFill>
                  <a:srgbClr val="1F2733"/>
                </a:solidFill>
                <a:latin typeface="Arial"/>
              </a:rPr>
              <a:t>Generic process questions</a:t>
            </a:r>
          </a:p>
          <a:p>
            <a:pPr>
              <a:spcBef>
                <a:spcPts val="450"/>
              </a:spcBef>
            </a:pPr>
            <a:r>
              <a:rPr sz="950" b="0" i="0">
                <a:solidFill>
                  <a:srgbClr val="2E7D32"/>
                </a:solidFill>
                <a:latin typeface="Arial"/>
              </a:rPr>
              <a:t>•  </a:t>
            </a:r>
            <a:r>
              <a:rPr sz="950" b="0" i="0">
                <a:solidFill>
                  <a:srgbClr val="1F2733"/>
                </a:solidFill>
                <a:latin typeface="Arial"/>
              </a:rPr>
              <a:t>Drafting, editing, brainstorming</a:t>
            </a:r>
          </a:p>
          <a:p>
            <a:pPr>
              <a:spcBef>
                <a:spcPts val="450"/>
              </a:spcBef>
            </a:pPr>
            <a:r>
              <a:rPr sz="950" b="0" i="0">
                <a:solidFill>
                  <a:srgbClr val="2E7D32"/>
                </a:solidFill>
                <a:latin typeface="Arial"/>
              </a:rPr>
              <a:t>•  </a:t>
            </a:r>
            <a:r>
              <a:rPr sz="950" b="0" i="0">
                <a:solidFill>
                  <a:srgbClr val="1F2733"/>
                </a:solidFill>
                <a:latin typeface="Arial"/>
              </a:rPr>
              <a:t>Job descriptions and role profiles</a:t>
            </a:r>
          </a:p>
          <a:p>
            <a:pPr>
              <a:spcBef>
                <a:spcPts val="450"/>
              </a:spcBef>
            </a:pPr>
            <a:r>
              <a:rPr sz="950" b="0" i="0">
                <a:solidFill>
                  <a:srgbClr val="2E7D32"/>
                </a:solidFill>
                <a:latin typeface="Arial"/>
              </a:rPr>
              <a:t>•  </a:t>
            </a:r>
            <a:r>
              <a:rPr sz="950" b="0" i="0">
                <a:solidFill>
                  <a:srgbClr val="1F2733"/>
                </a:solidFill>
                <a:latin typeface="Arial"/>
              </a:rPr>
              <a:t>Aggregated or anonymized data</a:t>
            </a:r>
          </a:p>
          <a:p>
            <a:pPr>
              <a:spcBef>
                <a:spcPts val="450"/>
              </a:spcBef>
            </a:pPr>
            <a:r>
              <a:rPr sz="950" b="0" i="0">
                <a:solidFill>
                  <a:srgbClr val="2E7D32"/>
                </a:solidFill>
                <a:latin typeface="Arial"/>
              </a:rPr>
              <a:t>•  </a:t>
            </a:r>
            <a:r>
              <a:rPr sz="950" b="0" i="0">
                <a:solidFill>
                  <a:srgbClr val="1F2733"/>
                </a:solidFill>
                <a:latin typeface="Arial"/>
              </a:rPr>
              <a:t>General market 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7200" y="4520680"/>
            <a:ext cx="3331517" cy="300000"/>
          </a:xfrm>
          <a:prstGeom prst="roundRect">
            <a:avLst>
              <a:gd name="adj" fmla="val 25000"/>
            </a:avLst>
          </a:prstGeom>
          <a:solidFill>
            <a:srgbClr val="EC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200" y="4520680"/>
            <a:ext cx="3211517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Arial"/>
              </a:rPr>
              <a:t>Use freely in approved tools.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8717" y="2331720"/>
            <a:ext cx="3591517" cy="256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88717" y="2511720"/>
            <a:ext cx="170000" cy="170000"/>
          </a:xfrm>
          <a:prstGeom prst="ellipse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68717" y="2471720"/>
            <a:ext cx="3041517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B26A00"/>
                </a:solidFill>
                <a:latin typeface="Arial"/>
              </a:rPr>
              <a:t>YELLOW</a:t>
            </a:r>
            <a:r>
              <a:rPr sz="1050" b="0" i="0">
                <a:solidFill>
                  <a:srgbClr val="5E6A78"/>
                </a:solidFill>
                <a:latin typeface="Arial"/>
              </a:rPr>
              <a:t>   proceed carefully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8717" y="2851720"/>
            <a:ext cx="3211517" cy="161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B26A00"/>
                </a:solidFill>
                <a:latin typeface="Arial"/>
              </a:rPr>
              <a:t>•  </a:t>
            </a:r>
            <a:r>
              <a:rPr sz="950" b="0" i="0">
                <a:solidFill>
                  <a:srgbClr val="1F2733"/>
                </a:solidFill>
                <a:latin typeface="Arial"/>
              </a:rPr>
              <a:t>Internal strategy documents and project plans</a:t>
            </a:r>
          </a:p>
          <a:p>
            <a:pPr>
              <a:spcBef>
                <a:spcPts val="450"/>
              </a:spcBef>
            </a:pPr>
            <a:r>
              <a:rPr sz="950" b="0" i="0">
                <a:solidFill>
                  <a:srgbClr val="B26A00"/>
                </a:solidFill>
                <a:latin typeface="Arial"/>
              </a:rPr>
              <a:t>•  </a:t>
            </a:r>
            <a:r>
              <a:rPr sz="950" b="0" i="0">
                <a:solidFill>
                  <a:srgbClr val="1F2733"/>
                </a:solidFill>
                <a:latin typeface="Arial"/>
              </a:rPr>
              <a:t>Internal emails</a:t>
            </a:r>
          </a:p>
          <a:p>
            <a:pPr>
              <a:spcBef>
                <a:spcPts val="450"/>
              </a:spcBef>
            </a:pPr>
            <a:r>
              <a:rPr sz="950" b="0" i="0">
                <a:solidFill>
                  <a:srgbClr val="B26A00"/>
                </a:solidFill>
                <a:latin typeface="Arial"/>
              </a:rPr>
              <a:t>•  </a:t>
            </a:r>
            <a:r>
              <a:rPr sz="950" b="0" i="0">
                <a:solidFill>
                  <a:srgbClr val="1F2733"/>
                </a:solidFill>
                <a:latin typeface="Arial"/>
              </a:rPr>
              <a:t>Sales, inventory, or transaction trends</a:t>
            </a:r>
          </a:p>
          <a:p>
            <a:pPr>
              <a:spcBef>
                <a:spcPts val="450"/>
              </a:spcBef>
            </a:pPr>
            <a:r>
              <a:rPr sz="950" b="0" i="0">
                <a:solidFill>
                  <a:srgbClr val="B26A00"/>
                </a:solidFill>
                <a:latin typeface="Arial"/>
              </a:rPr>
              <a:t>•  </a:t>
            </a:r>
            <a:r>
              <a:rPr sz="950" b="0" i="0">
                <a:solidFill>
                  <a:srgbClr val="1F2733"/>
                </a:solidFill>
                <a:latin typeface="Arial"/>
              </a:rPr>
              <a:t>Vendor or supplier information</a:t>
            </a:r>
          </a:p>
          <a:p>
            <a:pPr>
              <a:spcBef>
                <a:spcPts val="450"/>
              </a:spcBef>
            </a:pPr>
            <a:r>
              <a:rPr sz="950" b="0" i="0">
                <a:solidFill>
                  <a:srgbClr val="B26A00"/>
                </a:solidFill>
                <a:latin typeface="Arial"/>
              </a:rPr>
              <a:t>•  </a:t>
            </a:r>
            <a:r>
              <a:rPr sz="950" b="0" i="0">
                <a:solidFill>
                  <a:srgbClr val="1F2733"/>
                </a:solidFill>
                <a:latin typeface="Arial"/>
              </a:rPr>
              <a:t>Non-public financials or merchandising</a:t>
            </a:r>
          </a:p>
          <a:p>
            <a:pPr>
              <a:spcBef>
                <a:spcPts val="450"/>
              </a:spcBef>
            </a:pPr>
            <a:r>
              <a:rPr sz="950" b="0" i="0">
                <a:solidFill>
                  <a:srgbClr val="B26A00"/>
                </a:solidFill>
                <a:latin typeface="Arial"/>
              </a:rPr>
              <a:t>•  </a:t>
            </a:r>
            <a:r>
              <a:rPr sz="950" b="0" i="0">
                <a:solidFill>
                  <a:srgbClr val="1F2733"/>
                </a:solidFill>
                <a:latin typeface="Arial"/>
              </a:rPr>
              <a:t>Competitive research</a:t>
            </a:r>
          </a:p>
          <a:p>
            <a:pPr>
              <a:spcBef>
                <a:spcPts val="450"/>
              </a:spcBef>
            </a:pPr>
            <a:r>
              <a:rPr sz="950" b="0" i="0">
                <a:solidFill>
                  <a:srgbClr val="B26A00"/>
                </a:solidFill>
                <a:latin typeface="Arial"/>
              </a:rPr>
              <a:t>•  </a:t>
            </a:r>
            <a:r>
              <a:rPr sz="950" b="0" i="0">
                <a:solidFill>
                  <a:srgbClr val="1F2733"/>
                </a:solidFill>
                <a:latin typeface="Arial"/>
              </a:rPr>
              <a:t>Anything uncomfortable if seen out of 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8717" y="4520680"/>
            <a:ext cx="3331517" cy="300000"/>
          </a:xfrm>
          <a:prstGeom prst="roundRect">
            <a:avLst>
              <a:gd name="adj" fmla="val 25000"/>
            </a:avLst>
          </a:prstGeom>
          <a:solidFill>
            <a:srgbClr val="FB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8717" y="4520680"/>
            <a:ext cx="3211517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B26A00"/>
                </a:solidFill>
                <a:latin typeface="Arial"/>
              </a:rPr>
              <a:t>Share the minimum the task needs.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40234" y="2331720"/>
            <a:ext cx="3591517" cy="256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30234" y="2511720"/>
            <a:ext cx="170000" cy="170000"/>
          </a:xfrm>
          <a:prstGeom prst="ellipse">
            <a:avLst/>
          </a:prstGeom>
          <a:solidFill>
            <a:srgbClr val="A60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10234" y="2471720"/>
            <a:ext cx="3041517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A60E34"/>
                </a:solidFill>
                <a:latin typeface="Arial"/>
              </a:rPr>
              <a:t>RED</a:t>
            </a:r>
            <a:r>
              <a:rPr sz="1050" b="0" i="0">
                <a:solidFill>
                  <a:srgbClr val="5E6A78"/>
                </a:solidFill>
                <a:latin typeface="Arial"/>
              </a:rPr>
              <a:t>   only with written approval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234" y="2851720"/>
            <a:ext cx="3211517" cy="161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A60E34"/>
                </a:solidFill>
                <a:latin typeface="Arial"/>
              </a:rPr>
              <a:t>•  </a:t>
            </a:r>
            <a:r>
              <a:rPr sz="950" b="0" i="0">
                <a:solidFill>
                  <a:srgbClr val="1F2733"/>
                </a:solidFill>
                <a:latin typeface="Arial"/>
              </a:rPr>
              <a:t>Member PII or identifiable purchase history</a:t>
            </a:r>
          </a:p>
          <a:p>
            <a:pPr>
              <a:spcBef>
                <a:spcPts val="450"/>
              </a:spcBef>
            </a:pPr>
            <a:r>
              <a:rPr sz="950" b="0" i="0">
                <a:solidFill>
                  <a:srgbClr val="A60E34"/>
                </a:solidFill>
                <a:latin typeface="Arial"/>
              </a:rPr>
              <a:t>•  </a:t>
            </a:r>
            <a:r>
              <a:rPr sz="950" b="0" i="0">
                <a:solidFill>
                  <a:srgbClr val="1F2733"/>
                </a:solidFill>
                <a:latin typeface="Arial"/>
              </a:rPr>
              <a:t>Credit card (PCI) or health (HIPAA) data</a:t>
            </a:r>
          </a:p>
          <a:p>
            <a:pPr>
              <a:spcBef>
                <a:spcPts val="450"/>
              </a:spcBef>
            </a:pPr>
            <a:r>
              <a:rPr sz="950" b="0" i="0">
                <a:solidFill>
                  <a:srgbClr val="A60E34"/>
                </a:solidFill>
                <a:latin typeface="Arial"/>
              </a:rPr>
              <a:t>•  </a:t>
            </a:r>
            <a:r>
              <a:rPr sz="950" b="0" i="0">
                <a:solidFill>
                  <a:srgbClr val="1F2733"/>
                </a:solidFill>
                <a:latin typeface="Arial"/>
              </a:rPr>
              <a:t>HR records: pay, leave, health, discipline</a:t>
            </a:r>
          </a:p>
          <a:p>
            <a:pPr>
              <a:spcBef>
                <a:spcPts val="450"/>
              </a:spcBef>
            </a:pPr>
            <a:r>
              <a:rPr sz="950" b="0" i="0">
                <a:solidFill>
                  <a:srgbClr val="A60E34"/>
                </a:solidFill>
                <a:latin typeface="Arial"/>
              </a:rPr>
              <a:t>•  </a:t>
            </a:r>
            <a:r>
              <a:rPr sz="950" b="0" i="0">
                <a:solidFill>
                  <a:srgbClr val="1F2733"/>
                </a:solidFill>
                <a:latin typeface="Arial"/>
              </a:rPr>
              <a:t>Material non-public information</a:t>
            </a:r>
          </a:p>
          <a:p>
            <a:pPr>
              <a:spcBef>
                <a:spcPts val="450"/>
              </a:spcBef>
            </a:pPr>
            <a:r>
              <a:rPr sz="950" b="0" i="0">
                <a:solidFill>
                  <a:srgbClr val="A60E34"/>
                </a:solidFill>
                <a:latin typeface="Arial"/>
              </a:rPr>
              <a:t>•  </a:t>
            </a:r>
            <a:r>
              <a:rPr sz="950" b="0" i="0">
                <a:solidFill>
                  <a:srgbClr val="1F2733"/>
                </a:solidFill>
                <a:latin typeface="Arial"/>
              </a:rPr>
              <a:t>Passwords and encryption keys</a:t>
            </a:r>
          </a:p>
          <a:p>
            <a:pPr>
              <a:spcBef>
                <a:spcPts val="450"/>
              </a:spcBef>
            </a:pPr>
            <a:r>
              <a:rPr sz="950" b="0" i="0">
                <a:solidFill>
                  <a:srgbClr val="A60E34"/>
                </a:solidFill>
                <a:latin typeface="Arial"/>
              </a:rPr>
              <a:t>•  </a:t>
            </a:r>
            <a:r>
              <a:rPr sz="950" b="0" i="0">
                <a:solidFill>
                  <a:srgbClr val="1F2733"/>
                </a:solidFill>
                <a:latin typeface="Arial"/>
              </a:rPr>
              <a:t>M&amp;A, litigation, trade secrets</a:t>
            </a:r>
          </a:p>
          <a:p>
            <a:pPr>
              <a:spcBef>
                <a:spcPts val="450"/>
              </a:spcBef>
            </a:pPr>
            <a:r>
              <a:rPr sz="950" b="0" i="0">
                <a:solidFill>
                  <a:srgbClr val="A60E34"/>
                </a:solidFill>
                <a:latin typeface="Arial"/>
              </a:rPr>
              <a:t>•  </a:t>
            </a:r>
            <a:r>
              <a:rPr sz="950" b="0" i="0">
                <a:solidFill>
                  <a:srgbClr val="1F2733"/>
                </a:solidFill>
                <a:latin typeface="Arial"/>
              </a:rPr>
              <a:t>Anything marked Restricted Confidential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0234" y="4520680"/>
            <a:ext cx="3331517" cy="300000"/>
          </a:xfrm>
          <a:prstGeom prst="roundRect">
            <a:avLst>
              <a:gd name="adj" fmla="val 25000"/>
            </a:avLst>
          </a:prstGeom>
          <a:solidFill>
            <a:srgbClr val="F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234" y="4520680"/>
            <a:ext cx="3211517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A60E34"/>
                </a:solidFill>
                <a:latin typeface="Arial"/>
              </a:rPr>
              <a:t>Never without explicit written authorization.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040680"/>
            <a:ext cx="11274552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D31242"/>
                </a:solidFill>
                <a:latin typeface="Arial"/>
              </a:rPr>
              <a:t>GIVE ENOUGH, NOT EVERYTHING   </a:t>
            </a:r>
            <a:r>
              <a:rPr sz="1000" b="0" i="0">
                <a:solidFill>
                  <a:srgbClr val="5E6A78"/>
                </a:solidFill>
                <a:latin typeface="Arial"/>
              </a:rPr>
              <a:t>an excerpt beats the whole document  ·  strip names and IDs the task doesn't need  ·  when unsure, stop and ask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440680"/>
            <a:ext cx="11274552" cy="749808"/>
          </a:xfrm>
          <a:prstGeom prst="roundRect">
            <a:avLst>
              <a:gd name="adj" fmla="val 8000"/>
            </a:avLst>
          </a:prstGeom>
          <a:solidFill>
            <a:srgbClr val="F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440680"/>
            <a:ext cx="11274552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1F2733"/>
                </a:solidFill>
                <a:latin typeface="Arial"/>
              </a:rPr>
              <a:t>If it's green, go. If it's yellow, trim it down. </a:t>
            </a:r>
            <a:r>
              <a:rPr sz="1500" b="1" i="0">
                <a:solidFill>
                  <a:srgbClr val="A60E34"/>
                </a:solidFill>
                <a:latin typeface="Arial"/>
              </a:rPr>
              <a:t>If it's red, stop.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10528"/>
            <a:ext cx="800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8A93A0"/>
                </a:solidFill>
                <a:latin typeface="Arial"/>
              </a:rPr>
              <a:t>Illustrative, not an official BJ's publication. Follow BJ's official data policy.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8800"/>
            <a:ext cx="3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D31242"/>
                </a:solidFill>
                <a:latin typeface="Arial"/>
              </a:rPr>
              <a:t>BJ's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3680"/>
            <a:ext cx="30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1F2733"/>
                </a:solidFill>
                <a:latin typeface="Arial"/>
              </a:rPr>
              <a:t>WHOLESALE CLUB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0" y="430000"/>
            <a:ext cx="3735352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D31242"/>
                </a:solidFill>
                <a:latin typeface="Arial"/>
              </a:rPr>
              <a:t>GUIDE THE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4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1F2733"/>
                </a:solidFill>
                <a:latin typeface="Arial"/>
              </a:rPr>
              <a:t>Connectors, approvals, and when to pause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1274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5E6A78"/>
                </a:solidFill>
                <a:latin typeface="Arial"/>
              </a:rPr>
              <a:t>A connector gives AI access to another system, like email or files. Granting one is a data decision, not a convenience.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31720"/>
            <a:ext cx="5487276" cy="1400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5875">
            <a:solidFill>
              <a:srgbClr val="5E6A7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7200" y="2501720"/>
            <a:ext cx="5047276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>
                <a:solidFill>
                  <a:srgbClr val="D31242"/>
                </a:solidFill>
                <a:latin typeface="Arial"/>
              </a:rPr>
              <a:t>APPROVED CONNECTORS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200" y="2831720"/>
            <a:ext cx="5047276" cy="7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1">
                <a:solidFill>
                  <a:srgbClr val="5E6A78"/>
                </a:solidFill>
                <a:latin typeface="Arial"/>
              </a:rPr>
              <a:t>[ Placeholder: list of BJ's-approved connectors goes here. Sudeep to confirm with IT. 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4476" y="2331720"/>
            <a:ext cx="5487276" cy="1400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5875">
            <a:solidFill>
              <a:srgbClr val="5E6A7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476" y="2501720"/>
            <a:ext cx="5047276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>
                <a:solidFill>
                  <a:srgbClr val="D31242"/>
                </a:solidFill>
                <a:latin typeface="Arial"/>
              </a:rPr>
              <a:t>REQUESTING A NEW CONNECTOR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476" y="2831720"/>
            <a:ext cx="5047276" cy="7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1">
                <a:solidFill>
                  <a:srgbClr val="5E6A78"/>
                </a:solidFill>
                <a:latin typeface="Arial"/>
              </a:rPr>
              <a:t>[ Placeholder: request and approval process. Sudeep to confirm with IT. 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71720"/>
            <a:ext cx="11274552" cy="132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7200" y="4131720"/>
            <a:ext cx="10834552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>
                <a:solidFill>
                  <a:srgbClr val="D31242"/>
                </a:solidFill>
                <a:latin typeface="Arial"/>
              </a:rPr>
              <a:t>PAUSE AND ASK FOR HELP WHEN...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7200" y="4491720"/>
            <a:ext cx="5267276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D31242"/>
                </a:solidFill>
                <a:latin typeface="Arial"/>
              </a:rPr>
              <a:t>•  </a:t>
            </a:r>
            <a:r>
              <a:rPr sz="1100" b="0" i="0">
                <a:solidFill>
                  <a:srgbClr val="1F2733"/>
                </a:solidFill>
                <a:latin typeface="Arial"/>
              </a:rPr>
              <a:t>You're not sure the data is permitted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4476" y="4491720"/>
            <a:ext cx="5267276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D31242"/>
                </a:solidFill>
                <a:latin typeface="Arial"/>
              </a:rPr>
              <a:t>•  </a:t>
            </a:r>
            <a:r>
              <a:rPr sz="1100" b="0" i="0">
                <a:solidFill>
                  <a:srgbClr val="1F2733"/>
                </a:solidFill>
                <a:latin typeface="Arial"/>
              </a:rPr>
              <a:t>The output affects employees, members, vendors, money, or compliance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200" y="4871720"/>
            <a:ext cx="5267276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D31242"/>
                </a:solidFill>
                <a:latin typeface="Arial"/>
              </a:rPr>
              <a:t>•  </a:t>
            </a:r>
            <a:r>
              <a:rPr sz="1100" b="0" i="0">
                <a:solidFill>
                  <a:srgbClr val="1F2733"/>
                </a:solidFill>
                <a:latin typeface="Arial"/>
              </a:rPr>
              <a:t>You're asking AI to take action or connect to another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4476" y="4871720"/>
            <a:ext cx="5267276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D31242"/>
                </a:solidFill>
                <a:latin typeface="Arial"/>
              </a:rPr>
              <a:t>•  </a:t>
            </a:r>
            <a:r>
              <a:rPr sz="1100" b="0" i="0">
                <a:solidFill>
                  <a:srgbClr val="1F2733"/>
                </a:solidFill>
                <a:latin typeface="Arial"/>
              </a:rPr>
              <a:t>You can't independently check whether the result is right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440680"/>
            <a:ext cx="11274552" cy="749808"/>
          </a:xfrm>
          <a:prstGeom prst="roundRect">
            <a:avLst>
              <a:gd name="adj" fmla="val 8000"/>
            </a:avLst>
          </a:prstGeom>
          <a:solidFill>
            <a:srgbClr val="F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440680"/>
            <a:ext cx="11274552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1F2733"/>
                </a:solidFill>
                <a:latin typeface="Arial"/>
              </a:rPr>
              <a:t>When in doubt, </a:t>
            </a:r>
            <a:r>
              <a:rPr sz="1500" b="1" i="0">
                <a:solidFill>
                  <a:srgbClr val="A60E34"/>
                </a:solidFill>
                <a:latin typeface="Arial"/>
              </a:rPr>
              <a:t>stop before adding more context or enabling more access.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10528"/>
            <a:ext cx="800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8A93A0"/>
                </a:solidFill>
                <a:latin typeface="Arial"/>
              </a:rPr>
              <a:t>Illustrative, not an official BJ's publication.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8800"/>
            <a:ext cx="3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D31242"/>
                </a:solidFill>
                <a:latin typeface="Arial"/>
              </a:rPr>
              <a:t>BJ's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3680"/>
            <a:ext cx="30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1F2733"/>
                </a:solidFill>
                <a:latin typeface="Arial"/>
              </a:rPr>
              <a:t>WHOLESALE CLUB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0" y="430000"/>
            <a:ext cx="3735352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D31242"/>
                </a:solidFill>
                <a:latin typeface="Arial"/>
              </a:rPr>
              <a:t>OWN THE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4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1F2733"/>
                </a:solidFill>
                <a:latin typeface="Arial"/>
              </a:rPr>
              <a:t>You own the final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1274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5E6A78"/>
                </a:solidFill>
                <a:latin typeface="Arial"/>
              </a:rPr>
              <a:t>AI can assist, but it does not transfer accountability.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31720"/>
            <a:ext cx="11274552" cy="7247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27200" y="2529090"/>
            <a:ext cx="330000" cy="330000"/>
          </a:xfrm>
          <a:prstGeom prst="ellipse">
            <a:avLst/>
          </a:prstGeom>
          <a:solidFill>
            <a:srgbClr val="D3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200" y="2529090"/>
            <a:ext cx="330000" cy="3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7200" y="2331720"/>
            <a:ext cx="4000000" cy="724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1F2733"/>
                </a:solidFill>
                <a:latin typeface="Arial"/>
              </a:rPr>
              <a:t>Information provided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0" y="2331720"/>
            <a:ext cx="6131752" cy="724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0" i="0">
                <a:solidFill>
                  <a:srgbClr val="5E6A78"/>
                </a:solidFill>
                <a:latin typeface="Arial"/>
              </a:rPr>
              <a:t>You choose what context, data, and files are appropriate to enter.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26460"/>
            <a:ext cx="11274552" cy="7247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7200" y="3323830"/>
            <a:ext cx="330000" cy="330000"/>
          </a:xfrm>
          <a:prstGeom prst="ellipse">
            <a:avLst/>
          </a:prstGeom>
          <a:solidFill>
            <a:srgbClr val="D3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00" y="3323830"/>
            <a:ext cx="330000" cy="3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7200" y="3126460"/>
            <a:ext cx="4000000" cy="724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1F2733"/>
                </a:solidFill>
                <a:latin typeface="Arial"/>
              </a:rPr>
              <a:t>Validation performed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0" y="3126460"/>
            <a:ext cx="6131752" cy="724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0" i="0">
                <a:solidFill>
                  <a:srgbClr val="5E6A78"/>
                </a:solidFill>
                <a:latin typeface="Arial"/>
              </a:rPr>
              <a:t>You check facts, logic, completeness, and risk before use.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21200"/>
            <a:ext cx="11274552" cy="7247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7200" y="4118570"/>
            <a:ext cx="330000" cy="330000"/>
          </a:xfrm>
          <a:prstGeom prst="ellipse">
            <a:avLst/>
          </a:prstGeom>
          <a:solidFill>
            <a:srgbClr val="D3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200" y="4118570"/>
            <a:ext cx="330000" cy="3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7200" y="3921200"/>
            <a:ext cx="4000000" cy="724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1F2733"/>
                </a:solidFill>
                <a:latin typeface="Arial"/>
              </a:rPr>
              <a:t>Judgment applied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0" y="3921200"/>
            <a:ext cx="6131752" cy="724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0" i="0">
                <a:solidFill>
                  <a:srgbClr val="5E6A78"/>
                </a:solidFill>
                <a:latin typeface="Arial"/>
              </a:rPr>
              <a:t>You decide what to accept, modify, reject, or escalate.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715940"/>
            <a:ext cx="11274552" cy="7247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27200" y="4913310"/>
            <a:ext cx="330000" cy="330000"/>
          </a:xfrm>
          <a:prstGeom prst="ellipse">
            <a:avLst/>
          </a:prstGeom>
          <a:solidFill>
            <a:srgbClr val="D3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200" y="4913310"/>
            <a:ext cx="330000" cy="3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7200" y="4715940"/>
            <a:ext cx="4000000" cy="724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1F2733"/>
                </a:solidFill>
                <a:latin typeface="Arial"/>
              </a:rPr>
              <a:t>Action taken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0000" y="4715940"/>
            <a:ext cx="6131752" cy="724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0" i="0">
                <a:solidFill>
                  <a:srgbClr val="5E6A78"/>
                </a:solidFill>
                <a:latin typeface="Arial"/>
              </a:rPr>
              <a:t>You own anything sent, shared, submitted, or acted upon.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440680"/>
            <a:ext cx="11274552" cy="749808"/>
          </a:xfrm>
          <a:prstGeom prst="roundRect">
            <a:avLst>
              <a:gd name="adj" fmla="val 8000"/>
            </a:avLst>
          </a:prstGeom>
          <a:solidFill>
            <a:srgbClr val="F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440680"/>
            <a:ext cx="11274552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1F2733"/>
                </a:solidFill>
                <a:latin typeface="Arial"/>
              </a:rPr>
              <a:t>AI informs and assists. </a:t>
            </a:r>
            <a:r>
              <a:rPr sz="1500" b="1" i="0">
                <a:solidFill>
                  <a:srgbClr val="A60E34"/>
                </a:solidFill>
                <a:latin typeface="Arial"/>
              </a:rPr>
              <a:t>BJ's team members decide and act.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10528"/>
            <a:ext cx="800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8A93A0"/>
                </a:solidFill>
                <a:latin typeface="Arial"/>
              </a:rPr>
              <a:t>Illustrative, not an official BJ's publication.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8800"/>
            <a:ext cx="3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D31242"/>
                </a:solidFill>
                <a:latin typeface="Arial"/>
              </a:rPr>
              <a:t>BJ's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3680"/>
            <a:ext cx="30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1F2733"/>
                </a:solidFill>
                <a:latin typeface="Arial"/>
              </a:rPr>
              <a:t>WHOLESALE CLUB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0" y="430000"/>
            <a:ext cx="3735352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D31242"/>
                </a:solidFill>
                <a:latin typeface="Arial"/>
              </a:rPr>
              <a:t>OWN THE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4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1F2733"/>
                </a:solidFill>
                <a:latin typeface="Arial"/>
              </a:rPr>
              <a:t>Treat the first response as a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1274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5E6A78"/>
                </a:solidFill>
                <a:latin typeface="Arial"/>
              </a:rPr>
              <a:t>The value often comes from the follow-up.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31720"/>
            <a:ext cx="3398184" cy="135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27200" y="2501720"/>
            <a:ext cx="300000" cy="300000"/>
          </a:xfrm>
          <a:prstGeom prst="ellipse">
            <a:avLst/>
          </a:prstGeom>
          <a:solidFill>
            <a:srgbClr val="D3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200" y="2501720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00" y="2501720"/>
            <a:ext cx="2628184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1F2733"/>
                </a:solidFill>
                <a:latin typeface="Arial"/>
              </a:rPr>
              <a:t>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200" y="2891720"/>
            <a:ext cx="3058184" cy="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5E6A78"/>
                </a:solidFill>
                <a:latin typeface="Arial"/>
              </a:rPr>
              <a:t>Read the whole draft. Does it answer what you asked, or does it just sound confident?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975384" y="2896720"/>
            <a:ext cx="300000" cy="220000"/>
          </a:xfrm>
          <a:prstGeom prst="rightArrow">
            <a:avLst/>
          </a:prstGeom>
          <a:solidFill>
            <a:srgbClr val="D3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95384" y="2331720"/>
            <a:ext cx="3398184" cy="135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65384" y="2501720"/>
            <a:ext cx="300000" cy="300000"/>
          </a:xfrm>
          <a:prstGeom prst="ellipse">
            <a:avLst/>
          </a:prstGeom>
          <a:solidFill>
            <a:srgbClr val="D3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5384" y="2501720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5384" y="2501720"/>
            <a:ext cx="2628184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1F2733"/>
                </a:solidFill>
                <a:latin typeface="Arial"/>
              </a:rPr>
              <a:t>Critique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5384" y="2891720"/>
            <a:ext cx="3058184" cy="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5E6A78"/>
                </a:solidFill>
                <a:latin typeface="Arial"/>
              </a:rPr>
              <a:t>Ask AI to identify weaknesses, gaps, assumptions, and unclear logic.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913568" y="2896720"/>
            <a:ext cx="300000" cy="220000"/>
          </a:xfrm>
          <a:prstGeom prst="rightArrow">
            <a:avLst/>
          </a:prstGeom>
          <a:solidFill>
            <a:srgbClr val="D3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33568" y="2331720"/>
            <a:ext cx="3398184" cy="135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03568" y="2501720"/>
            <a:ext cx="300000" cy="300000"/>
          </a:xfrm>
          <a:prstGeom prst="ellipse">
            <a:avLst/>
          </a:prstGeom>
          <a:solidFill>
            <a:srgbClr val="D3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568" y="2501720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33568" y="2501720"/>
            <a:ext cx="2628184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1F2733"/>
                </a:solidFill>
                <a:latin typeface="Arial"/>
              </a:rPr>
              <a:t>Improve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568" y="2891720"/>
            <a:ext cx="3058184" cy="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5E6A78"/>
                </a:solidFill>
                <a:latin typeface="Arial"/>
              </a:rPr>
              <a:t>Provide direction and request a revised version with higher quality.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881720"/>
            <a:ext cx="6000000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D31242"/>
                </a:solidFill>
                <a:latin typeface="Arial"/>
              </a:rPr>
              <a:t>HIGH-VALUE FOLLOW-UPS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181720"/>
            <a:ext cx="2698638" cy="6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7200" y="4181720"/>
            <a:ext cx="2418638" cy="6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1F2733"/>
                </a:solidFill>
                <a:latin typeface="Arial"/>
              </a:rPr>
              <a:t>“What assumptions are you making?”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15838" y="4181720"/>
            <a:ext cx="2698638" cy="6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5838" y="4181720"/>
            <a:ext cx="2418638" cy="6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1F2733"/>
                </a:solidFill>
                <a:latin typeface="Arial"/>
              </a:rPr>
              <a:t>“What would a skeptical executive challenge?”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4476" y="4181720"/>
            <a:ext cx="2698638" cy="6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14476" y="4181720"/>
            <a:ext cx="2418638" cy="6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1F2733"/>
                </a:solidFill>
                <a:latin typeface="Arial"/>
              </a:rPr>
              <a:t>“Give me three options and the trade-offs.”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33114" y="4181720"/>
            <a:ext cx="2698638" cy="6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73114" y="4181720"/>
            <a:ext cx="2418638" cy="6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1F2733"/>
                </a:solidFill>
                <a:latin typeface="Arial"/>
              </a:rPr>
              <a:t>“What information would make this more reliable?”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440680"/>
            <a:ext cx="11274552" cy="749808"/>
          </a:xfrm>
          <a:prstGeom prst="roundRect">
            <a:avLst>
              <a:gd name="adj" fmla="val 8000"/>
            </a:avLst>
          </a:prstGeom>
          <a:solidFill>
            <a:srgbClr val="F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440680"/>
            <a:ext cx="11274552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A60E34"/>
                </a:solidFill>
                <a:latin typeface="Arial"/>
              </a:rPr>
              <a:t>Do not accept the first answer just because it sounds polished.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10528"/>
            <a:ext cx="800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8A93A0"/>
                </a:solidFill>
                <a:latin typeface="Arial"/>
              </a:rPr>
              <a:t>Illustrative, not an official BJ's publication.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8800"/>
            <a:ext cx="3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D31242"/>
                </a:solidFill>
                <a:latin typeface="Arial"/>
              </a:rPr>
              <a:t>BJ's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3680"/>
            <a:ext cx="30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1F2733"/>
                </a:solidFill>
                <a:latin typeface="Arial"/>
              </a:rPr>
              <a:t>WHOLESALE CLUB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0" y="430000"/>
            <a:ext cx="3735352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D31242"/>
                </a:solidFill>
                <a:latin typeface="Arial"/>
              </a:rPr>
              <a:t>OWN THE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4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1F2733"/>
                </a:solidFill>
                <a:latin typeface="Arial"/>
              </a:rPr>
              <a:t>Check before you use the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1274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5E6A78"/>
                </a:solidFill>
                <a:latin typeface="Arial"/>
              </a:rPr>
              <a:t>AI-generated work needs human review before it is shared or acted upon.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31720"/>
            <a:ext cx="2653638" cy="28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2653638" cy="90000"/>
          </a:xfrm>
          <a:prstGeom prst="rect">
            <a:avLst/>
          </a:prstGeom>
          <a:solidFill>
            <a:srgbClr val="D3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200" y="2591720"/>
            <a:ext cx="2293638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D31242"/>
                </a:solidFill>
                <a:latin typeface="Arial"/>
              </a:rPr>
              <a:t>FACTS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200" y="3031720"/>
            <a:ext cx="2293638" cy="19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 i="0">
                <a:solidFill>
                  <a:srgbClr val="1F2733"/>
                </a:solidFill>
                <a:latin typeface="Arial"/>
              </a:rPr>
              <a:t>Are names, dates, figures, claims, and source references correct?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0838" y="2331720"/>
            <a:ext cx="2653638" cy="28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0838" y="2331720"/>
            <a:ext cx="2653638" cy="90000"/>
          </a:xfrm>
          <a:prstGeom prst="rect">
            <a:avLst/>
          </a:prstGeom>
          <a:solidFill>
            <a:srgbClr val="D3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0838" y="2591720"/>
            <a:ext cx="2293638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D31242"/>
                </a:solidFill>
                <a:latin typeface="Arial"/>
              </a:rPr>
              <a:t>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0838" y="3031720"/>
            <a:ext cx="2293638" cy="19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 i="0">
                <a:solidFill>
                  <a:srgbClr val="1F2733"/>
                </a:solidFill>
                <a:latin typeface="Arial"/>
              </a:rPr>
              <a:t>Does it fit the audience, purpose, tone, and BJ's context?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4476" y="2331720"/>
            <a:ext cx="2653638" cy="28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4476" y="2331720"/>
            <a:ext cx="2653638" cy="90000"/>
          </a:xfrm>
          <a:prstGeom prst="rect">
            <a:avLst/>
          </a:prstGeom>
          <a:solidFill>
            <a:srgbClr val="D3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4476" y="2591720"/>
            <a:ext cx="2293638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D31242"/>
                </a:solidFill>
                <a:latin typeface="Arial"/>
              </a:rPr>
              <a:t>GAPS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4476" y="3031720"/>
            <a:ext cx="2293638" cy="19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 i="0">
                <a:solidFill>
                  <a:srgbClr val="1F2733"/>
                </a:solidFill>
                <a:latin typeface="Arial"/>
              </a:rPr>
              <a:t>What is missing, assumed, overgeneralized, or unsupported?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8114" y="2331720"/>
            <a:ext cx="2653638" cy="28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78114" y="2331720"/>
            <a:ext cx="2653638" cy="90000"/>
          </a:xfrm>
          <a:prstGeom prst="rect">
            <a:avLst/>
          </a:prstGeom>
          <a:solidFill>
            <a:srgbClr val="D3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8114" y="2591720"/>
            <a:ext cx="2293638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D31242"/>
                </a:solidFill>
                <a:latin typeface="Arial"/>
              </a:rPr>
              <a:t>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8114" y="3031720"/>
            <a:ext cx="2293638" cy="19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 i="0">
                <a:solidFill>
                  <a:srgbClr val="1F2733"/>
                </a:solidFill>
                <a:latin typeface="Arial"/>
              </a:rPr>
              <a:t>Could this create legal, financial, workforce, member, security, or reputational risk?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440680"/>
            <a:ext cx="11274552" cy="749808"/>
          </a:xfrm>
          <a:prstGeom prst="roundRect">
            <a:avLst>
              <a:gd name="adj" fmla="val 8000"/>
            </a:avLst>
          </a:prstGeom>
          <a:solidFill>
            <a:srgbClr val="F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440680"/>
            <a:ext cx="11274552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1F2733"/>
                </a:solidFill>
                <a:latin typeface="Arial"/>
              </a:rPr>
              <a:t>REVIEW QUESTION   </a:t>
            </a:r>
            <a:r>
              <a:rPr sz="1500" b="1" i="0">
                <a:solidFill>
                  <a:srgbClr val="A60E34"/>
                </a:solidFill>
                <a:latin typeface="Arial"/>
              </a:rPr>
              <a:t>“Would I be comfortable putting my name on this and explaining how I validated it?”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10528"/>
            <a:ext cx="800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8A93A0"/>
                </a:solidFill>
                <a:latin typeface="Arial"/>
              </a:rPr>
              <a:t>Illustrative, not an official BJ's publication.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8800"/>
            <a:ext cx="3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D31242"/>
                </a:solidFill>
                <a:latin typeface="Arial"/>
              </a:rPr>
              <a:t>BJ's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3680"/>
            <a:ext cx="30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1F2733"/>
                </a:solidFill>
                <a:latin typeface="Arial"/>
              </a:rPr>
              <a:t>WHOLESALE CLUB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0" y="430000"/>
            <a:ext cx="3735352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D31242"/>
                </a:solidFill>
                <a:latin typeface="Arial"/>
              </a:rPr>
              <a:t>OWN THE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4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1F2733"/>
                </a:solidFill>
                <a:latin typeface="Arial"/>
              </a:rPr>
              <a:t>Warning signs in AI-generated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1274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5E6A78"/>
                </a:solidFill>
                <a:latin typeface="Arial"/>
              </a:rPr>
              <a:t>Polished does not mean correct. These three signs break your trust in the content.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31720"/>
            <a:ext cx="3584850" cy="28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3584850" cy="90000"/>
          </a:xfrm>
          <a:prstGeom prst="rect">
            <a:avLst/>
          </a:prstGeom>
          <a:solidFill>
            <a:srgbClr val="D3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7200" y="2571720"/>
            <a:ext cx="318485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D31242"/>
                </a:solidFill>
                <a:latin typeface="Arial"/>
              </a:rPr>
              <a:t>Invented facts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200" y="2971720"/>
            <a:ext cx="318485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1F2733"/>
                </a:solidFill>
                <a:latin typeface="Arial"/>
              </a:rPr>
              <a:t>Specific claims, citations, or examples that were not provided or cannot be verified.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200" y="3811720"/>
            <a:ext cx="3184850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D31242"/>
                </a:solidFill>
                <a:latin typeface="Arial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00" y="4091720"/>
            <a:ext cx="3184850" cy="8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1">
                <a:solidFill>
                  <a:srgbClr val="5E6A78"/>
                </a:solidFill>
                <a:latin typeface="Arial"/>
              </a:rPr>
              <a:t>Cites an “industry benchmark” or a vendor statistic that never appeared in your source material and can’t be traced back to anything real.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2050" y="2331720"/>
            <a:ext cx="3584850" cy="28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02050" y="2331720"/>
            <a:ext cx="3584850" cy="90000"/>
          </a:xfrm>
          <a:prstGeom prst="rect">
            <a:avLst/>
          </a:prstGeom>
          <a:solidFill>
            <a:srgbClr val="D3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2050" y="2571720"/>
            <a:ext cx="318485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D31242"/>
                </a:solidFill>
                <a:latin typeface="Arial"/>
              </a:rPr>
              <a:t>Unsupported conclusions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2050" y="2971720"/>
            <a:ext cx="318485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1F2733"/>
                </a:solidFill>
                <a:latin typeface="Arial"/>
              </a:rPr>
              <a:t>Reasoning jumps from limited evidence to a strong recommendation.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2050" y="3811720"/>
            <a:ext cx="3184850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D31242"/>
                </a:solidFill>
                <a:latin typeface="Arial"/>
              </a:rPr>
              <a:t>EXAMPLE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2050" y="4091720"/>
            <a:ext cx="3184850" cy="8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1">
                <a:solidFill>
                  <a:srgbClr val="5E6A78"/>
                </a:solidFill>
                <a:latin typeface="Arial"/>
              </a:rPr>
              <a:t>Three comments mention slow checkout, and the recommendation is to overhaul the entire POS system. The fix is far bigger than the evidence supports.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46901" y="2331720"/>
            <a:ext cx="3584850" cy="28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46901" y="2331720"/>
            <a:ext cx="3584850" cy="90000"/>
          </a:xfrm>
          <a:prstGeom prst="rect">
            <a:avLst/>
          </a:prstGeom>
          <a:solidFill>
            <a:srgbClr val="D3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6901" y="2571720"/>
            <a:ext cx="318485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D31242"/>
                </a:solidFill>
                <a:latin typeface="Arial"/>
              </a:rPr>
              <a:t>False confidence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6901" y="2971720"/>
            <a:ext cx="318485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1F2733"/>
                </a:solidFill>
                <a:latin typeface="Arial"/>
              </a:rPr>
              <a:t>No uncertainty even when the information is incomplete.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6901" y="3811720"/>
            <a:ext cx="3184850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D31242"/>
                </a:solidFill>
                <a:latin typeface="Arial"/>
              </a:rPr>
              <a:t>EXAMPLE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6901" y="4091720"/>
            <a:ext cx="3184850" cy="8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1">
                <a:solidFill>
                  <a:srgbClr val="5E6A78"/>
                </a:solidFill>
                <a:latin typeface="Arial"/>
              </a:rPr>
              <a:t>States a rollout date as fact when your prompt only gave a rough estimate. No “likely,” no flagged assumption, no hedge at all.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440680"/>
            <a:ext cx="11274552" cy="749808"/>
          </a:xfrm>
          <a:prstGeom prst="roundRect">
            <a:avLst>
              <a:gd name="adj" fmla="val 8000"/>
            </a:avLst>
          </a:prstGeom>
          <a:solidFill>
            <a:srgbClr val="F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440680"/>
            <a:ext cx="11274552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1F2733"/>
                </a:solidFill>
                <a:latin typeface="Arial"/>
              </a:rPr>
              <a:t>Confident writing is not evidence. </a:t>
            </a:r>
            <a:r>
              <a:rPr sz="1500" b="1" i="0">
                <a:solidFill>
                  <a:srgbClr val="A60E34"/>
                </a:solidFill>
                <a:latin typeface="Arial"/>
              </a:rPr>
              <a:t>Ask what the output actually supports before you believe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10528"/>
            <a:ext cx="800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8A93A0"/>
                </a:solidFill>
                <a:latin typeface="Arial"/>
              </a:rPr>
              <a:t>Illustrative, not an official BJ's publication.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8800"/>
            <a:ext cx="3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D31242"/>
                </a:solidFill>
                <a:latin typeface="Arial"/>
              </a:rPr>
              <a:t>BJ's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3680"/>
            <a:ext cx="30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1F2733"/>
                </a:solidFill>
                <a:latin typeface="Arial"/>
              </a:rPr>
              <a:t>WHOLESALE CLUB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0" y="430000"/>
            <a:ext cx="3735352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D31242"/>
                </a:solidFill>
                <a:latin typeface="Arial"/>
              </a:rPr>
              <a:t>OWN THE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4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1F2733"/>
                </a:solidFill>
                <a:latin typeface="Arial"/>
              </a:rPr>
              <a:t>Warning signs in AI-generated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1274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5E6A78"/>
                </a:solidFill>
                <a:latin typeface="Arial"/>
              </a:rPr>
              <a:t>The subtler signs: work that sounds right but is wrong in the details.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31720"/>
            <a:ext cx="3584850" cy="28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3584850" cy="90000"/>
          </a:xfrm>
          <a:prstGeom prst="rect">
            <a:avLst/>
          </a:prstGeom>
          <a:solidFill>
            <a:srgbClr val="D3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7200" y="2571720"/>
            <a:ext cx="318485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D31242"/>
                </a:solidFill>
                <a:latin typeface="Arial"/>
              </a:rPr>
              <a:t>Wrong numbers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200" y="2971720"/>
            <a:ext cx="318485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1F2733"/>
                </a:solidFill>
                <a:latin typeface="Arial"/>
              </a:rPr>
              <a:t>Calculation errors, mismatched totals, or changed units.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200" y="3811720"/>
            <a:ext cx="3184850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D31242"/>
                </a:solidFill>
                <a:latin typeface="Arial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00" y="4091720"/>
            <a:ext cx="3184850" cy="8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1">
                <a:solidFill>
                  <a:srgbClr val="5E6A78"/>
                </a:solidFill>
                <a:latin typeface="Arial"/>
              </a:rPr>
              <a:t>The category breakdown lists percentages that add up to 94%, or quotes a cost per unit in one paragraph and per case in the next.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2050" y="2331720"/>
            <a:ext cx="3584850" cy="28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02050" y="2331720"/>
            <a:ext cx="3584850" cy="90000"/>
          </a:xfrm>
          <a:prstGeom prst="rect">
            <a:avLst/>
          </a:prstGeom>
          <a:solidFill>
            <a:srgbClr val="D3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2050" y="2571720"/>
            <a:ext cx="318485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D31242"/>
                </a:solidFill>
                <a:latin typeface="Arial"/>
              </a:rPr>
              <a:t>Missing nuance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2050" y="2971720"/>
            <a:ext cx="318485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1F2733"/>
                </a:solidFill>
                <a:latin typeface="Arial"/>
              </a:rPr>
              <a:t>Important exceptions, trade-offs, or stakeholder concerns are absent.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2050" y="3811720"/>
            <a:ext cx="3184850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D31242"/>
                </a:solidFill>
                <a:latin typeface="Arial"/>
              </a:rPr>
              <a:t>EXAMPLE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2050" y="4091720"/>
            <a:ext cx="3184850" cy="8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1">
                <a:solidFill>
                  <a:srgbClr val="5E6A78"/>
                </a:solidFill>
                <a:latin typeface="Arial"/>
              </a:rPr>
              <a:t>A staffing recommendation assumes unlimited overtime budget, ignoring the labor-hour constraint you mentioned two messages earlier.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46901" y="2331720"/>
            <a:ext cx="3584850" cy="28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46901" y="2331720"/>
            <a:ext cx="3584850" cy="90000"/>
          </a:xfrm>
          <a:prstGeom prst="rect">
            <a:avLst/>
          </a:prstGeom>
          <a:solidFill>
            <a:srgbClr val="D31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6901" y="2571720"/>
            <a:ext cx="318485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D31242"/>
                </a:solidFill>
                <a:latin typeface="Arial"/>
              </a:rPr>
              <a:t>Wrong tone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6901" y="2971720"/>
            <a:ext cx="318485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1F2733"/>
                </a:solidFill>
                <a:latin typeface="Arial"/>
              </a:rPr>
              <a:t>Content sounds too casual, too formal, insensitive, or off-brand.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6901" y="3811720"/>
            <a:ext cx="3184850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D31242"/>
                </a:solidFill>
                <a:latin typeface="Arial"/>
              </a:rPr>
              <a:t>EXAMPLE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6901" y="4091720"/>
            <a:ext cx="3184850" cy="8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1">
                <a:solidFill>
                  <a:srgbClr val="5E6A78"/>
                </a:solidFill>
                <a:latin typeface="Arial"/>
              </a:rPr>
              <a:t>A note to club team members about a policy change reads like a legal disclaimer. Accurate, but nothing a manager would ever say out loud.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440680"/>
            <a:ext cx="11274552" cy="749808"/>
          </a:xfrm>
          <a:prstGeom prst="roundRect">
            <a:avLst>
              <a:gd name="adj" fmla="val 8000"/>
            </a:avLst>
          </a:prstGeom>
          <a:solidFill>
            <a:srgbClr val="F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440680"/>
            <a:ext cx="11274552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1F2733"/>
                </a:solidFill>
                <a:latin typeface="Arial"/>
              </a:rPr>
              <a:t>When you see a warning sign, do not just edit around it. </a:t>
            </a:r>
            <a:r>
              <a:rPr sz="1500" b="1" i="0">
                <a:solidFill>
                  <a:srgbClr val="A60E34"/>
                </a:solidFill>
                <a:latin typeface="Arial"/>
              </a:rPr>
              <a:t>Diagnose what context, verification, or human judgment is missing.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10528"/>
            <a:ext cx="800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8A93A0"/>
                </a:solidFill>
                <a:latin typeface="Arial"/>
              </a:rPr>
              <a:t>Illustrative, not an official BJ's publication.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