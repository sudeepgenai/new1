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five parts. 1 Where we are: the 30-day mark and the road ahead. 2 Recapping your feedback: the three themes from the survey. 3 AI support: everything built in response — the training roadmap, the prompt library, and use case guidance for Monday's milestone. 4 Discussion and Q&amp;A: their questions (FAQ slide drafted, answers in progress). 5 AI Essentials training: the sync closes by rolling into the first training session. NOTE: item 3's name ('AI support') is provisional per Sudeep — it covers a bunch of slides; naming to be revisited.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(keep light, ~90 seconds): A quick look at where we are. Kickoff was a month ago; today's sync sits right at the 30-day mark of the 90-day journey. Ahead: Day 30 lands Monday, Day 60 at the end of August with the tool comparison debrief, Day 90 at the end of September, and then the full roll-out and tooling decisions. POINT AT THE BAND: these milestones come in pairs, and that's the part to remember. Each mark has a you-side and a your-users side. Monday isn't just your first use case and your EVP check-in; it's also the point where each of your Connect users should have tried their tool on one real piece of work. You're not just hitting your own marks, you're pulling roughly fifteen users each along with you. LAND ON THE BAR: Monday: one use case in, EVP check-in booked. TRANSITION: everything we've built to support that came from what you told us. CONFIRM BEFORE PRESENTING: dates (Day 30 = Jul 27, Day 60 = Aug 31, Day 90 = Sep 28) and the day-30/60/90 expectations wording against the current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themes. One, hands-on training: practical, not theory. Start on the essentials and go deeper over time, and the training materials double as what you use with your teams, no separate deliverable. Two, prompts and use cases: a ready-to-use prompt library, plus guidance on how to spot a good use case and write it up. We are not building department templates; the value is the framework and the guidance. Three, time and pace: it has to fit your day, and we help you keep up as the tools change. Tactical how-tos (EVP prep, collecting feedback, bandwidth) go on the 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answers the first thing you asked for, hands-on training. Here's the whole path, in three stages, and the first course happens today: AI Connect Essentials is the last agenda item of this sync, that's the THIS SESSION mark. FOUNDATION also includes Thinking with AI and the data-boundaries piece. CORE SKILLS builds the everyday muscle: prompting, picking the right model and effort, and getting fluent in Claude or ChatGPT. ADVANCED is for when you're ready to push further. TWO THINGS TO STRESS: one, you don't do this all at once, it's a path, go deeper as you're ready; two, these are the same materials you use with your teams, so the training you get is also the training you give. CONFIRM BEFORE PRESENTING: course names and which ones are live vs coming, against the current training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second thing you asked for, and it exists today: 32 prompts across these ten categories, and the categories come straight from your survey answers about what you use AI for, so the library matches your actual work. DEMO MOMENT: switch out of the deck and walk one category live: open a prompt, show the bracketed details, run it once. If the SharePoint page is not live by Wednesday, demo from the Excel and say the Hub page lands this week; the library is real either way. CONTRIBUTION LOOP (point at bar): when a prompt works for your team, share it with the AI team (Teams channel or ai@bjs.com for now); it gets reviewed, published, and credited to you. NOTE: do NOT say 'submit on the Hub' — the submission form is Phase 2 of the build and is not live yet. SAFETY: one rule, on the slide: no Restricted Confidential data in any AI tool. STATUS (internal): SharePoint list build in progress; Excel import file and build checklist ready; Phase 1 of the checklist is the minimum for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number one thing you asked for in the first 30 days was concrete use cases you can demo to your team. The barrier is rarely the prompt; it's recognizing which task to hand over. STEP 1: start from the work, not the tool. List your recurring tasks and ask what you do repeatedly, not what AI can do. STEP 2: assess each task against the four signals: it's recurring, it's text or data based, it benefits from a first draft, and the effort exceeds the judgment required. Two or more signals makes it a strong candidate. STEP 3: test it on familiar work, a prior version of the task, because there you already know what a good result looks like and can evaluate the output immediately. WALK ONE EXAMPLE from the room's world (the monthly member-feedback review on the next slide meets all four signals). USE WITH YOUR USERS: this same three-step review is what you run with your Connect users when they say they don't know what to use AI for. TRANSITION: once you've identified one, the next slide shows how to write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Your first use case is due Monday. Rather than describe a good one, here's one filled out on the real form. Walk it: a real recurring problem, a clear description of what the AI actually did, and here's the part to stress, every field lines up. One month of comments goes in; the output is themes, counts, quotes, and actions, all things you can get from that one input. Nothing claims more than went in. POINT AT RAIL: this is the framework from the last slide applied to a real submission. All four signals check out: it recurs monthly, it's text in and text out, the output is a draft you review rather than a blank page, and a day of effort becomes thirty minutes of judgment. That's how you know it was the right task to pick. ALSO NOTE (verbally, not on slide): the inputs are named and free of member data, and no claim goes beyond what went in. REASSURANCE: your first one doesn't need to be this polished. It needs to be this consistent. Fill every field honestly and don't claim an output your input can't produce. CLOSE: this example will be posted on the Hub next to the form with today's materials (TO DO — not posted yet; do not claim it's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FAQ 1 of 2 — Q1 ANSWERED: progress, feedback, top two AI opportunities; template in appendix. Q2 ANSWERED, two parts: (1) cadence: standing biweekly 45-60 min with Connect users, or the lighter path, a 15-minute AI segment inside a meeting they already run; (2) routing, deliberately NOT a new SharePoint feedback list: use-case ideas to the Hub form, blockers/questions to the CD_AI Champions Teams channel or office hours, themes to this sync (Over to you) and the EVP check-in (template section 2). Rationale: every feedback type already has a working destination; a raw-feedback repository becomes write-only. Q3 ANSWERED, three parts: fund the role from the work (pick use cases from tasks already on your plate, so AI's saved time covers the role's time); make the budget explicit with your manager, legitimized by the monthly EVP check-in; and be a router, not a help desk (point people to office hours, Teams, the Hub, rather than solving everything personally). Q4 ANSWERED (⚠ CONFIRM WITH FEDE BEFORE PRESENTING — the Phase 1 scoping is inferred from program logic, not a recorded decision). The two stated reasons are factual, not exaggerated: COST — on the current Enterprise plan every token (Chat, Claude Code, Cowork) is billed at API rates on top of seat cost; agentic sessions run multi-step and consume several times a chat session's tokens, so broad Cowork access raises spend meaningfully (this is also why per-user usage limits and Q8's increase process exist). PRIVACY — Cowork operates directly on files, folders, and connected systems, so what data it can touch needs a governance review before broad enablement. Do NOT claim an exact multiplier or dollar figure; 'several times chat usage' is the defensible wording. If asked when: both questions get modeled as part of the late-September roll-out and tool decision, and the comparison challenge results feed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FAQ 2 of 2 — Q5 ANSWERED (data): official guidelines are with the data privacy team, publishing soon; interim rule is 'when in doubt, leave it out, or ask ai@bjs.com.' Keep this consistent with the Essentials data slide (green/yellow/red) when guidelines publish. Q6 ANSWERED (tool comparison, from the program timeline): full detail at the Aug 17 sync; challenge = 4-5 identical tasks in both tools by Day 60 (Aug 31); debrief that week; tracker due Sep 21, headlining the September sync. Q7 (approved connectors) and Q8 (usage-increase process): Sudeep is providing these answers. NOTE: the Claude-Excel add-in question was removed from the slide per Sudeep, but people may still ask it live; the how-to email is on his Tuesday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(none of this goes on screen) — these are the three things the Weekly Brief asked every Champion to bring. Do NOT run all 34 people: at 90 seconds each that's 50 minutes. Take 5-6 hands per prompt, or pre-ask 2-3 Champions you know have a story. Budget 20-25 minutes total. Capture blockers visibly (whiteboard or notes) and say where each one goes: answered now, office hours, or next Weekly Brief. HARD TIMEBOX: start this block by ~2:50 regardless of where the deck stands, because this and the FAQ are the least cuttable part of the sync. Blockers raised here feed the FAQ answers and next month's agenda. The bar on the slide gives everyone who didn't speak a legitimate channel, so closing the round doesn't feel like closing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referenced from FAQ Q1. The official check-in guidance is progress, feedback, and your top two AI opportunities; this template just gives those three a repeatable one-page shape. PROGRESS covers you and your Connect users. FEEDBACK includes the explicit ask of the EVP, which is the part most people forget to prepare. TOP TWO OPPORTUNITIES ties back to the use-case framework: pick them with the four signals. Fill it the day before, leave it with the EVP so there's a paper trail across the three monthly check-ins. CONFIRM: whether this format needs Fede's blessing before it's positioned as the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0972800" cy="274320"/>
          </a:xfrm>
          <a:prstGeom prst="rect">
            <a:avLst/>
          </a:prstGeom>
          <a:noFill/>
          <a:ln/>
        </p:spPr>
        <p:txBody>
          <a:bodyPr wrap="square" lIns="0" tIns="0" rIns="0" bIns="0" rtlCol="0" anchor="ctr"/>
          <a:lstStyle/>
          <a:p>
            <a:pPr indent="0" marL="0">
              <a:buNone/>
            </a:pPr>
            <a:r>
              <a:rPr lang="en-US" sz="1150" b="1" spc="200" kern="0" dirty="0">
                <a:solidFill>
                  <a:srgbClr val="D31242"/>
                </a:solidFill>
                <a:latin typeface="Arial" pitchFamily="34" charset="0"/>
                <a:ea typeface="Arial" pitchFamily="34" charset="-122"/>
                <a:cs typeface="Arial" pitchFamily="34" charset="-120"/>
              </a:rPr>
              <a:t>AI CHAMPIONS SYNC · JULY 22, 2026</a:t>
            </a:r>
            <a:endParaRPr lang="en-US" sz="1150" dirty="0"/>
          </a:p>
        </p:txBody>
      </p:sp>
      <p:sp>
        <p:nvSpPr>
          <p:cNvPr id="3" name="Text 1"/>
          <p:cNvSpPr/>
          <p:nvPr/>
        </p:nvSpPr>
        <p:spPr>
          <a:xfrm>
            <a:off x="502920" y="731520"/>
            <a:ext cx="10972800" cy="603504"/>
          </a:xfrm>
          <a:prstGeom prst="rect">
            <a:avLst/>
          </a:prstGeom>
          <a:noFill/>
          <a:ln/>
        </p:spPr>
        <p:txBody>
          <a:bodyPr wrap="square" lIns="0" tIns="0" rIns="0" bIns="0" rtlCol="0" anchor="ctr"/>
          <a:lstStyle/>
          <a:p>
            <a:pPr indent="0" marL="0">
              <a:buNone/>
            </a:pPr>
            <a:r>
              <a:rPr lang="en-US" sz="3200" b="1" dirty="0">
                <a:solidFill>
                  <a:srgbClr val="1F2733"/>
                </a:solidFill>
                <a:latin typeface="Arial" pitchFamily="34" charset="0"/>
                <a:ea typeface="Arial" pitchFamily="34" charset="-122"/>
                <a:cs typeface="Arial" pitchFamily="34" charset="-120"/>
              </a:rPr>
              <a:t>Agenda</a:t>
            </a:r>
            <a:endParaRPr lang="en-US" sz="3200" dirty="0"/>
          </a:p>
        </p:txBody>
      </p:sp>
      <p:sp>
        <p:nvSpPr>
          <p:cNvPr id="4" name="Shape 2"/>
          <p:cNvSpPr/>
          <p:nvPr/>
        </p:nvSpPr>
        <p:spPr>
          <a:xfrm>
            <a:off x="822960" y="2011680"/>
            <a:ext cx="402336" cy="402336"/>
          </a:xfrm>
          <a:prstGeom prst="ellipse">
            <a:avLst/>
          </a:prstGeom>
          <a:solidFill>
            <a:srgbClr val="D31242"/>
          </a:solidFill>
          <a:ln/>
        </p:spPr>
      </p:sp>
      <p:sp>
        <p:nvSpPr>
          <p:cNvPr id="5" name="Text 3"/>
          <p:cNvSpPr/>
          <p:nvPr/>
        </p:nvSpPr>
        <p:spPr>
          <a:xfrm>
            <a:off x="822960" y="20116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1481328" y="2011680"/>
            <a:ext cx="9692640" cy="402336"/>
          </a:xfrm>
          <a:prstGeom prst="rect">
            <a:avLst/>
          </a:prstGeom>
          <a:noFill/>
          <a:ln/>
        </p:spPr>
        <p:txBody>
          <a:bodyPr wrap="square" lIns="0" tIns="0" rIns="0" bIns="0" rtlCol="0" anchor="ctr"/>
          <a:lstStyle/>
          <a:p>
            <a:pPr indent="0" marL="0">
              <a:buNone/>
            </a:pPr>
            <a:r>
              <a:rPr lang="en-US" sz="1900" b="1" dirty="0">
                <a:solidFill>
                  <a:srgbClr val="1F2733"/>
                </a:solidFill>
                <a:latin typeface="Arial" pitchFamily="34" charset="0"/>
                <a:ea typeface="Arial" pitchFamily="34" charset="-122"/>
                <a:cs typeface="Arial" pitchFamily="34" charset="-120"/>
              </a:rPr>
              <a:t>Where we are</a:t>
            </a:r>
            <a:endParaRPr lang="en-US" sz="1900" dirty="0"/>
          </a:p>
        </p:txBody>
      </p:sp>
      <p:sp>
        <p:nvSpPr>
          <p:cNvPr id="7" name="Shape 5"/>
          <p:cNvSpPr/>
          <p:nvPr/>
        </p:nvSpPr>
        <p:spPr>
          <a:xfrm>
            <a:off x="822960" y="2852928"/>
            <a:ext cx="402336" cy="402336"/>
          </a:xfrm>
          <a:prstGeom prst="ellipse">
            <a:avLst/>
          </a:prstGeom>
          <a:solidFill>
            <a:srgbClr val="D31242"/>
          </a:solidFill>
          <a:ln/>
        </p:spPr>
      </p:sp>
      <p:sp>
        <p:nvSpPr>
          <p:cNvPr id="8" name="Text 6"/>
          <p:cNvSpPr/>
          <p:nvPr/>
        </p:nvSpPr>
        <p:spPr>
          <a:xfrm>
            <a:off x="822960" y="28529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 name="Text 7"/>
          <p:cNvSpPr/>
          <p:nvPr/>
        </p:nvSpPr>
        <p:spPr>
          <a:xfrm>
            <a:off x="1481328" y="2852928"/>
            <a:ext cx="9692640" cy="402336"/>
          </a:xfrm>
          <a:prstGeom prst="rect">
            <a:avLst/>
          </a:prstGeom>
          <a:noFill/>
          <a:ln/>
        </p:spPr>
        <p:txBody>
          <a:bodyPr wrap="square" lIns="0" tIns="0" rIns="0" bIns="0" rtlCol="0" anchor="ctr"/>
          <a:lstStyle/>
          <a:p>
            <a:pPr indent="0" marL="0">
              <a:buNone/>
            </a:pPr>
            <a:r>
              <a:rPr lang="en-US" sz="1900" b="1" dirty="0">
                <a:solidFill>
                  <a:srgbClr val="1F2733"/>
                </a:solidFill>
                <a:latin typeface="Arial" pitchFamily="34" charset="0"/>
                <a:ea typeface="Arial" pitchFamily="34" charset="-122"/>
                <a:cs typeface="Arial" pitchFamily="34" charset="-120"/>
              </a:rPr>
              <a:t>What you told us</a:t>
            </a:r>
            <a:endParaRPr lang="en-US" sz="1900" dirty="0"/>
          </a:p>
        </p:txBody>
      </p:sp>
      <p:sp>
        <p:nvSpPr>
          <p:cNvPr id="10" name="Shape 8"/>
          <p:cNvSpPr/>
          <p:nvPr/>
        </p:nvSpPr>
        <p:spPr>
          <a:xfrm>
            <a:off x="822960" y="3694176"/>
            <a:ext cx="402336" cy="402336"/>
          </a:xfrm>
          <a:prstGeom prst="ellipse">
            <a:avLst/>
          </a:prstGeom>
          <a:solidFill>
            <a:srgbClr val="D31242"/>
          </a:solidFill>
          <a:ln/>
        </p:spPr>
      </p:sp>
      <p:sp>
        <p:nvSpPr>
          <p:cNvPr id="11" name="Text 9"/>
          <p:cNvSpPr/>
          <p:nvPr/>
        </p:nvSpPr>
        <p:spPr>
          <a:xfrm>
            <a:off x="822960" y="36941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2" name="Text 10"/>
          <p:cNvSpPr/>
          <p:nvPr/>
        </p:nvSpPr>
        <p:spPr>
          <a:xfrm>
            <a:off x="1481328" y="3694176"/>
            <a:ext cx="9692640" cy="402336"/>
          </a:xfrm>
          <a:prstGeom prst="rect">
            <a:avLst/>
          </a:prstGeom>
          <a:noFill/>
          <a:ln/>
        </p:spPr>
        <p:txBody>
          <a:bodyPr wrap="square" lIns="0" tIns="0" rIns="0" bIns="0" rtlCol="0" anchor="ctr"/>
          <a:lstStyle/>
          <a:p>
            <a:pPr indent="0" marL="0">
              <a:buNone/>
            </a:pPr>
            <a:r>
              <a:rPr lang="en-US" sz="1900" b="1" dirty="0">
                <a:solidFill>
                  <a:srgbClr val="1F2733"/>
                </a:solidFill>
                <a:latin typeface="Arial" pitchFamily="34" charset="0"/>
                <a:ea typeface="Arial" pitchFamily="34" charset="-122"/>
                <a:cs typeface="Arial" pitchFamily="34" charset="-120"/>
              </a:rPr>
              <a:t>The support you asked for</a:t>
            </a:r>
            <a:endParaRPr lang="en-US" sz="1900" dirty="0"/>
          </a:p>
        </p:txBody>
      </p:sp>
      <p:sp>
        <p:nvSpPr>
          <p:cNvPr id="13" name="Shape 11"/>
          <p:cNvSpPr/>
          <p:nvPr/>
        </p:nvSpPr>
        <p:spPr>
          <a:xfrm>
            <a:off x="822960" y="4535424"/>
            <a:ext cx="402336" cy="402336"/>
          </a:xfrm>
          <a:prstGeom prst="ellipse">
            <a:avLst/>
          </a:prstGeom>
          <a:solidFill>
            <a:srgbClr val="D31242"/>
          </a:solidFill>
          <a:ln/>
        </p:spPr>
      </p:sp>
      <p:sp>
        <p:nvSpPr>
          <p:cNvPr id="14" name="Text 12"/>
          <p:cNvSpPr/>
          <p:nvPr/>
        </p:nvSpPr>
        <p:spPr>
          <a:xfrm>
            <a:off x="822960" y="45354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5" name="Text 13"/>
          <p:cNvSpPr/>
          <p:nvPr/>
        </p:nvSpPr>
        <p:spPr>
          <a:xfrm>
            <a:off x="1481328" y="4535424"/>
            <a:ext cx="9692640" cy="402336"/>
          </a:xfrm>
          <a:prstGeom prst="rect">
            <a:avLst/>
          </a:prstGeom>
          <a:noFill/>
          <a:ln/>
        </p:spPr>
        <p:txBody>
          <a:bodyPr wrap="square" lIns="0" tIns="0" rIns="0" bIns="0" rtlCol="0" anchor="ctr"/>
          <a:lstStyle/>
          <a:p>
            <a:pPr indent="0" marL="0">
              <a:buNone/>
            </a:pPr>
            <a:r>
              <a:rPr lang="en-US" sz="1900" b="1" dirty="0">
                <a:solidFill>
                  <a:srgbClr val="1F2733"/>
                </a:solidFill>
                <a:latin typeface="Arial" pitchFamily="34" charset="0"/>
                <a:ea typeface="Arial" pitchFamily="34" charset="-122"/>
                <a:cs typeface="Arial" pitchFamily="34" charset="-120"/>
              </a:rPr>
              <a:t>Discussion &amp; Q&amp;A</a:t>
            </a:r>
            <a:endParaRPr lang="en-US" sz="1900" dirty="0"/>
          </a:p>
        </p:txBody>
      </p:sp>
      <p:sp>
        <p:nvSpPr>
          <p:cNvPr id="16" name="Shape 14"/>
          <p:cNvSpPr/>
          <p:nvPr/>
        </p:nvSpPr>
        <p:spPr>
          <a:xfrm>
            <a:off x="822960" y="5376672"/>
            <a:ext cx="402336" cy="402336"/>
          </a:xfrm>
          <a:prstGeom prst="ellipse">
            <a:avLst/>
          </a:prstGeom>
          <a:solidFill>
            <a:srgbClr val="A60E34"/>
          </a:solidFill>
          <a:ln/>
        </p:spPr>
      </p:sp>
      <p:sp>
        <p:nvSpPr>
          <p:cNvPr id="17" name="Text 15"/>
          <p:cNvSpPr/>
          <p:nvPr/>
        </p:nvSpPr>
        <p:spPr>
          <a:xfrm>
            <a:off x="822960" y="53766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18" name="Text 16"/>
          <p:cNvSpPr/>
          <p:nvPr/>
        </p:nvSpPr>
        <p:spPr>
          <a:xfrm>
            <a:off x="1481328" y="5376672"/>
            <a:ext cx="9692640" cy="402336"/>
          </a:xfrm>
          <a:prstGeom prst="rect">
            <a:avLst/>
          </a:prstGeom>
          <a:noFill/>
          <a:ln/>
        </p:spPr>
        <p:txBody>
          <a:bodyPr wrap="square" lIns="0" tIns="0" rIns="0" bIns="0" rtlCol="0" anchor="ctr"/>
          <a:lstStyle/>
          <a:p>
            <a:pPr indent="0" marL="0">
              <a:buNone/>
            </a:pPr>
            <a:r>
              <a:rPr lang="en-US" sz="1900" b="1" dirty="0">
                <a:solidFill>
                  <a:srgbClr val="1F2733"/>
                </a:solidFill>
                <a:latin typeface="Arial" pitchFamily="34" charset="0"/>
                <a:ea typeface="Arial" pitchFamily="34" charset="-122"/>
                <a:cs typeface="Arial" pitchFamily="34" charset="-120"/>
              </a:rPr>
              <a:t>AI Essentials training</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972800" cy="274320"/>
          </a:xfrm>
          <a:prstGeom prst="rect">
            <a:avLst/>
          </a:prstGeom>
          <a:noFill/>
          <a:ln/>
        </p:spPr>
        <p:txBody>
          <a:bodyPr wrap="square" lIns="0" tIns="0" rIns="0" bIns="0" rtlCol="0" anchor="ctr"/>
          <a:lstStyle/>
          <a:p>
            <a:pPr indent="0" marL="0">
              <a:buNone/>
            </a:pPr>
            <a:r>
              <a:rPr lang="en-US" sz="1150" b="1" spc="200" kern="0" dirty="0">
                <a:solidFill>
                  <a:srgbClr val="D31242"/>
                </a:solidFill>
                <a:latin typeface="Arial" pitchFamily="34" charset="0"/>
                <a:ea typeface="Arial" pitchFamily="34" charset="-122"/>
                <a:cs typeface="Arial" pitchFamily="34" charset="-120"/>
              </a:rPr>
              <a:t>WHERE WE ARE</a:t>
            </a:r>
            <a:endParaRPr lang="en-US" sz="1150" dirty="0"/>
          </a:p>
        </p:txBody>
      </p:sp>
      <p:sp>
        <p:nvSpPr>
          <p:cNvPr id="3" name="Text 1"/>
          <p:cNvSpPr/>
          <p:nvPr/>
        </p:nvSpPr>
        <p:spPr>
          <a:xfrm>
            <a:off x="502920" y="621792"/>
            <a:ext cx="11201400" cy="548640"/>
          </a:xfrm>
          <a:prstGeom prst="rect">
            <a:avLst/>
          </a:prstGeom>
          <a:noFill/>
          <a:ln/>
        </p:spPr>
        <p:txBody>
          <a:bodyPr wrap="square" lIns="0" tIns="0" rIns="0" bIns="0" rtlCol="0" anchor="ctr"/>
          <a:lstStyle/>
          <a:p>
            <a:pPr indent="0" marL="0">
              <a:buNone/>
            </a:pPr>
            <a:r>
              <a:rPr lang="en-US" sz="2500" b="1" dirty="0">
                <a:solidFill>
                  <a:srgbClr val="1F2733"/>
                </a:solidFill>
                <a:latin typeface="Arial" pitchFamily="34" charset="0"/>
                <a:ea typeface="Arial" pitchFamily="34" charset="-122"/>
                <a:cs typeface="Arial" pitchFamily="34" charset="-120"/>
              </a:rPr>
              <a:t>Thirty days in. Here's the road to September.</a:t>
            </a:r>
            <a:endParaRPr lang="en-US" sz="2500" dirty="0"/>
          </a:p>
        </p:txBody>
      </p:sp>
      <p:sp>
        <p:nvSpPr>
          <p:cNvPr id="4" name="Shape 2"/>
          <p:cNvSpPr/>
          <p:nvPr/>
        </p:nvSpPr>
        <p:spPr>
          <a:xfrm>
            <a:off x="1234440" y="2212848"/>
            <a:ext cx="9692640" cy="0"/>
          </a:xfrm>
          <a:prstGeom prst="line">
            <a:avLst/>
          </a:prstGeom>
          <a:noFill/>
          <a:ln w="31750">
            <a:solidFill>
              <a:srgbClr val="D8DCE2"/>
            </a:solidFill>
            <a:prstDash val="solid"/>
          </a:ln>
        </p:spPr>
      </p:sp>
      <p:sp>
        <p:nvSpPr>
          <p:cNvPr id="5" name="Shape 3"/>
          <p:cNvSpPr/>
          <p:nvPr/>
        </p:nvSpPr>
        <p:spPr>
          <a:xfrm>
            <a:off x="1335024" y="2130552"/>
            <a:ext cx="164592" cy="164592"/>
          </a:xfrm>
          <a:prstGeom prst="ellipse">
            <a:avLst/>
          </a:prstGeom>
          <a:solidFill>
            <a:srgbClr val="5E6A78"/>
          </a:solidFill>
          <a:ln/>
        </p:spPr>
      </p:sp>
      <p:sp>
        <p:nvSpPr>
          <p:cNvPr id="6" name="Text 4"/>
          <p:cNvSpPr/>
          <p:nvPr/>
        </p:nvSpPr>
        <p:spPr>
          <a:xfrm>
            <a:off x="548640" y="2395728"/>
            <a:ext cx="1737360" cy="237744"/>
          </a:xfrm>
          <a:prstGeom prst="rect">
            <a:avLst/>
          </a:prstGeom>
          <a:noFill/>
          <a:ln/>
        </p:spPr>
        <p:txBody>
          <a:bodyPr wrap="square" lIns="0" tIns="0" rIns="0" bIns="0" rtlCol="0" anchor="ctr"/>
          <a:lstStyle/>
          <a:p>
            <a:pPr algn="ctr" indent="0" marL="0">
              <a:buNone/>
            </a:pPr>
            <a:r>
              <a:rPr lang="en-US" sz="1250" b="1" dirty="0">
                <a:solidFill>
                  <a:srgbClr val="5E6A78"/>
                </a:solidFill>
                <a:latin typeface="Arial" pitchFamily="34" charset="0"/>
                <a:ea typeface="Arial" pitchFamily="34" charset="-122"/>
                <a:cs typeface="Arial" pitchFamily="34" charset="-120"/>
              </a:rPr>
              <a:t>Jun 24</a:t>
            </a:r>
            <a:endParaRPr lang="en-US" sz="1250" dirty="0"/>
          </a:p>
        </p:txBody>
      </p:sp>
      <p:sp>
        <p:nvSpPr>
          <p:cNvPr id="7" name="Text 5"/>
          <p:cNvSpPr/>
          <p:nvPr/>
        </p:nvSpPr>
        <p:spPr>
          <a:xfrm>
            <a:off x="548640" y="2642616"/>
            <a:ext cx="1737360" cy="457200"/>
          </a:xfrm>
          <a:prstGeom prst="rect">
            <a:avLst/>
          </a:prstGeom>
          <a:noFill/>
          <a:ln/>
        </p:spPr>
        <p:txBody>
          <a:bodyPr wrap="square" lIns="0" tIns="0" rIns="0" bIns="0" rtlCol="0" anchor="t"/>
          <a:lstStyle/>
          <a:p>
            <a:pPr algn="ctr" indent="0" marL="0">
              <a:buNone/>
            </a:pPr>
            <a:r>
              <a:rPr lang="en-US" sz="950" dirty="0">
                <a:solidFill>
                  <a:srgbClr val="5E6A78"/>
                </a:solidFill>
                <a:latin typeface="Arial" pitchFamily="34" charset="0"/>
                <a:ea typeface="Arial" pitchFamily="34" charset="-122"/>
                <a:cs typeface="Arial" pitchFamily="34" charset="-120"/>
              </a:rPr>
              <a:t>Kickoff ✓</a:t>
            </a:r>
            <a:endParaRPr lang="en-US" sz="950" dirty="0"/>
          </a:p>
        </p:txBody>
      </p:sp>
      <p:sp>
        <p:nvSpPr>
          <p:cNvPr id="8" name="Shape 6"/>
          <p:cNvSpPr/>
          <p:nvPr/>
        </p:nvSpPr>
        <p:spPr>
          <a:xfrm>
            <a:off x="3611880" y="2075688"/>
            <a:ext cx="274320" cy="274320"/>
          </a:xfrm>
          <a:prstGeom prst="ellipse">
            <a:avLst/>
          </a:prstGeom>
          <a:solidFill>
            <a:srgbClr val="D31242"/>
          </a:solidFill>
          <a:ln w="25400">
            <a:solidFill>
              <a:srgbClr val="FFFFFF"/>
            </a:solidFill>
            <a:prstDash val="solid"/>
          </a:ln>
        </p:spPr>
      </p:sp>
      <p:sp>
        <p:nvSpPr>
          <p:cNvPr id="9" name="Shape 7"/>
          <p:cNvSpPr/>
          <p:nvPr/>
        </p:nvSpPr>
        <p:spPr>
          <a:xfrm>
            <a:off x="3182112" y="1645920"/>
            <a:ext cx="1133856" cy="292608"/>
          </a:xfrm>
          <a:prstGeom prst="roundRect">
            <a:avLst>
              <a:gd name="adj" fmla="val 50000"/>
            </a:avLst>
          </a:prstGeom>
          <a:solidFill>
            <a:srgbClr val="D31242"/>
          </a:solidFill>
          <a:ln/>
        </p:spPr>
      </p:sp>
      <p:sp>
        <p:nvSpPr>
          <p:cNvPr id="10" name="Text 8"/>
          <p:cNvSpPr/>
          <p:nvPr/>
        </p:nvSpPr>
        <p:spPr>
          <a:xfrm>
            <a:off x="3182112" y="1645920"/>
            <a:ext cx="113385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YOU ARE HERE</a:t>
            </a:r>
            <a:endParaRPr lang="en-US" sz="850" dirty="0"/>
          </a:p>
        </p:txBody>
      </p:sp>
      <p:sp>
        <p:nvSpPr>
          <p:cNvPr id="11" name="Text 9"/>
          <p:cNvSpPr/>
          <p:nvPr/>
        </p:nvSpPr>
        <p:spPr>
          <a:xfrm>
            <a:off x="2880360" y="2395728"/>
            <a:ext cx="1737360" cy="237744"/>
          </a:xfrm>
          <a:prstGeom prst="rect">
            <a:avLst/>
          </a:prstGeom>
          <a:noFill/>
          <a:ln/>
        </p:spPr>
        <p:txBody>
          <a:bodyPr wrap="square" lIns="0" tIns="0" rIns="0" bIns="0" rtlCol="0" anchor="ctr"/>
          <a:lstStyle/>
          <a:p>
            <a:pPr algn="ctr" indent="0" marL="0">
              <a:buNone/>
            </a:pPr>
            <a:r>
              <a:rPr lang="en-US" sz="1250" b="1" dirty="0">
                <a:solidFill>
                  <a:srgbClr val="D31242"/>
                </a:solidFill>
                <a:latin typeface="Arial" pitchFamily="34" charset="0"/>
                <a:ea typeface="Arial" pitchFamily="34" charset="-122"/>
                <a:cs typeface="Arial" pitchFamily="34" charset="-120"/>
              </a:rPr>
              <a:t>Jul 22</a:t>
            </a:r>
            <a:endParaRPr lang="en-US" sz="1250" dirty="0"/>
          </a:p>
        </p:txBody>
      </p:sp>
      <p:sp>
        <p:nvSpPr>
          <p:cNvPr id="12" name="Text 10"/>
          <p:cNvSpPr/>
          <p:nvPr/>
        </p:nvSpPr>
        <p:spPr>
          <a:xfrm>
            <a:off x="2880360" y="2642616"/>
            <a:ext cx="1737360" cy="457200"/>
          </a:xfrm>
          <a:prstGeom prst="rect">
            <a:avLst/>
          </a:prstGeom>
          <a:noFill/>
          <a:ln/>
        </p:spPr>
        <p:txBody>
          <a:bodyPr wrap="square" lIns="0" tIns="0" rIns="0" bIns="0" rtlCol="0" anchor="t"/>
          <a:lstStyle/>
          <a:p>
            <a:pPr algn="ctr" indent="0" marL="0">
              <a:buNone/>
            </a:pPr>
            <a:r>
              <a:rPr lang="en-US" sz="950" dirty="0">
                <a:solidFill>
                  <a:srgbClr val="D31242"/>
                </a:solidFill>
                <a:latin typeface="Arial" pitchFamily="34" charset="0"/>
                <a:ea typeface="Arial" pitchFamily="34" charset="-122"/>
                <a:cs typeface="Arial" pitchFamily="34" charset="-120"/>
              </a:rPr>
              <a:t>This sync</a:t>
            </a:r>
            <a:endParaRPr lang="en-US" sz="950" dirty="0"/>
          </a:p>
        </p:txBody>
      </p:sp>
      <p:sp>
        <p:nvSpPr>
          <p:cNvPr id="13" name="Shape 11"/>
          <p:cNvSpPr/>
          <p:nvPr/>
        </p:nvSpPr>
        <p:spPr>
          <a:xfrm>
            <a:off x="5998464" y="2130552"/>
            <a:ext cx="164592" cy="164592"/>
          </a:xfrm>
          <a:prstGeom prst="ellipse">
            <a:avLst/>
          </a:prstGeom>
          <a:solidFill>
            <a:srgbClr val="FFFFFF"/>
          </a:solidFill>
          <a:ln w="25400">
            <a:solidFill>
              <a:srgbClr val="5E6A78"/>
            </a:solidFill>
            <a:prstDash val="solid"/>
          </a:ln>
        </p:spPr>
      </p:sp>
      <p:sp>
        <p:nvSpPr>
          <p:cNvPr id="14" name="Text 12"/>
          <p:cNvSpPr/>
          <p:nvPr/>
        </p:nvSpPr>
        <p:spPr>
          <a:xfrm>
            <a:off x="5212080" y="2395728"/>
            <a:ext cx="1737360" cy="237744"/>
          </a:xfrm>
          <a:prstGeom prst="rect">
            <a:avLst/>
          </a:prstGeom>
          <a:noFill/>
          <a:ln/>
        </p:spPr>
        <p:txBody>
          <a:bodyPr wrap="square" lIns="0" tIns="0" rIns="0" bIns="0" rtlCol="0" anchor="ctr"/>
          <a:lstStyle/>
          <a:p>
            <a:pPr algn="ctr" indent="0" marL="0">
              <a:buNone/>
            </a:pPr>
            <a:r>
              <a:rPr lang="en-US" sz="1250" b="1" dirty="0">
                <a:solidFill>
                  <a:srgbClr val="1F2733"/>
                </a:solidFill>
                <a:latin typeface="Arial" pitchFamily="34" charset="0"/>
                <a:ea typeface="Arial" pitchFamily="34" charset="-122"/>
                <a:cs typeface="Arial" pitchFamily="34" charset="-120"/>
              </a:rPr>
              <a:t>Jul 27</a:t>
            </a:r>
            <a:endParaRPr lang="en-US" sz="1250" dirty="0"/>
          </a:p>
        </p:txBody>
      </p:sp>
      <p:sp>
        <p:nvSpPr>
          <p:cNvPr id="15" name="Text 13"/>
          <p:cNvSpPr/>
          <p:nvPr/>
        </p:nvSpPr>
        <p:spPr>
          <a:xfrm>
            <a:off x="5212080" y="2642616"/>
            <a:ext cx="1737360" cy="457200"/>
          </a:xfrm>
          <a:prstGeom prst="rect">
            <a:avLst/>
          </a:prstGeom>
          <a:noFill/>
          <a:ln/>
        </p:spPr>
        <p:txBody>
          <a:bodyPr wrap="square" lIns="0" tIns="0" rIns="0" bIns="0" rtlCol="0" anchor="t"/>
          <a:lstStyle/>
          <a:p>
            <a:pPr algn="ctr" indent="0" marL="0">
              <a:buNone/>
            </a:pPr>
            <a:r>
              <a:rPr lang="en-US" sz="950" dirty="0">
                <a:solidFill>
                  <a:srgbClr val="5E6A78"/>
                </a:solidFill>
                <a:latin typeface="Arial" pitchFamily="34" charset="0"/>
                <a:ea typeface="Arial" pitchFamily="34" charset="-122"/>
                <a:cs typeface="Arial" pitchFamily="34" charset="-120"/>
              </a:rPr>
              <a:t>Day 30</a:t>
            </a:r>
            <a:endParaRPr lang="en-US" sz="950" dirty="0"/>
          </a:p>
        </p:txBody>
      </p:sp>
      <p:sp>
        <p:nvSpPr>
          <p:cNvPr id="16" name="Shape 14"/>
          <p:cNvSpPr/>
          <p:nvPr/>
        </p:nvSpPr>
        <p:spPr>
          <a:xfrm>
            <a:off x="8330184" y="2130552"/>
            <a:ext cx="164592" cy="164592"/>
          </a:xfrm>
          <a:prstGeom prst="ellipse">
            <a:avLst/>
          </a:prstGeom>
          <a:solidFill>
            <a:srgbClr val="FFFFFF"/>
          </a:solidFill>
          <a:ln w="25400">
            <a:solidFill>
              <a:srgbClr val="5E6A78"/>
            </a:solidFill>
            <a:prstDash val="solid"/>
          </a:ln>
        </p:spPr>
      </p:sp>
      <p:sp>
        <p:nvSpPr>
          <p:cNvPr id="17" name="Text 15"/>
          <p:cNvSpPr/>
          <p:nvPr/>
        </p:nvSpPr>
        <p:spPr>
          <a:xfrm>
            <a:off x="7543800" y="2395728"/>
            <a:ext cx="1737360" cy="237744"/>
          </a:xfrm>
          <a:prstGeom prst="rect">
            <a:avLst/>
          </a:prstGeom>
          <a:noFill/>
          <a:ln/>
        </p:spPr>
        <p:txBody>
          <a:bodyPr wrap="square" lIns="0" tIns="0" rIns="0" bIns="0" rtlCol="0" anchor="ctr"/>
          <a:lstStyle/>
          <a:p>
            <a:pPr algn="ctr" indent="0" marL="0">
              <a:buNone/>
            </a:pPr>
            <a:r>
              <a:rPr lang="en-US" sz="1250" b="1" dirty="0">
                <a:solidFill>
                  <a:srgbClr val="1F2733"/>
                </a:solidFill>
                <a:latin typeface="Arial" pitchFamily="34" charset="0"/>
                <a:ea typeface="Arial" pitchFamily="34" charset="-122"/>
                <a:cs typeface="Arial" pitchFamily="34" charset="-120"/>
              </a:rPr>
              <a:t>Aug 31</a:t>
            </a:r>
            <a:endParaRPr lang="en-US" sz="1250" dirty="0"/>
          </a:p>
        </p:txBody>
      </p:sp>
      <p:sp>
        <p:nvSpPr>
          <p:cNvPr id="18" name="Text 16"/>
          <p:cNvSpPr/>
          <p:nvPr/>
        </p:nvSpPr>
        <p:spPr>
          <a:xfrm>
            <a:off x="7543800" y="2642616"/>
            <a:ext cx="1737360" cy="457200"/>
          </a:xfrm>
          <a:prstGeom prst="rect">
            <a:avLst/>
          </a:prstGeom>
          <a:noFill/>
          <a:ln/>
        </p:spPr>
        <p:txBody>
          <a:bodyPr wrap="square" lIns="0" tIns="0" rIns="0" bIns="0" rtlCol="0" anchor="t"/>
          <a:lstStyle/>
          <a:p>
            <a:pPr algn="ctr" indent="0" marL="0">
              <a:buNone/>
            </a:pPr>
            <a:r>
              <a:rPr lang="en-US" sz="950" dirty="0">
                <a:solidFill>
                  <a:srgbClr val="5E6A78"/>
                </a:solidFill>
                <a:latin typeface="Arial" pitchFamily="34" charset="0"/>
                <a:ea typeface="Arial" pitchFamily="34" charset="-122"/>
                <a:cs typeface="Arial" pitchFamily="34" charset="-120"/>
              </a:rPr>
              <a:t>Day 60</a:t>
            </a:r>
            <a:endParaRPr lang="en-US" sz="950" dirty="0"/>
          </a:p>
        </p:txBody>
      </p:sp>
      <p:sp>
        <p:nvSpPr>
          <p:cNvPr id="19" name="Shape 17"/>
          <p:cNvSpPr/>
          <p:nvPr/>
        </p:nvSpPr>
        <p:spPr>
          <a:xfrm>
            <a:off x="10661904" y="2130552"/>
            <a:ext cx="164592" cy="164592"/>
          </a:xfrm>
          <a:prstGeom prst="ellipse">
            <a:avLst/>
          </a:prstGeom>
          <a:solidFill>
            <a:srgbClr val="FFFFFF"/>
          </a:solidFill>
          <a:ln w="25400">
            <a:solidFill>
              <a:srgbClr val="5E6A78"/>
            </a:solidFill>
            <a:prstDash val="solid"/>
          </a:ln>
        </p:spPr>
      </p:sp>
      <p:sp>
        <p:nvSpPr>
          <p:cNvPr id="20" name="Text 18"/>
          <p:cNvSpPr/>
          <p:nvPr/>
        </p:nvSpPr>
        <p:spPr>
          <a:xfrm>
            <a:off x="9875520" y="2395728"/>
            <a:ext cx="1737360" cy="237744"/>
          </a:xfrm>
          <a:prstGeom prst="rect">
            <a:avLst/>
          </a:prstGeom>
          <a:noFill/>
          <a:ln/>
        </p:spPr>
        <p:txBody>
          <a:bodyPr wrap="square" lIns="0" tIns="0" rIns="0" bIns="0" rtlCol="0" anchor="ctr"/>
          <a:lstStyle/>
          <a:p>
            <a:pPr algn="ctr" indent="0" marL="0">
              <a:buNone/>
            </a:pPr>
            <a:r>
              <a:rPr lang="en-US" sz="1250" b="1" dirty="0">
                <a:solidFill>
                  <a:srgbClr val="1F2733"/>
                </a:solidFill>
                <a:latin typeface="Arial" pitchFamily="34" charset="0"/>
                <a:ea typeface="Arial" pitchFamily="34" charset="-122"/>
                <a:cs typeface="Arial" pitchFamily="34" charset="-120"/>
              </a:rPr>
              <a:t>Sep 28</a:t>
            </a:r>
            <a:endParaRPr lang="en-US" sz="1250" dirty="0"/>
          </a:p>
        </p:txBody>
      </p:sp>
      <p:sp>
        <p:nvSpPr>
          <p:cNvPr id="21" name="Text 19"/>
          <p:cNvSpPr/>
          <p:nvPr/>
        </p:nvSpPr>
        <p:spPr>
          <a:xfrm>
            <a:off x="9875520" y="2642616"/>
            <a:ext cx="1737360" cy="457200"/>
          </a:xfrm>
          <a:prstGeom prst="rect">
            <a:avLst/>
          </a:prstGeom>
          <a:noFill/>
          <a:ln/>
        </p:spPr>
        <p:txBody>
          <a:bodyPr wrap="square" lIns="0" tIns="0" rIns="0" bIns="0" rtlCol="0" anchor="t"/>
          <a:lstStyle/>
          <a:p>
            <a:pPr algn="ctr" indent="0" marL="0">
              <a:buNone/>
            </a:pPr>
            <a:r>
              <a:rPr lang="en-US" sz="950" dirty="0">
                <a:solidFill>
                  <a:srgbClr val="5E6A78"/>
                </a:solidFill>
                <a:latin typeface="Arial" pitchFamily="34" charset="0"/>
                <a:ea typeface="Arial" pitchFamily="34" charset="-122"/>
                <a:cs typeface="Arial" pitchFamily="34" charset="-120"/>
              </a:rPr>
              <a:t>Day 90 · Roll-out</a:t>
            </a:r>
            <a:endParaRPr lang="en-US" sz="950" dirty="0"/>
          </a:p>
          <a:p>
            <a:pPr algn="ctr" indent="0" marL="0">
              <a:buNone/>
            </a:pPr>
            <a:r>
              <a:rPr lang="en-US" sz="950" dirty="0">
                <a:solidFill>
                  <a:srgbClr val="5E6A78"/>
                </a:solidFill>
                <a:latin typeface="Arial" pitchFamily="34" charset="0"/>
                <a:ea typeface="Arial" pitchFamily="34" charset="-122"/>
                <a:cs typeface="Arial" pitchFamily="34" charset="-120"/>
              </a:rPr>
              <a:t>+ tool decision</a:t>
            </a:r>
            <a:endParaRPr lang="en-US" sz="950" dirty="0"/>
          </a:p>
        </p:txBody>
      </p:sp>
      <p:sp>
        <p:nvSpPr>
          <p:cNvPr id="22" name="Text 20"/>
          <p:cNvSpPr/>
          <p:nvPr/>
        </p:nvSpPr>
        <p:spPr>
          <a:xfrm>
            <a:off x="502920" y="3310128"/>
            <a:ext cx="3429000" cy="822960"/>
          </a:xfrm>
          <a:prstGeom prst="rect">
            <a:avLst/>
          </a:prstGeom>
          <a:noFill/>
          <a:ln/>
        </p:spPr>
        <p:txBody>
          <a:bodyPr wrap="square" lIns="0" tIns="0" rIns="0" bIns="0" rtlCol="0" anchor="t"/>
          <a:lstStyle/>
          <a:p>
            <a:pPr indent="0" marL="0">
              <a:buNone/>
            </a:pPr>
            <a:r>
              <a:rPr lang="en-US" sz="1150" dirty="0">
                <a:solidFill>
                  <a:srgbClr val="1F2733"/>
                </a:solidFill>
                <a:latin typeface="Arial" pitchFamily="34" charset="0"/>
                <a:ea typeface="Arial" pitchFamily="34" charset="-122"/>
                <a:cs typeface="Arial" pitchFamily="34" charset="-120"/>
              </a:rPr>
              <a:t>These marks are shared. You hit yours, and bring your Connect users along theirs.</a:t>
            </a:r>
            <a:endParaRPr lang="en-US" sz="1150" dirty="0"/>
          </a:p>
        </p:txBody>
      </p:sp>
      <p:sp>
        <p:nvSpPr>
          <p:cNvPr id="23" name="Text 21"/>
          <p:cNvSpPr/>
          <p:nvPr/>
        </p:nvSpPr>
        <p:spPr>
          <a:xfrm>
            <a:off x="4160520" y="3291840"/>
            <a:ext cx="2423160" cy="237744"/>
          </a:xfrm>
          <a:prstGeom prst="rect">
            <a:avLst/>
          </a:prstGeom>
          <a:noFill/>
          <a:ln/>
        </p:spPr>
        <p:txBody>
          <a:bodyPr wrap="square" lIns="0" tIns="0" rIns="0" bIns="0" rtlCol="0" anchor="ctr"/>
          <a:lstStyle/>
          <a:p>
            <a:pPr algn="ctr" indent="0" marL="0">
              <a:buNone/>
            </a:pPr>
            <a:r>
              <a:rPr lang="en-US" sz="950" b="1" spc="100" kern="0" dirty="0">
                <a:solidFill>
                  <a:srgbClr val="A60E34"/>
                </a:solidFill>
                <a:latin typeface="Arial" pitchFamily="34" charset="0"/>
                <a:ea typeface="Arial" pitchFamily="34" charset="-122"/>
                <a:cs typeface="Arial" pitchFamily="34" charset="-120"/>
              </a:rPr>
              <a:t>BY DAY 30 · JUL 27</a:t>
            </a:r>
            <a:endParaRPr lang="en-US" sz="950" dirty="0"/>
          </a:p>
        </p:txBody>
      </p:sp>
      <p:sp>
        <p:nvSpPr>
          <p:cNvPr id="24" name="Text 22"/>
          <p:cNvSpPr/>
          <p:nvPr/>
        </p:nvSpPr>
        <p:spPr>
          <a:xfrm>
            <a:off x="6720840" y="3291840"/>
            <a:ext cx="2423160" cy="237744"/>
          </a:xfrm>
          <a:prstGeom prst="rect">
            <a:avLst/>
          </a:prstGeom>
          <a:noFill/>
          <a:ln/>
        </p:spPr>
        <p:txBody>
          <a:bodyPr wrap="square" lIns="0" tIns="0" rIns="0" bIns="0" rtlCol="0" anchor="ctr"/>
          <a:lstStyle/>
          <a:p>
            <a:pPr algn="ctr" indent="0" marL="0">
              <a:buNone/>
            </a:pPr>
            <a:r>
              <a:rPr lang="en-US" sz="950" b="1" spc="100" kern="0" dirty="0">
                <a:solidFill>
                  <a:srgbClr val="A60E34"/>
                </a:solidFill>
                <a:latin typeface="Arial" pitchFamily="34" charset="0"/>
                <a:ea typeface="Arial" pitchFamily="34" charset="-122"/>
                <a:cs typeface="Arial" pitchFamily="34" charset="-120"/>
              </a:rPr>
              <a:t>BY DAY 60 · AUG 31</a:t>
            </a:r>
            <a:endParaRPr lang="en-US" sz="950" dirty="0"/>
          </a:p>
        </p:txBody>
      </p:sp>
      <p:sp>
        <p:nvSpPr>
          <p:cNvPr id="25" name="Text 23"/>
          <p:cNvSpPr/>
          <p:nvPr/>
        </p:nvSpPr>
        <p:spPr>
          <a:xfrm>
            <a:off x="9281160" y="3291840"/>
            <a:ext cx="2423160" cy="237744"/>
          </a:xfrm>
          <a:prstGeom prst="rect">
            <a:avLst/>
          </a:prstGeom>
          <a:noFill/>
          <a:ln/>
        </p:spPr>
        <p:txBody>
          <a:bodyPr wrap="square" lIns="0" tIns="0" rIns="0" bIns="0" rtlCol="0" anchor="ctr"/>
          <a:lstStyle/>
          <a:p>
            <a:pPr algn="ctr" indent="0" marL="0">
              <a:buNone/>
            </a:pPr>
            <a:r>
              <a:rPr lang="en-US" sz="950" b="1" spc="100" kern="0" dirty="0">
                <a:solidFill>
                  <a:srgbClr val="A60E34"/>
                </a:solidFill>
                <a:latin typeface="Arial" pitchFamily="34" charset="0"/>
                <a:ea typeface="Arial" pitchFamily="34" charset="-122"/>
                <a:cs typeface="Arial" pitchFamily="34" charset="-120"/>
              </a:rPr>
              <a:t>BY DAY 90 · SEP 28</a:t>
            </a:r>
            <a:endParaRPr lang="en-US" sz="950" dirty="0"/>
          </a:p>
        </p:txBody>
      </p:sp>
      <p:sp>
        <p:nvSpPr>
          <p:cNvPr id="26" name="Text 24"/>
          <p:cNvSpPr/>
          <p:nvPr/>
        </p:nvSpPr>
        <p:spPr>
          <a:xfrm>
            <a:off x="502920" y="3639312"/>
            <a:ext cx="3429000" cy="868680"/>
          </a:xfrm>
          <a:prstGeom prst="rect">
            <a:avLst/>
          </a:prstGeom>
          <a:noFill/>
          <a:ln/>
        </p:spPr>
        <p:txBody>
          <a:bodyPr wrap="square" lIns="0" tIns="0" rIns="0" bIns="0" rtlCol="0" anchor="ctr"/>
          <a:lstStyle/>
          <a:p>
            <a:pPr algn="r" indent="0" marL="0">
              <a:buNone/>
            </a:pPr>
            <a:r>
              <a:rPr lang="en-US" sz="1100" b="1" spc="150" kern="0" dirty="0">
                <a:solidFill>
                  <a:srgbClr val="D31242"/>
                </a:solidFill>
                <a:latin typeface="Arial" pitchFamily="34" charset="0"/>
                <a:ea typeface="Arial" pitchFamily="34" charset="-122"/>
                <a:cs typeface="Arial" pitchFamily="34" charset="-120"/>
              </a:rPr>
              <a:t>YOU</a:t>
            </a:r>
            <a:endParaRPr lang="en-US" sz="1100" dirty="0"/>
          </a:p>
        </p:txBody>
      </p:sp>
      <p:sp>
        <p:nvSpPr>
          <p:cNvPr id="27" name="Shape 25"/>
          <p:cNvSpPr/>
          <p:nvPr/>
        </p:nvSpPr>
        <p:spPr>
          <a:xfrm>
            <a:off x="4160520" y="3639312"/>
            <a:ext cx="2423160" cy="868680"/>
          </a:xfrm>
          <a:prstGeom prst="roundRect">
            <a:avLst>
              <a:gd name="adj" fmla="val 6316"/>
            </a:avLst>
          </a:prstGeom>
          <a:solidFill>
            <a:srgbClr val="FCE4EA"/>
          </a:solidFill>
          <a:ln w="12700">
            <a:solidFill>
              <a:srgbClr val="F3C9D3"/>
            </a:solidFill>
            <a:prstDash val="solid"/>
          </a:ln>
        </p:spPr>
      </p:sp>
      <p:sp>
        <p:nvSpPr>
          <p:cNvPr id="28" name="Text 26"/>
          <p:cNvSpPr/>
          <p:nvPr/>
        </p:nvSpPr>
        <p:spPr>
          <a:xfrm>
            <a:off x="4288536" y="3639312"/>
            <a:ext cx="2167128" cy="868680"/>
          </a:xfrm>
          <a:prstGeom prst="rect">
            <a:avLst/>
          </a:prstGeom>
          <a:noFill/>
          <a:ln/>
        </p:spPr>
        <p:txBody>
          <a:bodyPr wrap="square" lIns="0" tIns="0" rIns="0" bIns="0" rtlCol="0" anchor="ctr"/>
          <a:lstStyle/>
          <a:p>
            <a:pPr algn="ctr" indent="0" marL="0">
              <a:buNone/>
            </a:pPr>
            <a:r>
              <a:rPr lang="en-US" sz="1050" dirty="0">
                <a:solidFill>
                  <a:srgbClr val="1F2733"/>
                </a:solidFill>
                <a:latin typeface="Arial" pitchFamily="34" charset="0"/>
                <a:ea typeface="Arial" pitchFamily="34" charset="-122"/>
                <a:cs typeface="Arial" pitchFamily="34" charset="-120"/>
              </a:rPr>
              <a:t>First use case submitted · EVP check-in booked</a:t>
            </a:r>
            <a:endParaRPr lang="en-US" sz="1050" dirty="0"/>
          </a:p>
        </p:txBody>
      </p:sp>
      <p:sp>
        <p:nvSpPr>
          <p:cNvPr id="29" name="Shape 27"/>
          <p:cNvSpPr/>
          <p:nvPr/>
        </p:nvSpPr>
        <p:spPr>
          <a:xfrm>
            <a:off x="6720840" y="3639312"/>
            <a:ext cx="2423160" cy="868680"/>
          </a:xfrm>
          <a:prstGeom prst="roundRect">
            <a:avLst>
              <a:gd name="adj" fmla="val 6316"/>
            </a:avLst>
          </a:prstGeom>
          <a:solidFill>
            <a:srgbClr val="FCE4EA"/>
          </a:solidFill>
          <a:ln w="12700">
            <a:solidFill>
              <a:srgbClr val="F3C9D3"/>
            </a:solidFill>
            <a:prstDash val="solid"/>
          </a:ln>
        </p:spPr>
      </p:sp>
      <p:sp>
        <p:nvSpPr>
          <p:cNvPr id="30" name="Text 28"/>
          <p:cNvSpPr/>
          <p:nvPr/>
        </p:nvSpPr>
        <p:spPr>
          <a:xfrm>
            <a:off x="6848856" y="3639312"/>
            <a:ext cx="2167128" cy="868680"/>
          </a:xfrm>
          <a:prstGeom prst="rect">
            <a:avLst/>
          </a:prstGeom>
          <a:noFill/>
          <a:ln/>
        </p:spPr>
        <p:txBody>
          <a:bodyPr wrap="square" lIns="0" tIns="0" rIns="0" bIns="0" rtlCol="0" anchor="ctr"/>
          <a:lstStyle/>
          <a:p>
            <a:pPr algn="ctr" indent="0" marL="0">
              <a:buNone/>
            </a:pPr>
            <a:r>
              <a:rPr lang="en-US" sz="1050" dirty="0">
                <a:solidFill>
                  <a:srgbClr val="1F2733"/>
                </a:solidFill>
                <a:latin typeface="Arial" pitchFamily="34" charset="0"/>
                <a:ea typeface="Arial" pitchFamily="34" charset="-122"/>
                <a:cs typeface="Arial" pitchFamily="34" charset="-120"/>
              </a:rPr>
              <a:t>Department prompt library at 10+ · comparison challenge run with your users</a:t>
            </a:r>
            <a:endParaRPr lang="en-US" sz="1050" dirty="0"/>
          </a:p>
        </p:txBody>
      </p:sp>
      <p:sp>
        <p:nvSpPr>
          <p:cNvPr id="31" name="Shape 29"/>
          <p:cNvSpPr/>
          <p:nvPr/>
        </p:nvSpPr>
        <p:spPr>
          <a:xfrm>
            <a:off x="9281160" y="3639312"/>
            <a:ext cx="2423160" cy="868680"/>
          </a:xfrm>
          <a:prstGeom prst="roundRect">
            <a:avLst>
              <a:gd name="adj" fmla="val 6316"/>
            </a:avLst>
          </a:prstGeom>
          <a:solidFill>
            <a:srgbClr val="FCE4EA"/>
          </a:solidFill>
          <a:ln w="12700">
            <a:solidFill>
              <a:srgbClr val="F3C9D3"/>
            </a:solidFill>
            <a:prstDash val="solid"/>
          </a:ln>
        </p:spPr>
      </p:sp>
      <p:sp>
        <p:nvSpPr>
          <p:cNvPr id="32" name="Text 30"/>
          <p:cNvSpPr/>
          <p:nvPr/>
        </p:nvSpPr>
        <p:spPr>
          <a:xfrm>
            <a:off x="9409176" y="3639312"/>
            <a:ext cx="2167128" cy="868680"/>
          </a:xfrm>
          <a:prstGeom prst="rect">
            <a:avLst/>
          </a:prstGeom>
          <a:noFill/>
          <a:ln/>
        </p:spPr>
        <p:txBody>
          <a:bodyPr wrap="square" lIns="0" tIns="0" rIns="0" bIns="0" rtlCol="0" anchor="ctr"/>
          <a:lstStyle/>
          <a:p>
            <a:pPr algn="ctr" indent="0" marL="0">
              <a:buNone/>
            </a:pPr>
            <a:r>
              <a:rPr lang="en-US" sz="1050" dirty="0">
                <a:solidFill>
                  <a:srgbClr val="1F2733"/>
                </a:solidFill>
                <a:latin typeface="Arial" pitchFamily="34" charset="0"/>
                <a:ea typeface="Arial" pitchFamily="34" charset="-122"/>
                <a:cs typeface="Arial" pitchFamily="34" charset="-120"/>
              </a:rPr>
              <a:t>Impact summary in · Council showcase</a:t>
            </a:r>
            <a:endParaRPr lang="en-US" sz="1050" dirty="0"/>
          </a:p>
        </p:txBody>
      </p:sp>
      <p:sp>
        <p:nvSpPr>
          <p:cNvPr id="33" name="Text 31"/>
          <p:cNvSpPr/>
          <p:nvPr/>
        </p:nvSpPr>
        <p:spPr>
          <a:xfrm>
            <a:off x="502920" y="4645152"/>
            <a:ext cx="3429000" cy="868680"/>
          </a:xfrm>
          <a:prstGeom prst="rect">
            <a:avLst/>
          </a:prstGeom>
          <a:noFill/>
          <a:ln/>
        </p:spPr>
        <p:txBody>
          <a:bodyPr wrap="square" lIns="0" tIns="0" rIns="0" bIns="0" rtlCol="0" anchor="ctr"/>
          <a:lstStyle/>
          <a:p>
            <a:pPr algn="r" indent="0" marL="0">
              <a:buNone/>
            </a:pPr>
            <a:r>
              <a:rPr lang="en-US" sz="1100" b="1" spc="150" kern="0" dirty="0">
                <a:solidFill>
                  <a:srgbClr val="A60E34"/>
                </a:solidFill>
                <a:latin typeface="Arial" pitchFamily="34" charset="0"/>
                <a:ea typeface="Arial" pitchFamily="34" charset="-122"/>
                <a:cs typeface="Arial" pitchFamily="34" charset="-120"/>
              </a:rPr>
              <a:t>YOUR CONNECT USERS</a:t>
            </a:r>
            <a:endParaRPr lang="en-US" sz="1100" dirty="0"/>
          </a:p>
        </p:txBody>
      </p:sp>
      <p:sp>
        <p:nvSpPr>
          <p:cNvPr id="34" name="Shape 32"/>
          <p:cNvSpPr/>
          <p:nvPr/>
        </p:nvSpPr>
        <p:spPr>
          <a:xfrm>
            <a:off x="4160520" y="4645152"/>
            <a:ext cx="2423160" cy="868680"/>
          </a:xfrm>
          <a:prstGeom prst="roundRect">
            <a:avLst>
              <a:gd name="adj" fmla="val 6316"/>
            </a:avLst>
          </a:prstGeom>
          <a:solidFill>
            <a:srgbClr val="FFFFFF"/>
          </a:solidFill>
          <a:ln w="12700">
            <a:solidFill>
              <a:srgbClr val="E7E9EE"/>
            </a:solidFill>
            <a:prstDash val="solid"/>
          </a:ln>
          <a:effectLst>
            <a:outerShdw sx="100000" sy="100000" kx="0" ky="0" algn="bl" rotWithShape="0" blurRad="63500" dist="25400" dir="5400000">
              <a:srgbClr val="BFC4CC">
                <a:alpha val="25000"/>
              </a:srgbClr>
            </a:outerShdw>
          </a:effectLst>
        </p:spPr>
      </p:sp>
      <p:sp>
        <p:nvSpPr>
          <p:cNvPr id="35" name="Text 33"/>
          <p:cNvSpPr/>
          <p:nvPr/>
        </p:nvSpPr>
        <p:spPr>
          <a:xfrm>
            <a:off x="4288536" y="4645152"/>
            <a:ext cx="2167128" cy="868680"/>
          </a:xfrm>
          <a:prstGeom prst="rect">
            <a:avLst/>
          </a:prstGeom>
          <a:noFill/>
          <a:ln/>
        </p:spPr>
        <p:txBody>
          <a:bodyPr wrap="square" lIns="0" tIns="0" rIns="0" bIns="0" rtlCol="0" anchor="ctr"/>
          <a:lstStyle/>
          <a:p>
            <a:pPr algn="ctr" indent="0" marL="0">
              <a:buNone/>
            </a:pPr>
            <a:r>
              <a:rPr lang="en-US" sz="1050" dirty="0">
                <a:solidFill>
                  <a:srgbClr val="5E6A78"/>
                </a:solidFill>
                <a:latin typeface="Arial" pitchFamily="34" charset="0"/>
                <a:ea typeface="Arial" pitchFamily="34" charset="-122"/>
                <a:cs typeface="Arial" pitchFamily="34" charset="-120"/>
              </a:rPr>
              <a:t>Tried their tool on one real task</a:t>
            </a:r>
            <a:endParaRPr lang="en-US" sz="1050" dirty="0"/>
          </a:p>
        </p:txBody>
      </p:sp>
      <p:sp>
        <p:nvSpPr>
          <p:cNvPr id="36" name="Shape 34"/>
          <p:cNvSpPr/>
          <p:nvPr/>
        </p:nvSpPr>
        <p:spPr>
          <a:xfrm>
            <a:off x="6720840" y="4645152"/>
            <a:ext cx="2423160" cy="868680"/>
          </a:xfrm>
          <a:prstGeom prst="roundRect">
            <a:avLst>
              <a:gd name="adj" fmla="val 6316"/>
            </a:avLst>
          </a:prstGeom>
          <a:solidFill>
            <a:srgbClr val="FFFFFF"/>
          </a:solidFill>
          <a:ln w="12700">
            <a:solidFill>
              <a:srgbClr val="E7E9EE"/>
            </a:solidFill>
            <a:prstDash val="solid"/>
          </a:ln>
          <a:effectLst>
            <a:outerShdw sx="100000" sy="100000" kx="0" ky="0" algn="bl" rotWithShape="0" blurRad="63500" dist="25400" dir="5400000">
              <a:srgbClr val="BFC4CC">
                <a:alpha val="25000"/>
              </a:srgbClr>
            </a:outerShdw>
          </a:effectLst>
        </p:spPr>
      </p:sp>
      <p:sp>
        <p:nvSpPr>
          <p:cNvPr id="37" name="Text 35"/>
          <p:cNvSpPr/>
          <p:nvPr/>
        </p:nvSpPr>
        <p:spPr>
          <a:xfrm>
            <a:off x="6848856" y="4645152"/>
            <a:ext cx="2167128" cy="868680"/>
          </a:xfrm>
          <a:prstGeom prst="rect">
            <a:avLst/>
          </a:prstGeom>
          <a:noFill/>
          <a:ln/>
        </p:spPr>
        <p:txBody>
          <a:bodyPr wrap="square" lIns="0" tIns="0" rIns="0" bIns="0" rtlCol="0" anchor="ctr"/>
          <a:lstStyle/>
          <a:p>
            <a:pPr algn="ctr" indent="0" marL="0">
              <a:buNone/>
            </a:pPr>
            <a:r>
              <a:rPr lang="en-US" sz="1050" dirty="0">
                <a:solidFill>
                  <a:srgbClr val="5E6A78"/>
                </a:solidFill>
                <a:latin typeface="Arial" pitchFamily="34" charset="0"/>
                <a:ea typeface="Arial" pitchFamily="34" charset="-122"/>
                <a:cs typeface="Arial" pitchFamily="34" charset="-120"/>
              </a:rPr>
              <a:t>AI part of one regular workflow</a:t>
            </a:r>
            <a:endParaRPr lang="en-US" sz="1050" dirty="0"/>
          </a:p>
        </p:txBody>
      </p:sp>
      <p:sp>
        <p:nvSpPr>
          <p:cNvPr id="38" name="Shape 36"/>
          <p:cNvSpPr/>
          <p:nvPr/>
        </p:nvSpPr>
        <p:spPr>
          <a:xfrm>
            <a:off x="9281160" y="4645152"/>
            <a:ext cx="2423160" cy="868680"/>
          </a:xfrm>
          <a:prstGeom prst="roundRect">
            <a:avLst>
              <a:gd name="adj" fmla="val 6316"/>
            </a:avLst>
          </a:prstGeom>
          <a:solidFill>
            <a:srgbClr val="FFFFFF"/>
          </a:solidFill>
          <a:ln w="12700">
            <a:solidFill>
              <a:srgbClr val="E7E9EE"/>
            </a:solidFill>
            <a:prstDash val="solid"/>
          </a:ln>
          <a:effectLst>
            <a:outerShdw sx="100000" sy="100000" kx="0" ky="0" algn="bl" rotWithShape="0" blurRad="63500" dist="25400" dir="5400000">
              <a:srgbClr val="BFC4CC">
                <a:alpha val="25000"/>
              </a:srgbClr>
            </a:outerShdw>
          </a:effectLst>
        </p:spPr>
      </p:sp>
      <p:sp>
        <p:nvSpPr>
          <p:cNvPr id="39" name="Text 37"/>
          <p:cNvSpPr/>
          <p:nvPr/>
        </p:nvSpPr>
        <p:spPr>
          <a:xfrm>
            <a:off x="9409176" y="4645152"/>
            <a:ext cx="2167128" cy="868680"/>
          </a:xfrm>
          <a:prstGeom prst="rect">
            <a:avLst/>
          </a:prstGeom>
          <a:noFill/>
          <a:ln/>
        </p:spPr>
        <p:txBody>
          <a:bodyPr wrap="square" lIns="0" tIns="0" rIns="0" bIns="0" rtlCol="0" anchor="ctr"/>
          <a:lstStyle/>
          <a:p>
            <a:pPr algn="ctr" indent="0" marL="0">
              <a:buNone/>
            </a:pPr>
            <a:r>
              <a:rPr lang="en-US" sz="1050" dirty="0">
                <a:solidFill>
                  <a:srgbClr val="5E6A78"/>
                </a:solidFill>
                <a:latin typeface="Arial" pitchFamily="34" charset="0"/>
                <a:ea typeface="Arial" pitchFamily="34" charset="-122"/>
                <a:cs typeface="Arial" pitchFamily="34" charset="-120"/>
              </a:rPr>
              <a:t>One use case written up and shared</a:t>
            </a:r>
            <a:endParaRPr lang="en-US" sz="1050" dirty="0"/>
          </a:p>
        </p:txBody>
      </p:sp>
      <p:sp>
        <p:nvSpPr>
          <p:cNvPr id="40" name="Text 38"/>
          <p:cNvSpPr/>
          <p:nvPr/>
        </p:nvSpPr>
        <p:spPr>
          <a:xfrm>
            <a:off x="502920" y="6035040"/>
            <a:ext cx="11183112" cy="502920"/>
          </a:xfrm>
          <a:prstGeom prst="roundRect">
            <a:avLst>
              <a:gd name="adj" fmla="val 10909"/>
            </a:avLst>
          </a:prstGeom>
          <a:solidFill>
            <a:srgbClr val="D31242"/>
          </a:solid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Next marker is Monday: </a:t>
            </a:r>
            <a:pPr algn="ctr" indent="0" marL="0">
              <a:buNone/>
            </a:pPr>
            <a:r>
              <a:rPr lang="en-US" sz="1250" dirty="0">
                <a:solidFill>
                  <a:srgbClr val="FFFFFF"/>
                </a:solidFill>
                <a:latin typeface="Arial" pitchFamily="34" charset="0"/>
                <a:ea typeface="Arial" pitchFamily="34" charset="-122"/>
                <a:cs typeface="Arial" pitchFamily="34" charset="-120"/>
              </a:rPr>
              <a:t>one use case submitted, and your first EVP check-in on the calendar.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YOUR FEEDBACK · THREE THEMES</a:t>
            </a:r>
            <a:endParaRPr lang="en-US" sz="1200" dirty="0"/>
          </a:p>
        </p:txBody>
      </p:sp>
      <p:sp>
        <p:nvSpPr>
          <p:cNvPr id="3" name="Text 1"/>
          <p:cNvSpPr/>
          <p:nvPr/>
        </p:nvSpPr>
        <p:spPr>
          <a:xfrm>
            <a:off x="548640" y="749808"/>
            <a:ext cx="10972800" cy="603504"/>
          </a:xfrm>
          <a:prstGeom prst="rect">
            <a:avLst/>
          </a:prstGeom>
          <a:noFill/>
          <a:ln/>
        </p:spPr>
        <p:txBody>
          <a:bodyPr wrap="square" lIns="0" tIns="0" rIns="0" bIns="0" rtlCol="0" anchor="ctr"/>
          <a:lstStyle/>
          <a:p>
            <a:pPr indent="0" marL="0">
              <a:buNone/>
            </a:pPr>
            <a:r>
              <a:rPr lang="en-US" sz="3200" b="1" dirty="0">
                <a:solidFill>
                  <a:srgbClr val="1F2733"/>
                </a:solidFill>
                <a:latin typeface="Arial" pitchFamily="34" charset="0"/>
                <a:ea typeface="Arial" pitchFamily="34" charset="-122"/>
                <a:cs typeface="Arial" pitchFamily="34" charset="-120"/>
              </a:rPr>
              <a:t>What you told us</a:t>
            </a:r>
            <a:endParaRPr lang="en-US" sz="3200" dirty="0"/>
          </a:p>
        </p:txBody>
      </p:sp>
      <p:sp>
        <p:nvSpPr>
          <p:cNvPr id="4" name="Text 2"/>
          <p:cNvSpPr/>
          <p:nvPr/>
        </p:nvSpPr>
        <p:spPr>
          <a:xfrm>
            <a:off x="548640" y="1828800"/>
            <a:ext cx="10972800" cy="256032"/>
          </a:xfrm>
          <a:prstGeom prst="rect">
            <a:avLst/>
          </a:prstGeom>
          <a:noFill/>
          <a:ln/>
        </p:spPr>
        <p:txBody>
          <a:bodyPr wrap="square" lIns="0" tIns="0" rIns="0" bIns="0" rtlCol="0" anchor="ctr"/>
          <a:lstStyle/>
          <a:p>
            <a:pPr indent="0" marL="0">
              <a:buNone/>
            </a:pPr>
            <a:r>
              <a:rPr lang="en-US" sz="1100" b="1" spc="150" kern="0" dirty="0">
                <a:solidFill>
                  <a:srgbClr val="A60E34"/>
                </a:solidFill>
                <a:latin typeface="Arial" pitchFamily="34" charset="0"/>
                <a:ea typeface="Arial" pitchFamily="34" charset="-122"/>
                <a:cs typeface="Arial" pitchFamily="34" charset="-120"/>
              </a:rPr>
              <a:t>HANDS-ON TRAINING</a:t>
            </a:r>
            <a:endParaRPr lang="en-US" sz="1100" dirty="0"/>
          </a:p>
        </p:txBody>
      </p:sp>
      <p:sp>
        <p:nvSpPr>
          <p:cNvPr id="5" name="Text 3"/>
          <p:cNvSpPr/>
          <p:nvPr/>
        </p:nvSpPr>
        <p:spPr>
          <a:xfrm>
            <a:off x="548640" y="2103120"/>
            <a:ext cx="11064240" cy="402336"/>
          </a:xfrm>
          <a:prstGeom prst="rect">
            <a:avLst/>
          </a:prstGeom>
          <a:noFill/>
          <a:ln/>
        </p:spPr>
        <p:txBody>
          <a:bodyPr wrap="square" lIns="0" tIns="0" rIns="0" bIns="0" rtlCol="0" anchor="ctr"/>
          <a:lstStyle/>
          <a:p>
            <a:pPr indent="0" marL="0">
              <a:buNone/>
            </a:pPr>
            <a:r>
              <a:rPr lang="en-US" sz="2000" b="1" dirty="0">
                <a:solidFill>
                  <a:srgbClr val="1F2733"/>
                </a:solidFill>
                <a:latin typeface="Arial" pitchFamily="34" charset="0"/>
                <a:ea typeface="Arial" pitchFamily="34" charset="-122"/>
                <a:cs typeface="Arial" pitchFamily="34" charset="-120"/>
              </a:rPr>
              <a:t>You want practical training, not theory.</a:t>
            </a:r>
            <a:endParaRPr lang="en-US" sz="2000" dirty="0"/>
          </a:p>
        </p:txBody>
      </p:sp>
      <p:sp>
        <p:nvSpPr>
          <p:cNvPr id="6" name="Text 4"/>
          <p:cNvSpPr/>
          <p:nvPr/>
        </p:nvSpPr>
        <p:spPr>
          <a:xfrm>
            <a:off x="548640" y="2542032"/>
            <a:ext cx="10789920" cy="457200"/>
          </a:xfrm>
          <a:prstGeom prst="rect">
            <a:avLst/>
          </a:prstGeom>
          <a:noFill/>
          <a:ln/>
        </p:spPr>
        <p:txBody>
          <a:bodyPr wrap="square" lIns="0" tIns="0" rIns="0" bIns="0" rtlCol="0" anchor="ctr"/>
          <a:lstStyle/>
          <a:p>
            <a:pPr indent="0" marL="0">
              <a:buNone/>
            </a:pPr>
            <a:r>
              <a:rPr lang="en-US" sz="1350" dirty="0">
                <a:solidFill>
                  <a:srgbClr val="5E6A78"/>
                </a:solidFill>
                <a:latin typeface="Arial" pitchFamily="34" charset="0"/>
                <a:ea typeface="Arial" pitchFamily="34" charset="-122"/>
                <a:cs typeface="Arial" pitchFamily="34" charset="-120"/>
              </a:rPr>
              <a:t>It starts today: AI Connect Essentials is delivered in this session. Go deeper as you're ready; the materials are yours to use with your teams.</a:t>
            </a:r>
            <a:endParaRPr lang="en-US" sz="1350" dirty="0"/>
          </a:p>
        </p:txBody>
      </p:sp>
      <p:sp>
        <p:nvSpPr>
          <p:cNvPr id="7" name="Text 5"/>
          <p:cNvSpPr/>
          <p:nvPr/>
        </p:nvSpPr>
        <p:spPr>
          <a:xfrm>
            <a:off x="548640" y="3246120"/>
            <a:ext cx="10972800" cy="256032"/>
          </a:xfrm>
          <a:prstGeom prst="rect">
            <a:avLst/>
          </a:prstGeom>
          <a:noFill/>
          <a:ln/>
        </p:spPr>
        <p:txBody>
          <a:bodyPr wrap="square" lIns="0" tIns="0" rIns="0" bIns="0" rtlCol="0" anchor="ctr"/>
          <a:lstStyle/>
          <a:p>
            <a:pPr indent="0" marL="0">
              <a:buNone/>
            </a:pPr>
            <a:r>
              <a:rPr lang="en-US" sz="1100" b="1" spc="150" kern="0" dirty="0">
                <a:solidFill>
                  <a:srgbClr val="A60E34"/>
                </a:solidFill>
                <a:latin typeface="Arial" pitchFamily="34" charset="0"/>
                <a:ea typeface="Arial" pitchFamily="34" charset="-122"/>
                <a:cs typeface="Arial" pitchFamily="34" charset="-120"/>
              </a:rPr>
              <a:t>PROMPTS &amp; USE CASES</a:t>
            </a:r>
            <a:endParaRPr lang="en-US" sz="1100" dirty="0"/>
          </a:p>
        </p:txBody>
      </p:sp>
      <p:sp>
        <p:nvSpPr>
          <p:cNvPr id="8" name="Text 6"/>
          <p:cNvSpPr/>
          <p:nvPr/>
        </p:nvSpPr>
        <p:spPr>
          <a:xfrm>
            <a:off x="548640" y="3520440"/>
            <a:ext cx="11064240" cy="402336"/>
          </a:xfrm>
          <a:prstGeom prst="rect">
            <a:avLst/>
          </a:prstGeom>
          <a:noFill/>
          <a:ln/>
        </p:spPr>
        <p:txBody>
          <a:bodyPr wrap="square" lIns="0" tIns="0" rIns="0" bIns="0" rtlCol="0" anchor="ctr"/>
          <a:lstStyle/>
          <a:p>
            <a:pPr indent="0" marL="0">
              <a:buNone/>
            </a:pPr>
            <a:r>
              <a:rPr lang="en-US" sz="2000" b="1" dirty="0">
                <a:solidFill>
                  <a:srgbClr val="1F2733"/>
                </a:solidFill>
                <a:latin typeface="Arial" pitchFamily="34" charset="0"/>
                <a:ea typeface="Arial" pitchFamily="34" charset="-122"/>
                <a:cs typeface="Arial" pitchFamily="34" charset="-120"/>
              </a:rPr>
              <a:t>You want help putting AI to real work.</a:t>
            </a:r>
            <a:endParaRPr lang="en-US" sz="2000" dirty="0"/>
          </a:p>
        </p:txBody>
      </p:sp>
      <p:sp>
        <p:nvSpPr>
          <p:cNvPr id="9" name="Text 7"/>
          <p:cNvSpPr/>
          <p:nvPr/>
        </p:nvSpPr>
        <p:spPr>
          <a:xfrm>
            <a:off x="548640" y="3959352"/>
            <a:ext cx="10789920" cy="457200"/>
          </a:xfrm>
          <a:prstGeom prst="rect">
            <a:avLst/>
          </a:prstGeom>
          <a:noFill/>
          <a:ln/>
        </p:spPr>
        <p:txBody>
          <a:bodyPr wrap="square" lIns="0" tIns="0" rIns="0" bIns="0" rtlCol="0" anchor="ctr"/>
          <a:lstStyle/>
          <a:p>
            <a:pPr indent="0" marL="0">
              <a:buNone/>
            </a:pPr>
            <a:r>
              <a:rPr lang="en-US" sz="1350" dirty="0">
                <a:solidFill>
                  <a:srgbClr val="5E6A78"/>
                </a:solidFill>
                <a:latin typeface="Arial" pitchFamily="34" charset="0"/>
                <a:ea typeface="Arial" pitchFamily="34" charset="-122"/>
                <a:cs typeface="Arial" pitchFamily="34" charset="-120"/>
              </a:rPr>
              <a:t>A ready-to-use prompt library, and clear guidance on how to identify a good use case and write it up.</a:t>
            </a:r>
            <a:endParaRPr lang="en-US" sz="1350" dirty="0"/>
          </a:p>
        </p:txBody>
      </p:sp>
      <p:sp>
        <p:nvSpPr>
          <p:cNvPr id="10" name="Text 8"/>
          <p:cNvSpPr/>
          <p:nvPr/>
        </p:nvSpPr>
        <p:spPr>
          <a:xfrm>
            <a:off x="548640" y="4663440"/>
            <a:ext cx="10972800" cy="256032"/>
          </a:xfrm>
          <a:prstGeom prst="rect">
            <a:avLst/>
          </a:prstGeom>
          <a:noFill/>
          <a:ln/>
        </p:spPr>
        <p:txBody>
          <a:bodyPr wrap="square" lIns="0" tIns="0" rIns="0" bIns="0" rtlCol="0" anchor="ctr"/>
          <a:lstStyle/>
          <a:p>
            <a:pPr indent="0" marL="0">
              <a:buNone/>
            </a:pPr>
            <a:r>
              <a:rPr lang="en-US" sz="1100" b="1" spc="150" kern="0" dirty="0">
                <a:solidFill>
                  <a:srgbClr val="A60E34"/>
                </a:solidFill>
                <a:latin typeface="Arial" pitchFamily="34" charset="0"/>
                <a:ea typeface="Arial" pitchFamily="34" charset="-122"/>
                <a:cs typeface="Arial" pitchFamily="34" charset="-120"/>
              </a:rPr>
              <a:t>TIME &amp; PACE</a:t>
            </a:r>
            <a:endParaRPr lang="en-US" sz="1100" dirty="0"/>
          </a:p>
        </p:txBody>
      </p:sp>
      <p:sp>
        <p:nvSpPr>
          <p:cNvPr id="11" name="Text 9"/>
          <p:cNvSpPr/>
          <p:nvPr/>
        </p:nvSpPr>
        <p:spPr>
          <a:xfrm>
            <a:off x="548640" y="4937760"/>
            <a:ext cx="11064240" cy="402336"/>
          </a:xfrm>
          <a:prstGeom prst="rect">
            <a:avLst/>
          </a:prstGeom>
          <a:noFill/>
          <a:ln/>
        </p:spPr>
        <p:txBody>
          <a:bodyPr wrap="square" lIns="0" tIns="0" rIns="0" bIns="0" rtlCol="0" anchor="ctr"/>
          <a:lstStyle/>
          <a:p>
            <a:pPr indent="0" marL="0">
              <a:buNone/>
            </a:pPr>
            <a:r>
              <a:rPr lang="en-US" sz="2000" b="1" dirty="0">
                <a:solidFill>
                  <a:srgbClr val="1F2733"/>
                </a:solidFill>
                <a:latin typeface="Arial" pitchFamily="34" charset="0"/>
                <a:ea typeface="Arial" pitchFamily="34" charset="-122"/>
                <a:cs typeface="Arial" pitchFamily="34" charset="-120"/>
              </a:rPr>
              <a:t>You need it to fit your day.</a:t>
            </a:r>
            <a:endParaRPr lang="en-US" sz="2000" dirty="0"/>
          </a:p>
        </p:txBody>
      </p:sp>
      <p:sp>
        <p:nvSpPr>
          <p:cNvPr id="12" name="Text 10"/>
          <p:cNvSpPr/>
          <p:nvPr/>
        </p:nvSpPr>
        <p:spPr>
          <a:xfrm>
            <a:off x="548640" y="5376672"/>
            <a:ext cx="10789920" cy="457200"/>
          </a:xfrm>
          <a:prstGeom prst="rect">
            <a:avLst/>
          </a:prstGeom>
          <a:noFill/>
          <a:ln/>
        </p:spPr>
        <p:txBody>
          <a:bodyPr wrap="square" lIns="0" tIns="0" rIns="0" bIns="0" rtlCol="0" anchor="ctr"/>
          <a:lstStyle/>
          <a:p>
            <a:pPr indent="0" marL="0">
              <a:buNone/>
            </a:pPr>
            <a:r>
              <a:rPr lang="en-US" sz="1350" dirty="0">
                <a:solidFill>
                  <a:srgbClr val="5E6A78"/>
                </a:solidFill>
                <a:latin typeface="Arial" pitchFamily="34" charset="0"/>
                <a:ea typeface="Arial" pitchFamily="34" charset="-122"/>
                <a:cs typeface="Arial" pitchFamily="34" charset="-120"/>
              </a:rPr>
              <a:t>Use cases picked to give time back, materials that fit meetings you already run, and office hours whenever you're stuck.</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74320"/>
          </a:xfrm>
          <a:prstGeom prst="rect">
            <a:avLst/>
          </a:prstGeom>
          <a:noFill/>
          <a:ln/>
        </p:spPr>
        <p:txBody>
          <a:bodyPr wrap="square" lIns="0" tIns="0" rIns="0" bIns="0" rtlCol="0" anchor="ctr"/>
          <a:lstStyle/>
          <a:p>
            <a:pPr indent="0" marL="0">
              <a:buNone/>
            </a:pPr>
            <a:r>
              <a:rPr lang="en-US" sz="1150" b="1" spc="200" kern="0" dirty="0">
                <a:solidFill>
                  <a:srgbClr val="D31242"/>
                </a:solidFill>
                <a:latin typeface="Arial" pitchFamily="34" charset="0"/>
                <a:ea typeface="Arial" pitchFamily="34" charset="-122"/>
                <a:cs typeface="Arial" pitchFamily="34" charset="-120"/>
              </a:rPr>
              <a:t>HANDS-ON TRAINING</a:t>
            </a:r>
            <a:endParaRPr lang="en-US" sz="1150" dirty="0"/>
          </a:p>
        </p:txBody>
      </p:sp>
      <p:sp>
        <p:nvSpPr>
          <p:cNvPr id="3" name="Text 1"/>
          <p:cNvSpPr/>
          <p:nvPr/>
        </p:nvSpPr>
        <p:spPr>
          <a:xfrm>
            <a:off x="502920" y="640080"/>
            <a:ext cx="11201400" cy="530352"/>
          </a:xfrm>
          <a:prstGeom prst="rect">
            <a:avLst/>
          </a:prstGeom>
          <a:noFill/>
          <a:ln/>
        </p:spPr>
        <p:txBody>
          <a:bodyPr wrap="square" lIns="0" tIns="0" rIns="0" bIns="0" rtlCol="0" anchor="ctr"/>
          <a:lstStyle/>
          <a:p>
            <a:pPr indent="0" marL="0">
              <a:buNone/>
            </a:pPr>
            <a:r>
              <a:rPr lang="en-US" sz="2500" b="1" dirty="0">
                <a:solidFill>
                  <a:srgbClr val="1F2733"/>
                </a:solidFill>
                <a:latin typeface="Arial" pitchFamily="34" charset="0"/>
                <a:ea typeface="Arial" pitchFamily="34" charset="-122"/>
                <a:cs typeface="Arial" pitchFamily="34" charset="-120"/>
              </a:rPr>
              <a:t>Training roadmap</a:t>
            </a:r>
            <a:endParaRPr lang="en-US" sz="2500" dirty="0"/>
          </a:p>
        </p:txBody>
      </p:sp>
      <p:sp>
        <p:nvSpPr>
          <p:cNvPr id="4" name="Text 2"/>
          <p:cNvSpPr/>
          <p:nvPr/>
        </p:nvSpPr>
        <p:spPr>
          <a:xfrm>
            <a:off x="502920" y="1170432"/>
            <a:ext cx="11201400" cy="365760"/>
          </a:xfrm>
          <a:prstGeom prst="rect">
            <a:avLst/>
          </a:prstGeom>
          <a:noFill/>
          <a:ln/>
        </p:spPr>
        <p:txBody>
          <a:bodyPr wrap="square" lIns="0" tIns="0" rIns="0" bIns="0" rtlCol="0" anchor="ctr"/>
          <a:lstStyle/>
          <a:p>
            <a:pPr indent="0" marL="0">
              <a:buNone/>
            </a:pPr>
            <a:r>
              <a:rPr lang="en-US" sz="1350" dirty="0">
                <a:solidFill>
                  <a:srgbClr val="5E6A78"/>
                </a:solidFill>
                <a:latin typeface="Arial" pitchFamily="34" charset="0"/>
                <a:ea typeface="Arial" pitchFamily="34" charset="-122"/>
                <a:cs typeface="Arial" pitchFamily="34" charset="-120"/>
              </a:rPr>
              <a:t>You asked for practical, hands-on training. It starts today: AI Connect Essentials is delivered in this session, and every course's materials are yours to use with your teams.</a:t>
            </a:r>
            <a:endParaRPr lang="en-US" sz="1350" dirty="0"/>
          </a:p>
        </p:txBody>
      </p:sp>
      <p:sp>
        <p:nvSpPr>
          <p:cNvPr id="5" name="Shape 3"/>
          <p:cNvSpPr/>
          <p:nvPr/>
        </p:nvSpPr>
        <p:spPr>
          <a:xfrm>
            <a:off x="502920" y="1783080"/>
            <a:ext cx="1691640" cy="1371600"/>
          </a:xfrm>
          <a:prstGeom prst="roundRect">
            <a:avLst>
              <a:gd name="adj" fmla="val 4000"/>
            </a:avLst>
          </a:prstGeom>
          <a:solidFill>
            <a:srgbClr val="D31242"/>
          </a:solidFill>
          <a:ln/>
        </p:spPr>
      </p:sp>
      <p:sp>
        <p:nvSpPr>
          <p:cNvPr id="6" name="Text 4"/>
          <p:cNvSpPr/>
          <p:nvPr/>
        </p:nvSpPr>
        <p:spPr>
          <a:xfrm>
            <a:off x="502920" y="1783080"/>
            <a:ext cx="1691640" cy="137160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FOUNDATION</a:t>
            </a:r>
            <a:endParaRPr lang="en-US" sz="1200" dirty="0"/>
          </a:p>
        </p:txBody>
      </p:sp>
      <p:sp>
        <p:nvSpPr>
          <p:cNvPr id="7" name="Shape 5"/>
          <p:cNvSpPr/>
          <p:nvPr/>
        </p:nvSpPr>
        <p:spPr>
          <a:xfrm>
            <a:off x="2286000" y="1783080"/>
            <a:ext cx="3057144" cy="1371600"/>
          </a:xfrm>
          <a:prstGeom prst="roundRect">
            <a:avLst>
              <a:gd name="adj" fmla="val 4000"/>
            </a:avLst>
          </a:prstGeom>
          <a:solidFill>
            <a:srgbClr val="FCE4EA"/>
          </a:solidFill>
          <a:ln w="19050">
            <a:solidFill>
              <a:srgbClr val="D31242"/>
            </a:solidFill>
            <a:prstDash val="solid"/>
          </a:ln>
        </p:spPr>
      </p:sp>
      <p:sp>
        <p:nvSpPr>
          <p:cNvPr id="8" name="Text 6"/>
          <p:cNvSpPr/>
          <p:nvPr/>
        </p:nvSpPr>
        <p:spPr>
          <a:xfrm>
            <a:off x="2432304" y="1929384"/>
            <a:ext cx="2764536" cy="457200"/>
          </a:xfrm>
          <a:prstGeom prst="rect">
            <a:avLst/>
          </a:prstGeom>
          <a:noFill/>
          <a:ln/>
        </p:spPr>
        <p:txBody>
          <a:bodyPr wrap="square" lIns="0" tIns="0" rIns="0" bIns="0" rtlCol="0" anchor="t"/>
          <a:lstStyle/>
          <a:p>
            <a:pPr indent="0" marL="0">
              <a:buNone/>
            </a:pPr>
            <a:r>
              <a:rPr lang="en-US" sz="1200" b="1" dirty="0">
                <a:solidFill>
                  <a:srgbClr val="1F2733"/>
                </a:solidFill>
                <a:latin typeface="Arial" pitchFamily="34" charset="0"/>
                <a:ea typeface="Arial" pitchFamily="34" charset="-122"/>
                <a:cs typeface="Arial" pitchFamily="34" charset="-120"/>
              </a:rPr>
              <a:t>AI Connect Essentials</a:t>
            </a:r>
            <a:endParaRPr lang="en-US" sz="1200" dirty="0"/>
          </a:p>
        </p:txBody>
      </p:sp>
      <p:sp>
        <p:nvSpPr>
          <p:cNvPr id="9" name="Text 7"/>
          <p:cNvSpPr/>
          <p:nvPr/>
        </p:nvSpPr>
        <p:spPr>
          <a:xfrm>
            <a:off x="2432304" y="2862072"/>
            <a:ext cx="2764536" cy="201168"/>
          </a:xfrm>
          <a:prstGeom prst="rect">
            <a:avLst/>
          </a:prstGeom>
          <a:noFill/>
          <a:ln/>
        </p:spPr>
        <p:txBody>
          <a:bodyPr wrap="square" lIns="0" tIns="0" rIns="0" bIns="0" rtlCol="0" anchor="ctr"/>
          <a:lstStyle/>
          <a:p>
            <a:pPr indent="0" marL="0">
              <a:buNone/>
            </a:pPr>
            <a:r>
              <a:rPr lang="en-US" sz="850" b="1" spc="100" kern="0" dirty="0">
                <a:solidFill>
                  <a:srgbClr val="D31242"/>
                </a:solidFill>
                <a:latin typeface="Arial" pitchFamily="34" charset="0"/>
                <a:ea typeface="Arial" pitchFamily="34" charset="-122"/>
                <a:cs typeface="Arial" pitchFamily="34" charset="-120"/>
              </a:rPr>
              <a:t>THIS SESSION</a:t>
            </a:r>
            <a:endParaRPr lang="en-US" sz="850" dirty="0"/>
          </a:p>
        </p:txBody>
      </p:sp>
      <p:sp>
        <p:nvSpPr>
          <p:cNvPr id="10" name="Text 8"/>
          <p:cNvSpPr/>
          <p:nvPr/>
        </p:nvSpPr>
        <p:spPr>
          <a:xfrm>
            <a:off x="2432304" y="2331720"/>
            <a:ext cx="2764536" cy="548640"/>
          </a:xfrm>
          <a:prstGeom prst="rect">
            <a:avLst/>
          </a:prstGeom>
          <a:noFill/>
          <a:ln/>
        </p:spPr>
        <p:txBody>
          <a:bodyPr wrap="square" lIns="0" tIns="0" rIns="0" bIns="0" rtlCol="0" anchor="t"/>
          <a:lstStyle/>
          <a:p>
            <a:pPr indent="0" marL="0">
              <a:buNone/>
            </a:pPr>
            <a:r>
              <a:rPr lang="en-US" sz="950" dirty="0">
                <a:solidFill>
                  <a:srgbClr val="5E6A78"/>
                </a:solidFill>
                <a:latin typeface="Arial" pitchFamily="34" charset="0"/>
                <a:ea typeface="Arial" pitchFamily="34" charset="-122"/>
                <a:cs typeface="Arial" pitchFamily="34" charset="-120"/>
              </a:rPr>
              <a:t>Gives everyone a safe, reliable way to start using AI on real work.</a:t>
            </a:r>
            <a:endParaRPr lang="en-US" sz="950" dirty="0"/>
          </a:p>
        </p:txBody>
      </p:sp>
      <p:sp>
        <p:nvSpPr>
          <p:cNvPr id="11" name="Shape 9"/>
          <p:cNvSpPr/>
          <p:nvPr/>
        </p:nvSpPr>
        <p:spPr>
          <a:xfrm>
            <a:off x="5489448" y="1783080"/>
            <a:ext cx="3057144" cy="1371600"/>
          </a:xfrm>
          <a:prstGeom prst="roundRect">
            <a:avLst>
              <a:gd name="adj" fmla="val 4000"/>
            </a:avLst>
          </a:prstGeom>
          <a:solidFill>
            <a:srgbClr val="FFFFFF"/>
          </a:solidFill>
          <a:ln w="12700">
            <a:solidFill>
              <a:srgbClr val="E7E9EE"/>
            </a:solidFill>
            <a:prstDash val="solid"/>
          </a:ln>
        </p:spPr>
      </p:sp>
      <p:sp>
        <p:nvSpPr>
          <p:cNvPr id="12" name="Text 10"/>
          <p:cNvSpPr/>
          <p:nvPr/>
        </p:nvSpPr>
        <p:spPr>
          <a:xfrm>
            <a:off x="5635752" y="1929384"/>
            <a:ext cx="2764536" cy="475488"/>
          </a:xfrm>
          <a:prstGeom prst="rect">
            <a:avLst/>
          </a:prstGeom>
          <a:noFill/>
          <a:ln/>
        </p:spPr>
        <p:txBody>
          <a:bodyPr wrap="square" lIns="0" tIns="0" rIns="0" bIns="0" rtlCol="0" anchor="t"/>
          <a:lstStyle/>
          <a:p>
            <a:pPr indent="0" marL="0">
              <a:buNone/>
            </a:pPr>
            <a:r>
              <a:rPr lang="en-US" sz="1200" b="1" dirty="0">
                <a:solidFill>
                  <a:srgbClr val="1F2733"/>
                </a:solidFill>
                <a:latin typeface="Arial" pitchFamily="34" charset="0"/>
                <a:ea typeface="Arial" pitchFamily="34" charset="-122"/>
                <a:cs typeface="Arial" pitchFamily="34" charset="-120"/>
              </a:rPr>
              <a:t>Thinking with AI</a:t>
            </a:r>
            <a:endParaRPr lang="en-US" sz="1200" dirty="0"/>
          </a:p>
        </p:txBody>
      </p:sp>
      <p:sp>
        <p:nvSpPr>
          <p:cNvPr id="13" name="Text 11"/>
          <p:cNvSpPr/>
          <p:nvPr/>
        </p:nvSpPr>
        <p:spPr>
          <a:xfrm>
            <a:off x="5635752" y="2441448"/>
            <a:ext cx="2764536" cy="603504"/>
          </a:xfrm>
          <a:prstGeom prst="rect">
            <a:avLst/>
          </a:prstGeom>
          <a:noFill/>
          <a:ln/>
        </p:spPr>
        <p:txBody>
          <a:bodyPr wrap="square" lIns="0" tIns="0" rIns="0" bIns="0" rtlCol="0" anchor="t"/>
          <a:lstStyle/>
          <a:p>
            <a:pPr indent="0" marL="0">
              <a:buNone/>
            </a:pPr>
            <a:r>
              <a:rPr lang="en-US" sz="950" dirty="0">
                <a:solidFill>
                  <a:srgbClr val="5E6A78"/>
                </a:solidFill>
                <a:latin typeface="Arial" pitchFamily="34" charset="0"/>
                <a:ea typeface="Arial" pitchFamily="34" charset="-122"/>
                <a:cs typeface="Arial" pitchFamily="34" charset="-120"/>
              </a:rPr>
              <a:t>Shifts the habit from asking AI for answers to thinking things through with it.</a:t>
            </a:r>
            <a:endParaRPr lang="en-US" sz="950" dirty="0"/>
          </a:p>
        </p:txBody>
      </p:sp>
      <p:sp>
        <p:nvSpPr>
          <p:cNvPr id="14" name="Shape 12"/>
          <p:cNvSpPr/>
          <p:nvPr/>
        </p:nvSpPr>
        <p:spPr>
          <a:xfrm>
            <a:off x="8692896" y="1783080"/>
            <a:ext cx="3057144" cy="1371600"/>
          </a:xfrm>
          <a:prstGeom prst="roundRect">
            <a:avLst>
              <a:gd name="adj" fmla="val 4000"/>
            </a:avLst>
          </a:prstGeom>
          <a:solidFill>
            <a:srgbClr val="FFFFFF"/>
          </a:solidFill>
          <a:ln w="12700">
            <a:solidFill>
              <a:srgbClr val="E7E9EE"/>
            </a:solidFill>
            <a:prstDash val="solid"/>
          </a:ln>
        </p:spPr>
      </p:sp>
      <p:sp>
        <p:nvSpPr>
          <p:cNvPr id="15" name="Text 13"/>
          <p:cNvSpPr/>
          <p:nvPr/>
        </p:nvSpPr>
        <p:spPr>
          <a:xfrm>
            <a:off x="8839200" y="1929384"/>
            <a:ext cx="2764536" cy="475488"/>
          </a:xfrm>
          <a:prstGeom prst="rect">
            <a:avLst/>
          </a:prstGeom>
          <a:noFill/>
          <a:ln/>
        </p:spPr>
        <p:txBody>
          <a:bodyPr wrap="square" lIns="0" tIns="0" rIns="0" bIns="0" rtlCol="0" anchor="t"/>
          <a:lstStyle/>
          <a:p>
            <a:pPr indent="0" marL="0">
              <a:buNone/>
            </a:pPr>
            <a:r>
              <a:rPr lang="en-US" sz="1200" b="1" dirty="0">
                <a:solidFill>
                  <a:srgbClr val="1F2733"/>
                </a:solidFill>
                <a:latin typeface="Arial" pitchFamily="34" charset="0"/>
                <a:ea typeface="Arial" pitchFamily="34" charset="-122"/>
                <a:cs typeface="Arial" pitchFamily="34" charset="-120"/>
              </a:rPr>
              <a:t>Responsible AI &amp; Data Boundaries</a:t>
            </a:r>
            <a:endParaRPr lang="en-US" sz="1200" dirty="0"/>
          </a:p>
        </p:txBody>
      </p:sp>
      <p:sp>
        <p:nvSpPr>
          <p:cNvPr id="16" name="Text 14"/>
          <p:cNvSpPr/>
          <p:nvPr/>
        </p:nvSpPr>
        <p:spPr>
          <a:xfrm>
            <a:off x="8839200" y="2441448"/>
            <a:ext cx="2764536" cy="603504"/>
          </a:xfrm>
          <a:prstGeom prst="rect">
            <a:avLst/>
          </a:prstGeom>
          <a:noFill/>
          <a:ln/>
        </p:spPr>
        <p:txBody>
          <a:bodyPr wrap="square" lIns="0" tIns="0" rIns="0" bIns="0" rtlCol="0" anchor="t"/>
          <a:lstStyle/>
          <a:p>
            <a:pPr indent="0" marL="0">
              <a:buNone/>
            </a:pPr>
            <a:r>
              <a:rPr lang="en-US" sz="950" dirty="0">
                <a:solidFill>
                  <a:srgbClr val="5E6A78"/>
                </a:solidFill>
                <a:latin typeface="Arial" pitchFamily="34" charset="0"/>
                <a:ea typeface="Arial" pitchFamily="34" charset="-122"/>
                <a:cs typeface="Arial" pitchFamily="34" charset="-120"/>
              </a:rPr>
              <a:t>Keeps employees and BJ's protected by making the rules of AI use clear.</a:t>
            </a:r>
            <a:endParaRPr lang="en-US" sz="950" dirty="0"/>
          </a:p>
        </p:txBody>
      </p:sp>
      <p:sp>
        <p:nvSpPr>
          <p:cNvPr id="17" name="Shape 15"/>
          <p:cNvSpPr/>
          <p:nvPr/>
        </p:nvSpPr>
        <p:spPr>
          <a:xfrm>
            <a:off x="502920" y="3319272"/>
            <a:ext cx="1691640" cy="1371600"/>
          </a:xfrm>
          <a:prstGeom prst="roundRect">
            <a:avLst>
              <a:gd name="adj" fmla="val 4000"/>
            </a:avLst>
          </a:prstGeom>
          <a:solidFill>
            <a:srgbClr val="A60E34"/>
          </a:solidFill>
          <a:ln/>
        </p:spPr>
      </p:sp>
      <p:sp>
        <p:nvSpPr>
          <p:cNvPr id="18" name="Text 16"/>
          <p:cNvSpPr/>
          <p:nvPr/>
        </p:nvSpPr>
        <p:spPr>
          <a:xfrm>
            <a:off x="502920" y="3319272"/>
            <a:ext cx="1691640" cy="137160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CORE SKILLS</a:t>
            </a:r>
            <a:endParaRPr lang="en-US" sz="1200" dirty="0"/>
          </a:p>
        </p:txBody>
      </p:sp>
      <p:sp>
        <p:nvSpPr>
          <p:cNvPr id="19" name="Shape 17"/>
          <p:cNvSpPr/>
          <p:nvPr/>
        </p:nvSpPr>
        <p:spPr>
          <a:xfrm>
            <a:off x="2286000" y="3319272"/>
            <a:ext cx="2256282" cy="1371600"/>
          </a:xfrm>
          <a:prstGeom prst="roundRect">
            <a:avLst>
              <a:gd name="adj" fmla="val 4000"/>
            </a:avLst>
          </a:prstGeom>
          <a:solidFill>
            <a:srgbClr val="FFFFFF"/>
          </a:solidFill>
          <a:ln w="12700">
            <a:solidFill>
              <a:srgbClr val="E7E9EE"/>
            </a:solidFill>
            <a:prstDash val="solid"/>
          </a:ln>
        </p:spPr>
      </p:sp>
      <p:sp>
        <p:nvSpPr>
          <p:cNvPr id="20" name="Text 18"/>
          <p:cNvSpPr/>
          <p:nvPr/>
        </p:nvSpPr>
        <p:spPr>
          <a:xfrm>
            <a:off x="2432304" y="3465576"/>
            <a:ext cx="1963674" cy="475488"/>
          </a:xfrm>
          <a:prstGeom prst="rect">
            <a:avLst/>
          </a:prstGeom>
          <a:noFill/>
          <a:ln/>
        </p:spPr>
        <p:txBody>
          <a:bodyPr wrap="square" lIns="0" tIns="0" rIns="0" bIns="0" rtlCol="0" anchor="t"/>
          <a:lstStyle/>
          <a:p>
            <a:pPr indent="0" marL="0">
              <a:buNone/>
            </a:pPr>
            <a:r>
              <a:rPr lang="en-US" sz="1200" b="1" dirty="0">
                <a:solidFill>
                  <a:srgbClr val="1F2733"/>
                </a:solidFill>
                <a:latin typeface="Arial" pitchFamily="34" charset="0"/>
                <a:ea typeface="Arial" pitchFamily="34" charset="-122"/>
                <a:cs typeface="Arial" pitchFamily="34" charset="-120"/>
              </a:rPr>
              <a:t>Prompt Engineering Essentials</a:t>
            </a:r>
            <a:endParaRPr lang="en-US" sz="1200" dirty="0"/>
          </a:p>
        </p:txBody>
      </p:sp>
      <p:sp>
        <p:nvSpPr>
          <p:cNvPr id="21" name="Text 19"/>
          <p:cNvSpPr/>
          <p:nvPr/>
        </p:nvSpPr>
        <p:spPr>
          <a:xfrm>
            <a:off x="2432304" y="3977640"/>
            <a:ext cx="1963674" cy="603504"/>
          </a:xfrm>
          <a:prstGeom prst="rect">
            <a:avLst/>
          </a:prstGeom>
          <a:noFill/>
          <a:ln/>
        </p:spPr>
        <p:txBody>
          <a:bodyPr wrap="square" lIns="0" tIns="0" rIns="0" bIns="0" rtlCol="0" anchor="t"/>
          <a:lstStyle/>
          <a:p>
            <a:pPr indent="0" marL="0">
              <a:buNone/>
            </a:pPr>
            <a:r>
              <a:rPr lang="en-US" sz="950" dirty="0">
                <a:solidFill>
                  <a:srgbClr val="5E6A78"/>
                </a:solidFill>
                <a:latin typeface="Arial" pitchFamily="34" charset="0"/>
                <a:ea typeface="Arial" pitchFamily="34" charset="-122"/>
                <a:cs typeface="Arial" pitchFamily="34" charset="-120"/>
              </a:rPr>
              <a:t>Gets you better, more useful results from any AI tool.</a:t>
            </a:r>
            <a:endParaRPr lang="en-US" sz="950" dirty="0"/>
          </a:p>
        </p:txBody>
      </p:sp>
      <p:sp>
        <p:nvSpPr>
          <p:cNvPr id="22" name="Shape 20"/>
          <p:cNvSpPr/>
          <p:nvPr/>
        </p:nvSpPr>
        <p:spPr>
          <a:xfrm>
            <a:off x="4688586" y="3319272"/>
            <a:ext cx="2256282" cy="1371600"/>
          </a:xfrm>
          <a:prstGeom prst="roundRect">
            <a:avLst>
              <a:gd name="adj" fmla="val 4000"/>
            </a:avLst>
          </a:prstGeom>
          <a:solidFill>
            <a:srgbClr val="FFFFFF"/>
          </a:solidFill>
          <a:ln w="12700">
            <a:solidFill>
              <a:srgbClr val="E7E9EE"/>
            </a:solidFill>
            <a:prstDash val="solid"/>
          </a:ln>
        </p:spPr>
      </p:sp>
      <p:sp>
        <p:nvSpPr>
          <p:cNvPr id="23" name="Text 21"/>
          <p:cNvSpPr/>
          <p:nvPr/>
        </p:nvSpPr>
        <p:spPr>
          <a:xfrm>
            <a:off x="4834890" y="3465576"/>
            <a:ext cx="1963674" cy="475488"/>
          </a:xfrm>
          <a:prstGeom prst="rect">
            <a:avLst/>
          </a:prstGeom>
          <a:noFill/>
          <a:ln/>
        </p:spPr>
        <p:txBody>
          <a:bodyPr wrap="square" lIns="0" tIns="0" rIns="0" bIns="0" rtlCol="0" anchor="t"/>
          <a:lstStyle/>
          <a:p>
            <a:pPr indent="0" marL="0">
              <a:buNone/>
            </a:pPr>
            <a:r>
              <a:rPr lang="en-US" sz="1200" b="1" dirty="0">
                <a:solidFill>
                  <a:srgbClr val="1F2733"/>
                </a:solidFill>
                <a:latin typeface="Arial" pitchFamily="34" charset="0"/>
                <a:ea typeface="Arial" pitchFamily="34" charset="-122"/>
                <a:cs typeface="Arial" pitchFamily="34" charset="-120"/>
              </a:rPr>
              <a:t>Choosing Models &amp; Effort Levels</a:t>
            </a:r>
            <a:endParaRPr lang="en-US" sz="1200" dirty="0"/>
          </a:p>
        </p:txBody>
      </p:sp>
      <p:sp>
        <p:nvSpPr>
          <p:cNvPr id="24" name="Text 22"/>
          <p:cNvSpPr/>
          <p:nvPr/>
        </p:nvSpPr>
        <p:spPr>
          <a:xfrm>
            <a:off x="4834890" y="3977640"/>
            <a:ext cx="1963674" cy="603504"/>
          </a:xfrm>
          <a:prstGeom prst="rect">
            <a:avLst/>
          </a:prstGeom>
          <a:noFill/>
          <a:ln/>
        </p:spPr>
        <p:txBody>
          <a:bodyPr wrap="square" lIns="0" tIns="0" rIns="0" bIns="0" rtlCol="0" anchor="t"/>
          <a:lstStyle/>
          <a:p>
            <a:pPr indent="0" marL="0">
              <a:buNone/>
            </a:pPr>
            <a:r>
              <a:rPr lang="en-US" sz="950" dirty="0">
                <a:solidFill>
                  <a:srgbClr val="5E6A78"/>
                </a:solidFill>
                <a:latin typeface="Arial" pitchFamily="34" charset="0"/>
                <a:ea typeface="Arial" pitchFamily="34" charset="-122"/>
                <a:cs typeface="Arial" pitchFamily="34" charset="-120"/>
              </a:rPr>
              <a:t>Shows you how to pick the right tool and effort level for each task.</a:t>
            </a:r>
            <a:endParaRPr lang="en-US" sz="950" dirty="0"/>
          </a:p>
        </p:txBody>
      </p:sp>
      <p:sp>
        <p:nvSpPr>
          <p:cNvPr id="25" name="Shape 23"/>
          <p:cNvSpPr/>
          <p:nvPr/>
        </p:nvSpPr>
        <p:spPr>
          <a:xfrm>
            <a:off x="7091172" y="3319272"/>
            <a:ext cx="2256282" cy="1371600"/>
          </a:xfrm>
          <a:prstGeom prst="roundRect">
            <a:avLst>
              <a:gd name="adj" fmla="val 4000"/>
            </a:avLst>
          </a:prstGeom>
          <a:solidFill>
            <a:srgbClr val="FFFFFF"/>
          </a:solidFill>
          <a:ln w="12700">
            <a:solidFill>
              <a:srgbClr val="E7E9EE"/>
            </a:solidFill>
            <a:prstDash val="solid"/>
          </a:ln>
        </p:spPr>
      </p:sp>
      <p:sp>
        <p:nvSpPr>
          <p:cNvPr id="26" name="Text 24"/>
          <p:cNvSpPr/>
          <p:nvPr/>
        </p:nvSpPr>
        <p:spPr>
          <a:xfrm>
            <a:off x="7237476" y="3465576"/>
            <a:ext cx="1963674" cy="475488"/>
          </a:xfrm>
          <a:prstGeom prst="rect">
            <a:avLst/>
          </a:prstGeom>
          <a:noFill/>
          <a:ln/>
        </p:spPr>
        <p:txBody>
          <a:bodyPr wrap="square" lIns="0" tIns="0" rIns="0" bIns="0" rtlCol="0" anchor="t"/>
          <a:lstStyle/>
          <a:p>
            <a:pPr indent="0" marL="0">
              <a:buNone/>
            </a:pPr>
            <a:r>
              <a:rPr lang="en-US" sz="1200" b="1" dirty="0">
                <a:solidFill>
                  <a:srgbClr val="1F2733"/>
                </a:solidFill>
                <a:latin typeface="Arial" pitchFamily="34" charset="0"/>
                <a:ea typeface="Arial" pitchFamily="34" charset="-122"/>
                <a:cs typeface="Arial" pitchFamily="34" charset="-120"/>
              </a:rPr>
              <a:t>Claude Essentials</a:t>
            </a:r>
            <a:endParaRPr lang="en-US" sz="1200" dirty="0"/>
          </a:p>
        </p:txBody>
      </p:sp>
      <p:sp>
        <p:nvSpPr>
          <p:cNvPr id="27" name="Text 25"/>
          <p:cNvSpPr/>
          <p:nvPr/>
        </p:nvSpPr>
        <p:spPr>
          <a:xfrm>
            <a:off x="7237476" y="3977640"/>
            <a:ext cx="1963674" cy="603504"/>
          </a:xfrm>
          <a:prstGeom prst="rect">
            <a:avLst/>
          </a:prstGeom>
          <a:noFill/>
          <a:ln/>
        </p:spPr>
        <p:txBody>
          <a:bodyPr wrap="square" lIns="0" tIns="0" rIns="0" bIns="0" rtlCol="0" anchor="t"/>
          <a:lstStyle/>
          <a:p>
            <a:pPr indent="0" marL="0">
              <a:buNone/>
            </a:pPr>
            <a:r>
              <a:rPr lang="en-US" sz="950" dirty="0">
                <a:solidFill>
                  <a:srgbClr val="5E6A78"/>
                </a:solidFill>
                <a:latin typeface="Arial" pitchFamily="34" charset="0"/>
                <a:ea typeface="Arial" pitchFamily="34" charset="-122"/>
                <a:cs typeface="Arial" pitchFamily="34" charset="-120"/>
              </a:rPr>
              <a:t>Builds confidence using Claude for real, recurring work.</a:t>
            </a:r>
            <a:endParaRPr lang="en-US" sz="950" dirty="0"/>
          </a:p>
        </p:txBody>
      </p:sp>
      <p:sp>
        <p:nvSpPr>
          <p:cNvPr id="28" name="Shape 26"/>
          <p:cNvSpPr/>
          <p:nvPr/>
        </p:nvSpPr>
        <p:spPr>
          <a:xfrm>
            <a:off x="9493758" y="3319272"/>
            <a:ext cx="2256282" cy="1371600"/>
          </a:xfrm>
          <a:prstGeom prst="roundRect">
            <a:avLst>
              <a:gd name="adj" fmla="val 4000"/>
            </a:avLst>
          </a:prstGeom>
          <a:solidFill>
            <a:srgbClr val="FFFFFF"/>
          </a:solidFill>
          <a:ln w="12700">
            <a:solidFill>
              <a:srgbClr val="E7E9EE"/>
            </a:solidFill>
            <a:prstDash val="solid"/>
          </a:ln>
        </p:spPr>
      </p:sp>
      <p:sp>
        <p:nvSpPr>
          <p:cNvPr id="29" name="Text 27"/>
          <p:cNvSpPr/>
          <p:nvPr/>
        </p:nvSpPr>
        <p:spPr>
          <a:xfrm>
            <a:off x="9640062" y="3465576"/>
            <a:ext cx="1963674" cy="475488"/>
          </a:xfrm>
          <a:prstGeom prst="rect">
            <a:avLst/>
          </a:prstGeom>
          <a:noFill/>
          <a:ln/>
        </p:spPr>
        <p:txBody>
          <a:bodyPr wrap="square" lIns="0" tIns="0" rIns="0" bIns="0" rtlCol="0" anchor="t"/>
          <a:lstStyle/>
          <a:p>
            <a:pPr indent="0" marL="0">
              <a:buNone/>
            </a:pPr>
            <a:r>
              <a:rPr lang="en-US" sz="1200" b="1" dirty="0">
                <a:solidFill>
                  <a:srgbClr val="1F2733"/>
                </a:solidFill>
                <a:latin typeface="Arial" pitchFamily="34" charset="0"/>
                <a:ea typeface="Arial" pitchFamily="34" charset="-122"/>
                <a:cs typeface="Arial" pitchFamily="34" charset="-120"/>
              </a:rPr>
              <a:t>ChatGPT Essentials</a:t>
            </a:r>
            <a:endParaRPr lang="en-US" sz="1200" dirty="0"/>
          </a:p>
        </p:txBody>
      </p:sp>
      <p:sp>
        <p:nvSpPr>
          <p:cNvPr id="30" name="Text 28"/>
          <p:cNvSpPr/>
          <p:nvPr/>
        </p:nvSpPr>
        <p:spPr>
          <a:xfrm>
            <a:off x="9640062" y="3977640"/>
            <a:ext cx="1963674" cy="603504"/>
          </a:xfrm>
          <a:prstGeom prst="rect">
            <a:avLst/>
          </a:prstGeom>
          <a:noFill/>
          <a:ln/>
        </p:spPr>
        <p:txBody>
          <a:bodyPr wrap="square" lIns="0" tIns="0" rIns="0" bIns="0" rtlCol="0" anchor="t"/>
          <a:lstStyle/>
          <a:p>
            <a:pPr indent="0" marL="0">
              <a:buNone/>
            </a:pPr>
            <a:r>
              <a:rPr lang="en-US" sz="950" dirty="0">
                <a:solidFill>
                  <a:srgbClr val="5E6A78"/>
                </a:solidFill>
                <a:latin typeface="Arial" pitchFamily="34" charset="0"/>
                <a:ea typeface="Arial" pitchFamily="34" charset="-122"/>
                <a:cs typeface="Arial" pitchFamily="34" charset="-120"/>
              </a:rPr>
              <a:t>Builds confidence using ChatGPT for real, recurring work.</a:t>
            </a:r>
            <a:endParaRPr lang="en-US" sz="950" dirty="0"/>
          </a:p>
        </p:txBody>
      </p:sp>
      <p:sp>
        <p:nvSpPr>
          <p:cNvPr id="31" name="Shape 29"/>
          <p:cNvSpPr/>
          <p:nvPr/>
        </p:nvSpPr>
        <p:spPr>
          <a:xfrm>
            <a:off x="502920" y="4855464"/>
            <a:ext cx="1691640" cy="1371600"/>
          </a:xfrm>
          <a:prstGeom prst="roundRect">
            <a:avLst>
              <a:gd name="adj" fmla="val 4000"/>
            </a:avLst>
          </a:prstGeom>
          <a:solidFill>
            <a:srgbClr val="1F2733"/>
          </a:solidFill>
          <a:ln/>
        </p:spPr>
      </p:sp>
      <p:sp>
        <p:nvSpPr>
          <p:cNvPr id="32" name="Text 30"/>
          <p:cNvSpPr/>
          <p:nvPr/>
        </p:nvSpPr>
        <p:spPr>
          <a:xfrm>
            <a:off x="502920" y="4855464"/>
            <a:ext cx="1691640" cy="137160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ADVANCED</a:t>
            </a:r>
            <a:endParaRPr lang="en-US" sz="1200" dirty="0"/>
          </a:p>
        </p:txBody>
      </p:sp>
      <p:sp>
        <p:nvSpPr>
          <p:cNvPr id="33" name="Shape 31"/>
          <p:cNvSpPr/>
          <p:nvPr/>
        </p:nvSpPr>
        <p:spPr>
          <a:xfrm>
            <a:off x="2286000" y="4855464"/>
            <a:ext cx="3057144" cy="1371600"/>
          </a:xfrm>
          <a:prstGeom prst="roundRect">
            <a:avLst>
              <a:gd name="adj" fmla="val 4000"/>
            </a:avLst>
          </a:prstGeom>
          <a:solidFill>
            <a:srgbClr val="FFFFFF"/>
          </a:solidFill>
          <a:ln w="12700">
            <a:solidFill>
              <a:srgbClr val="E7E9EE"/>
            </a:solidFill>
            <a:prstDash val="solid"/>
          </a:ln>
        </p:spPr>
      </p:sp>
      <p:sp>
        <p:nvSpPr>
          <p:cNvPr id="34" name="Text 32"/>
          <p:cNvSpPr/>
          <p:nvPr/>
        </p:nvSpPr>
        <p:spPr>
          <a:xfrm>
            <a:off x="2432304" y="5001768"/>
            <a:ext cx="2764536" cy="475488"/>
          </a:xfrm>
          <a:prstGeom prst="rect">
            <a:avLst/>
          </a:prstGeom>
          <a:noFill/>
          <a:ln/>
        </p:spPr>
        <p:txBody>
          <a:bodyPr wrap="square" lIns="0" tIns="0" rIns="0" bIns="0" rtlCol="0" anchor="t"/>
          <a:lstStyle/>
          <a:p>
            <a:pPr indent="0" marL="0">
              <a:buNone/>
            </a:pPr>
            <a:r>
              <a:rPr lang="en-US" sz="1200" b="1" dirty="0">
                <a:solidFill>
                  <a:srgbClr val="1F2733"/>
                </a:solidFill>
                <a:latin typeface="Arial" pitchFamily="34" charset="0"/>
                <a:ea typeface="Arial" pitchFamily="34" charset="-122"/>
                <a:cs typeface="Arial" pitchFamily="34" charset="-120"/>
              </a:rPr>
              <a:t>Advanced Prompting Techniques</a:t>
            </a:r>
            <a:endParaRPr lang="en-US" sz="1200" dirty="0"/>
          </a:p>
        </p:txBody>
      </p:sp>
      <p:sp>
        <p:nvSpPr>
          <p:cNvPr id="35" name="Text 33"/>
          <p:cNvSpPr/>
          <p:nvPr/>
        </p:nvSpPr>
        <p:spPr>
          <a:xfrm>
            <a:off x="2432304" y="5513832"/>
            <a:ext cx="2764536" cy="603504"/>
          </a:xfrm>
          <a:prstGeom prst="rect">
            <a:avLst/>
          </a:prstGeom>
          <a:noFill/>
          <a:ln/>
        </p:spPr>
        <p:txBody>
          <a:bodyPr wrap="square" lIns="0" tIns="0" rIns="0" bIns="0" rtlCol="0" anchor="t"/>
          <a:lstStyle/>
          <a:p>
            <a:pPr indent="0" marL="0">
              <a:buNone/>
            </a:pPr>
            <a:r>
              <a:rPr lang="en-US" sz="950" dirty="0">
                <a:solidFill>
                  <a:srgbClr val="5E6A78"/>
                </a:solidFill>
                <a:latin typeface="Arial" pitchFamily="34" charset="0"/>
                <a:ea typeface="Arial" pitchFamily="34" charset="-122"/>
                <a:cs typeface="Arial" pitchFamily="34" charset="-120"/>
              </a:rPr>
              <a:t>Builds the advanced skills needed for harder AI tasks.</a:t>
            </a:r>
            <a:endParaRPr lang="en-US" sz="950" dirty="0"/>
          </a:p>
        </p:txBody>
      </p:sp>
      <p:sp>
        <p:nvSpPr>
          <p:cNvPr id="36" name="Shape 34"/>
          <p:cNvSpPr/>
          <p:nvPr/>
        </p:nvSpPr>
        <p:spPr>
          <a:xfrm>
            <a:off x="5489448" y="4855464"/>
            <a:ext cx="3057144" cy="1371600"/>
          </a:xfrm>
          <a:prstGeom prst="roundRect">
            <a:avLst>
              <a:gd name="adj" fmla="val 4000"/>
            </a:avLst>
          </a:prstGeom>
          <a:solidFill>
            <a:srgbClr val="FFFFFF"/>
          </a:solidFill>
          <a:ln w="12700">
            <a:solidFill>
              <a:srgbClr val="E7E9EE"/>
            </a:solidFill>
            <a:prstDash val="solid"/>
          </a:ln>
        </p:spPr>
      </p:sp>
      <p:sp>
        <p:nvSpPr>
          <p:cNvPr id="37" name="Text 35"/>
          <p:cNvSpPr/>
          <p:nvPr/>
        </p:nvSpPr>
        <p:spPr>
          <a:xfrm>
            <a:off x="5635752" y="5001768"/>
            <a:ext cx="2764536" cy="475488"/>
          </a:xfrm>
          <a:prstGeom prst="rect">
            <a:avLst/>
          </a:prstGeom>
          <a:noFill/>
          <a:ln/>
        </p:spPr>
        <p:txBody>
          <a:bodyPr wrap="square" lIns="0" tIns="0" rIns="0" bIns="0" rtlCol="0" anchor="t"/>
          <a:lstStyle/>
          <a:p>
            <a:pPr indent="0" marL="0">
              <a:buNone/>
            </a:pPr>
            <a:r>
              <a:rPr lang="en-US" sz="1200" b="1" dirty="0">
                <a:solidFill>
                  <a:srgbClr val="1F2733"/>
                </a:solidFill>
                <a:latin typeface="Arial" pitchFamily="34" charset="0"/>
                <a:ea typeface="Arial" pitchFamily="34" charset="-122"/>
                <a:cs typeface="Arial" pitchFamily="34" charset="-120"/>
              </a:rPr>
              <a:t>Claude Advanced</a:t>
            </a:r>
            <a:endParaRPr lang="en-US" sz="1200" dirty="0"/>
          </a:p>
        </p:txBody>
      </p:sp>
      <p:sp>
        <p:nvSpPr>
          <p:cNvPr id="38" name="Text 36"/>
          <p:cNvSpPr/>
          <p:nvPr/>
        </p:nvSpPr>
        <p:spPr>
          <a:xfrm>
            <a:off x="5635752" y="5513832"/>
            <a:ext cx="2764536" cy="603504"/>
          </a:xfrm>
          <a:prstGeom prst="rect">
            <a:avLst/>
          </a:prstGeom>
          <a:noFill/>
          <a:ln/>
        </p:spPr>
        <p:txBody>
          <a:bodyPr wrap="square" lIns="0" tIns="0" rIns="0" bIns="0" rtlCol="0" anchor="t"/>
          <a:lstStyle/>
          <a:p>
            <a:pPr indent="0" marL="0">
              <a:buNone/>
            </a:pPr>
            <a:r>
              <a:rPr lang="en-US" sz="950" dirty="0">
                <a:solidFill>
                  <a:srgbClr val="5E6A78"/>
                </a:solidFill>
                <a:latin typeface="Arial" pitchFamily="34" charset="0"/>
                <a:ea typeface="Arial" pitchFamily="34" charset="-122"/>
                <a:cs typeface="Arial" pitchFamily="34" charset="-120"/>
              </a:rPr>
              <a:t>Helps experienced users get more out of Claude's full capability.</a:t>
            </a:r>
            <a:endParaRPr lang="en-US" sz="950" dirty="0"/>
          </a:p>
        </p:txBody>
      </p:sp>
      <p:sp>
        <p:nvSpPr>
          <p:cNvPr id="39" name="Shape 37"/>
          <p:cNvSpPr/>
          <p:nvPr/>
        </p:nvSpPr>
        <p:spPr>
          <a:xfrm>
            <a:off x="8692896" y="4855464"/>
            <a:ext cx="3057144" cy="1371600"/>
          </a:xfrm>
          <a:prstGeom prst="roundRect">
            <a:avLst>
              <a:gd name="adj" fmla="val 4000"/>
            </a:avLst>
          </a:prstGeom>
          <a:solidFill>
            <a:srgbClr val="FFFFFF"/>
          </a:solidFill>
          <a:ln w="12700">
            <a:solidFill>
              <a:srgbClr val="E7E9EE"/>
            </a:solidFill>
            <a:prstDash val="solid"/>
          </a:ln>
        </p:spPr>
      </p:sp>
      <p:sp>
        <p:nvSpPr>
          <p:cNvPr id="40" name="Text 38"/>
          <p:cNvSpPr/>
          <p:nvPr/>
        </p:nvSpPr>
        <p:spPr>
          <a:xfrm>
            <a:off x="8839200" y="5001768"/>
            <a:ext cx="2764536" cy="475488"/>
          </a:xfrm>
          <a:prstGeom prst="rect">
            <a:avLst/>
          </a:prstGeom>
          <a:noFill/>
          <a:ln/>
        </p:spPr>
        <p:txBody>
          <a:bodyPr wrap="square" lIns="0" tIns="0" rIns="0" bIns="0" rtlCol="0" anchor="t"/>
          <a:lstStyle/>
          <a:p>
            <a:pPr indent="0" marL="0">
              <a:buNone/>
            </a:pPr>
            <a:r>
              <a:rPr lang="en-US" sz="1200" b="1" dirty="0">
                <a:solidFill>
                  <a:srgbClr val="1F2733"/>
                </a:solidFill>
                <a:latin typeface="Arial" pitchFamily="34" charset="0"/>
                <a:ea typeface="Arial" pitchFamily="34" charset="-122"/>
                <a:cs typeface="Arial" pitchFamily="34" charset="-120"/>
              </a:rPr>
              <a:t>ChatGPT Advanced</a:t>
            </a:r>
            <a:endParaRPr lang="en-US" sz="1200" dirty="0"/>
          </a:p>
        </p:txBody>
      </p:sp>
      <p:sp>
        <p:nvSpPr>
          <p:cNvPr id="41" name="Text 39"/>
          <p:cNvSpPr/>
          <p:nvPr/>
        </p:nvSpPr>
        <p:spPr>
          <a:xfrm>
            <a:off x="8839200" y="5513832"/>
            <a:ext cx="2764536" cy="603504"/>
          </a:xfrm>
          <a:prstGeom prst="rect">
            <a:avLst/>
          </a:prstGeom>
          <a:noFill/>
          <a:ln/>
        </p:spPr>
        <p:txBody>
          <a:bodyPr wrap="square" lIns="0" tIns="0" rIns="0" bIns="0" rtlCol="0" anchor="t"/>
          <a:lstStyle/>
          <a:p>
            <a:pPr indent="0" marL="0">
              <a:buNone/>
            </a:pPr>
            <a:r>
              <a:rPr lang="en-US" sz="950" dirty="0">
                <a:solidFill>
                  <a:srgbClr val="5E6A78"/>
                </a:solidFill>
                <a:latin typeface="Arial" pitchFamily="34" charset="0"/>
                <a:ea typeface="Arial" pitchFamily="34" charset="-122"/>
                <a:cs typeface="Arial" pitchFamily="34" charset="-120"/>
              </a:rPr>
              <a:t>Helps experienced users get more out of ChatGPT's full capability.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972800" cy="274320"/>
          </a:xfrm>
          <a:prstGeom prst="rect">
            <a:avLst/>
          </a:prstGeom>
          <a:noFill/>
          <a:ln/>
        </p:spPr>
        <p:txBody>
          <a:bodyPr wrap="square" lIns="0" tIns="0" rIns="0" bIns="0" rtlCol="0" anchor="ctr"/>
          <a:lstStyle/>
          <a:p>
            <a:pPr indent="0" marL="0">
              <a:buNone/>
            </a:pPr>
            <a:r>
              <a:rPr lang="en-US" sz="1150" b="1" spc="200" kern="0" dirty="0">
                <a:solidFill>
                  <a:srgbClr val="D31242"/>
                </a:solidFill>
                <a:latin typeface="Arial" pitchFamily="34" charset="0"/>
                <a:ea typeface="Arial" pitchFamily="34" charset="-122"/>
                <a:cs typeface="Arial" pitchFamily="34" charset="-120"/>
              </a:rPr>
              <a:t>PROMPTS &amp; USE CASES</a:t>
            </a:r>
            <a:endParaRPr lang="en-US" sz="1150" dirty="0"/>
          </a:p>
        </p:txBody>
      </p:sp>
      <p:sp>
        <p:nvSpPr>
          <p:cNvPr id="3" name="Text 1"/>
          <p:cNvSpPr/>
          <p:nvPr/>
        </p:nvSpPr>
        <p:spPr>
          <a:xfrm>
            <a:off x="502920" y="621792"/>
            <a:ext cx="8686800" cy="512064"/>
          </a:xfrm>
          <a:prstGeom prst="rect">
            <a:avLst/>
          </a:prstGeom>
          <a:noFill/>
          <a:ln/>
        </p:spPr>
        <p:txBody>
          <a:bodyPr wrap="square" lIns="0" tIns="0" rIns="0" bIns="0" rtlCol="0" anchor="ctr"/>
          <a:lstStyle/>
          <a:p>
            <a:pPr indent="0" marL="0">
              <a:buNone/>
            </a:pPr>
            <a:r>
              <a:rPr lang="en-US" sz="2500" b="1" dirty="0">
                <a:solidFill>
                  <a:srgbClr val="1F2733"/>
                </a:solidFill>
                <a:latin typeface="Arial" pitchFamily="34" charset="0"/>
                <a:ea typeface="Arial" pitchFamily="34" charset="-122"/>
                <a:cs typeface="Arial" pitchFamily="34" charset="-120"/>
              </a:rPr>
              <a:t>AI Prompt Library</a:t>
            </a:r>
            <a:endParaRPr lang="en-US" sz="2500" dirty="0"/>
          </a:p>
        </p:txBody>
      </p:sp>
      <p:sp>
        <p:nvSpPr>
          <p:cNvPr id="4" name="Shape 2"/>
          <p:cNvSpPr/>
          <p:nvPr/>
        </p:nvSpPr>
        <p:spPr>
          <a:xfrm>
            <a:off x="9418320" y="658368"/>
            <a:ext cx="2286000" cy="384048"/>
          </a:xfrm>
          <a:prstGeom prst="roundRect">
            <a:avLst>
              <a:gd name="adj" fmla="val 19048"/>
            </a:avLst>
          </a:prstGeom>
          <a:solidFill>
            <a:srgbClr val="EAF7EF"/>
          </a:solidFill>
          <a:ln w="12700">
            <a:solidFill>
              <a:srgbClr val="CDE9D6"/>
            </a:solidFill>
            <a:prstDash val="solid"/>
          </a:ln>
        </p:spPr>
      </p:sp>
      <p:sp>
        <p:nvSpPr>
          <p:cNvPr id="5" name="Text 3"/>
          <p:cNvSpPr/>
          <p:nvPr/>
        </p:nvSpPr>
        <p:spPr>
          <a:xfrm>
            <a:off x="9418320" y="658368"/>
            <a:ext cx="2286000" cy="384048"/>
          </a:xfrm>
          <a:prstGeom prst="rect">
            <a:avLst/>
          </a:prstGeom>
          <a:noFill/>
          <a:ln/>
        </p:spPr>
        <p:txBody>
          <a:bodyPr wrap="square" lIns="0" tIns="0" rIns="0" bIns="0" rtlCol="0" anchor="ctr"/>
          <a:lstStyle/>
          <a:p>
            <a:pPr algn="ctr" indent="0" marL="0">
              <a:buNone/>
            </a:pPr>
            <a:r>
              <a:rPr lang="en-US" sz="900" b="1" spc="50" kern="0" dirty="0">
                <a:solidFill>
                  <a:srgbClr val="15803D"/>
                </a:solidFill>
                <a:latin typeface="Arial" pitchFamily="34" charset="0"/>
                <a:ea typeface="Arial" pitchFamily="34" charset="-122"/>
                <a:cs typeface="Arial" pitchFamily="34" charset="-120"/>
              </a:rPr>
              <a:t>ON THE HUB THIS WEEK</a:t>
            </a:r>
            <a:endParaRPr lang="en-US" sz="900" dirty="0"/>
          </a:p>
        </p:txBody>
      </p:sp>
      <p:sp>
        <p:nvSpPr>
          <p:cNvPr id="6" name="Text 4"/>
          <p:cNvSpPr/>
          <p:nvPr/>
        </p:nvSpPr>
        <p:spPr>
          <a:xfrm>
            <a:off x="502920" y="1133856"/>
            <a:ext cx="11201400" cy="320040"/>
          </a:xfrm>
          <a:prstGeom prst="rect">
            <a:avLst/>
          </a:prstGeom>
          <a:noFill/>
          <a:ln/>
        </p:spPr>
        <p:txBody>
          <a:bodyPr wrap="square" lIns="0" tIns="0" rIns="0" bIns="0" rtlCol="0" anchor="ctr"/>
          <a:lstStyle/>
          <a:p>
            <a:pPr indent="0" marL="0">
              <a:buNone/>
            </a:pPr>
            <a:r>
              <a:rPr lang="en-US" sz="1350" dirty="0">
                <a:solidFill>
                  <a:srgbClr val="5E6A78"/>
                </a:solidFill>
                <a:latin typeface="Arial" pitchFamily="34" charset="0"/>
                <a:ea typeface="Arial" pitchFamily="34" charset="-122"/>
                <a:cs typeface="Arial" pitchFamily="34" charset="-120"/>
              </a:rPr>
              <a:t>32 ready-to-use prompts, organized by the work you already do. Built from what you told us you use AI for.</a:t>
            </a:r>
            <a:endParaRPr lang="en-US" sz="1350" dirty="0"/>
          </a:p>
        </p:txBody>
      </p:sp>
      <p:sp>
        <p:nvSpPr>
          <p:cNvPr id="7" name="Text 5"/>
          <p:cNvSpPr/>
          <p:nvPr/>
        </p:nvSpPr>
        <p:spPr>
          <a:xfrm>
            <a:off x="502920" y="1572768"/>
            <a:ext cx="10972800" cy="237744"/>
          </a:xfrm>
          <a:prstGeom prst="rect">
            <a:avLst/>
          </a:prstGeom>
          <a:noFill/>
          <a:ln/>
        </p:spPr>
        <p:txBody>
          <a:bodyPr wrap="square" lIns="0" tIns="0" rIns="0" bIns="0" rtlCol="0" anchor="ctr"/>
          <a:lstStyle/>
          <a:p>
            <a:pPr indent="0" marL="0">
              <a:buNone/>
            </a:pPr>
            <a:r>
              <a:rPr lang="en-US" sz="1000" b="1" spc="150" kern="0" dirty="0">
                <a:solidFill>
                  <a:srgbClr val="A60E34"/>
                </a:solidFill>
                <a:latin typeface="Arial" pitchFamily="34" charset="0"/>
                <a:ea typeface="Arial" pitchFamily="34" charset="-122"/>
                <a:cs typeface="Arial" pitchFamily="34" charset="-120"/>
              </a:rPr>
              <a:t>FIND YOUR TASK'S CATEGORY</a:t>
            </a:r>
            <a:endParaRPr lang="en-US" sz="1000" dirty="0"/>
          </a:p>
        </p:txBody>
      </p:sp>
      <p:sp>
        <p:nvSpPr>
          <p:cNvPr id="8" name="Shape 6"/>
          <p:cNvSpPr/>
          <p:nvPr/>
        </p:nvSpPr>
        <p:spPr>
          <a:xfrm>
            <a:off x="502920" y="1865376"/>
            <a:ext cx="2121408" cy="658368"/>
          </a:xfrm>
          <a:prstGeom prst="roundRect">
            <a:avLst>
              <a:gd name="adj" fmla="val 11111"/>
            </a:avLst>
          </a:prstGeom>
          <a:solidFill>
            <a:srgbClr val="FCE4EA"/>
          </a:solidFill>
          <a:ln w="12700">
            <a:solidFill>
              <a:srgbClr val="F3C9D3"/>
            </a:solidFill>
            <a:prstDash val="solid"/>
          </a:ln>
        </p:spPr>
      </p:sp>
      <p:sp>
        <p:nvSpPr>
          <p:cNvPr id="9" name="Text 7"/>
          <p:cNvSpPr/>
          <p:nvPr/>
        </p:nvSpPr>
        <p:spPr>
          <a:xfrm>
            <a:off x="594360" y="1865376"/>
            <a:ext cx="1938528" cy="658368"/>
          </a:xfrm>
          <a:prstGeom prst="rect">
            <a:avLst/>
          </a:prstGeom>
          <a:noFill/>
          <a:ln/>
        </p:spPr>
        <p:txBody>
          <a:bodyPr wrap="square" lIns="0" tIns="0" rIns="0" bIns="0" rtlCol="0" anchor="ctr"/>
          <a:lstStyle/>
          <a:p>
            <a:pPr algn="ctr" indent="0" marL="0">
              <a:buNone/>
            </a:pPr>
            <a:r>
              <a:rPr lang="en-US" sz="1050" b="1" dirty="0">
                <a:solidFill>
                  <a:srgbClr val="A60E34"/>
                </a:solidFill>
                <a:latin typeface="Arial" pitchFamily="34" charset="0"/>
                <a:ea typeface="Arial" pitchFamily="34" charset="-122"/>
                <a:cs typeface="Arial" pitchFamily="34" charset="-120"/>
              </a:rPr>
              <a:t>Researching topics</a:t>
            </a:r>
            <a:endParaRPr lang="en-US" sz="1050" dirty="0"/>
          </a:p>
        </p:txBody>
      </p:sp>
      <p:sp>
        <p:nvSpPr>
          <p:cNvPr id="10" name="Shape 8"/>
          <p:cNvSpPr/>
          <p:nvPr/>
        </p:nvSpPr>
        <p:spPr>
          <a:xfrm>
            <a:off x="2766060" y="1865376"/>
            <a:ext cx="2121408" cy="658368"/>
          </a:xfrm>
          <a:prstGeom prst="roundRect">
            <a:avLst>
              <a:gd name="adj" fmla="val 11111"/>
            </a:avLst>
          </a:prstGeom>
          <a:solidFill>
            <a:srgbClr val="FCE4EA"/>
          </a:solidFill>
          <a:ln w="12700">
            <a:solidFill>
              <a:srgbClr val="F3C9D3"/>
            </a:solidFill>
            <a:prstDash val="solid"/>
          </a:ln>
        </p:spPr>
      </p:sp>
      <p:sp>
        <p:nvSpPr>
          <p:cNvPr id="11" name="Text 9"/>
          <p:cNvSpPr/>
          <p:nvPr/>
        </p:nvSpPr>
        <p:spPr>
          <a:xfrm>
            <a:off x="2857500" y="1865376"/>
            <a:ext cx="1938528" cy="658368"/>
          </a:xfrm>
          <a:prstGeom prst="rect">
            <a:avLst/>
          </a:prstGeom>
          <a:noFill/>
          <a:ln/>
        </p:spPr>
        <p:txBody>
          <a:bodyPr wrap="square" lIns="0" tIns="0" rIns="0" bIns="0" rtlCol="0" anchor="ctr"/>
          <a:lstStyle/>
          <a:p>
            <a:pPr algn="ctr" indent="0" marL="0">
              <a:buNone/>
            </a:pPr>
            <a:r>
              <a:rPr lang="en-US" sz="1050" b="1" dirty="0">
                <a:solidFill>
                  <a:srgbClr val="A60E34"/>
                </a:solidFill>
                <a:latin typeface="Arial" pitchFamily="34" charset="0"/>
                <a:ea typeface="Arial" pitchFamily="34" charset="-122"/>
                <a:cs typeface="Arial" pitchFamily="34" charset="-120"/>
              </a:rPr>
              <a:t>Drafting emails &amp; communications</a:t>
            </a:r>
            <a:endParaRPr lang="en-US" sz="1050" dirty="0"/>
          </a:p>
        </p:txBody>
      </p:sp>
      <p:sp>
        <p:nvSpPr>
          <p:cNvPr id="12" name="Shape 10"/>
          <p:cNvSpPr/>
          <p:nvPr/>
        </p:nvSpPr>
        <p:spPr>
          <a:xfrm>
            <a:off x="5029200" y="1865376"/>
            <a:ext cx="2121408" cy="658368"/>
          </a:xfrm>
          <a:prstGeom prst="roundRect">
            <a:avLst>
              <a:gd name="adj" fmla="val 11111"/>
            </a:avLst>
          </a:prstGeom>
          <a:solidFill>
            <a:srgbClr val="FCE4EA"/>
          </a:solidFill>
          <a:ln w="12700">
            <a:solidFill>
              <a:srgbClr val="F3C9D3"/>
            </a:solidFill>
            <a:prstDash val="solid"/>
          </a:ln>
        </p:spPr>
      </p:sp>
      <p:sp>
        <p:nvSpPr>
          <p:cNvPr id="13" name="Text 11"/>
          <p:cNvSpPr/>
          <p:nvPr/>
        </p:nvSpPr>
        <p:spPr>
          <a:xfrm>
            <a:off x="5120640" y="1865376"/>
            <a:ext cx="1938528" cy="658368"/>
          </a:xfrm>
          <a:prstGeom prst="rect">
            <a:avLst/>
          </a:prstGeom>
          <a:noFill/>
          <a:ln/>
        </p:spPr>
        <p:txBody>
          <a:bodyPr wrap="square" lIns="0" tIns="0" rIns="0" bIns="0" rtlCol="0" anchor="ctr"/>
          <a:lstStyle/>
          <a:p>
            <a:pPr algn="ctr" indent="0" marL="0">
              <a:buNone/>
            </a:pPr>
            <a:r>
              <a:rPr lang="en-US" sz="1050" b="1" dirty="0">
                <a:solidFill>
                  <a:srgbClr val="A60E34"/>
                </a:solidFill>
                <a:latin typeface="Arial" pitchFamily="34" charset="0"/>
                <a:ea typeface="Arial" pitchFamily="34" charset="-122"/>
                <a:cs typeface="Arial" pitchFamily="34" charset="-120"/>
              </a:rPr>
              <a:t>Brainstorming &amp; problem solving</a:t>
            </a:r>
            <a:endParaRPr lang="en-US" sz="1050" dirty="0"/>
          </a:p>
        </p:txBody>
      </p:sp>
      <p:sp>
        <p:nvSpPr>
          <p:cNvPr id="14" name="Shape 12"/>
          <p:cNvSpPr/>
          <p:nvPr/>
        </p:nvSpPr>
        <p:spPr>
          <a:xfrm>
            <a:off x="7292340" y="1865376"/>
            <a:ext cx="2121408" cy="658368"/>
          </a:xfrm>
          <a:prstGeom prst="roundRect">
            <a:avLst>
              <a:gd name="adj" fmla="val 11111"/>
            </a:avLst>
          </a:prstGeom>
          <a:solidFill>
            <a:srgbClr val="FCE4EA"/>
          </a:solidFill>
          <a:ln w="12700">
            <a:solidFill>
              <a:srgbClr val="F3C9D3"/>
            </a:solidFill>
            <a:prstDash val="solid"/>
          </a:ln>
        </p:spPr>
      </p:sp>
      <p:sp>
        <p:nvSpPr>
          <p:cNvPr id="15" name="Text 13"/>
          <p:cNvSpPr/>
          <p:nvPr/>
        </p:nvSpPr>
        <p:spPr>
          <a:xfrm>
            <a:off x="7383780" y="1865376"/>
            <a:ext cx="1938528" cy="658368"/>
          </a:xfrm>
          <a:prstGeom prst="rect">
            <a:avLst/>
          </a:prstGeom>
          <a:noFill/>
          <a:ln/>
        </p:spPr>
        <p:txBody>
          <a:bodyPr wrap="square" lIns="0" tIns="0" rIns="0" bIns="0" rtlCol="0" anchor="ctr"/>
          <a:lstStyle/>
          <a:p>
            <a:pPr algn="ctr" indent="0" marL="0">
              <a:buNone/>
            </a:pPr>
            <a:r>
              <a:rPr lang="en-US" sz="1050" b="1" dirty="0">
                <a:solidFill>
                  <a:srgbClr val="A60E34"/>
                </a:solidFill>
                <a:latin typeface="Arial" pitchFamily="34" charset="0"/>
                <a:ea typeface="Arial" pitchFamily="34" charset="-122"/>
                <a:cs typeface="Arial" pitchFamily="34" charset="-120"/>
              </a:rPr>
              <a:t>Reviewing &amp; improving work</a:t>
            </a:r>
            <a:endParaRPr lang="en-US" sz="1050" dirty="0"/>
          </a:p>
        </p:txBody>
      </p:sp>
      <p:sp>
        <p:nvSpPr>
          <p:cNvPr id="16" name="Shape 14"/>
          <p:cNvSpPr/>
          <p:nvPr/>
        </p:nvSpPr>
        <p:spPr>
          <a:xfrm>
            <a:off x="9555480" y="1865376"/>
            <a:ext cx="2121408" cy="658368"/>
          </a:xfrm>
          <a:prstGeom prst="roundRect">
            <a:avLst>
              <a:gd name="adj" fmla="val 11111"/>
            </a:avLst>
          </a:prstGeom>
          <a:solidFill>
            <a:srgbClr val="FCE4EA"/>
          </a:solidFill>
          <a:ln w="12700">
            <a:solidFill>
              <a:srgbClr val="F3C9D3"/>
            </a:solidFill>
            <a:prstDash val="solid"/>
          </a:ln>
        </p:spPr>
      </p:sp>
      <p:sp>
        <p:nvSpPr>
          <p:cNvPr id="17" name="Text 15"/>
          <p:cNvSpPr/>
          <p:nvPr/>
        </p:nvSpPr>
        <p:spPr>
          <a:xfrm>
            <a:off x="9646920" y="1865376"/>
            <a:ext cx="1938528" cy="658368"/>
          </a:xfrm>
          <a:prstGeom prst="rect">
            <a:avLst/>
          </a:prstGeom>
          <a:noFill/>
          <a:ln/>
        </p:spPr>
        <p:txBody>
          <a:bodyPr wrap="square" lIns="0" tIns="0" rIns="0" bIns="0" rtlCol="0" anchor="ctr"/>
          <a:lstStyle/>
          <a:p>
            <a:pPr algn="ctr" indent="0" marL="0">
              <a:buNone/>
            </a:pPr>
            <a:r>
              <a:rPr lang="en-US" sz="1050" b="1" dirty="0">
                <a:solidFill>
                  <a:srgbClr val="A60E34"/>
                </a:solidFill>
                <a:latin typeface="Arial" pitchFamily="34" charset="0"/>
                <a:ea typeface="Arial" pitchFamily="34" charset="-122"/>
                <a:cs typeface="Arial" pitchFamily="34" charset="-120"/>
              </a:rPr>
              <a:t>Presentations, reports &amp; documents</a:t>
            </a:r>
            <a:endParaRPr lang="en-US" sz="1050" dirty="0"/>
          </a:p>
        </p:txBody>
      </p:sp>
      <p:sp>
        <p:nvSpPr>
          <p:cNvPr id="18" name="Shape 16"/>
          <p:cNvSpPr/>
          <p:nvPr/>
        </p:nvSpPr>
        <p:spPr>
          <a:xfrm>
            <a:off x="502920" y="2651760"/>
            <a:ext cx="2121408" cy="658368"/>
          </a:xfrm>
          <a:prstGeom prst="roundRect">
            <a:avLst>
              <a:gd name="adj" fmla="val 11111"/>
            </a:avLst>
          </a:prstGeom>
          <a:solidFill>
            <a:srgbClr val="FCE4EA"/>
          </a:solidFill>
          <a:ln w="12700">
            <a:solidFill>
              <a:srgbClr val="F3C9D3"/>
            </a:solidFill>
            <a:prstDash val="solid"/>
          </a:ln>
        </p:spPr>
      </p:sp>
      <p:sp>
        <p:nvSpPr>
          <p:cNvPr id="19" name="Text 17"/>
          <p:cNvSpPr/>
          <p:nvPr/>
        </p:nvSpPr>
        <p:spPr>
          <a:xfrm>
            <a:off x="594360" y="2651760"/>
            <a:ext cx="1938528" cy="658368"/>
          </a:xfrm>
          <a:prstGeom prst="rect">
            <a:avLst/>
          </a:prstGeom>
          <a:noFill/>
          <a:ln/>
        </p:spPr>
        <p:txBody>
          <a:bodyPr wrap="square" lIns="0" tIns="0" rIns="0" bIns="0" rtlCol="0" anchor="ctr"/>
          <a:lstStyle/>
          <a:p>
            <a:pPr algn="ctr" indent="0" marL="0">
              <a:buNone/>
            </a:pPr>
            <a:r>
              <a:rPr lang="en-US" sz="1050" b="1" dirty="0">
                <a:solidFill>
                  <a:srgbClr val="A60E34"/>
                </a:solidFill>
                <a:latin typeface="Arial" pitchFamily="34" charset="0"/>
                <a:ea typeface="Arial" pitchFamily="34" charset="-122"/>
                <a:cs typeface="Arial" pitchFamily="34" charset="-120"/>
              </a:rPr>
              <a:t>Summarizing meetings &amp; documents</a:t>
            </a:r>
            <a:endParaRPr lang="en-US" sz="1050" dirty="0"/>
          </a:p>
        </p:txBody>
      </p:sp>
      <p:sp>
        <p:nvSpPr>
          <p:cNvPr id="20" name="Shape 18"/>
          <p:cNvSpPr/>
          <p:nvPr/>
        </p:nvSpPr>
        <p:spPr>
          <a:xfrm>
            <a:off x="2766060" y="2651760"/>
            <a:ext cx="2121408" cy="658368"/>
          </a:xfrm>
          <a:prstGeom prst="roundRect">
            <a:avLst>
              <a:gd name="adj" fmla="val 11111"/>
            </a:avLst>
          </a:prstGeom>
          <a:solidFill>
            <a:srgbClr val="FCE4EA"/>
          </a:solidFill>
          <a:ln w="12700">
            <a:solidFill>
              <a:srgbClr val="F3C9D3"/>
            </a:solidFill>
            <a:prstDash val="solid"/>
          </a:ln>
        </p:spPr>
      </p:sp>
      <p:sp>
        <p:nvSpPr>
          <p:cNvPr id="21" name="Text 19"/>
          <p:cNvSpPr/>
          <p:nvPr/>
        </p:nvSpPr>
        <p:spPr>
          <a:xfrm>
            <a:off x="2857500" y="2651760"/>
            <a:ext cx="1938528" cy="658368"/>
          </a:xfrm>
          <a:prstGeom prst="rect">
            <a:avLst/>
          </a:prstGeom>
          <a:noFill/>
          <a:ln/>
        </p:spPr>
        <p:txBody>
          <a:bodyPr wrap="square" lIns="0" tIns="0" rIns="0" bIns="0" rtlCol="0" anchor="ctr"/>
          <a:lstStyle/>
          <a:p>
            <a:pPr algn="ctr" indent="0" marL="0">
              <a:buNone/>
            </a:pPr>
            <a:r>
              <a:rPr lang="en-US" sz="1050" b="1" dirty="0">
                <a:solidFill>
                  <a:srgbClr val="A60E34"/>
                </a:solidFill>
                <a:latin typeface="Arial" pitchFamily="34" charset="0"/>
                <a:ea typeface="Arial" pitchFamily="34" charset="-122"/>
                <a:cs typeface="Arial" pitchFamily="34" charset="-120"/>
              </a:rPr>
              <a:t>Analyzing data &amp; trends</a:t>
            </a:r>
            <a:endParaRPr lang="en-US" sz="1050" dirty="0"/>
          </a:p>
        </p:txBody>
      </p:sp>
      <p:sp>
        <p:nvSpPr>
          <p:cNvPr id="22" name="Shape 20"/>
          <p:cNvSpPr/>
          <p:nvPr/>
        </p:nvSpPr>
        <p:spPr>
          <a:xfrm>
            <a:off x="5029200" y="2651760"/>
            <a:ext cx="2121408" cy="658368"/>
          </a:xfrm>
          <a:prstGeom prst="roundRect">
            <a:avLst>
              <a:gd name="adj" fmla="val 11111"/>
            </a:avLst>
          </a:prstGeom>
          <a:solidFill>
            <a:srgbClr val="FCE4EA"/>
          </a:solidFill>
          <a:ln w="12700">
            <a:solidFill>
              <a:srgbClr val="F3C9D3"/>
            </a:solidFill>
            <a:prstDash val="solid"/>
          </a:ln>
        </p:spPr>
      </p:sp>
      <p:sp>
        <p:nvSpPr>
          <p:cNvPr id="23" name="Text 21"/>
          <p:cNvSpPr/>
          <p:nvPr/>
        </p:nvSpPr>
        <p:spPr>
          <a:xfrm>
            <a:off x="5120640" y="2651760"/>
            <a:ext cx="1938528" cy="658368"/>
          </a:xfrm>
          <a:prstGeom prst="rect">
            <a:avLst/>
          </a:prstGeom>
          <a:noFill/>
          <a:ln/>
        </p:spPr>
        <p:txBody>
          <a:bodyPr wrap="square" lIns="0" tIns="0" rIns="0" bIns="0" rtlCol="0" anchor="ctr"/>
          <a:lstStyle/>
          <a:p>
            <a:pPr algn="ctr" indent="0" marL="0">
              <a:buNone/>
            </a:pPr>
            <a:r>
              <a:rPr lang="en-US" sz="1050" b="1" dirty="0">
                <a:solidFill>
                  <a:srgbClr val="A60E34"/>
                </a:solidFill>
                <a:latin typeface="Arial" pitchFamily="34" charset="0"/>
                <a:ea typeface="Arial" pitchFamily="34" charset="-122"/>
                <a:cs typeface="Arial" pitchFamily="34" charset="-120"/>
              </a:rPr>
              <a:t>Spreadsheets &amp; calculations</a:t>
            </a:r>
            <a:endParaRPr lang="en-US" sz="1050" dirty="0"/>
          </a:p>
        </p:txBody>
      </p:sp>
      <p:sp>
        <p:nvSpPr>
          <p:cNvPr id="24" name="Shape 22"/>
          <p:cNvSpPr/>
          <p:nvPr/>
        </p:nvSpPr>
        <p:spPr>
          <a:xfrm>
            <a:off x="7292340" y="2651760"/>
            <a:ext cx="2121408" cy="658368"/>
          </a:xfrm>
          <a:prstGeom prst="roundRect">
            <a:avLst>
              <a:gd name="adj" fmla="val 11111"/>
            </a:avLst>
          </a:prstGeom>
          <a:solidFill>
            <a:srgbClr val="FCE4EA"/>
          </a:solidFill>
          <a:ln w="12700">
            <a:solidFill>
              <a:srgbClr val="F3C9D3"/>
            </a:solidFill>
            <a:prstDash val="solid"/>
          </a:ln>
        </p:spPr>
      </p:sp>
      <p:sp>
        <p:nvSpPr>
          <p:cNvPr id="25" name="Text 23"/>
          <p:cNvSpPr/>
          <p:nvPr/>
        </p:nvSpPr>
        <p:spPr>
          <a:xfrm>
            <a:off x="7383780" y="2651760"/>
            <a:ext cx="1938528" cy="658368"/>
          </a:xfrm>
          <a:prstGeom prst="rect">
            <a:avLst/>
          </a:prstGeom>
          <a:noFill/>
          <a:ln/>
        </p:spPr>
        <p:txBody>
          <a:bodyPr wrap="square" lIns="0" tIns="0" rIns="0" bIns="0" rtlCol="0" anchor="ctr"/>
          <a:lstStyle/>
          <a:p>
            <a:pPr algn="ctr" indent="0" marL="0">
              <a:buNone/>
            </a:pPr>
            <a:r>
              <a:rPr lang="en-US" sz="1050" b="1" dirty="0">
                <a:solidFill>
                  <a:srgbClr val="A60E34"/>
                </a:solidFill>
                <a:latin typeface="Arial" pitchFamily="34" charset="0"/>
                <a:ea typeface="Arial" pitchFamily="34" charset="-122"/>
                <a:cs typeface="Arial" pitchFamily="34" charset="-120"/>
              </a:rPr>
              <a:t>Automations &amp; workflows</a:t>
            </a:r>
            <a:endParaRPr lang="en-US" sz="1050" dirty="0"/>
          </a:p>
        </p:txBody>
      </p:sp>
      <p:sp>
        <p:nvSpPr>
          <p:cNvPr id="26" name="Shape 24"/>
          <p:cNvSpPr/>
          <p:nvPr/>
        </p:nvSpPr>
        <p:spPr>
          <a:xfrm>
            <a:off x="9555480" y="2651760"/>
            <a:ext cx="2121408" cy="658368"/>
          </a:xfrm>
          <a:prstGeom prst="roundRect">
            <a:avLst>
              <a:gd name="adj" fmla="val 11111"/>
            </a:avLst>
          </a:prstGeom>
          <a:solidFill>
            <a:srgbClr val="FCE4EA"/>
          </a:solidFill>
          <a:ln w="12700">
            <a:solidFill>
              <a:srgbClr val="F3C9D3"/>
            </a:solidFill>
            <a:prstDash val="solid"/>
          </a:ln>
        </p:spPr>
      </p:sp>
      <p:sp>
        <p:nvSpPr>
          <p:cNvPr id="27" name="Text 25"/>
          <p:cNvSpPr/>
          <p:nvPr/>
        </p:nvSpPr>
        <p:spPr>
          <a:xfrm>
            <a:off x="9646920" y="2651760"/>
            <a:ext cx="1938528" cy="658368"/>
          </a:xfrm>
          <a:prstGeom prst="rect">
            <a:avLst/>
          </a:prstGeom>
          <a:noFill/>
          <a:ln/>
        </p:spPr>
        <p:txBody>
          <a:bodyPr wrap="square" lIns="0" tIns="0" rIns="0" bIns="0" rtlCol="0" anchor="ctr"/>
          <a:lstStyle/>
          <a:p>
            <a:pPr algn="ctr" indent="0" marL="0">
              <a:buNone/>
            </a:pPr>
            <a:r>
              <a:rPr lang="en-US" sz="1050" b="1" dirty="0">
                <a:solidFill>
                  <a:srgbClr val="A60E34"/>
                </a:solidFill>
                <a:latin typeface="Arial" pitchFamily="34" charset="0"/>
                <a:ea typeface="Arial" pitchFamily="34" charset="-122"/>
                <a:cs typeface="Arial" pitchFamily="34" charset="-120"/>
              </a:rPr>
              <a:t>Writing &amp; reviewing code</a:t>
            </a:r>
            <a:endParaRPr lang="en-US" sz="1050" dirty="0"/>
          </a:p>
        </p:txBody>
      </p:sp>
      <p:sp>
        <p:nvSpPr>
          <p:cNvPr id="28" name="Text 26"/>
          <p:cNvSpPr/>
          <p:nvPr/>
        </p:nvSpPr>
        <p:spPr>
          <a:xfrm>
            <a:off x="502920" y="3611880"/>
            <a:ext cx="10972800" cy="237744"/>
          </a:xfrm>
          <a:prstGeom prst="rect">
            <a:avLst/>
          </a:prstGeom>
          <a:noFill/>
          <a:ln/>
        </p:spPr>
        <p:txBody>
          <a:bodyPr wrap="square" lIns="0" tIns="0" rIns="0" bIns="0" rtlCol="0" anchor="ctr"/>
          <a:lstStyle/>
          <a:p>
            <a:pPr indent="0" marL="0">
              <a:buNone/>
            </a:pPr>
            <a:r>
              <a:rPr lang="en-US" sz="1000" b="1" spc="150" kern="0" dirty="0">
                <a:solidFill>
                  <a:srgbClr val="A60E34"/>
                </a:solidFill>
                <a:latin typeface="Arial" pitchFamily="34" charset="0"/>
                <a:ea typeface="Arial" pitchFamily="34" charset="-122"/>
                <a:cs typeface="Arial" pitchFamily="34" charset="-120"/>
              </a:rPr>
              <a:t>HOW TO USE IT</a:t>
            </a:r>
            <a:endParaRPr lang="en-US" sz="1000" dirty="0"/>
          </a:p>
        </p:txBody>
      </p:sp>
      <p:sp>
        <p:nvSpPr>
          <p:cNvPr id="29" name="Shape 27"/>
          <p:cNvSpPr/>
          <p:nvPr/>
        </p:nvSpPr>
        <p:spPr>
          <a:xfrm>
            <a:off x="502920" y="3904488"/>
            <a:ext cx="3602736" cy="1371600"/>
          </a:xfrm>
          <a:prstGeom prst="roundRect">
            <a:avLst>
              <a:gd name="adj" fmla="val 5333"/>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30" name="Shape 28"/>
          <p:cNvSpPr/>
          <p:nvPr/>
        </p:nvSpPr>
        <p:spPr>
          <a:xfrm>
            <a:off x="704088" y="4087368"/>
            <a:ext cx="365760" cy="365760"/>
          </a:xfrm>
          <a:prstGeom prst="ellipse">
            <a:avLst/>
          </a:prstGeom>
          <a:solidFill>
            <a:srgbClr val="D31242"/>
          </a:solidFill>
          <a:ln/>
        </p:spPr>
      </p:sp>
      <p:sp>
        <p:nvSpPr>
          <p:cNvPr id="31" name="Text 29"/>
          <p:cNvSpPr/>
          <p:nvPr/>
        </p:nvSpPr>
        <p:spPr>
          <a:xfrm>
            <a:off x="704088" y="40873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32" name="Text 30"/>
          <p:cNvSpPr/>
          <p:nvPr/>
        </p:nvSpPr>
        <p:spPr>
          <a:xfrm>
            <a:off x="1197864" y="4123944"/>
            <a:ext cx="2688336" cy="292608"/>
          </a:xfrm>
          <a:prstGeom prst="rect">
            <a:avLst/>
          </a:prstGeom>
          <a:noFill/>
          <a:ln/>
        </p:spPr>
        <p:txBody>
          <a:bodyPr wrap="square" lIns="0" tIns="0" rIns="0" bIns="0" rtlCol="0" anchor="t"/>
          <a:lstStyle/>
          <a:p>
            <a:pPr indent="0" marL="0">
              <a:buNone/>
            </a:pPr>
            <a:r>
              <a:rPr lang="en-US" sz="1350" b="1" dirty="0">
                <a:solidFill>
                  <a:srgbClr val="1F2733"/>
                </a:solidFill>
                <a:latin typeface="Arial" pitchFamily="34" charset="0"/>
                <a:ea typeface="Arial" pitchFamily="34" charset="-122"/>
                <a:cs typeface="Arial" pitchFamily="34" charset="-120"/>
              </a:rPr>
              <a:t>Find your task</a:t>
            </a:r>
            <a:endParaRPr lang="en-US" sz="1350" dirty="0"/>
          </a:p>
        </p:txBody>
      </p:sp>
      <p:sp>
        <p:nvSpPr>
          <p:cNvPr id="33" name="Text 31"/>
          <p:cNvSpPr/>
          <p:nvPr/>
        </p:nvSpPr>
        <p:spPr>
          <a:xfrm>
            <a:off x="704088" y="4562856"/>
            <a:ext cx="3200400" cy="640080"/>
          </a:xfrm>
          <a:prstGeom prst="rect">
            <a:avLst/>
          </a:prstGeom>
          <a:noFill/>
          <a:ln/>
        </p:spPr>
        <p:txBody>
          <a:bodyPr wrap="square" lIns="0" tIns="0" rIns="0" bIns="0" rtlCol="0" anchor="t"/>
          <a:lstStyle/>
          <a:p>
            <a:pPr indent="0" marL="0">
              <a:buNone/>
            </a:pPr>
            <a:r>
              <a:rPr lang="en-US" sz="1050" dirty="0">
                <a:solidFill>
                  <a:srgbClr val="5E6A78"/>
                </a:solidFill>
                <a:latin typeface="Arial" pitchFamily="34" charset="0"/>
                <a:ea typeface="Arial" pitchFamily="34" charset="-122"/>
                <a:cs typeface="Arial" pitchFamily="34" charset="-120"/>
              </a:rPr>
              <a:t>Pick the category that matches what you're working on right now.</a:t>
            </a:r>
            <a:endParaRPr lang="en-US" sz="1050" dirty="0"/>
          </a:p>
        </p:txBody>
      </p:sp>
      <p:sp>
        <p:nvSpPr>
          <p:cNvPr id="34" name="Shape 32"/>
          <p:cNvSpPr/>
          <p:nvPr/>
        </p:nvSpPr>
        <p:spPr>
          <a:xfrm>
            <a:off x="4270248" y="3904488"/>
            <a:ext cx="3602736" cy="1371600"/>
          </a:xfrm>
          <a:prstGeom prst="roundRect">
            <a:avLst>
              <a:gd name="adj" fmla="val 5333"/>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35" name="Shape 33"/>
          <p:cNvSpPr/>
          <p:nvPr/>
        </p:nvSpPr>
        <p:spPr>
          <a:xfrm>
            <a:off x="4471416" y="4087368"/>
            <a:ext cx="365760" cy="365760"/>
          </a:xfrm>
          <a:prstGeom prst="ellipse">
            <a:avLst/>
          </a:prstGeom>
          <a:solidFill>
            <a:srgbClr val="D31242"/>
          </a:solidFill>
          <a:ln/>
        </p:spPr>
      </p:sp>
      <p:sp>
        <p:nvSpPr>
          <p:cNvPr id="36" name="Text 34"/>
          <p:cNvSpPr/>
          <p:nvPr/>
        </p:nvSpPr>
        <p:spPr>
          <a:xfrm>
            <a:off x="4471416" y="40873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37" name="Text 35"/>
          <p:cNvSpPr/>
          <p:nvPr/>
        </p:nvSpPr>
        <p:spPr>
          <a:xfrm>
            <a:off x="4965192" y="4123944"/>
            <a:ext cx="2688336" cy="292608"/>
          </a:xfrm>
          <a:prstGeom prst="rect">
            <a:avLst/>
          </a:prstGeom>
          <a:noFill/>
          <a:ln/>
        </p:spPr>
        <p:txBody>
          <a:bodyPr wrap="square" lIns="0" tIns="0" rIns="0" bIns="0" rtlCol="0" anchor="t"/>
          <a:lstStyle/>
          <a:p>
            <a:pPr indent="0" marL="0">
              <a:buNone/>
            </a:pPr>
            <a:r>
              <a:rPr lang="en-US" sz="1350" b="1" dirty="0">
                <a:solidFill>
                  <a:srgbClr val="1F2733"/>
                </a:solidFill>
                <a:latin typeface="Arial" pitchFamily="34" charset="0"/>
                <a:ea typeface="Arial" pitchFamily="34" charset="-122"/>
                <a:cs typeface="Arial" pitchFamily="34" charset="-120"/>
              </a:rPr>
              <a:t>Copy and adapt</a:t>
            </a:r>
            <a:endParaRPr lang="en-US" sz="1350" dirty="0"/>
          </a:p>
        </p:txBody>
      </p:sp>
      <p:sp>
        <p:nvSpPr>
          <p:cNvPr id="38" name="Text 36"/>
          <p:cNvSpPr/>
          <p:nvPr/>
        </p:nvSpPr>
        <p:spPr>
          <a:xfrm>
            <a:off x="4471416" y="4562856"/>
            <a:ext cx="3200400" cy="640080"/>
          </a:xfrm>
          <a:prstGeom prst="rect">
            <a:avLst/>
          </a:prstGeom>
          <a:noFill/>
          <a:ln/>
        </p:spPr>
        <p:txBody>
          <a:bodyPr wrap="square" lIns="0" tIns="0" rIns="0" bIns="0" rtlCol="0" anchor="t"/>
          <a:lstStyle/>
          <a:p>
            <a:pPr indent="0" marL="0">
              <a:buNone/>
            </a:pPr>
            <a:r>
              <a:rPr lang="en-US" sz="1050" dirty="0">
                <a:solidFill>
                  <a:srgbClr val="5E6A78"/>
                </a:solidFill>
                <a:latin typeface="Arial" pitchFamily="34" charset="0"/>
                <a:ea typeface="Arial" pitchFamily="34" charset="-122"/>
                <a:cs typeface="Arial" pitchFamily="34" charset="-120"/>
              </a:rPr>
              <a:t>Copy the prompt, swap in the bracketed details, and adjust for your case.</a:t>
            </a:r>
            <a:endParaRPr lang="en-US" sz="1050" dirty="0"/>
          </a:p>
        </p:txBody>
      </p:sp>
      <p:sp>
        <p:nvSpPr>
          <p:cNvPr id="39" name="Shape 37"/>
          <p:cNvSpPr/>
          <p:nvPr/>
        </p:nvSpPr>
        <p:spPr>
          <a:xfrm>
            <a:off x="8037576" y="3904488"/>
            <a:ext cx="3602736" cy="1371600"/>
          </a:xfrm>
          <a:prstGeom prst="roundRect">
            <a:avLst>
              <a:gd name="adj" fmla="val 5333"/>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40" name="Shape 38"/>
          <p:cNvSpPr/>
          <p:nvPr/>
        </p:nvSpPr>
        <p:spPr>
          <a:xfrm>
            <a:off x="8238744" y="4087368"/>
            <a:ext cx="365760" cy="365760"/>
          </a:xfrm>
          <a:prstGeom prst="ellipse">
            <a:avLst/>
          </a:prstGeom>
          <a:solidFill>
            <a:srgbClr val="D31242"/>
          </a:solidFill>
          <a:ln/>
        </p:spPr>
      </p:sp>
      <p:sp>
        <p:nvSpPr>
          <p:cNvPr id="41" name="Text 39"/>
          <p:cNvSpPr/>
          <p:nvPr/>
        </p:nvSpPr>
        <p:spPr>
          <a:xfrm>
            <a:off x="8238744" y="40873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42" name="Text 40"/>
          <p:cNvSpPr/>
          <p:nvPr/>
        </p:nvSpPr>
        <p:spPr>
          <a:xfrm>
            <a:off x="8732520" y="4123944"/>
            <a:ext cx="2688336" cy="292608"/>
          </a:xfrm>
          <a:prstGeom prst="rect">
            <a:avLst/>
          </a:prstGeom>
          <a:noFill/>
          <a:ln/>
        </p:spPr>
        <p:txBody>
          <a:bodyPr wrap="square" lIns="0" tIns="0" rIns="0" bIns="0" rtlCol="0" anchor="t"/>
          <a:lstStyle/>
          <a:p>
            <a:pPr indent="0" marL="0">
              <a:buNone/>
            </a:pPr>
            <a:r>
              <a:rPr lang="en-US" sz="1350" b="1" dirty="0">
                <a:solidFill>
                  <a:srgbClr val="1F2733"/>
                </a:solidFill>
                <a:latin typeface="Arial" pitchFamily="34" charset="0"/>
                <a:ea typeface="Arial" pitchFamily="34" charset="-122"/>
                <a:cs typeface="Arial" pitchFamily="34" charset="-120"/>
              </a:rPr>
              <a:t>Refine the result</a:t>
            </a:r>
            <a:endParaRPr lang="en-US" sz="1350" dirty="0"/>
          </a:p>
        </p:txBody>
      </p:sp>
      <p:sp>
        <p:nvSpPr>
          <p:cNvPr id="43" name="Text 41"/>
          <p:cNvSpPr/>
          <p:nvPr/>
        </p:nvSpPr>
        <p:spPr>
          <a:xfrm>
            <a:off x="8238744" y="4562856"/>
            <a:ext cx="3200400" cy="640080"/>
          </a:xfrm>
          <a:prstGeom prst="rect">
            <a:avLst/>
          </a:prstGeom>
          <a:noFill/>
          <a:ln/>
        </p:spPr>
        <p:txBody>
          <a:bodyPr wrap="square" lIns="0" tIns="0" rIns="0" bIns="0" rtlCol="0" anchor="t"/>
          <a:lstStyle/>
          <a:p>
            <a:pPr indent="0" marL="0">
              <a:buNone/>
            </a:pPr>
            <a:r>
              <a:rPr lang="en-US" sz="1050" dirty="0">
                <a:solidFill>
                  <a:srgbClr val="5E6A78"/>
                </a:solidFill>
                <a:latin typeface="Arial" pitchFamily="34" charset="0"/>
                <a:ea typeface="Arial" pitchFamily="34" charset="-122"/>
                <a:cs typeface="Arial" pitchFamily="34" charset="-120"/>
              </a:rPr>
              <a:t>If the first answer isn't right, say what to fix and ask it to try again.</a:t>
            </a:r>
            <a:endParaRPr lang="en-US" sz="1050" dirty="0"/>
          </a:p>
        </p:txBody>
      </p:sp>
      <p:sp>
        <p:nvSpPr>
          <p:cNvPr id="44" name="Text 42"/>
          <p:cNvSpPr/>
          <p:nvPr/>
        </p:nvSpPr>
        <p:spPr>
          <a:xfrm>
            <a:off x="502920" y="5440680"/>
            <a:ext cx="11201400" cy="320040"/>
          </a:xfrm>
          <a:prstGeom prst="rect">
            <a:avLst/>
          </a:prstGeom>
          <a:noFill/>
          <a:ln/>
        </p:spPr>
        <p:txBody>
          <a:bodyPr wrap="square" lIns="0" tIns="0" rIns="0" bIns="0" rtlCol="0" anchor="ctr"/>
          <a:lstStyle/>
          <a:p>
            <a:pPr algn="ctr" indent="0" marL="0">
              <a:buNone/>
            </a:pPr>
            <a:r>
              <a:rPr lang="en-US" sz="1000" i="1" dirty="0">
                <a:solidFill>
                  <a:srgbClr val="5E6A78"/>
                </a:solidFill>
                <a:latin typeface="Arial" pitchFamily="34" charset="0"/>
                <a:ea typeface="Arial" pitchFamily="34" charset="-122"/>
                <a:cs typeface="Arial" pitchFamily="34" charset="-120"/>
              </a:rPr>
              <a:t>Works in Claude, ChatGPT, or Copilot. Never paste Restricted Confidential data (member info, payment data, unreleased financials) into any AI tool.</a:t>
            </a:r>
            <a:endParaRPr lang="en-US" sz="1000" dirty="0"/>
          </a:p>
        </p:txBody>
      </p:sp>
      <p:sp>
        <p:nvSpPr>
          <p:cNvPr id="45" name="Text 43"/>
          <p:cNvSpPr/>
          <p:nvPr/>
        </p:nvSpPr>
        <p:spPr>
          <a:xfrm>
            <a:off x="502920" y="6035040"/>
            <a:ext cx="11183112" cy="502920"/>
          </a:xfrm>
          <a:prstGeom prst="roundRect">
            <a:avLst>
              <a:gd name="adj" fmla="val 10909"/>
            </a:avLst>
          </a:prstGeom>
          <a:solidFill>
            <a:srgbClr val="D31242"/>
          </a:solid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Your prompts grow this library: </a:t>
            </a:r>
            <a:pPr algn="ctr" indent="0" marL="0">
              <a:buNone/>
            </a:pPr>
            <a:r>
              <a:rPr lang="en-US" sz="1250" dirty="0">
                <a:solidFill>
                  <a:srgbClr val="FFFFFF"/>
                </a:solidFill>
                <a:latin typeface="Arial" pitchFamily="34" charset="0"/>
                <a:ea typeface="Arial" pitchFamily="34" charset="-122"/>
                <a:cs typeface="Arial" pitchFamily="34" charset="-120"/>
              </a:rPr>
              <a:t>share yours with the AI team; it's reviewed, published, and credited to you.</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972800" cy="256032"/>
          </a:xfrm>
          <a:prstGeom prst="rect">
            <a:avLst/>
          </a:prstGeom>
          <a:noFill/>
          <a:ln/>
        </p:spPr>
        <p:txBody>
          <a:bodyPr wrap="square" lIns="0" tIns="0" rIns="0" bIns="0" rtlCol="0" anchor="ctr"/>
          <a:lstStyle/>
          <a:p>
            <a:pPr indent="0" marL="0">
              <a:buNone/>
            </a:pPr>
            <a:r>
              <a:rPr lang="en-US" sz="1150" b="1" spc="200" kern="0" dirty="0">
                <a:solidFill>
                  <a:srgbClr val="D31242"/>
                </a:solidFill>
                <a:latin typeface="Arial" pitchFamily="34" charset="0"/>
                <a:ea typeface="Arial" pitchFamily="34" charset="-122"/>
                <a:cs typeface="Arial" pitchFamily="34" charset="-120"/>
              </a:rPr>
              <a:t>DAY 30 MILESTONE · FINDING YOUR FIRST USE CASE</a:t>
            </a:r>
            <a:endParaRPr lang="en-US" sz="1150" dirty="0"/>
          </a:p>
        </p:txBody>
      </p:sp>
      <p:sp>
        <p:nvSpPr>
          <p:cNvPr id="3" name="Text 1"/>
          <p:cNvSpPr/>
          <p:nvPr/>
        </p:nvSpPr>
        <p:spPr>
          <a:xfrm>
            <a:off x="502920" y="621792"/>
            <a:ext cx="11201400" cy="512064"/>
          </a:xfrm>
          <a:prstGeom prst="rect">
            <a:avLst/>
          </a:prstGeom>
          <a:noFill/>
          <a:ln/>
        </p:spPr>
        <p:txBody>
          <a:bodyPr wrap="square" lIns="0" tIns="0" rIns="0" bIns="0" rtlCol="0" anchor="ctr"/>
          <a:lstStyle/>
          <a:p>
            <a:pPr indent="0" marL="0">
              <a:buNone/>
            </a:pPr>
            <a:r>
              <a:rPr lang="en-US" sz="2500" b="1" dirty="0">
                <a:solidFill>
                  <a:srgbClr val="1F2733"/>
                </a:solidFill>
                <a:latin typeface="Arial" pitchFamily="34" charset="0"/>
                <a:ea typeface="Arial" pitchFamily="34" charset="-122"/>
                <a:cs typeface="Arial" pitchFamily="34" charset="-120"/>
              </a:rPr>
              <a:t>How to identify a use case</a:t>
            </a:r>
            <a:endParaRPr lang="en-US" sz="2500" dirty="0"/>
          </a:p>
        </p:txBody>
      </p:sp>
      <p:sp>
        <p:nvSpPr>
          <p:cNvPr id="4" name="Text 2"/>
          <p:cNvSpPr/>
          <p:nvPr/>
        </p:nvSpPr>
        <p:spPr>
          <a:xfrm>
            <a:off x="502920" y="1133856"/>
            <a:ext cx="11201400" cy="320040"/>
          </a:xfrm>
          <a:prstGeom prst="rect">
            <a:avLst/>
          </a:prstGeom>
          <a:noFill/>
          <a:ln/>
        </p:spPr>
        <p:txBody>
          <a:bodyPr wrap="square" lIns="0" tIns="0" rIns="0" bIns="0" rtlCol="0" anchor="ctr"/>
          <a:lstStyle/>
          <a:p>
            <a:pPr indent="0" marL="0">
              <a:buNone/>
            </a:pPr>
            <a:r>
              <a:rPr lang="en-US" sz="1350" dirty="0">
                <a:solidFill>
                  <a:srgbClr val="5E6A78"/>
                </a:solidFill>
                <a:latin typeface="Arial" pitchFamily="34" charset="0"/>
                <a:ea typeface="Arial" pitchFamily="34" charset="-122"/>
                <a:cs typeface="Arial" pitchFamily="34" charset="-120"/>
              </a:rPr>
              <a:t>Strong use cases come from the work you already do each week, not from a search for something impressive. The approach is the same in Claude and ChatGPT.</a:t>
            </a:r>
            <a:endParaRPr lang="en-US" sz="1350" dirty="0"/>
          </a:p>
        </p:txBody>
      </p:sp>
      <p:sp>
        <p:nvSpPr>
          <p:cNvPr id="5" name="Shape 3"/>
          <p:cNvSpPr/>
          <p:nvPr/>
        </p:nvSpPr>
        <p:spPr>
          <a:xfrm>
            <a:off x="502920" y="1627632"/>
            <a:ext cx="3602736" cy="1481328"/>
          </a:xfrm>
          <a:prstGeom prst="roundRect">
            <a:avLst>
              <a:gd name="adj" fmla="val 4938"/>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6" name="Shape 4"/>
          <p:cNvSpPr/>
          <p:nvPr/>
        </p:nvSpPr>
        <p:spPr>
          <a:xfrm>
            <a:off x="704088" y="1810512"/>
            <a:ext cx="822960" cy="274320"/>
          </a:xfrm>
          <a:prstGeom prst="roundRect">
            <a:avLst>
              <a:gd name="adj" fmla="val 50000"/>
            </a:avLst>
          </a:prstGeom>
          <a:solidFill>
            <a:srgbClr val="D31242"/>
          </a:solidFill>
          <a:ln/>
        </p:spPr>
      </p:sp>
      <p:sp>
        <p:nvSpPr>
          <p:cNvPr id="7" name="Text 5"/>
          <p:cNvSpPr/>
          <p:nvPr/>
        </p:nvSpPr>
        <p:spPr>
          <a:xfrm>
            <a:off x="704088" y="1810512"/>
            <a:ext cx="8229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STEP 1</a:t>
            </a:r>
            <a:endParaRPr lang="en-US" sz="900" dirty="0"/>
          </a:p>
        </p:txBody>
      </p:sp>
      <p:sp>
        <p:nvSpPr>
          <p:cNvPr id="8" name="Text 6"/>
          <p:cNvSpPr/>
          <p:nvPr/>
        </p:nvSpPr>
        <p:spPr>
          <a:xfrm>
            <a:off x="704088" y="2157984"/>
            <a:ext cx="3200400" cy="310896"/>
          </a:xfrm>
          <a:prstGeom prst="rect">
            <a:avLst/>
          </a:prstGeom>
          <a:noFill/>
          <a:ln/>
        </p:spPr>
        <p:txBody>
          <a:bodyPr wrap="square" lIns="0" tIns="0" rIns="0" bIns="0" rtlCol="0" anchor="t"/>
          <a:lstStyle/>
          <a:p>
            <a:pPr indent="0" marL="0">
              <a:buNone/>
            </a:pPr>
            <a:r>
              <a:rPr lang="en-US" sz="1350" b="1" dirty="0">
                <a:solidFill>
                  <a:srgbClr val="1F2733"/>
                </a:solidFill>
                <a:latin typeface="Arial" pitchFamily="34" charset="0"/>
                <a:ea typeface="Arial" pitchFamily="34" charset="-122"/>
                <a:cs typeface="Arial" pitchFamily="34" charset="-120"/>
              </a:rPr>
              <a:t>Start from the work, not the tool</a:t>
            </a:r>
            <a:endParaRPr lang="en-US" sz="1350" dirty="0"/>
          </a:p>
        </p:txBody>
      </p:sp>
      <p:sp>
        <p:nvSpPr>
          <p:cNvPr id="9" name="Text 7"/>
          <p:cNvSpPr/>
          <p:nvPr/>
        </p:nvSpPr>
        <p:spPr>
          <a:xfrm>
            <a:off x="704088" y="2487168"/>
            <a:ext cx="3200400" cy="566928"/>
          </a:xfrm>
          <a:prstGeom prst="rect">
            <a:avLst/>
          </a:prstGeom>
          <a:noFill/>
          <a:ln/>
        </p:spPr>
        <p:txBody>
          <a:bodyPr wrap="square" lIns="0" tIns="0" rIns="0" bIns="0" rtlCol="0" anchor="t"/>
          <a:lstStyle/>
          <a:p>
            <a:pPr indent="0" marL="0">
              <a:buNone/>
            </a:pPr>
            <a:r>
              <a:rPr lang="en-US" sz="1050" dirty="0">
                <a:solidFill>
                  <a:srgbClr val="5E6A78"/>
                </a:solidFill>
                <a:latin typeface="Arial" pitchFamily="34" charset="0"/>
                <a:ea typeface="Arial" pitchFamily="34" charset="-122"/>
                <a:cs typeface="Arial" pitchFamily="34" charset="-120"/>
              </a:rPr>
              <a:t>List your recurring tasks. The question is not "what can AI do?" but "what do I do repeatedly?"</a:t>
            </a:r>
            <a:endParaRPr lang="en-US" sz="1050" dirty="0"/>
          </a:p>
        </p:txBody>
      </p:sp>
      <p:sp>
        <p:nvSpPr>
          <p:cNvPr id="10" name="Text 8"/>
          <p:cNvSpPr/>
          <p:nvPr/>
        </p:nvSpPr>
        <p:spPr>
          <a:xfrm>
            <a:off x="4087368" y="2194560"/>
            <a:ext cx="219456" cy="365760"/>
          </a:xfrm>
          <a:prstGeom prst="rect">
            <a:avLst/>
          </a:prstGeom>
          <a:noFill/>
          <a:ln/>
        </p:spPr>
        <p:txBody>
          <a:bodyPr wrap="square" lIns="0" tIns="0" rIns="0" bIns="0"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4270248" y="1627632"/>
            <a:ext cx="3602736" cy="1481328"/>
          </a:xfrm>
          <a:prstGeom prst="roundRect">
            <a:avLst>
              <a:gd name="adj" fmla="val 4938"/>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12" name="Shape 10"/>
          <p:cNvSpPr/>
          <p:nvPr/>
        </p:nvSpPr>
        <p:spPr>
          <a:xfrm>
            <a:off x="4471416" y="1810512"/>
            <a:ext cx="822960" cy="274320"/>
          </a:xfrm>
          <a:prstGeom prst="roundRect">
            <a:avLst>
              <a:gd name="adj" fmla="val 50000"/>
            </a:avLst>
          </a:prstGeom>
          <a:solidFill>
            <a:srgbClr val="D31242"/>
          </a:solidFill>
          <a:ln/>
        </p:spPr>
      </p:sp>
      <p:sp>
        <p:nvSpPr>
          <p:cNvPr id="13" name="Text 11"/>
          <p:cNvSpPr/>
          <p:nvPr/>
        </p:nvSpPr>
        <p:spPr>
          <a:xfrm>
            <a:off x="4471416" y="1810512"/>
            <a:ext cx="8229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STEP 2</a:t>
            </a:r>
            <a:endParaRPr lang="en-US" sz="900" dirty="0"/>
          </a:p>
        </p:txBody>
      </p:sp>
      <p:sp>
        <p:nvSpPr>
          <p:cNvPr id="14" name="Text 12"/>
          <p:cNvSpPr/>
          <p:nvPr/>
        </p:nvSpPr>
        <p:spPr>
          <a:xfrm>
            <a:off x="4471416" y="2157984"/>
            <a:ext cx="3200400" cy="310896"/>
          </a:xfrm>
          <a:prstGeom prst="rect">
            <a:avLst/>
          </a:prstGeom>
          <a:noFill/>
          <a:ln/>
        </p:spPr>
        <p:txBody>
          <a:bodyPr wrap="square" lIns="0" tIns="0" rIns="0" bIns="0" rtlCol="0" anchor="t"/>
          <a:lstStyle/>
          <a:p>
            <a:pPr indent="0" marL="0">
              <a:buNone/>
            </a:pPr>
            <a:r>
              <a:rPr lang="en-US" sz="1350" b="1" dirty="0">
                <a:solidFill>
                  <a:srgbClr val="1F2733"/>
                </a:solidFill>
                <a:latin typeface="Arial" pitchFamily="34" charset="0"/>
                <a:ea typeface="Arial" pitchFamily="34" charset="-122"/>
                <a:cs typeface="Arial" pitchFamily="34" charset="-120"/>
              </a:rPr>
              <a:t>Assess against the four signals</a:t>
            </a:r>
            <a:endParaRPr lang="en-US" sz="1350" dirty="0"/>
          </a:p>
        </p:txBody>
      </p:sp>
      <p:sp>
        <p:nvSpPr>
          <p:cNvPr id="15" name="Text 13"/>
          <p:cNvSpPr/>
          <p:nvPr/>
        </p:nvSpPr>
        <p:spPr>
          <a:xfrm>
            <a:off x="4471416" y="2487168"/>
            <a:ext cx="3200400" cy="566928"/>
          </a:xfrm>
          <a:prstGeom prst="rect">
            <a:avLst/>
          </a:prstGeom>
          <a:noFill/>
          <a:ln/>
        </p:spPr>
        <p:txBody>
          <a:bodyPr wrap="square" lIns="0" tIns="0" rIns="0" bIns="0" rtlCol="0" anchor="t"/>
          <a:lstStyle/>
          <a:p>
            <a:pPr indent="0" marL="0">
              <a:buNone/>
            </a:pPr>
            <a:r>
              <a:rPr lang="en-US" sz="1050" dirty="0">
                <a:solidFill>
                  <a:srgbClr val="5E6A78"/>
                </a:solidFill>
                <a:latin typeface="Arial" pitchFamily="34" charset="0"/>
                <a:ea typeface="Arial" pitchFamily="34" charset="-122"/>
                <a:cs typeface="Arial" pitchFamily="34" charset="-120"/>
              </a:rPr>
              <a:t>Review each task against the signals below. A task that meets two or more is a strong candidate.</a:t>
            </a:r>
            <a:endParaRPr lang="en-US" sz="1050" dirty="0"/>
          </a:p>
        </p:txBody>
      </p:sp>
      <p:sp>
        <p:nvSpPr>
          <p:cNvPr id="16" name="Text 14"/>
          <p:cNvSpPr/>
          <p:nvPr/>
        </p:nvSpPr>
        <p:spPr>
          <a:xfrm>
            <a:off x="7854696" y="2194560"/>
            <a:ext cx="219456" cy="365760"/>
          </a:xfrm>
          <a:prstGeom prst="rect">
            <a:avLst/>
          </a:prstGeom>
          <a:noFill/>
          <a:ln/>
        </p:spPr>
        <p:txBody>
          <a:bodyPr wrap="square" lIns="0" tIns="0" rIns="0" bIns="0"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8037576" y="1627632"/>
            <a:ext cx="3602736" cy="1481328"/>
          </a:xfrm>
          <a:prstGeom prst="roundRect">
            <a:avLst>
              <a:gd name="adj" fmla="val 4938"/>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18" name="Shape 16"/>
          <p:cNvSpPr/>
          <p:nvPr/>
        </p:nvSpPr>
        <p:spPr>
          <a:xfrm>
            <a:off x="8238744" y="1810512"/>
            <a:ext cx="822960" cy="274320"/>
          </a:xfrm>
          <a:prstGeom prst="roundRect">
            <a:avLst>
              <a:gd name="adj" fmla="val 50000"/>
            </a:avLst>
          </a:prstGeom>
          <a:solidFill>
            <a:srgbClr val="D31242"/>
          </a:solidFill>
          <a:ln/>
        </p:spPr>
      </p:sp>
      <p:sp>
        <p:nvSpPr>
          <p:cNvPr id="19" name="Text 17"/>
          <p:cNvSpPr/>
          <p:nvPr/>
        </p:nvSpPr>
        <p:spPr>
          <a:xfrm>
            <a:off x="8238744" y="1810512"/>
            <a:ext cx="8229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STEP 3</a:t>
            </a:r>
            <a:endParaRPr lang="en-US" sz="900" dirty="0"/>
          </a:p>
        </p:txBody>
      </p:sp>
      <p:sp>
        <p:nvSpPr>
          <p:cNvPr id="20" name="Text 18"/>
          <p:cNvSpPr/>
          <p:nvPr/>
        </p:nvSpPr>
        <p:spPr>
          <a:xfrm>
            <a:off x="8238744" y="2157984"/>
            <a:ext cx="3200400" cy="310896"/>
          </a:xfrm>
          <a:prstGeom prst="rect">
            <a:avLst/>
          </a:prstGeom>
          <a:noFill/>
          <a:ln/>
        </p:spPr>
        <p:txBody>
          <a:bodyPr wrap="square" lIns="0" tIns="0" rIns="0" bIns="0" rtlCol="0" anchor="t"/>
          <a:lstStyle/>
          <a:p>
            <a:pPr indent="0" marL="0">
              <a:buNone/>
            </a:pPr>
            <a:r>
              <a:rPr lang="en-US" sz="1350" b="1" dirty="0">
                <a:solidFill>
                  <a:srgbClr val="1F2733"/>
                </a:solidFill>
                <a:latin typeface="Arial" pitchFamily="34" charset="0"/>
                <a:ea typeface="Arial" pitchFamily="34" charset="-122"/>
                <a:cs typeface="Arial" pitchFamily="34" charset="-120"/>
              </a:rPr>
              <a:t>Test it on familiar work</a:t>
            </a:r>
            <a:endParaRPr lang="en-US" sz="1350" dirty="0"/>
          </a:p>
        </p:txBody>
      </p:sp>
      <p:sp>
        <p:nvSpPr>
          <p:cNvPr id="21" name="Text 19"/>
          <p:cNvSpPr/>
          <p:nvPr/>
        </p:nvSpPr>
        <p:spPr>
          <a:xfrm>
            <a:off x="8238744" y="2487168"/>
            <a:ext cx="3200400" cy="566928"/>
          </a:xfrm>
          <a:prstGeom prst="rect">
            <a:avLst/>
          </a:prstGeom>
          <a:noFill/>
          <a:ln/>
        </p:spPr>
        <p:txBody>
          <a:bodyPr wrap="square" lIns="0" tIns="0" rIns="0" bIns="0" rtlCol="0" anchor="t"/>
          <a:lstStyle/>
          <a:p>
            <a:pPr indent="0" marL="0">
              <a:buNone/>
            </a:pPr>
            <a:r>
              <a:rPr lang="en-US" sz="1050" dirty="0">
                <a:solidFill>
                  <a:srgbClr val="5E6A78"/>
                </a:solidFill>
                <a:latin typeface="Arial" pitchFamily="34" charset="0"/>
                <a:ea typeface="Arial" pitchFamily="34" charset="-122"/>
                <a:cs typeface="Arial" pitchFamily="34" charset="-120"/>
              </a:rPr>
              <a:t>Run it on a prior version of the task, where you already know what a good result looks like.</a:t>
            </a:r>
            <a:endParaRPr lang="en-US" sz="1050" dirty="0"/>
          </a:p>
        </p:txBody>
      </p:sp>
      <p:sp>
        <p:nvSpPr>
          <p:cNvPr id="22" name="Text 20"/>
          <p:cNvSpPr/>
          <p:nvPr/>
        </p:nvSpPr>
        <p:spPr>
          <a:xfrm>
            <a:off x="502920" y="3364992"/>
            <a:ext cx="10972800" cy="237744"/>
          </a:xfrm>
          <a:prstGeom prst="rect">
            <a:avLst/>
          </a:prstGeom>
          <a:noFill/>
          <a:ln/>
        </p:spPr>
        <p:txBody>
          <a:bodyPr wrap="square" lIns="0" tIns="0" rIns="0" bIns="0" rtlCol="0" anchor="ctr"/>
          <a:lstStyle/>
          <a:p>
            <a:pPr indent="0" marL="0">
              <a:buNone/>
            </a:pPr>
            <a:r>
              <a:rPr lang="en-US" sz="1000" b="1" spc="150" kern="0" dirty="0">
                <a:solidFill>
                  <a:srgbClr val="A60E34"/>
                </a:solidFill>
                <a:latin typeface="Arial" pitchFamily="34" charset="0"/>
                <a:ea typeface="Arial" pitchFamily="34" charset="-122"/>
                <a:cs typeface="Arial" pitchFamily="34" charset="-120"/>
              </a:rPr>
              <a:t>THE FOUR SIGNALS</a:t>
            </a:r>
            <a:endParaRPr lang="en-US" sz="1000" dirty="0"/>
          </a:p>
        </p:txBody>
      </p:sp>
      <p:sp>
        <p:nvSpPr>
          <p:cNvPr id="23" name="Shape 21"/>
          <p:cNvSpPr/>
          <p:nvPr/>
        </p:nvSpPr>
        <p:spPr>
          <a:xfrm>
            <a:off x="502920" y="3675888"/>
            <a:ext cx="2679192" cy="1417320"/>
          </a:xfrm>
          <a:prstGeom prst="roundRect">
            <a:avLst>
              <a:gd name="adj" fmla="val 5161"/>
            </a:avLst>
          </a:prstGeom>
          <a:solidFill>
            <a:srgbClr val="FCE4EA"/>
          </a:solidFill>
          <a:ln w="12700">
            <a:solidFill>
              <a:srgbClr val="F3C9D3"/>
            </a:solidFill>
            <a:prstDash val="solid"/>
          </a:ln>
        </p:spPr>
      </p:sp>
      <p:sp>
        <p:nvSpPr>
          <p:cNvPr id="24" name="Text 22"/>
          <p:cNvSpPr/>
          <p:nvPr/>
        </p:nvSpPr>
        <p:spPr>
          <a:xfrm>
            <a:off x="685800" y="3840480"/>
            <a:ext cx="2313432" cy="475488"/>
          </a:xfrm>
          <a:prstGeom prst="rect">
            <a:avLst/>
          </a:prstGeom>
          <a:noFill/>
          <a:ln/>
        </p:spPr>
        <p:txBody>
          <a:bodyPr wrap="square" lIns="0" tIns="0" rIns="0" bIns="0" rtlCol="0" anchor="t"/>
          <a:lstStyle/>
          <a:p>
            <a:pPr indent="0" marL="0">
              <a:buNone/>
            </a:pPr>
            <a:r>
              <a:rPr lang="en-US" sz="1300" b="1" dirty="0">
                <a:solidFill>
                  <a:srgbClr val="A60E34"/>
                </a:solidFill>
                <a:latin typeface="Arial" pitchFamily="34" charset="0"/>
                <a:ea typeface="Arial" pitchFamily="34" charset="-122"/>
                <a:cs typeface="Arial" pitchFamily="34" charset="-120"/>
              </a:rPr>
              <a:t>Recurring</a:t>
            </a:r>
            <a:endParaRPr lang="en-US" sz="1300" dirty="0"/>
          </a:p>
        </p:txBody>
      </p:sp>
      <p:sp>
        <p:nvSpPr>
          <p:cNvPr id="25" name="Text 23"/>
          <p:cNvSpPr/>
          <p:nvPr/>
        </p:nvSpPr>
        <p:spPr>
          <a:xfrm>
            <a:off x="685800" y="4297680"/>
            <a:ext cx="2313432" cy="685800"/>
          </a:xfrm>
          <a:prstGeom prst="rect">
            <a:avLst/>
          </a:prstGeom>
          <a:noFill/>
          <a:ln/>
        </p:spPr>
        <p:txBody>
          <a:bodyPr wrap="square" lIns="0" tIns="0" rIns="0" bIns="0" rtlCol="0" anchor="t"/>
          <a:lstStyle/>
          <a:p>
            <a:pPr indent="0" marL="0">
              <a:buNone/>
            </a:pPr>
            <a:r>
              <a:rPr lang="en-US" sz="1050" dirty="0">
                <a:solidFill>
                  <a:srgbClr val="1F2733"/>
                </a:solidFill>
                <a:latin typeface="Arial" pitchFamily="34" charset="0"/>
                <a:ea typeface="Arial" pitchFamily="34" charset="-122"/>
                <a:cs typeface="Arial" pitchFamily="34" charset="-120"/>
              </a:rPr>
              <a:t>The task follows the same structure every week or month: reports, briefs, reviews, updates.</a:t>
            </a:r>
            <a:endParaRPr lang="en-US" sz="1050" dirty="0"/>
          </a:p>
        </p:txBody>
      </p:sp>
      <p:sp>
        <p:nvSpPr>
          <p:cNvPr id="26" name="Shape 24"/>
          <p:cNvSpPr/>
          <p:nvPr/>
        </p:nvSpPr>
        <p:spPr>
          <a:xfrm>
            <a:off x="3337560" y="3675888"/>
            <a:ext cx="2679192" cy="1417320"/>
          </a:xfrm>
          <a:prstGeom prst="roundRect">
            <a:avLst>
              <a:gd name="adj" fmla="val 5161"/>
            </a:avLst>
          </a:prstGeom>
          <a:solidFill>
            <a:srgbClr val="FCE4EA"/>
          </a:solidFill>
          <a:ln w="12700">
            <a:solidFill>
              <a:srgbClr val="F3C9D3"/>
            </a:solidFill>
            <a:prstDash val="solid"/>
          </a:ln>
        </p:spPr>
      </p:sp>
      <p:sp>
        <p:nvSpPr>
          <p:cNvPr id="27" name="Text 25"/>
          <p:cNvSpPr/>
          <p:nvPr/>
        </p:nvSpPr>
        <p:spPr>
          <a:xfrm>
            <a:off x="3520440" y="3840480"/>
            <a:ext cx="2313432" cy="475488"/>
          </a:xfrm>
          <a:prstGeom prst="rect">
            <a:avLst/>
          </a:prstGeom>
          <a:noFill/>
          <a:ln/>
        </p:spPr>
        <p:txBody>
          <a:bodyPr wrap="square" lIns="0" tIns="0" rIns="0" bIns="0" rtlCol="0" anchor="t"/>
          <a:lstStyle/>
          <a:p>
            <a:pPr indent="0" marL="0">
              <a:buNone/>
            </a:pPr>
            <a:r>
              <a:rPr lang="en-US" sz="1300" b="1" dirty="0">
                <a:solidFill>
                  <a:srgbClr val="A60E34"/>
                </a:solidFill>
                <a:latin typeface="Arial" pitchFamily="34" charset="0"/>
                <a:ea typeface="Arial" pitchFamily="34" charset="-122"/>
                <a:cs typeface="Arial" pitchFamily="34" charset="-120"/>
              </a:rPr>
              <a:t>Text or data based</a:t>
            </a:r>
            <a:endParaRPr lang="en-US" sz="1300" dirty="0"/>
          </a:p>
        </p:txBody>
      </p:sp>
      <p:sp>
        <p:nvSpPr>
          <p:cNvPr id="28" name="Text 26"/>
          <p:cNvSpPr/>
          <p:nvPr/>
        </p:nvSpPr>
        <p:spPr>
          <a:xfrm>
            <a:off x="3520440" y="4297680"/>
            <a:ext cx="2313432" cy="685800"/>
          </a:xfrm>
          <a:prstGeom prst="rect">
            <a:avLst/>
          </a:prstGeom>
          <a:noFill/>
          <a:ln/>
        </p:spPr>
        <p:txBody>
          <a:bodyPr wrap="square" lIns="0" tIns="0" rIns="0" bIns="0" rtlCol="0" anchor="t"/>
          <a:lstStyle/>
          <a:p>
            <a:pPr indent="0" marL="0">
              <a:buNone/>
            </a:pPr>
            <a:r>
              <a:rPr lang="en-US" sz="1050" dirty="0">
                <a:solidFill>
                  <a:srgbClr val="1F2733"/>
                </a:solidFill>
                <a:latin typeface="Arial" pitchFamily="34" charset="0"/>
                <a:ea typeface="Arial" pitchFamily="34" charset="-122"/>
                <a:cs typeface="Arial" pitchFamily="34" charset="-120"/>
              </a:rPr>
              <a:t>The work is reading, writing, summarizing, comparing, or analyzing.</a:t>
            </a:r>
            <a:endParaRPr lang="en-US" sz="1050" dirty="0"/>
          </a:p>
        </p:txBody>
      </p:sp>
      <p:sp>
        <p:nvSpPr>
          <p:cNvPr id="29" name="Shape 27"/>
          <p:cNvSpPr/>
          <p:nvPr/>
        </p:nvSpPr>
        <p:spPr>
          <a:xfrm>
            <a:off x="6172200" y="3675888"/>
            <a:ext cx="2679192" cy="1417320"/>
          </a:xfrm>
          <a:prstGeom prst="roundRect">
            <a:avLst>
              <a:gd name="adj" fmla="val 5161"/>
            </a:avLst>
          </a:prstGeom>
          <a:solidFill>
            <a:srgbClr val="FCE4EA"/>
          </a:solidFill>
          <a:ln w="12700">
            <a:solidFill>
              <a:srgbClr val="F3C9D3"/>
            </a:solidFill>
            <a:prstDash val="solid"/>
          </a:ln>
        </p:spPr>
      </p:sp>
      <p:sp>
        <p:nvSpPr>
          <p:cNvPr id="30" name="Text 28"/>
          <p:cNvSpPr/>
          <p:nvPr/>
        </p:nvSpPr>
        <p:spPr>
          <a:xfrm>
            <a:off x="6355080" y="3840480"/>
            <a:ext cx="2313432" cy="475488"/>
          </a:xfrm>
          <a:prstGeom prst="rect">
            <a:avLst/>
          </a:prstGeom>
          <a:noFill/>
          <a:ln/>
        </p:spPr>
        <p:txBody>
          <a:bodyPr wrap="square" lIns="0" tIns="0" rIns="0" bIns="0" rtlCol="0" anchor="t"/>
          <a:lstStyle/>
          <a:p>
            <a:pPr indent="0" marL="0">
              <a:buNone/>
            </a:pPr>
            <a:r>
              <a:rPr lang="en-US" sz="1300" b="1" dirty="0">
                <a:solidFill>
                  <a:srgbClr val="A60E34"/>
                </a:solidFill>
                <a:latin typeface="Arial" pitchFamily="34" charset="0"/>
                <a:ea typeface="Arial" pitchFamily="34" charset="-122"/>
                <a:cs typeface="Arial" pitchFamily="34" charset="-120"/>
              </a:rPr>
              <a:t>Benefits from a draft</a:t>
            </a:r>
            <a:endParaRPr lang="en-US" sz="1300" dirty="0"/>
          </a:p>
        </p:txBody>
      </p:sp>
      <p:sp>
        <p:nvSpPr>
          <p:cNvPr id="31" name="Text 29"/>
          <p:cNvSpPr/>
          <p:nvPr/>
        </p:nvSpPr>
        <p:spPr>
          <a:xfrm>
            <a:off x="6355080" y="4297680"/>
            <a:ext cx="2313432" cy="685800"/>
          </a:xfrm>
          <a:prstGeom prst="rect">
            <a:avLst/>
          </a:prstGeom>
          <a:noFill/>
          <a:ln/>
        </p:spPr>
        <p:txBody>
          <a:bodyPr wrap="square" lIns="0" tIns="0" rIns="0" bIns="0" rtlCol="0" anchor="t"/>
          <a:lstStyle/>
          <a:p>
            <a:pPr indent="0" marL="0">
              <a:buNone/>
            </a:pPr>
            <a:r>
              <a:rPr lang="en-US" sz="1050" dirty="0">
                <a:solidFill>
                  <a:srgbClr val="1F2733"/>
                </a:solidFill>
                <a:latin typeface="Arial" pitchFamily="34" charset="0"/>
                <a:ea typeface="Arial" pitchFamily="34" charset="-122"/>
                <a:cs typeface="Arial" pitchFamily="34" charset="-120"/>
              </a:rPr>
              <a:t>Editing a solid first pass is faster than starting from a blank page.</a:t>
            </a:r>
            <a:endParaRPr lang="en-US" sz="1050" dirty="0"/>
          </a:p>
        </p:txBody>
      </p:sp>
      <p:sp>
        <p:nvSpPr>
          <p:cNvPr id="32" name="Shape 30"/>
          <p:cNvSpPr/>
          <p:nvPr/>
        </p:nvSpPr>
        <p:spPr>
          <a:xfrm>
            <a:off x="9006840" y="3675888"/>
            <a:ext cx="2679192" cy="1417320"/>
          </a:xfrm>
          <a:prstGeom prst="roundRect">
            <a:avLst>
              <a:gd name="adj" fmla="val 5161"/>
            </a:avLst>
          </a:prstGeom>
          <a:solidFill>
            <a:srgbClr val="FCE4EA"/>
          </a:solidFill>
          <a:ln w="12700">
            <a:solidFill>
              <a:srgbClr val="F3C9D3"/>
            </a:solidFill>
            <a:prstDash val="solid"/>
          </a:ln>
        </p:spPr>
      </p:sp>
      <p:sp>
        <p:nvSpPr>
          <p:cNvPr id="33" name="Text 31"/>
          <p:cNvSpPr/>
          <p:nvPr/>
        </p:nvSpPr>
        <p:spPr>
          <a:xfrm>
            <a:off x="9189720" y="3840480"/>
            <a:ext cx="2313432" cy="475488"/>
          </a:xfrm>
          <a:prstGeom prst="rect">
            <a:avLst/>
          </a:prstGeom>
          <a:noFill/>
          <a:ln/>
        </p:spPr>
        <p:txBody>
          <a:bodyPr wrap="square" lIns="0" tIns="0" rIns="0" bIns="0" rtlCol="0" anchor="t"/>
          <a:lstStyle/>
          <a:p>
            <a:pPr indent="0" marL="0">
              <a:buNone/>
            </a:pPr>
            <a:r>
              <a:rPr lang="en-US" sz="1300" b="1" dirty="0">
                <a:solidFill>
                  <a:srgbClr val="A60E34"/>
                </a:solidFill>
                <a:latin typeface="Arial" pitchFamily="34" charset="0"/>
                <a:ea typeface="Arial" pitchFamily="34" charset="-122"/>
                <a:cs typeface="Arial" pitchFamily="34" charset="-120"/>
              </a:rPr>
              <a:t>Effort exceeds judgment</a:t>
            </a:r>
            <a:endParaRPr lang="en-US" sz="1300" dirty="0"/>
          </a:p>
        </p:txBody>
      </p:sp>
      <p:sp>
        <p:nvSpPr>
          <p:cNvPr id="34" name="Text 32"/>
          <p:cNvSpPr/>
          <p:nvPr/>
        </p:nvSpPr>
        <p:spPr>
          <a:xfrm>
            <a:off x="9189720" y="4297680"/>
            <a:ext cx="2313432" cy="685800"/>
          </a:xfrm>
          <a:prstGeom prst="rect">
            <a:avLst/>
          </a:prstGeom>
          <a:noFill/>
          <a:ln/>
        </p:spPr>
        <p:txBody>
          <a:bodyPr wrap="square" lIns="0" tIns="0" rIns="0" bIns="0" rtlCol="0" anchor="t"/>
          <a:lstStyle/>
          <a:p>
            <a:pPr indent="0" marL="0">
              <a:buNone/>
            </a:pPr>
            <a:r>
              <a:rPr lang="en-US" sz="1050" dirty="0">
                <a:solidFill>
                  <a:srgbClr val="1F2733"/>
                </a:solidFill>
                <a:latin typeface="Arial" pitchFamily="34" charset="0"/>
                <a:ea typeface="Arial" pitchFamily="34" charset="-122"/>
                <a:cs typeface="Arial" pitchFamily="34" charset="-120"/>
              </a:rPr>
              <a:t>The task takes hours, but requires your judgment for only minutes.</a:t>
            </a:r>
            <a:endParaRPr lang="en-US" sz="1050" dirty="0"/>
          </a:p>
        </p:txBody>
      </p:sp>
      <p:sp>
        <p:nvSpPr>
          <p:cNvPr id="35" name="Text 33"/>
          <p:cNvSpPr/>
          <p:nvPr/>
        </p:nvSpPr>
        <p:spPr>
          <a:xfrm>
            <a:off x="502920" y="6035040"/>
            <a:ext cx="11183112" cy="502920"/>
          </a:xfrm>
          <a:prstGeom prst="roundRect">
            <a:avLst>
              <a:gd name="adj" fmla="val 10909"/>
            </a:avLst>
          </a:prstGeom>
          <a:solidFill>
            <a:srgbClr val="D31242"/>
          </a:solid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A recurring, text- or data-based task that benefits from a draft: </a:t>
            </a:r>
            <a:pPr algn="ctr" indent="0" marL="0">
              <a:buNone/>
            </a:pPr>
            <a:r>
              <a:rPr lang="en-US" sz="1250" dirty="0">
                <a:solidFill>
                  <a:srgbClr val="FFFFFF"/>
                </a:solidFill>
                <a:latin typeface="Arial" pitchFamily="34" charset="0"/>
                <a:ea typeface="Arial" pitchFamily="34" charset="-122"/>
                <a:cs typeface="Arial" pitchFamily="34" charset="-120"/>
              </a:rPr>
              <a:t>that is your first use case.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0972800" cy="256032"/>
          </a:xfrm>
          <a:prstGeom prst="rect">
            <a:avLst/>
          </a:prstGeom>
          <a:noFill/>
          <a:ln/>
        </p:spPr>
        <p:txBody>
          <a:bodyPr wrap="square" lIns="0" tIns="0" rIns="0" bIns="0" rtlCol="0" anchor="ctr"/>
          <a:lstStyle/>
          <a:p>
            <a:pPr indent="0" marL="0">
              <a:buNone/>
            </a:pPr>
            <a:r>
              <a:rPr lang="en-US" sz="1150" b="1" spc="200" kern="0" dirty="0">
                <a:solidFill>
                  <a:srgbClr val="D31242"/>
                </a:solidFill>
                <a:latin typeface="Arial" pitchFamily="34" charset="0"/>
                <a:ea typeface="Arial" pitchFamily="34" charset="-122"/>
                <a:cs typeface="Arial" pitchFamily="34" charset="-120"/>
              </a:rPr>
              <a:t>DAY 30 MILESTONE · WRITING IT UP</a:t>
            </a:r>
            <a:endParaRPr lang="en-US" sz="1150" dirty="0"/>
          </a:p>
        </p:txBody>
      </p:sp>
      <p:sp>
        <p:nvSpPr>
          <p:cNvPr id="3" name="Text 1"/>
          <p:cNvSpPr/>
          <p:nvPr/>
        </p:nvSpPr>
        <p:spPr>
          <a:xfrm>
            <a:off x="457200" y="603504"/>
            <a:ext cx="11247120" cy="530352"/>
          </a:xfrm>
          <a:prstGeom prst="rect">
            <a:avLst/>
          </a:prstGeom>
          <a:noFill/>
          <a:ln/>
        </p:spPr>
        <p:txBody>
          <a:bodyPr wrap="square" lIns="0" tIns="0" rIns="0" bIns="0" rtlCol="0" anchor="ctr"/>
          <a:lstStyle/>
          <a:p>
            <a:pPr indent="0" marL="0">
              <a:buNone/>
            </a:pPr>
            <a:r>
              <a:rPr lang="en-US" sz="2500" b="1" dirty="0">
                <a:solidFill>
                  <a:srgbClr val="1F2733"/>
                </a:solidFill>
                <a:latin typeface="Arial" pitchFamily="34" charset="0"/>
                <a:ea typeface="Arial" pitchFamily="34" charset="-122"/>
                <a:cs typeface="Arial" pitchFamily="34" charset="-120"/>
              </a:rPr>
              <a:t>Use case submission guidelines</a:t>
            </a:r>
            <a:endParaRPr lang="en-US" sz="2500" dirty="0"/>
          </a:p>
        </p:txBody>
      </p:sp>
      <p:sp>
        <p:nvSpPr>
          <p:cNvPr id="4" name="Text 2"/>
          <p:cNvSpPr/>
          <p:nvPr/>
        </p:nvSpPr>
        <p:spPr>
          <a:xfrm>
            <a:off x="2395728" y="1188720"/>
            <a:ext cx="512064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  THE ACTUAL FORM, FILLED WELL</a:t>
            </a:r>
            <a:endParaRPr lang="en-US" sz="950" dirty="0"/>
          </a:p>
        </p:txBody>
      </p:sp>
      <p:sp>
        <p:nvSpPr>
          <p:cNvPr id="5" name="Text 3"/>
          <p:cNvSpPr/>
          <p:nvPr/>
        </p:nvSpPr>
        <p:spPr>
          <a:xfrm>
            <a:off x="7818120" y="1188720"/>
            <a:ext cx="3886200" cy="201168"/>
          </a:xfrm>
          <a:prstGeom prst="rect">
            <a:avLst/>
          </a:prstGeom>
          <a:noFill/>
          <a:ln/>
        </p:spPr>
        <p:txBody>
          <a:bodyPr wrap="square" lIns="0" tIns="0" rIns="0" bIns="0" rtlCol="0" anchor="ctr"/>
          <a:lstStyle/>
          <a:p>
            <a:pPr indent="0" marL="0">
              <a:buNone/>
            </a:pPr>
            <a:r>
              <a:rPr lang="en-US" sz="950" b="1" spc="100" kern="0" dirty="0">
                <a:solidFill>
                  <a:srgbClr val="D31242"/>
                </a:solidFill>
                <a:latin typeface="Arial" pitchFamily="34" charset="0"/>
                <a:ea typeface="Arial" pitchFamily="34" charset="-122"/>
                <a:cs typeface="Arial" pitchFamily="34" charset="-120"/>
              </a:rPr>
              <a:t>CHECKED AGAINST THE FOUR SIGNALS</a:t>
            </a:r>
            <a:endParaRPr lang="en-US" sz="950" dirty="0"/>
          </a:p>
        </p:txBody>
      </p:sp>
      <p:sp>
        <p:nvSpPr>
          <p:cNvPr id="6" name="Shape 4"/>
          <p:cNvSpPr/>
          <p:nvPr/>
        </p:nvSpPr>
        <p:spPr>
          <a:xfrm>
            <a:off x="2286000" y="1444752"/>
            <a:ext cx="5303520" cy="4443984"/>
          </a:xfrm>
          <a:prstGeom prst="roundRect">
            <a:avLst>
              <a:gd name="adj" fmla="val 1235"/>
            </a:avLst>
          </a:prstGeom>
          <a:solidFill>
            <a:srgbClr val="EAF7EF"/>
          </a:solidFill>
          <a:ln w="12700">
            <a:solidFill>
              <a:srgbClr val="CDE9D6"/>
            </a:solidFill>
            <a:prstDash val="solid"/>
          </a:ln>
        </p:spPr>
      </p:sp>
      <p:sp>
        <p:nvSpPr>
          <p:cNvPr id="7" name="Text 5"/>
          <p:cNvSpPr/>
          <p:nvPr/>
        </p:nvSpPr>
        <p:spPr>
          <a:xfrm>
            <a:off x="457200" y="1481328"/>
            <a:ext cx="1783080" cy="292608"/>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Use Case Title</a:t>
            </a:r>
            <a:endParaRPr lang="en-US" sz="1000" dirty="0"/>
          </a:p>
        </p:txBody>
      </p:sp>
      <p:sp>
        <p:nvSpPr>
          <p:cNvPr id="8" name="Text 6"/>
          <p:cNvSpPr/>
          <p:nvPr/>
        </p:nvSpPr>
        <p:spPr>
          <a:xfrm>
            <a:off x="2432304" y="1481328"/>
            <a:ext cx="5029200" cy="292608"/>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Turn a month of member feedback into themes and actions</a:t>
            </a:r>
            <a:endParaRPr lang="en-US" sz="1000" dirty="0"/>
          </a:p>
        </p:txBody>
      </p:sp>
      <p:sp>
        <p:nvSpPr>
          <p:cNvPr id="9" name="Shape 7"/>
          <p:cNvSpPr/>
          <p:nvPr/>
        </p:nvSpPr>
        <p:spPr>
          <a:xfrm>
            <a:off x="457200" y="1760220"/>
            <a:ext cx="7040880" cy="0"/>
          </a:xfrm>
          <a:prstGeom prst="line">
            <a:avLst/>
          </a:prstGeom>
          <a:noFill/>
          <a:ln w="9525">
            <a:solidFill>
              <a:srgbClr val="EEF0F3"/>
            </a:solidFill>
            <a:prstDash val="solid"/>
          </a:ln>
        </p:spPr>
      </p:sp>
      <p:sp>
        <p:nvSpPr>
          <p:cNvPr id="10" name="Text 8"/>
          <p:cNvSpPr/>
          <p:nvPr/>
        </p:nvSpPr>
        <p:spPr>
          <a:xfrm>
            <a:off x="457200" y="1773936"/>
            <a:ext cx="1783080" cy="237744"/>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Business Area</a:t>
            </a:r>
            <a:endParaRPr lang="en-US" sz="1000" dirty="0"/>
          </a:p>
        </p:txBody>
      </p:sp>
      <p:sp>
        <p:nvSpPr>
          <p:cNvPr id="11" name="Text 9"/>
          <p:cNvSpPr/>
          <p:nvPr/>
        </p:nvSpPr>
        <p:spPr>
          <a:xfrm>
            <a:off x="2432304" y="1773936"/>
            <a:ext cx="5029200" cy="237744"/>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Member Care</a:t>
            </a:r>
            <a:endParaRPr lang="en-US" sz="1000" dirty="0"/>
          </a:p>
        </p:txBody>
      </p:sp>
      <p:sp>
        <p:nvSpPr>
          <p:cNvPr id="12" name="Shape 10"/>
          <p:cNvSpPr/>
          <p:nvPr/>
        </p:nvSpPr>
        <p:spPr>
          <a:xfrm>
            <a:off x="457200" y="1997964"/>
            <a:ext cx="7040880" cy="0"/>
          </a:xfrm>
          <a:prstGeom prst="line">
            <a:avLst/>
          </a:prstGeom>
          <a:noFill/>
          <a:ln w="9525">
            <a:solidFill>
              <a:srgbClr val="EEF0F3"/>
            </a:solidFill>
            <a:prstDash val="solid"/>
          </a:ln>
        </p:spPr>
      </p:sp>
      <p:sp>
        <p:nvSpPr>
          <p:cNvPr id="13" name="Text 11"/>
          <p:cNvSpPr/>
          <p:nvPr/>
        </p:nvSpPr>
        <p:spPr>
          <a:xfrm>
            <a:off x="457200" y="2011680"/>
            <a:ext cx="1783080" cy="237744"/>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Submitted By</a:t>
            </a:r>
            <a:endParaRPr lang="en-US" sz="1000" dirty="0"/>
          </a:p>
        </p:txBody>
      </p:sp>
      <p:sp>
        <p:nvSpPr>
          <p:cNvPr id="14" name="Text 12"/>
          <p:cNvSpPr/>
          <p:nvPr/>
        </p:nvSpPr>
        <p:spPr>
          <a:xfrm>
            <a:off x="2432304" y="2011680"/>
            <a:ext cx="5029200" cy="237744"/>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Champion name</a:t>
            </a:r>
            <a:endParaRPr lang="en-US" sz="1000" dirty="0"/>
          </a:p>
        </p:txBody>
      </p:sp>
      <p:sp>
        <p:nvSpPr>
          <p:cNvPr id="15" name="Shape 13"/>
          <p:cNvSpPr/>
          <p:nvPr/>
        </p:nvSpPr>
        <p:spPr>
          <a:xfrm>
            <a:off x="457200" y="2235708"/>
            <a:ext cx="7040880" cy="0"/>
          </a:xfrm>
          <a:prstGeom prst="line">
            <a:avLst/>
          </a:prstGeom>
          <a:noFill/>
          <a:ln w="9525">
            <a:solidFill>
              <a:srgbClr val="EEF0F3"/>
            </a:solidFill>
            <a:prstDash val="solid"/>
          </a:ln>
        </p:spPr>
      </p:sp>
      <p:sp>
        <p:nvSpPr>
          <p:cNvPr id="16" name="Text 14"/>
          <p:cNvSpPr/>
          <p:nvPr/>
        </p:nvSpPr>
        <p:spPr>
          <a:xfrm>
            <a:off x="457200" y="2249424"/>
            <a:ext cx="1783080" cy="438912"/>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Problem / Opportunity</a:t>
            </a:r>
            <a:endParaRPr lang="en-US" sz="1000" dirty="0"/>
          </a:p>
        </p:txBody>
      </p:sp>
      <p:sp>
        <p:nvSpPr>
          <p:cNvPr id="17" name="Text 15"/>
          <p:cNvSpPr/>
          <p:nvPr/>
        </p:nvSpPr>
        <p:spPr>
          <a:xfrm>
            <a:off x="2432304" y="2249424"/>
            <a:ext cx="5029200" cy="438912"/>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Each month brings hundreds of open-ended member comments. Reading them all takes most of a day, so themes surface slowly.</a:t>
            </a:r>
            <a:endParaRPr lang="en-US" sz="1000" dirty="0"/>
          </a:p>
        </p:txBody>
      </p:sp>
      <p:sp>
        <p:nvSpPr>
          <p:cNvPr id="18" name="Shape 16"/>
          <p:cNvSpPr/>
          <p:nvPr/>
        </p:nvSpPr>
        <p:spPr>
          <a:xfrm>
            <a:off x="457200" y="2674620"/>
            <a:ext cx="7040880" cy="0"/>
          </a:xfrm>
          <a:prstGeom prst="line">
            <a:avLst/>
          </a:prstGeom>
          <a:noFill/>
          <a:ln w="9525">
            <a:solidFill>
              <a:srgbClr val="EEF0F3"/>
            </a:solidFill>
            <a:prstDash val="solid"/>
          </a:ln>
        </p:spPr>
      </p:sp>
      <p:sp>
        <p:nvSpPr>
          <p:cNvPr id="19" name="Text 17"/>
          <p:cNvSpPr/>
          <p:nvPr/>
        </p:nvSpPr>
        <p:spPr>
          <a:xfrm>
            <a:off x="457200" y="2688336"/>
            <a:ext cx="1783080" cy="438912"/>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What AI Did</a:t>
            </a:r>
            <a:endParaRPr lang="en-US" sz="1000" dirty="0"/>
          </a:p>
        </p:txBody>
      </p:sp>
      <p:sp>
        <p:nvSpPr>
          <p:cNvPr id="20" name="Text 18"/>
          <p:cNvSpPr/>
          <p:nvPr/>
        </p:nvSpPr>
        <p:spPr>
          <a:xfrm>
            <a:off x="2432304" y="2688336"/>
            <a:ext cx="5029200" cy="438912"/>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Grouped the comments into themes, counted each theme, pulled 2 representative quotes per theme, and drafted 3 recommended actions.</a:t>
            </a:r>
            <a:endParaRPr lang="en-US" sz="1000" dirty="0"/>
          </a:p>
        </p:txBody>
      </p:sp>
      <p:sp>
        <p:nvSpPr>
          <p:cNvPr id="21" name="Shape 19"/>
          <p:cNvSpPr/>
          <p:nvPr/>
        </p:nvSpPr>
        <p:spPr>
          <a:xfrm>
            <a:off x="457200" y="3113532"/>
            <a:ext cx="7040880" cy="0"/>
          </a:xfrm>
          <a:prstGeom prst="line">
            <a:avLst/>
          </a:prstGeom>
          <a:noFill/>
          <a:ln w="9525">
            <a:solidFill>
              <a:srgbClr val="EEF0F3"/>
            </a:solidFill>
            <a:prstDash val="solid"/>
          </a:ln>
        </p:spPr>
      </p:sp>
      <p:sp>
        <p:nvSpPr>
          <p:cNvPr id="22" name="Text 20"/>
          <p:cNvSpPr/>
          <p:nvPr/>
        </p:nvSpPr>
        <p:spPr>
          <a:xfrm>
            <a:off x="457200" y="3127248"/>
            <a:ext cx="1783080" cy="237744"/>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Tool Used</a:t>
            </a:r>
            <a:endParaRPr lang="en-US" sz="1000" dirty="0"/>
          </a:p>
        </p:txBody>
      </p:sp>
      <p:sp>
        <p:nvSpPr>
          <p:cNvPr id="23" name="Text 21"/>
          <p:cNvSpPr/>
          <p:nvPr/>
        </p:nvSpPr>
        <p:spPr>
          <a:xfrm>
            <a:off x="2432304" y="3127248"/>
            <a:ext cx="5029200" cy="237744"/>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Claude</a:t>
            </a:r>
            <a:endParaRPr lang="en-US" sz="1000" dirty="0"/>
          </a:p>
        </p:txBody>
      </p:sp>
      <p:sp>
        <p:nvSpPr>
          <p:cNvPr id="24" name="Shape 22"/>
          <p:cNvSpPr/>
          <p:nvPr/>
        </p:nvSpPr>
        <p:spPr>
          <a:xfrm>
            <a:off x="457200" y="3351276"/>
            <a:ext cx="7040880" cy="0"/>
          </a:xfrm>
          <a:prstGeom prst="line">
            <a:avLst/>
          </a:prstGeom>
          <a:noFill/>
          <a:ln w="9525">
            <a:solidFill>
              <a:srgbClr val="EEF0F3"/>
            </a:solidFill>
            <a:prstDash val="solid"/>
          </a:ln>
        </p:spPr>
      </p:sp>
      <p:sp>
        <p:nvSpPr>
          <p:cNvPr id="25" name="Text 23"/>
          <p:cNvSpPr/>
          <p:nvPr/>
        </p:nvSpPr>
        <p:spPr>
          <a:xfrm>
            <a:off x="457200" y="3364992"/>
            <a:ext cx="1783080" cy="237744"/>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Use Case Category</a:t>
            </a:r>
            <a:endParaRPr lang="en-US" sz="1000" dirty="0"/>
          </a:p>
        </p:txBody>
      </p:sp>
      <p:sp>
        <p:nvSpPr>
          <p:cNvPr id="26" name="Text 24"/>
          <p:cNvSpPr/>
          <p:nvPr/>
        </p:nvSpPr>
        <p:spPr>
          <a:xfrm>
            <a:off x="2432304" y="3364992"/>
            <a:ext cx="5029200" cy="237744"/>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Analyzing data or identifying trends</a:t>
            </a:r>
            <a:endParaRPr lang="en-US" sz="1000" dirty="0"/>
          </a:p>
        </p:txBody>
      </p:sp>
      <p:sp>
        <p:nvSpPr>
          <p:cNvPr id="27" name="Shape 25"/>
          <p:cNvSpPr/>
          <p:nvPr/>
        </p:nvSpPr>
        <p:spPr>
          <a:xfrm>
            <a:off x="457200" y="3589020"/>
            <a:ext cx="7040880" cy="0"/>
          </a:xfrm>
          <a:prstGeom prst="line">
            <a:avLst/>
          </a:prstGeom>
          <a:noFill/>
          <a:ln w="9525">
            <a:solidFill>
              <a:srgbClr val="EEF0F3"/>
            </a:solidFill>
            <a:prstDash val="solid"/>
          </a:ln>
        </p:spPr>
      </p:sp>
      <p:sp>
        <p:nvSpPr>
          <p:cNvPr id="28" name="Text 26"/>
          <p:cNvSpPr/>
          <p:nvPr/>
        </p:nvSpPr>
        <p:spPr>
          <a:xfrm>
            <a:off x="457200" y="3602736"/>
            <a:ext cx="1783080" cy="365760"/>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Inputs Used</a:t>
            </a:r>
            <a:endParaRPr lang="en-US" sz="1000" dirty="0"/>
          </a:p>
        </p:txBody>
      </p:sp>
      <p:sp>
        <p:nvSpPr>
          <p:cNvPr id="29" name="Text 27"/>
          <p:cNvSpPr/>
          <p:nvPr/>
        </p:nvSpPr>
        <p:spPr>
          <a:xfrm>
            <a:off x="2432304" y="3602736"/>
            <a:ext cx="5029200" cy="365760"/>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One month of member comments, exported as text only. No names, member IDs, or account data.</a:t>
            </a:r>
            <a:endParaRPr lang="en-US" sz="1000" dirty="0"/>
          </a:p>
        </p:txBody>
      </p:sp>
      <p:sp>
        <p:nvSpPr>
          <p:cNvPr id="30" name="Shape 28"/>
          <p:cNvSpPr/>
          <p:nvPr/>
        </p:nvSpPr>
        <p:spPr>
          <a:xfrm>
            <a:off x="457200" y="3954780"/>
            <a:ext cx="7040880" cy="0"/>
          </a:xfrm>
          <a:prstGeom prst="line">
            <a:avLst/>
          </a:prstGeom>
          <a:noFill/>
          <a:ln w="9525">
            <a:solidFill>
              <a:srgbClr val="EEF0F3"/>
            </a:solidFill>
            <a:prstDash val="solid"/>
          </a:ln>
        </p:spPr>
      </p:sp>
      <p:sp>
        <p:nvSpPr>
          <p:cNvPr id="31" name="Text 29"/>
          <p:cNvSpPr/>
          <p:nvPr/>
        </p:nvSpPr>
        <p:spPr>
          <a:xfrm>
            <a:off x="457200" y="3968496"/>
            <a:ext cx="1783080" cy="384048"/>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Output Created</a:t>
            </a:r>
            <a:endParaRPr lang="en-US" sz="1000" dirty="0"/>
          </a:p>
        </p:txBody>
      </p:sp>
      <p:sp>
        <p:nvSpPr>
          <p:cNvPr id="32" name="Text 30"/>
          <p:cNvSpPr/>
          <p:nvPr/>
        </p:nvSpPr>
        <p:spPr>
          <a:xfrm>
            <a:off x="2432304" y="3968496"/>
            <a:ext cx="5029200" cy="384048"/>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A 1-page brief: the top 5 themes, each with a comment count and 2 quotes, plus 3 recommended actions.</a:t>
            </a:r>
            <a:endParaRPr lang="en-US" sz="1000" dirty="0"/>
          </a:p>
        </p:txBody>
      </p:sp>
      <p:sp>
        <p:nvSpPr>
          <p:cNvPr id="33" name="Shape 31"/>
          <p:cNvSpPr/>
          <p:nvPr/>
        </p:nvSpPr>
        <p:spPr>
          <a:xfrm>
            <a:off x="457200" y="4338828"/>
            <a:ext cx="7040880" cy="0"/>
          </a:xfrm>
          <a:prstGeom prst="line">
            <a:avLst/>
          </a:prstGeom>
          <a:noFill/>
          <a:ln w="9525">
            <a:solidFill>
              <a:srgbClr val="EEF0F3"/>
            </a:solidFill>
            <a:prstDash val="solid"/>
          </a:ln>
        </p:spPr>
      </p:sp>
      <p:sp>
        <p:nvSpPr>
          <p:cNvPr id="34" name="Text 32"/>
          <p:cNvSpPr/>
          <p:nvPr/>
        </p:nvSpPr>
        <p:spPr>
          <a:xfrm>
            <a:off x="457200" y="4352544"/>
            <a:ext cx="1783080" cy="384048"/>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Estimated Impact</a:t>
            </a:r>
            <a:endParaRPr lang="en-US" sz="1000" dirty="0"/>
          </a:p>
        </p:txBody>
      </p:sp>
      <p:sp>
        <p:nvSpPr>
          <p:cNvPr id="35" name="Text 33"/>
          <p:cNvSpPr/>
          <p:nvPr/>
        </p:nvSpPr>
        <p:spPr>
          <a:xfrm>
            <a:off x="2432304" y="4352544"/>
            <a:ext cx="5029200" cy="384048"/>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About a day of reading becomes ~30 minutes of review, so themes reach the team the same week.</a:t>
            </a:r>
            <a:endParaRPr lang="en-US" sz="1000" dirty="0"/>
          </a:p>
        </p:txBody>
      </p:sp>
      <p:sp>
        <p:nvSpPr>
          <p:cNvPr id="36" name="Shape 34"/>
          <p:cNvSpPr/>
          <p:nvPr/>
        </p:nvSpPr>
        <p:spPr>
          <a:xfrm>
            <a:off x="457200" y="4722876"/>
            <a:ext cx="7040880" cy="0"/>
          </a:xfrm>
          <a:prstGeom prst="line">
            <a:avLst/>
          </a:prstGeom>
          <a:noFill/>
          <a:ln w="9525">
            <a:solidFill>
              <a:srgbClr val="EEF0F3"/>
            </a:solidFill>
            <a:prstDash val="solid"/>
          </a:ln>
        </p:spPr>
      </p:sp>
      <p:sp>
        <p:nvSpPr>
          <p:cNvPr id="37" name="Text 35"/>
          <p:cNvSpPr/>
          <p:nvPr/>
        </p:nvSpPr>
        <p:spPr>
          <a:xfrm>
            <a:off x="457200" y="4736592"/>
            <a:ext cx="1783080" cy="237744"/>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Frequency of Use</a:t>
            </a:r>
            <a:endParaRPr lang="en-US" sz="1000" dirty="0"/>
          </a:p>
        </p:txBody>
      </p:sp>
      <p:sp>
        <p:nvSpPr>
          <p:cNvPr id="38" name="Text 36"/>
          <p:cNvSpPr/>
          <p:nvPr/>
        </p:nvSpPr>
        <p:spPr>
          <a:xfrm>
            <a:off x="2432304" y="4736592"/>
            <a:ext cx="5029200" cy="237744"/>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Monthly</a:t>
            </a:r>
            <a:endParaRPr lang="en-US" sz="1000" dirty="0"/>
          </a:p>
        </p:txBody>
      </p:sp>
      <p:sp>
        <p:nvSpPr>
          <p:cNvPr id="39" name="Shape 37"/>
          <p:cNvSpPr/>
          <p:nvPr/>
        </p:nvSpPr>
        <p:spPr>
          <a:xfrm>
            <a:off x="457200" y="4960620"/>
            <a:ext cx="7040880" cy="0"/>
          </a:xfrm>
          <a:prstGeom prst="line">
            <a:avLst/>
          </a:prstGeom>
          <a:noFill/>
          <a:ln w="9525">
            <a:solidFill>
              <a:srgbClr val="EEF0F3"/>
            </a:solidFill>
            <a:prstDash val="solid"/>
          </a:ln>
        </p:spPr>
      </p:sp>
      <p:sp>
        <p:nvSpPr>
          <p:cNvPr id="40" name="Text 38"/>
          <p:cNvSpPr/>
          <p:nvPr/>
        </p:nvSpPr>
        <p:spPr>
          <a:xfrm>
            <a:off x="457200" y="4974336"/>
            <a:ext cx="1783080" cy="603504"/>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Reusable Steps / Prompt</a:t>
            </a:r>
            <a:endParaRPr lang="en-US" sz="1000" dirty="0"/>
          </a:p>
        </p:txBody>
      </p:sp>
      <p:sp>
        <p:nvSpPr>
          <p:cNvPr id="41" name="Text 39"/>
          <p:cNvSpPr/>
          <p:nvPr/>
        </p:nvSpPr>
        <p:spPr>
          <a:xfrm>
            <a:off x="2432304" y="4974336"/>
            <a:ext cx="5029200" cy="603504"/>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1) Export the month's comments as text; remove names and IDs.  2) “Group these comments into themes; for each give a count and 2 quotes, then suggest 3 actions.”  3) Spot-check the quotes against the source before sharing.</a:t>
            </a:r>
            <a:endParaRPr lang="en-US" sz="1000" dirty="0"/>
          </a:p>
        </p:txBody>
      </p:sp>
      <p:sp>
        <p:nvSpPr>
          <p:cNvPr id="42" name="Shape 40"/>
          <p:cNvSpPr/>
          <p:nvPr/>
        </p:nvSpPr>
        <p:spPr>
          <a:xfrm>
            <a:off x="457200" y="5564124"/>
            <a:ext cx="7040880" cy="0"/>
          </a:xfrm>
          <a:prstGeom prst="line">
            <a:avLst/>
          </a:prstGeom>
          <a:noFill/>
          <a:ln w="9525">
            <a:solidFill>
              <a:srgbClr val="EEF0F3"/>
            </a:solidFill>
            <a:prstDash val="solid"/>
          </a:ln>
        </p:spPr>
      </p:sp>
      <p:sp>
        <p:nvSpPr>
          <p:cNvPr id="43" name="Text 41"/>
          <p:cNvSpPr/>
          <p:nvPr/>
        </p:nvSpPr>
        <p:spPr>
          <a:xfrm>
            <a:off x="457200" y="5577840"/>
            <a:ext cx="1783080" cy="237744"/>
          </a:xfrm>
          <a:prstGeom prst="rect">
            <a:avLst/>
          </a:prstGeom>
          <a:noFill/>
          <a:ln/>
        </p:spPr>
        <p:txBody>
          <a:bodyPr wrap="square" lIns="0" tIns="0" rIns="0" bIns="0" rtlCol="0" anchor="t"/>
          <a:lstStyle/>
          <a:p>
            <a:pPr algn="r" indent="0" marL="0">
              <a:buNone/>
            </a:pPr>
            <a:r>
              <a:rPr lang="en-US" sz="1000" b="1" dirty="0">
                <a:solidFill>
                  <a:srgbClr val="1F2733"/>
                </a:solidFill>
                <a:latin typeface="Arial" pitchFamily="34" charset="0"/>
                <a:ea typeface="Arial" pitchFamily="34" charset="-122"/>
                <a:cs typeface="Arial" pitchFamily="34" charset="-120"/>
              </a:rPr>
              <a:t>Attachments</a:t>
            </a:r>
            <a:endParaRPr lang="en-US" sz="1000" dirty="0"/>
          </a:p>
        </p:txBody>
      </p:sp>
      <p:sp>
        <p:nvSpPr>
          <p:cNvPr id="44" name="Text 42"/>
          <p:cNvSpPr/>
          <p:nvPr/>
        </p:nvSpPr>
        <p:spPr>
          <a:xfrm>
            <a:off x="2432304" y="5577840"/>
            <a:ext cx="5029200" cy="237744"/>
          </a:xfrm>
          <a:prstGeom prst="rect">
            <a:avLst/>
          </a:prstGeom>
          <a:noFill/>
          <a:ln/>
        </p:spPr>
        <p:txBody>
          <a:bodyPr wrap="square" lIns="0" tIns="0" rIns="0" bIns="0" rtlCol="0" anchor="t"/>
          <a:lstStyle/>
          <a:p>
            <a:pPr indent="0" marL="0">
              <a:buNone/>
            </a:pPr>
            <a:r>
              <a:rPr lang="en-US" sz="1000" dirty="0">
                <a:solidFill>
                  <a:srgbClr val="1F2733"/>
                </a:solidFill>
                <a:latin typeface="Arial" pitchFamily="34" charset="0"/>
                <a:ea typeface="Arial" pitchFamily="34" charset="-122"/>
                <a:cs typeface="Arial" pitchFamily="34" charset="-120"/>
              </a:rPr>
              <a:t>Sanitized input sample and the final brief.</a:t>
            </a:r>
            <a:endParaRPr lang="en-US" sz="1000" dirty="0"/>
          </a:p>
        </p:txBody>
      </p:sp>
      <p:sp>
        <p:nvSpPr>
          <p:cNvPr id="45" name="Shape 43"/>
          <p:cNvSpPr/>
          <p:nvPr/>
        </p:nvSpPr>
        <p:spPr>
          <a:xfrm>
            <a:off x="7818120" y="1481328"/>
            <a:ext cx="3886200" cy="996696"/>
          </a:xfrm>
          <a:prstGeom prst="roundRect">
            <a:avLst>
              <a:gd name="adj" fmla="val 7339"/>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46" name="Shape 44"/>
          <p:cNvSpPr/>
          <p:nvPr/>
        </p:nvSpPr>
        <p:spPr>
          <a:xfrm>
            <a:off x="8001000" y="1645920"/>
            <a:ext cx="384048" cy="384048"/>
          </a:xfrm>
          <a:prstGeom prst="ellipse">
            <a:avLst/>
          </a:prstGeom>
          <a:solidFill>
            <a:srgbClr val="FCE4EA"/>
          </a:solidFill>
          <a:ln/>
        </p:spPr>
      </p:sp>
      <p:sp>
        <p:nvSpPr>
          <p:cNvPr id="47" name="Text 45"/>
          <p:cNvSpPr/>
          <p:nvPr/>
        </p:nvSpPr>
        <p:spPr>
          <a:xfrm>
            <a:off x="8001000" y="1645920"/>
            <a:ext cx="384048" cy="384048"/>
          </a:xfrm>
          <a:prstGeom prst="rect">
            <a:avLst/>
          </a:prstGeom>
          <a:noFill/>
          <a:ln/>
        </p:spPr>
        <p:txBody>
          <a:bodyPr wrap="square" lIns="0" tIns="0" rIns="0" bIns="0"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a:t>
            </a:r>
            <a:endParaRPr lang="en-US" sz="1600" dirty="0"/>
          </a:p>
        </p:txBody>
      </p:sp>
      <p:sp>
        <p:nvSpPr>
          <p:cNvPr id="48" name="Text 46"/>
          <p:cNvSpPr/>
          <p:nvPr/>
        </p:nvSpPr>
        <p:spPr>
          <a:xfrm>
            <a:off x="8522208" y="1609344"/>
            <a:ext cx="3063240" cy="274320"/>
          </a:xfrm>
          <a:prstGeom prst="rect">
            <a:avLst/>
          </a:prstGeom>
          <a:noFill/>
          <a:ln/>
        </p:spPr>
        <p:txBody>
          <a:bodyPr wrap="square" lIns="0" tIns="0" rIns="0" bIns="0" rtlCol="0" anchor="t"/>
          <a:lstStyle/>
          <a:p>
            <a:pPr indent="0" marL="0">
              <a:buNone/>
            </a:pPr>
            <a:r>
              <a:rPr lang="en-US" sz="1300" b="1" dirty="0">
                <a:solidFill>
                  <a:srgbClr val="D31242"/>
                </a:solidFill>
                <a:latin typeface="Arial" pitchFamily="34" charset="0"/>
                <a:ea typeface="Arial" pitchFamily="34" charset="-122"/>
                <a:cs typeface="Arial" pitchFamily="34" charset="-120"/>
              </a:rPr>
              <a:t>Recurring</a:t>
            </a:r>
            <a:endParaRPr lang="en-US" sz="1300" dirty="0"/>
          </a:p>
        </p:txBody>
      </p:sp>
      <p:sp>
        <p:nvSpPr>
          <p:cNvPr id="49" name="Text 47"/>
          <p:cNvSpPr/>
          <p:nvPr/>
        </p:nvSpPr>
        <p:spPr>
          <a:xfrm>
            <a:off x="8522208" y="1892808"/>
            <a:ext cx="3063240" cy="530352"/>
          </a:xfrm>
          <a:prstGeom prst="rect">
            <a:avLst/>
          </a:prstGeom>
          <a:noFill/>
          <a:ln/>
        </p:spPr>
        <p:txBody>
          <a:bodyPr wrap="square" lIns="0" tIns="0" rIns="0" bIns="0" rtlCol="0" anchor="t"/>
          <a:lstStyle/>
          <a:p>
            <a:pPr indent="0" marL="0">
              <a:buNone/>
            </a:pPr>
            <a:r>
              <a:rPr lang="en-US" sz="1050" dirty="0">
                <a:solidFill>
                  <a:srgbClr val="5E6A78"/>
                </a:solidFill>
                <a:latin typeface="Arial" pitchFamily="34" charset="0"/>
                <a:ea typeface="Arial" pitchFamily="34" charset="-122"/>
                <a:cs typeface="Arial" pitchFamily="34" charset="-120"/>
              </a:rPr>
              <a:t>A monthly task with the same structure every time.</a:t>
            </a:r>
            <a:endParaRPr lang="en-US" sz="1050" dirty="0"/>
          </a:p>
        </p:txBody>
      </p:sp>
      <p:sp>
        <p:nvSpPr>
          <p:cNvPr id="50" name="Shape 48"/>
          <p:cNvSpPr/>
          <p:nvPr/>
        </p:nvSpPr>
        <p:spPr>
          <a:xfrm>
            <a:off x="7818120" y="2633472"/>
            <a:ext cx="3886200" cy="996696"/>
          </a:xfrm>
          <a:prstGeom prst="roundRect">
            <a:avLst>
              <a:gd name="adj" fmla="val 7339"/>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51" name="Shape 49"/>
          <p:cNvSpPr/>
          <p:nvPr/>
        </p:nvSpPr>
        <p:spPr>
          <a:xfrm>
            <a:off x="8001000" y="2798064"/>
            <a:ext cx="384048" cy="384048"/>
          </a:xfrm>
          <a:prstGeom prst="ellipse">
            <a:avLst/>
          </a:prstGeom>
          <a:solidFill>
            <a:srgbClr val="FCE4EA"/>
          </a:solidFill>
          <a:ln/>
        </p:spPr>
      </p:sp>
      <p:sp>
        <p:nvSpPr>
          <p:cNvPr id="52" name="Text 50"/>
          <p:cNvSpPr/>
          <p:nvPr/>
        </p:nvSpPr>
        <p:spPr>
          <a:xfrm>
            <a:off x="8001000" y="2798064"/>
            <a:ext cx="384048" cy="384048"/>
          </a:xfrm>
          <a:prstGeom prst="rect">
            <a:avLst/>
          </a:prstGeom>
          <a:noFill/>
          <a:ln/>
        </p:spPr>
        <p:txBody>
          <a:bodyPr wrap="square" lIns="0" tIns="0" rIns="0" bIns="0"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a:t>
            </a:r>
            <a:endParaRPr lang="en-US" sz="1600" dirty="0"/>
          </a:p>
        </p:txBody>
      </p:sp>
      <p:sp>
        <p:nvSpPr>
          <p:cNvPr id="53" name="Text 51"/>
          <p:cNvSpPr/>
          <p:nvPr/>
        </p:nvSpPr>
        <p:spPr>
          <a:xfrm>
            <a:off x="8522208" y="2761488"/>
            <a:ext cx="3063240" cy="274320"/>
          </a:xfrm>
          <a:prstGeom prst="rect">
            <a:avLst/>
          </a:prstGeom>
          <a:noFill/>
          <a:ln/>
        </p:spPr>
        <p:txBody>
          <a:bodyPr wrap="square" lIns="0" tIns="0" rIns="0" bIns="0" rtlCol="0" anchor="t"/>
          <a:lstStyle/>
          <a:p>
            <a:pPr indent="0" marL="0">
              <a:buNone/>
            </a:pPr>
            <a:r>
              <a:rPr lang="en-US" sz="1300" b="1" dirty="0">
                <a:solidFill>
                  <a:srgbClr val="D31242"/>
                </a:solidFill>
                <a:latin typeface="Arial" pitchFamily="34" charset="0"/>
                <a:ea typeface="Arial" pitchFamily="34" charset="-122"/>
                <a:cs typeface="Arial" pitchFamily="34" charset="-120"/>
              </a:rPr>
              <a:t>Text or data based</a:t>
            </a:r>
            <a:endParaRPr lang="en-US" sz="1300" dirty="0"/>
          </a:p>
        </p:txBody>
      </p:sp>
      <p:sp>
        <p:nvSpPr>
          <p:cNvPr id="54" name="Text 52"/>
          <p:cNvSpPr/>
          <p:nvPr/>
        </p:nvSpPr>
        <p:spPr>
          <a:xfrm>
            <a:off x="8522208" y="3044952"/>
            <a:ext cx="3063240" cy="530352"/>
          </a:xfrm>
          <a:prstGeom prst="rect">
            <a:avLst/>
          </a:prstGeom>
          <a:noFill/>
          <a:ln/>
        </p:spPr>
        <p:txBody>
          <a:bodyPr wrap="square" lIns="0" tIns="0" rIns="0" bIns="0" rtlCol="0" anchor="t"/>
          <a:lstStyle/>
          <a:p>
            <a:pPr indent="0" marL="0">
              <a:buNone/>
            </a:pPr>
            <a:r>
              <a:rPr lang="en-US" sz="1050" dirty="0">
                <a:solidFill>
                  <a:srgbClr val="5E6A78"/>
                </a:solidFill>
                <a:latin typeface="Arial" pitchFamily="34" charset="0"/>
                <a:ea typeface="Arial" pitchFamily="34" charset="-122"/>
                <a:cs typeface="Arial" pitchFamily="34" charset="-120"/>
              </a:rPr>
              <a:t>Open-ended member comments in, a written brief out.</a:t>
            </a:r>
            <a:endParaRPr lang="en-US" sz="1050" dirty="0"/>
          </a:p>
        </p:txBody>
      </p:sp>
      <p:sp>
        <p:nvSpPr>
          <p:cNvPr id="55" name="Shape 53"/>
          <p:cNvSpPr/>
          <p:nvPr/>
        </p:nvSpPr>
        <p:spPr>
          <a:xfrm>
            <a:off x="7818120" y="3785616"/>
            <a:ext cx="3886200" cy="996696"/>
          </a:xfrm>
          <a:prstGeom prst="roundRect">
            <a:avLst>
              <a:gd name="adj" fmla="val 7339"/>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56" name="Shape 54"/>
          <p:cNvSpPr/>
          <p:nvPr/>
        </p:nvSpPr>
        <p:spPr>
          <a:xfrm>
            <a:off x="8001000" y="3950208"/>
            <a:ext cx="384048" cy="384048"/>
          </a:xfrm>
          <a:prstGeom prst="ellipse">
            <a:avLst/>
          </a:prstGeom>
          <a:solidFill>
            <a:srgbClr val="FCE4EA"/>
          </a:solidFill>
          <a:ln/>
        </p:spPr>
      </p:sp>
      <p:sp>
        <p:nvSpPr>
          <p:cNvPr id="57" name="Text 55"/>
          <p:cNvSpPr/>
          <p:nvPr/>
        </p:nvSpPr>
        <p:spPr>
          <a:xfrm>
            <a:off x="8001000" y="3950208"/>
            <a:ext cx="384048" cy="384048"/>
          </a:xfrm>
          <a:prstGeom prst="rect">
            <a:avLst/>
          </a:prstGeom>
          <a:noFill/>
          <a:ln/>
        </p:spPr>
        <p:txBody>
          <a:bodyPr wrap="square" lIns="0" tIns="0" rIns="0" bIns="0"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a:t>
            </a:r>
            <a:endParaRPr lang="en-US" sz="1600" dirty="0"/>
          </a:p>
        </p:txBody>
      </p:sp>
      <p:sp>
        <p:nvSpPr>
          <p:cNvPr id="58" name="Text 56"/>
          <p:cNvSpPr/>
          <p:nvPr/>
        </p:nvSpPr>
        <p:spPr>
          <a:xfrm>
            <a:off x="8522208" y="3913632"/>
            <a:ext cx="3063240" cy="274320"/>
          </a:xfrm>
          <a:prstGeom prst="rect">
            <a:avLst/>
          </a:prstGeom>
          <a:noFill/>
          <a:ln/>
        </p:spPr>
        <p:txBody>
          <a:bodyPr wrap="square" lIns="0" tIns="0" rIns="0" bIns="0" rtlCol="0" anchor="t"/>
          <a:lstStyle/>
          <a:p>
            <a:pPr indent="0" marL="0">
              <a:buNone/>
            </a:pPr>
            <a:r>
              <a:rPr lang="en-US" sz="1300" b="1" dirty="0">
                <a:solidFill>
                  <a:srgbClr val="D31242"/>
                </a:solidFill>
                <a:latin typeface="Arial" pitchFamily="34" charset="0"/>
                <a:ea typeface="Arial" pitchFamily="34" charset="-122"/>
                <a:cs typeface="Arial" pitchFamily="34" charset="-120"/>
              </a:rPr>
              <a:t>Benefits from a draft</a:t>
            </a:r>
            <a:endParaRPr lang="en-US" sz="1300" dirty="0"/>
          </a:p>
        </p:txBody>
      </p:sp>
      <p:sp>
        <p:nvSpPr>
          <p:cNvPr id="59" name="Text 57"/>
          <p:cNvSpPr/>
          <p:nvPr/>
        </p:nvSpPr>
        <p:spPr>
          <a:xfrm>
            <a:off x="8522208" y="4197096"/>
            <a:ext cx="3063240" cy="530352"/>
          </a:xfrm>
          <a:prstGeom prst="rect">
            <a:avLst/>
          </a:prstGeom>
          <a:noFill/>
          <a:ln/>
        </p:spPr>
        <p:txBody>
          <a:bodyPr wrap="square" lIns="0" tIns="0" rIns="0" bIns="0" rtlCol="0" anchor="t"/>
          <a:lstStyle/>
          <a:p>
            <a:pPr indent="0" marL="0">
              <a:buNone/>
            </a:pPr>
            <a:r>
              <a:rPr lang="en-US" sz="1050" dirty="0">
                <a:solidFill>
                  <a:srgbClr val="5E6A78"/>
                </a:solidFill>
                <a:latin typeface="Arial" pitchFamily="34" charset="0"/>
                <a:ea typeface="Arial" pitchFamily="34" charset="-122"/>
                <a:cs typeface="Arial" pitchFamily="34" charset="-120"/>
              </a:rPr>
              <a:t>The themes and actions arrive as a first pass to review, not a blank page.</a:t>
            </a:r>
            <a:endParaRPr lang="en-US" sz="1050" dirty="0"/>
          </a:p>
        </p:txBody>
      </p:sp>
      <p:sp>
        <p:nvSpPr>
          <p:cNvPr id="60" name="Shape 58"/>
          <p:cNvSpPr/>
          <p:nvPr/>
        </p:nvSpPr>
        <p:spPr>
          <a:xfrm>
            <a:off x="7818120" y="4937760"/>
            <a:ext cx="3886200" cy="996696"/>
          </a:xfrm>
          <a:prstGeom prst="roundRect">
            <a:avLst>
              <a:gd name="adj" fmla="val 7339"/>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61" name="Shape 59"/>
          <p:cNvSpPr/>
          <p:nvPr/>
        </p:nvSpPr>
        <p:spPr>
          <a:xfrm>
            <a:off x="8001000" y="5102352"/>
            <a:ext cx="384048" cy="384048"/>
          </a:xfrm>
          <a:prstGeom prst="ellipse">
            <a:avLst/>
          </a:prstGeom>
          <a:solidFill>
            <a:srgbClr val="FCE4EA"/>
          </a:solidFill>
          <a:ln/>
        </p:spPr>
      </p:sp>
      <p:sp>
        <p:nvSpPr>
          <p:cNvPr id="62" name="Text 60"/>
          <p:cNvSpPr/>
          <p:nvPr/>
        </p:nvSpPr>
        <p:spPr>
          <a:xfrm>
            <a:off x="8001000" y="5102352"/>
            <a:ext cx="384048" cy="384048"/>
          </a:xfrm>
          <a:prstGeom prst="rect">
            <a:avLst/>
          </a:prstGeom>
          <a:noFill/>
          <a:ln/>
        </p:spPr>
        <p:txBody>
          <a:bodyPr wrap="square" lIns="0" tIns="0" rIns="0" bIns="0"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a:t>
            </a:r>
            <a:endParaRPr lang="en-US" sz="1600" dirty="0"/>
          </a:p>
        </p:txBody>
      </p:sp>
      <p:sp>
        <p:nvSpPr>
          <p:cNvPr id="63" name="Text 61"/>
          <p:cNvSpPr/>
          <p:nvPr/>
        </p:nvSpPr>
        <p:spPr>
          <a:xfrm>
            <a:off x="8522208" y="5065776"/>
            <a:ext cx="3063240" cy="274320"/>
          </a:xfrm>
          <a:prstGeom prst="rect">
            <a:avLst/>
          </a:prstGeom>
          <a:noFill/>
          <a:ln/>
        </p:spPr>
        <p:txBody>
          <a:bodyPr wrap="square" lIns="0" tIns="0" rIns="0" bIns="0" rtlCol="0" anchor="t"/>
          <a:lstStyle/>
          <a:p>
            <a:pPr indent="0" marL="0">
              <a:buNone/>
            </a:pPr>
            <a:r>
              <a:rPr lang="en-US" sz="1300" b="1" dirty="0">
                <a:solidFill>
                  <a:srgbClr val="D31242"/>
                </a:solidFill>
                <a:latin typeface="Arial" pitchFamily="34" charset="0"/>
                <a:ea typeface="Arial" pitchFamily="34" charset="-122"/>
                <a:cs typeface="Arial" pitchFamily="34" charset="-120"/>
              </a:rPr>
              <a:t>Effort exceeds judgment</a:t>
            </a:r>
            <a:endParaRPr lang="en-US" sz="1300" dirty="0"/>
          </a:p>
        </p:txBody>
      </p:sp>
      <p:sp>
        <p:nvSpPr>
          <p:cNvPr id="64" name="Text 62"/>
          <p:cNvSpPr/>
          <p:nvPr/>
        </p:nvSpPr>
        <p:spPr>
          <a:xfrm>
            <a:off x="8522208" y="5349240"/>
            <a:ext cx="3063240" cy="530352"/>
          </a:xfrm>
          <a:prstGeom prst="rect">
            <a:avLst/>
          </a:prstGeom>
          <a:noFill/>
          <a:ln/>
        </p:spPr>
        <p:txBody>
          <a:bodyPr wrap="square" lIns="0" tIns="0" rIns="0" bIns="0" rtlCol="0" anchor="t"/>
          <a:lstStyle/>
          <a:p>
            <a:pPr indent="0" marL="0">
              <a:buNone/>
            </a:pPr>
            <a:r>
              <a:rPr lang="en-US" sz="1050" dirty="0">
                <a:solidFill>
                  <a:srgbClr val="5E6A78"/>
                </a:solidFill>
                <a:latin typeface="Arial" pitchFamily="34" charset="0"/>
                <a:ea typeface="Arial" pitchFamily="34" charset="-122"/>
                <a:cs typeface="Arial" pitchFamily="34" charset="-120"/>
              </a:rPr>
              <a:t>A day of reading becomes about 30 minutes of review.</a:t>
            </a:r>
            <a:endParaRPr lang="en-US" sz="1050" dirty="0"/>
          </a:p>
        </p:txBody>
      </p:sp>
      <p:sp>
        <p:nvSpPr>
          <p:cNvPr id="65" name="Text 63"/>
          <p:cNvSpPr/>
          <p:nvPr/>
        </p:nvSpPr>
        <p:spPr>
          <a:xfrm>
            <a:off x="457200" y="6053328"/>
            <a:ext cx="11274552" cy="475488"/>
          </a:xfrm>
          <a:prstGeom prst="roundRect">
            <a:avLst>
              <a:gd name="adj" fmla="val 11538"/>
            </a:avLst>
          </a:prstGeom>
          <a:solidFill>
            <a:srgbClr val="D31242"/>
          </a:solid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A good submission is </a:t>
            </a:r>
            <a:pPr algn="ctr" indent="0" marL="0">
              <a:buNone/>
            </a:pPr>
            <a:r>
              <a:rPr lang="en-US" sz="1250" dirty="0">
                <a:solidFill>
                  <a:srgbClr val="FFFFFF"/>
                </a:solidFill>
                <a:latin typeface="Arial" pitchFamily="34" charset="0"/>
                <a:ea typeface="Arial" pitchFamily="34" charset="-122"/>
                <a:cs typeface="Arial" pitchFamily="34" charset="-120"/>
              </a:rPr>
              <a:t>self-contained, specific enough for risk review, and complete enough for someone else to build 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972800" cy="274320"/>
          </a:xfrm>
          <a:prstGeom prst="rect">
            <a:avLst/>
          </a:prstGeom>
          <a:noFill/>
          <a:ln/>
        </p:spPr>
        <p:txBody>
          <a:bodyPr wrap="square" lIns="0" tIns="0" rIns="0" bIns="0" rtlCol="0" anchor="ctr"/>
          <a:lstStyle/>
          <a:p>
            <a:pPr indent="0" marL="0">
              <a:buNone/>
            </a:pPr>
            <a:r>
              <a:rPr lang="en-US" sz="1150" b="1" spc="200" kern="0" dirty="0">
                <a:solidFill>
                  <a:srgbClr val="D31242"/>
                </a:solidFill>
                <a:latin typeface="Arial" pitchFamily="34" charset="0"/>
                <a:ea typeface="Arial" pitchFamily="34" charset="-122"/>
                <a:cs typeface="Arial" pitchFamily="34" charset="-120"/>
              </a:rPr>
              <a:t>FAQ</a:t>
            </a:r>
            <a:endParaRPr lang="en-US" sz="1150" dirty="0"/>
          </a:p>
        </p:txBody>
      </p:sp>
      <p:sp>
        <p:nvSpPr>
          <p:cNvPr id="3" name="Text 1"/>
          <p:cNvSpPr/>
          <p:nvPr/>
        </p:nvSpPr>
        <p:spPr>
          <a:xfrm>
            <a:off x="502920" y="621792"/>
            <a:ext cx="8229600" cy="502920"/>
          </a:xfrm>
          <a:prstGeom prst="rect">
            <a:avLst/>
          </a:prstGeom>
          <a:noFill/>
          <a:ln/>
        </p:spPr>
        <p:txBody>
          <a:bodyPr wrap="square" lIns="0" tIns="0" rIns="0" bIns="0" rtlCol="0" anchor="ctr"/>
          <a:lstStyle/>
          <a:p>
            <a:pPr indent="0" marL="0">
              <a:buNone/>
            </a:pPr>
            <a:r>
              <a:rPr lang="en-US" sz="2500" b="1" dirty="0">
                <a:solidFill>
                  <a:srgbClr val="1F2733"/>
                </a:solidFill>
                <a:latin typeface="Arial" pitchFamily="34" charset="0"/>
                <a:ea typeface="Arial" pitchFamily="34" charset="-122"/>
                <a:cs typeface="Arial" pitchFamily="34" charset="-120"/>
              </a:rPr>
              <a:t>Questions you're asking (1 of 2)</a:t>
            </a:r>
            <a:endParaRPr lang="en-US" sz="2500" dirty="0"/>
          </a:p>
        </p:txBody>
      </p:sp>
      <p:sp>
        <p:nvSpPr>
          <p:cNvPr id="4" name="Shape 2"/>
          <p:cNvSpPr/>
          <p:nvPr/>
        </p:nvSpPr>
        <p:spPr>
          <a:xfrm>
            <a:off x="822960" y="1508760"/>
            <a:ext cx="329184" cy="329184"/>
          </a:xfrm>
          <a:prstGeom prst="ellipse">
            <a:avLst/>
          </a:prstGeom>
          <a:solidFill>
            <a:srgbClr val="D31242"/>
          </a:solidFill>
          <a:ln/>
        </p:spPr>
      </p:sp>
      <p:sp>
        <p:nvSpPr>
          <p:cNvPr id="5" name="Text 3"/>
          <p:cNvSpPr/>
          <p:nvPr/>
        </p:nvSpPr>
        <p:spPr>
          <a:xfrm>
            <a:off x="822960" y="15087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371600" y="1490472"/>
            <a:ext cx="10241280" cy="36576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How do I prepare for the EVP check-in?</a:t>
            </a:r>
            <a:endParaRPr lang="en-US" sz="1450" dirty="0"/>
          </a:p>
        </p:txBody>
      </p:sp>
      <p:sp>
        <p:nvSpPr>
          <p:cNvPr id="7" name="Text 5"/>
          <p:cNvSpPr/>
          <p:nvPr/>
        </p:nvSpPr>
        <p:spPr>
          <a:xfrm>
            <a:off x="1371600" y="1856232"/>
            <a:ext cx="10241280" cy="292608"/>
          </a:xfrm>
          <a:prstGeom prst="rect">
            <a:avLst/>
          </a:prstGeom>
          <a:noFill/>
          <a:ln/>
        </p:spPr>
        <p:txBody>
          <a:bodyPr wrap="square" lIns="0" tIns="0" rIns="0" bIns="0" rtlCol="0" anchor="t"/>
          <a:lstStyle/>
          <a:p>
            <a:pPr indent="0" marL="0">
              <a:buNone/>
            </a:pPr>
            <a:r>
              <a:rPr lang="en-US" sz="1200" b="1" dirty="0">
                <a:solidFill>
                  <a:srgbClr val="D31242"/>
                </a:solidFill>
                <a:latin typeface="Arial" pitchFamily="34" charset="0"/>
                <a:ea typeface="Arial" pitchFamily="34" charset="-122"/>
                <a:cs typeface="Arial" pitchFamily="34" charset="-120"/>
              </a:rPr>
              <a:t>→  </a:t>
            </a:r>
            <a:pPr indent="0" marL="0">
              <a:buNone/>
            </a:pPr>
            <a:r>
              <a:rPr lang="en-US" sz="1200" dirty="0">
                <a:solidFill>
                  <a:srgbClr val="5E6A78"/>
                </a:solidFill>
                <a:latin typeface="Arial" pitchFamily="34" charset="0"/>
                <a:ea typeface="Arial" pitchFamily="34" charset="-122"/>
                <a:cs typeface="Arial" pitchFamily="34" charset="-120"/>
              </a:rPr>
              <a:t>Bring three things: your progress, your feedback, and your top two AI opportunities. A one-page template is in the appendix, and we'll send it out with today's materials.</a:t>
            </a:r>
            <a:endParaRPr lang="en-US" sz="1200" dirty="0"/>
          </a:p>
        </p:txBody>
      </p:sp>
      <p:sp>
        <p:nvSpPr>
          <p:cNvPr id="8" name="Shape 6"/>
          <p:cNvSpPr/>
          <p:nvPr/>
        </p:nvSpPr>
        <p:spPr>
          <a:xfrm>
            <a:off x="1371600" y="2295144"/>
            <a:ext cx="10058400" cy="0"/>
          </a:xfrm>
          <a:prstGeom prst="line">
            <a:avLst/>
          </a:prstGeom>
          <a:noFill/>
          <a:ln w="9525">
            <a:solidFill>
              <a:srgbClr val="EEF0F3"/>
            </a:solidFill>
            <a:prstDash val="solid"/>
          </a:ln>
        </p:spPr>
      </p:sp>
      <p:sp>
        <p:nvSpPr>
          <p:cNvPr id="9" name="Shape 7"/>
          <p:cNvSpPr/>
          <p:nvPr/>
        </p:nvSpPr>
        <p:spPr>
          <a:xfrm>
            <a:off x="822960" y="2368296"/>
            <a:ext cx="329184" cy="329184"/>
          </a:xfrm>
          <a:prstGeom prst="ellipse">
            <a:avLst/>
          </a:prstGeom>
          <a:solidFill>
            <a:srgbClr val="D31242"/>
          </a:solidFill>
          <a:ln/>
        </p:spPr>
      </p:sp>
      <p:sp>
        <p:nvSpPr>
          <p:cNvPr id="10" name="Text 8"/>
          <p:cNvSpPr/>
          <p:nvPr/>
        </p:nvSpPr>
        <p:spPr>
          <a:xfrm>
            <a:off x="822960" y="23682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371600" y="2350008"/>
            <a:ext cx="10241280" cy="36576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How do we gather feedback and input from our AI Connect users?</a:t>
            </a:r>
            <a:endParaRPr lang="en-US" sz="1450" dirty="0"/>
          </a:p>
        </p:txBody>
      </p:sp>
      <p:sp>
        <p:nvSpPr>
          <p:cNvPr id="12" name="Text 10"/>
          <p:cNvSpPr/>
          <p:nvPr/>
        </p:nvSpPr>
        <p:spPr>
          <a:xfrm>
            <a:off x="1371600" y="2715768"/>
            <a:ext cx="10241280" cy="530352"/>
          </a:xfrm>
          <a:prstGeom prst="rect">
            <a:avLst/>
          </a:prstGeom>
          <a:noFill/>
          <a:ln/>
        </p:spPr>
        <p:txBody>
          <a:bodyPr wrap="square" lIns="0" tIns="0" rIns="0" bIns="0" rtlCol="0" anchor="t"/>
          <a:lstStyle/>
          <a:p>
            <a:pPr indent="0" marL="0">
              <a:buNone/>
            </a:pPr>
            <a:r>
              <a:rPr lang="en-US" sz="1200" b="1" dirty="0">
                <a:solidFill>
                  <a:srgbClr val="D31242"/>
                </a:solidFill>
                <a:latin typeface="Arial" pitchFamily="34" charset="0"/>
                <a:ea typeface="Arial" pitchFamily="34" charset="-122"/>
                <a:cs typeface="Arial" pitchFamily="34" charset="-120"/>
              </a:rPr>
              <a:t>→  </a:t>
            </a:r>
            <a:pPr indent="0" marL="0">
              <a:buNone/>
            </a:pPr>
            <a:r>
              <a:rPr lang="en-US" sz="1200" dirty="0">
                <a:solidFill>
                  <a:srgbClr val="5E6A78"/>
                </a:solidFill>
                <a:latin typeface="Arial" pitchFamily="34" charset="0"/>
                <a:ea typeface="Arial" pitchFamily="34" charset="-122"/>
                <a:cs typeface="Arial" pitchFamily="34" charset="-120"/>
              </a:rPr>
              <a:t>Set a standing touchpoint: biweekly for 45 to 60 minutes, or a 15-minute AI segment in a meeting you already run. Then route what you hear: use-case ideas to the Hub form, blockers and questions to the Teams channel or office hours, themes to this sync and your EVP check-in.</a:t>
            </a:r>
            <a:endParaRPr lang="en-US" sz="1200" dirty="0"/>
          </a:p>
        </p:txBody>
      </p:sp>
      <p:sp>
        <p:nvSpPr>
          <p:cNvPr id="13" name="Shape 11"/>
          <p:cNvSpPr/>
          <p:nvPr/>
        </p:nvSpPr>
        <p:spPr>
          <a:xfrm>
            <a:off x="1371600" y="3392424"/>
            <a:ext cx="10058400" cy="0"/>
          </a:xfrm>
          <a:prstGeom prst="line">
            <a:avLst/>
          </a:prstGeom>
          <a:noFill/>
          <a:ln w="9525">
            <a:solidFill>
              <a:srgbClr val="EEF0F3"/>
            </a:solidFill>
            <a:prstDash val="solid"/>
          </a:ln>
        </p:spPr>
      </p:sp>
      <p:sp>
        <p:nvSpPr>
          <p:cNvPr id="14" name="Shape 12"/>
          <p:cNvSpPr/>
          <p:nvPr/>
        </p:nvSpPr>
        <p:spPr>
          <a:xfrm>
            <a:off x="822960" y="3465576"/>
            <a:ext cx="329184" cy="329184"/>
          </a:xfrm>
          <a:prstGeom prst="ellipse">
            <a:avLst/>
          </a:prstGeom>
          <a:solidFill>
            <a:srgbClr val="D31242"/>
          </a:solidFill>
          <a:ln/>
        </p:spPr>
      </p:sp>
      <p:sp>
        <p:nvSpPr>
          <p:cNvPr id="15" name="Text 13"/>
          <p:cNvSpPr/>
          <p:nvPr/>
        </p:nvSpPr>
        <p:spPr>
          <a:xfrm>
            <a:off x="822960" y="34655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4"/>
          <p:cNvSpPr/>
          <p:nvPr/>
        </p:nvSpPr>
        <p:spPr>
          <a:xfrm>
            <a:off x="1371600" y="3447288"/>
            <a:ext cx="10241280" cy="36576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How do I manage the time commitment on top of my day job?</a:t>
            </a:r>
            <a:endParaRPr lang="en-US" sz="1450" dirty="0"/>
          </a:p>
        </p:txBody>
      </p:sp>
      <p:sp>
        <p:nvSpPr>
          <p:cNvPr id="17" name="Text 15"/>
          <p:cNvSpPr/>
          <p:nvPr/>
        </p:nvSpPr>
        <p:spPr>
          <a:xfrm>
            <a:off x="1371600" y="3813048"/>
            <a:ext cx="10241280" cy="749808"/>
          </a:xfrm>
          <a:prstGeom prst="rect">
            <a:avLst/>
          </a:prstGeom>
          <a:noFill/>
          <a:ln/>
        </p:spPr>
        <p:txBody>
          <a:bodyPr wrap="square" lIns="0" tIns="0" rIns="0" bIns="0" rtlCol="0" anchor="t"/>
          <a:lstStyle/>
          <a:p>
            <a:pPr indent="0" marL="0">
              <a:buNone/>
            </a:pPr>
            <a:r>
              <a:rPr lang="en-US" sz="1200" b="1" dirty="0">
                <a:solidFill>
                  <a:srgbClr val="D31242"/>
                </a:solidFill>
                <a:latin typeface="Arial" pitchFamily="34" charset="0"/>
                <a:ea typeface="Arial" pitchFamily="34" charset="-122"/>
                <a:cs typeface="Arial" pitchFamily="34" charset="-120"/>
              </a:rPr>
              <a:t>→  </a:t>
            </a:r>
            <a:pPr indent="0" marL="0">
              <a:buNone/>
            </a:pPr>
            <a:r>
              <a:rPr lang="en-US" sz="1200" dirty="0">
                <a:solidFill>
                  <a:srgbClr val="5E6A78"/>
                </a:solidFill>
                <a:latin typeface="Arial" pitchFamily="34" charset="0"/>
                <a:ea typeface="Arial" pitchFamily="34" charset="-122"/>
                <a:cs typeface="Arial" pitchFamily="34" charset="-120"/>
              </a:rPr>
              <a:t>Pick use cases from work already on your plate, so the time AI saves funds the time the role takes. Agree a small weekly budget with your manager; the monthly EVP check-in is what makes those hours visible and defensible. And first point of contact means routing, not solving everything yourself: that's what office hours, the Teams channel, and the Hub are for.</a:t>
            </a:r>
            <a:endParaRPr lang="en-US" sz="1200" dirty="0"/>
          </a:p>
        </p:txBody>
      </p:sp>
      <p:sp>
        <p:nvSpPr>
          <p:cNvPr id="18" name="Shape 16"/>
          <p:cNvSpPr/>
          <p:nvPr/>
        </p:nvSpPr>
        <p:spPr>
          <a:xfrm>
            <a:off x="1371600" y="4709160"/>
            <a:ext cx="10058400" cy="0"/>
          </a:xfrm>
          <a:prstGeom prst="line">
            <a:avLst/>
          </a:prstGeom>
          <a:noFill/>
          <a:ln w="9525">
            <a:solidFill>
              <a:srgbClr val="EEF0F3"/>
            </a:solidFill>
            <a:prstDash val="solid"/>
          </a:ln>
        </p:spPr>
      </p:sp>
      <p:sp>
        <p:nvSpPr>
          <p:cNvPr id="19" name="Shape 17"/>
          <p:cNvSpPr/>
          <p:nvPr/>
        </p:nvSpPr>
        <p:spPr>
          <a:xfrm>
            <a:off x="822960" y="4782312"/>
            <a:ext cx="329184" cy="329184"/>
          </a:xfrm>
          <a:prstGeom prst="ellipse">
            <a:avLst/>
          </a:prstGeom>
          <a:solidFill>
            <a:srgbClr val="D31242"/>
          </a:solidFill>
          <a:ln/>
        </p:spPr>
      </p:sp>
      <p:sp>
        <p:nvSpPr>
          <p:cNvPr id="20" name="Text 18"/>
          <p:cNvSpPr/>
          <p:nvPr/>
        </p:nvSpPr>
        <p:spPr>
          <a:xfrm>
            <a:off x="822960" y="47823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1" name="Text 19"/>
          <p:cNvSpPr/>
          <p:nvPr/>
        </p:nvSpPr>
        <p:spPr>
          <a:xfrm>
            <a:off x="1371600" y="4764024"/>
            <a:ext cx="10241280" cy="36576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Will we get access to Cowork?</a:t>
            </a:r>
            <a:endParaRPr lang="en-US" sz="1450" dirty="0"/>
          </a:p>
        </p:txBody>
      </p:sp>
      <p:sp>
        <p:nvSpPr>
          <p:cNvPr id="22" name="Text 20"/>
          <p:cNvSpPr/>
          <p:nvPr/>
        </p:nvSpPr>
        <p:spPr>
          <a:xfrm>
            <a:off x="1371600" y="5129784"/>
            <a:ext cx="10241280" cy="749808"/>
          </a:xfrm>
          <a:prstGeom prst="rect">
            <a:avLst/>
          </a:prstGeom>
          <a:noFill/>
          <a:ln/>
        </p:spPr>
        <p:txBody>
          <a:bodyPr wrap="square" lIns="0" tIns="0" rIns="0" bIns="0" rtlCol="0" anchor="t"/>
          <a:lstStyle/>
          <a:p>
            <a:pPr indent="0" marL="0">
              <a:buNone/>
            </a:pPr>
            <a:r>
              <a:rPr lang="en-US" sz="1200" b="1" dirty="0">
                <a:solidFill>
                  <a:srgbClr val="D31242"/>
                </a:solidFill>
                <a:latin typeface="Arial" pitchFamily="34" charset="0"/>
                <a:ea typeface="Arial" pitchFamily="34" charset="-122"/>
                <a:cs typeface="Arial" pitchFamily="34" charset="-120"/>
              </a:rPr>
              <a:t>→  </a:t>
            </a:r>
            <a:pPr indent="0" marL="0">
              <a:buNone/>
            </a:pPr>
            <a:r>
              <a:rPr lang="en-US" sz="1200" dirty="0">
                <a:solidFill>
                  <a:srgbClr val="5E6A78"/>
                </a:solidFill>
                <a:latin typeface="Arial" pitchFamily="34" charset="0"/>
                <a:ea typeface="Arial" pitchFamily="34" charset="-122"/>
                <a:cs typeface="Arial" pitchFamily="34" charset="-120"/>
              </a:rPr>
              <a:t>Not in Phase 1, for two real reasons. Cost: Cowork usage is metered like all Claude usage, and agentic tasks consume several times what a chat session does, so broad access would raise spend meaningfully. Privacy: Cowork works directly with files and connected systems, so it needs a data-governance review first. Both land with the late-September roll-out and tool decision.</a:t>
            </a:r>
            <a:endParaRPr lang="en-US" sz="1200" dirty="0"/>
          </a:p>
        </p:txBody>
      </p:sp>
      <p:sp>
        <p:nvSpPr>
          <p:cNvPr id="23" name="Text 21"/>
          <p:cNvSpPr/>
          <p:nvPr/>
        </p:nvSpPr>
        <p:spPr>
          <a:xfrm>
            <a:off x="502920" y="6355080"/>
            <a:ext cx="11201400" cy="320040"/>
          </a:xfrm>
          <a:prstGeom prst="rect">
            <a:avLst/>
          </a:prstGeom>
          <a:noFill/>
          <a:ln/>
        </p:spPr>
        <p:txBody>
          <a:bodyPr wrap="square" lIns="0" tIns="0" rIns="0" bIns="0" rtlCol="0" anchor="ctr"/>
          <a:lstStyle/>
          <a:p>
            <a:pPr algn="ctr" indent="0" marL="0">
              <a:buNone/>
            </a:pPr>
            <a:r>
              <a:rPr lang="en-US" sz="1050" i="1" dirty="0">
                <a:solidFill>
                  <a:srgbClr val="5E6A78"/>
                </a:solidFill>
                <a:latin typeface="Arial" pitchFamily="34" charset="0"/>
                <a:ea typeface="Arial" pitchFamily="34" charset="-122"/>
                <a:cs typeface="Arial" pitchFamily="34" charset="-120"/>
              </a:rPr>
              <a:t>Have a question that isn't here? Post it in the CD_AI Champions channel and it joins the FAQ.</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972800" cy="274320"/>
          </a:xfrm>
          <a:prstGeom prst="rect">
            <a:avLst/>
          </a:prstGeom>
          <a:noFill/>
          <a:ln/>
        </p:spPr>
        <p:txBody>
          <a:bodyPr wrap="square" lIns="0" tIns="0" rIns="0" bIns="0" rtlCol="0" anchor="ctr"/>
          <a:lstStyle/>
          <a:p>
            <a:pPr indent="0" marL="0">
              <a:buNone/>
            </a:pPr>
            <a:r>
              <a:rPr lang="en-US" sz="1150" b="1" spc="200" kern="0" dirty="0">
                <a:solidFill>
                  <a:srgbClr val="D31242"/>
                </a:solidFill>
                <a:latin typeface="Arial" pitchFamily="34" charset="0"/>
                <a:ea typeface="Arial" pitchFamily="34" charset="-122"/>
                <a:cs typeface="Arial" pitchFamily="34" charset="-120"/>
              </a:rPr>
              <a:t>FAQ</a:t>
            </a:r>
            <a:endParaRPr lang="en-US" sz="1150" dirty="0"/>
          </a:p>
        </p:txBody>
      </p:sp>
      <p:sp>
        <p:nvSpPr>
          <p:cNvPr id="3" name="Text 1"/>
          <p:cNvSpPr/>
          <p:nvPr/>
        </p:nvSpPr>
        <p:spPr>
          <a:xfrm>
            <a:off x="502920" y="621792"/>
            <a:ext cx="8229600" cy="502920"/>
          </a:xfrm>
          <a:prstGeom prst="rect">
            <a:avLst/>
          </a:prstGeom>
          <a:noFill/>
          <a:ln/>
        </p:spPr>
        <p:txBody>
          <a:bodyPr wrap="square" lIns="0" tIns="0" rIns="0" bIns="0" rtlCol="0" anchor="ctr"/>
          <a:lstStyle/>
          <a:p>
            <a:pPr indent="0" marL="0">
              <a:buNone/>
            </a:pPr>
            <a:r>
              <a:rPr lang="en-US" sz="2500" b="1" dirty="0">
                <a:solidFill>
                  <a:srgbClr val="1F2733"/>
                </a:solidFill>
                <a:latin typeface="Arial" pitchFamily="34" charset="0"/>
                <a:ea typeface="Arial" pitchFamily="34" charset="-122"/>
                <a:cs typeface="Arial" pitchFamily="34" charset="-120"/>
              </a:rPr>
              <a:t>Questions you're asking (2 of 2)</a:t>
            </a:r>
            <a:endParaRPr lang="en-US" sz="2500" dirty="0"/>
          </a:p>
        </p:txBody>
      </p:sp>
      <p:sp>
        <p:nvSpPr>
          <p:cNvPr id="4" name="Shape 2"/>
          <p:cNvSpPr/>
          <p:nvPr/>
        </p:nvSpPr>
        <p:spPr>
          <a:xfrm>
            <a:off x="822960" y="1508760"/>
            <a:ext cx="329184" cy="329184"/>
          </a:xfrm>
          <a:prstGeom prst="ellipse">
            <a:avLst/>
          </a:prstGeom>
          <a:solidFill>
            <a:srgbClr val="D31242"/>
          </a:solidFill>
          <a:ln/>
        </p:spPr>
      </p:sp>
      <p:sp>
        <p:nvSpPr>
          <p:cNvPr id="5" name="Text 3"/>
          <p:cNvSpPr/>
          <p:nvPr/>
        </p:nvSpPr>
        <p:spPr>
          <a:xfrm>
            <a:off x="822960" y="15087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6" name="Text 4"/>
          <p:cNvSpPr/>
          <p:nvPr/>
        </p:nvSpPr>
        <p:spPr>
          <a:xfrm>
            <a:off x="1371600" y="1490472"/>
            <a:ext cx="10241280" cy="36576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What kind of data can I enter into AI?</a:t>
            </a:r>
            <a:endParaRPr lang="en-US" sz="1450" dirty="0"/>
          </a:p>
        </p:txBody>
      </p:sp>
      <p:sp>
        <p:nvSpPr>
          <p:cNvPr id="7" name="Text 5"/>
          <p:cNvSpPr/>
          <p:nvPr/>
        </p:nvSpPr>
        <p:spPr>
          <a:xfrm>
            <a:off x="1371600" y="1856232"/>
            <a:ext cx="10241280" cy="292608"/>
          </a:xfrm>
          <a:prstGeom prst="rect">
            <a:avLst/>
          </a:prstGeom>
          <a:noFill/>
          <a:ln/>
        </p:spPr>
        <p:txBody>
          <a:bodyPr wrap="square" lIns="0" tIns="0" rIns="0" bIns="0" rtlCol="0" anchor="t"/>
          <a:lstStyle/>
          <a:p>
            <a:pPr indent="0" marL="0">
              <a:buNone/>
            </a:pPr>
            <a:r>
              <a:rPr lang="en-US" sz="1200" b="1" dirty="0">
                <a:solidFill>
                  <a:srgbClr val="D31242"/>
                </a:solidFill>
                <a:latin typeface="Arial" pitchFamily="34" charset="0"/>
                <a:ea typeface="Arial" pitchFamily="34" charset="-122"/>
                <a:cs typeface="Arial" pitchFamily="34" charset="-120"/>
              </a:rPr>
              <a:t>→  </a:t>
            </a:r>
            <a:pPr indent="0" marL="0">
              <a:buNone/>
            </a:pPr>
            <a:r>
              <a:rPr lang="en-US" sz="1200" dirty="0">
                <a:solidFill>
                  <a:srgbClr val="5E6A78"/>
                </a:solidFill>
                <a:latin typeface="Arial" pitchFamily="34" charset="0"/>
                <a:ea typeface="Arial" pitchFamily="34" charset="-122"/>
                <a:cs typeface="Arial" pitchFamily="34" charset="-120"/>
              </a:rPr>
              <a:t>We are working with the data privacy team now; guidelines will be published soon. Until then, when in doubt, leave it out, or ask ai@bjs.com.</a:t>
            </a:r>
            <a:endParaRPr lang="en-US" sz="1200" dirty="0"/>
          </a:p>
        </p:txBody>
      </p:sp>
      <p:sp>
        <p:nvSpPr>
          <p:cNvPr id="8" name="Shape 6"/>
          <p:cNvSpPr/>
          <p:nvPr/>
        </p:nvSpPr>
        <p:spPr>
          <a:xfrm>
            <a:off x="1371600" y="2295144"/>
            <a:ext cx="10058400" cy="0"/>
          </a:xfrm>
          <a:prstGeom prst="line">
            <a:avLst/>
          </a:prstGeom>
          <a:noFill/>
          <a:ln w="9525">
            <a:solidFill>
              <a:srgbClr val="EEF0F3"/>
            </a:solidFill>
            <a:prstDash val="solid"/>
          </a:ln>
        </p:spPr>
      </p:sp>
      <p:sp>
        <p:nvSpPr>
          <p:cNvPr id="9" name="Shape 7"/>
          <p:cNvSpPr/>
          <p:nvPr/>
        </p:nvSpPr>
        <p:spPr>
          <a:xfrm>
            <a:off x="822960" y="2368296"/>
            <a:ext cx="329184" cy="329184"/>
          </a:xfrm>
          <a:prstGeom prst="ellipse">
            <a:avLst/>
          </a:prstGeom>
          <a:solidFill>
            <a:srgbClr val="D31242"/>
          </a:solidFill>
          <a:ln/>
        </p:spPr>
      </p:sp>
      <p:sp>
        <p:nvSpPr>
          <p:cNvPr id="10" name="Text 8"/>
          <p:cNvSpPr/>
          <p:nvPr/>
        </p:nvSpPr>
        <p:spPr>
          <a:xfrm>
            <a:off x="822960" y="23682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11" name="Text 9"/>
          <p:cNvSpPr/>
          <p:nvPr/>
        </p:nvSpPr>
        <p:spPr>
          <a:xfrm>
            <a:off x="1371600" y="2350008"/>
            <a:ext cx="10241280" cy="36576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When will we get more detail on the tool comparison?</a:t>
            </a:r>
            <a:endParaRPr lang="en-US" sz="1450" dirty="0"/>
          </a:p>
        </p:txBody>
      </p:sp>
      <p:sp>
        <p:nvSpPr>
          <p:cNvPr id="12" name="Text 10"/>
          <p:cNvSpPr/>
          <p:nvPr/>
        </p:nvSpPr>
        <p:spPr>
          <a:xfrm>
            <a:off x="1371600" y="2715768"/>
            <a:ext cx="10241280" cy="530352"/>
          </a:xfrm>
          <a:prstGeom prst="rect">
            <a:avLst/>
          </a:prstGeom>
          <a:noFill/>
          <a:ln/>
        </p:spPr>
        <p:txBody>
          <a:bodyPr wrap="square" lIns="0" tIns="0" rIns="0" bIns="0" rtlCol="0" anchor="t"/>
          <a:lstStyle/>
          <a:p>
            <a:pPr indent="0" marL="0">
              <a:buNone/>
            </a:pPr>
            <a:r>
              <a:rPr lang="en-US" sz="1200" b="1" dirty="0">
                <a:solidFill>
                  <a:srgbClr val="D31242"/>
                </a:solidFill>
                <a:latin typeface="Arial" pitchFamily="34" charset="0"/>
                <a:ea typeface="Arial" pitchFamily="34" charset="-122"/>
                <a:cs typeface="Arial" pitchFamily="34" charset="-120"/>
              </a:rPr>
              <a:t>→  </a:t>
            </a:r>
            <a:pPr indent="0" marL="0">
              <a:buNone/>
            </a:pPr>
            <a:r>
              <a:rPr lang="en-US" sz="1200" dirty="0">
                <a:solidFill>
                  <a:srgbClr val="5E6A78"/>
                </a:solidFill>
                <a:latin typeface="Arial" pitchFamily="34" charset="0"/>
                <a:ea typeface="Arial" pitchFamily="34" charset="-122"/>
                <a:cs typeface="Arial" pitchFamily="34" charset="-120"/>
              </a:rPr>
              <a:t>Full detail comes at the next sync on August 19. The challenge runs 4 to 5 identical tasks in both tools by Day 60 (August 31), with the debrief that week and your tracker due September 21.</a:t>
            </a:r>
            <a:endParaRPr lang="en-US" sz="1200" dirty="0"/>
          </a:p>
        </p:txBody>
      </p:sp>
      <p:sp>
        <p:nvSpPr>
          <p:cNvPr id="13" name="Shape 11"/>
          <p:cNvSpPr/>
          <p:nvPr/>
        </p:nvSpPr>
        <p:spPr>
          <a:xfrm>
            <a:off x="1371600" y="3392424"/>
            <a:ext cx="10058400" cy="0"/>
          </a:xfrm>
          <a:prstGeom prst="line">
            <a:avLst/>
          </a:prstGeom>
          <a:noFill/>
          <a:ln w="9525">
            <a:solidFill>
              <a:srgbClr val="EEF0F3"/>
            </a:solidFill>
            <a:prstDash val="solid"/>
          </a:ln>
        </p:spPr>
      </p:sp>
      <p:sp>
        <p:nvSpPr>
          <p:cNvPr id="14" name="Shape 12"/>
          <p:cNvSpPr/>
          <p:nvPr/>
        </p:nvSpPr>
        <p:spPr>
          <a:xfrm>
            <a:off x="822960" y="3465576"/>
            <a:ext cx="329184" cy="329184"/>
          </a:xfrm>
          <a:prstGeom prst="ellipse">
            <a:avLst/>
          </a:prstGeom>
          <a:solidFill>
            <a:srgbClr val="D31242"/>
          </a:solidFill>
          <a:ln/>
        </p:spPr>
      </p:sp>
      <p:sp>
        <p:nvSpPr>
          <p:cNvPr id="15" name="Text 13"/>
          <p:cNvSpPr/>
          <p:nvPr/>
        </p:nvSpPr>
        <p:spPr>
          <a:xfrm>
            <a:off x="822960" y="34655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16" name="Text 14"/>
          <p:cNvSpPr/>
          <p:nvPr/>
        </p:nvSpPr>
        <p:spPr>
          <a:xfrm>
            <a:off x="1371600" y="3447288"/>
            <a:ext cx="10241280" cy="36576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What are the approved connectors?</a:t>
            </a:r>
            <a:endParaRPr lang="en-US" sz="1450" dirty="0"/>
          </a:p>
        </p:txBody>
      </p:sp>
      <p:sp>
        <p:nvSpPr>
          <p:cNvPr id="17" name="Shape 15"/>
          <p:cNvSpPr/>
          <p:nvPr/>
        </p:nvSpPr>
        <p:spPr>
          <a:xfrm>
            <a:off x="1371600" y="4050792"/>
            <a:ext cx="10058400" cy="0"/>
          </a:xfrm>
          <a:prstGeom prst="line">
            <a:avLst/>
          </a:prstGeom>
          <a:noFill/>
          <a:ln w="9525">
            <a:solidFill>
              <a:srgbClr val="EEF0F3"/>
            </a:solidFill>
            <a:prstDash val="solid"/>
          </a:ln>
        </p:spPr>
      </p:sp>
      <p:sp>
        <p:nvSpPr>
          <p:cNvPr id="18" name="Shape 16"/>
          <p:cNvSpPr/>
          <p:nvPr/>
        </p:nvSpPr>
        <p:spPr>
          <a:xfrm>
            <a:off x="822960" y="4123944"/>
            <a:ext cx="329184" cy="329184"/>
          </a:xfrm>
          <a:prstGeom prst="ellipse">
            <a:avLst/>
          </a:prstGeom>
          <a:solidFill>
            <a:srgbClr val="D31242"/>
          </a:solidFill>
          <a:ln/>
        </p:spPr>
      </p:sp>
      <p:sp>
        <p:nvSpPr>
          <p:cNvPr id="19" name="Text 17"/>
          <p:cNvSpPr/>
          <p:nvPr/>
        </p:nvSpPr>
        <p:spPr>
          <a:xfrm>
            <a:off x="822960" y="412394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0" name="Text 18"/>
          <p:cNvSpPr/>
          <p:nvPr/>
        </p:nvSpPr>
        <p:spPr>
          <a:xfrm>
            <a:off x="1371600" y="4105656"/>
            <a:ext cx="10241280" cy="36576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What's the process to request a usage increase?</a:t>
            </a:r>
            <a:endParaRPr lang="en-US" sz="1450" dirty="0"/>
          </a:p>
        </p:txBody>
      </p:sp>
      <p:sp>
        <p:nvSpPr>
          <p:cNvPr id="21" name="Text 19"/>
          <p:cNvSpPr/>
          <p:nvPr/>
        </p:nvSpPr>
        <p:spPr>
          <a:xfrm>
            <a:off x="502920" y="6355080"/>
            <a:ext cx="11201400" cy="320040"/>
          </a:xfrm>
          <a:prstGeom prst="rect">
            <a:avLst/>
          </a:prstGeom>
          <a:noFill/>
          <a:ln/>
        </p:spPr>
        <p:txBody>
          <a:bodyPr wrap="square" lIns="0" tIns="0" rIns="0" bIns="0" rtlCol="0" anchor="ctr"/>
          <a:lstStyle/>
          <a:p>
            <a:pPr algn="ctr" indent="0" marL="0">
              <a:buNone/>
            </a:pPr>
            <a:r>
              <a:rPr lang="en-US" sz="1050" i="1" dirty="0">
                <a:solidFill>
                  <a:srgbClr val="5E6A78"/>
                </a:solidFill>
                <a:latin typeface="Arial" pitchFamily="34" charset="0"/>
                <a:ea typeface="Arial" pitchFamily="34" charset="-122"/>
                <a:cs typeface="Arial" pitchFamily="34" charset="-120"/>
              </a:rPr>
              <a:t>Have a question that isn't here? Post it in the CD_AI Champions channel and it joins the FAQ.</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0972800" cy="274320"/>
          </a:xfrm>
          <a:prstGeom prst="rect">
            <a:avLst/>
          </a:prstGeom>
          <a:noFill/>
          <a:ln/>
        </p:spPr>
        <p:txBody>
          <a:bodyPr wrap="square" lIns="0" tIns="0" rIns="0" bIns="0" rtlCol="0" anchor="ctr"/>
          <a:lstStyle/>
          <a:p>
            <a:pPr indent="0" marL="0">
              <a:buNone/>
            </a:pPr>
            <a:r>
              <a:rPr lang="en-US" sz="1150" b="1" spc="200" kern="0" dirty="0">
                <a:solidFill>
                  <a:srgbClr val="D31242"/>
                </a:solidFill>
                <a:latin typeface="Arial" pitchFamily="34" charset="0"/>
                <a:ea typeface="Arial" pitchFamily="34" charset="-122"/>
                <a:cs typeface="Arial" pitchFamily="34" charset="-120"/>
              </a:rPr>
              <a:t>DISCUSSION</a:t>
            </a:r>
            <a:endParaRPr lang="en-US" sz="1150" dirty="0"/>
          </a:p>
        </p:txBody>
      </p:sp>
      <p:sp>
        <p:nvSpPr>
          <p:cNvPr id="3" name="Text 1"/>
          <p:cNvSpPr/>
          <p:nvPr/>
        </p:nvSpPr>
        <p:spPr>
          <a:xfrm>
            <a:off x="502920" y="731520"/>
            <a:ext cx="10972800" cy="603504"/>
          </a:xfrm>
          <a:prstGeom prst="rect">
            <a:avLst/>
          </a:prstGeom>
          <a:noFill/>
          <a:ln/>
        </p:spPr>
        <p:txBody>
          <a:bodyPr wrap="square" lIns="0" tIns="0" rIns="0" bIns="0" rtlCol="0" anchor="ctr"/>
          <a:lstStyle/>
          <a:p>
            <a:pPr indent="0" marL="0">
              <a:buNone/>
            </a:pPr>
            <a:r>
              <a:rPr lang="en-US" sz="3200" b="1" dirty="0">
                <a:solidFill>
                  <a:srgbClr val="1F2733"/>
                </a:solidFill>
                <a:latin typeface="Arial" pitchFamily="34" charset="0"/>
                <a:ea typeface="Arial" pitchFamily="34" charset="-122"/>
                <a:cs typeface="Arial" pitchFamily="34" charset="-120"/>
              </a:rPr>
              <a:t>Over to you</a:t>
            </a:r>
            <a:endParaRPr lang="en-US" sz="3200" dirty="0"/>
          </a:p>
        </p:txBody>
      </p:sp>
      <p:sp>
        <p:nvSpPr>
          <p:cNvPr id="4" name="Text 2"/>
          <p:cNvSpPr/>
          <p:nvPr/>
        </p:nvSpPr>
        <p:spPr>
          <a:xfrm>
            <a:off x="502920" y="1371600"/>
            <a:ext cx="10972800" cy="320040"/>
          </a:xfrm>
          <a:prstGeom prst="rect">
            <a:avLst/>
          </a:prstGeom>
          <a:noFill/>
          <a:ln/>
        </p:spPr>
        <p:txBody>
          <a:bodyPr wrap="square" lIns="0" tIns="0" rIns="0" bIns="0" rtlCol="0" anchor="ctr"/>
          <a:lstStyle/>
          <a:p>
            <a:pPr indent="0" marL="0">
              <a:buNone/>
            </a:pPr>
            <a:r>
              <a:rPr lang="en-US" sz="1400" dirty="0">
                <a:solidFill>
                  <a:srgbClr val="5E6A78"/>
                </a:solidFill>
                <a:latin typeface="Arial" pitchFamily="34" charset="0"/>
                <a:ea typeface="Arial" pitchFamily="34" charset="-122"/>
                <a:cs typeface="Arial" pitchFamily="34" charset="-120"/>
              </a:rPr>
              <a:t>The three things from this week's brief.</a:t>
            </a:r>
            <a:endParaRPr lang="en-US" sz="1400" dirty="0"/>
          </a:p>
        </p:txBody>
      </p:sp>
      <p:sp>
        <p:nvSpPr>
          <p:cNvPr id="5" name="Shape 3"/>
          <p:cNvSpPr/>
          <p:nvPr/>
        </p:nvSpPr>
        <p:spPr>
          <a:xfrm>
            <a:off x="502920" y="2148840"/>
            <a:ext cx="3611880" cy="2743200"/>
          </a:xfrm>
          <a:prstGeom prst="roundRect">
            <a:avLst>
              <a:gd name="adj" fmla="val 2667"/>
            </a:avLst>
          </a:prstGeom>
          <a:solidFill>
            <a:srgbClr val="FFFFFF"/>
          </a:solidFill>
          <a:ln w="12700">
            <a:solidFill>
              <a:srgbClr val="E7E9EE"/>
            </a:solidFill>
            <a:prstDash val="solid"/>
          </a:ln>
          <a:effectLst>
            <a:outerShdw sx="100000" sy="100000" kx="0" ky="0" algn="bl" rotWithShape="0" blurRad="88900" dist="25400" dir="5400000">
              <a:srgbClr val="BFC4CC">
                <a:alpha val="30000"/>
              </a:srgbClr>
            </a:outerShdw>
          </a:effectLst>
        </p:spPr>
      </p:sp>
      <p:sp>
        <p:nvSpPr>
          <p:cNvPr id="6" name="Shape 4"/>
          <p:cNvSpPr/>
          <p:nvPr/>
        </p:nvSpPr>
        <p:spPr>
          <a:xfrm>
            <a:off x="822960" y="2514600"/>
            <a:ext cx="566928" cy="566928"/>
          </a:xfrm>
          <a:prstGeom prst="ellipse">
            <a:avLst/>
          </a:prstGeom>
          <a:solidFill>
            <a:srgbClr val="FCE4EA"/>
          </a:solidFill>
          <a:ln/>
        </p:spPr>
      </p:sp>
      <p:sp>
        <p:nvSpPr>
          <p:cNvPr id="7" name="Text 5"/>
          <p:cNvSpPr/>
          <p:nvPr/>
        </p:nvSpPr>
        <p:spPr>
          <a:xfrm>
            <a:off x="822960" y="2514600"/>
            <a:ext cx="566928" cy="566928"/>
          </a:xfrm>
          <a:prstGeom prst="rect">
            <a:avLst/>
          </a:prstGeom>
          <a:noFill/>
          <a:ln/>
        </p:spPr>
        <p:txBody>
          <a:bodyPr wrap="square" lIns="0" tIns="0" rIns="0" bIns="0" rtlCol="0" anchor="ctr"/>
          <a:lstStyle/>
          <a:p>
            <a:pPr algn="ctr" indent="0" marL="0">
              <a:buNone/>
            </a:pPr>
            <a:r>
              <a:rPr lang="en-US" sz="2200" b="1" dirty="0">
                <a:solidFill>
                  <a:srgbClr val="D31242"/>
                </a:solidFill>
                <a:latin typeface="Arial" pitchFamily="34" charset="0"/>
                <a:ea typeface="Arial" pitchFamily="34" charset="-122"/>
                <a:cs typeface="Arial" pitchFamily="34" charset="-120"/>
              </a:rPr>
              <a:t>1</a:t>
            </a:r>
            <a:endParaRPr lang="en-US" sz="2200" dirty="0"/>
          </a:p>
        </p:txBody>
      </p:sp>
      <p:sp>
        <p:nvSpPr>
          <p:cNvPr id="8" name="Text 6"/>
          <p:cNvSpPr/>
          <p:nvPr/>
        </p:nvSpPr>
        <p:spPr>
          <a:xfrm>
            <a:off x="822960" y="3337560"/>
            <a:ext cx="2971800" cy="685800"/>
          </a:xfrm>
          <a:prstGeom prst="rect">
            <a:avLst/>
          </a:prstGeom>
          <a:noFill/>
          <a:ln/>
        </p:spPr>
        <p:txBody>
          <a:bodyPr wrap="square" lIns="0" tIns="0" rIns="0" bIns="0" rtlCol="0" anchor="t"/>
          <a:lstStyle/>
          <a:p>
            <a:pPr indent="0" marL="0">
              <a:buNone/>
            </a:pPr>
            <a:r>
              <a:rPr lang="en-US" sz="1700" b="1" dirty="0">
                <a:solidFill>
                  <a:srgbClr val="1F2733"/>
                </a:solidFill>
                <a:latin typeface="Arial" pitchFamily="34" charset="0"/>
                <a:ea typeface="Arial" pitchFamily="34" charset="-122"/>
                <a:cs typeface="Arial" pitchFamily="34" charset="-120"/>
              </a:rPr>
              <a:t>One progress update</a:t>
            </a:r>
            <a:endParaRPr lang="en-US" sz="1700" dirty="0"/>
          </a:p>
        </p:txBody>
      </p:sp>
      <p:sp>
        <p:nvSpPr>
          <p:cNvPr id="9" name="Text 7"/>
          <p:cNvSpPr/>
          <p:nvPr/>
        </p:nvSpPr>
        <p:spPr>
          <a:xfrm>
            <a:off x="822960" y="4023360"/>
            <a:ext cx="2971800" cy="640080"/>
          </a:xfrm>
          <a:prstGeom prst="rect">
            <a:avLst/>
          </a:prstGeom>
          <a:noFill/>
          <a:ln/>
        </p:spPr>
        <p:txBody>
          <a:bodyPr wrap="square" lIns="0" tIns="0" rIns="0" bIns="0" rtlCol="0" anchor="t"/>
          <a:lstStyle/>
          <a:p>
            <a:pPr indent="0" marL="0">
              <a:buNone/>
            </a:pPr>
            <a:r>
              <a:rPr lang="en-US" sz="1200" dirty="0">
                <a:solidFill>
                  <a:srgbClr val="5E6A78"/>
                </a:solidFill>
                <a:latin typeface="Arial" pitchFamily="34" charset="0"/>
                <a:ea typeface="Arial" pitchFamily="34" charset="-122"/>
                <a:cs typeface="Arial" pitchFamily="34" charset="-120"/>
              </a:rPr>
              <a:t>What's working in your department</a:t>
            </a:r>
            <a:endParaRPr lang="en-US" sz="1200" dirty="0"/>
          </a:p>
        </p:txBody>
      </p:sp>
      <p:sp>
        <p:nvSpPr>
          <p:cNvPr id="10" name="Shape 8"/>
          <p:cNvSpPr/>
          <p:nvPr/>
        </p:nvSpPr>
        <p:spPr>
          <a:xfrm>
            <a:off x="4297680" y="2148840"/>
            <a:ext cx="3611880" cy="2743200"/>
          </a:xfrm>
          <a:prstGeom prst="roundRect">
            <a:avLst>
              <a:gd name="adj" fmla="val 2667"/>
            </a:avLst>
          </a:prstGeom>
          <a:solidFill>
            <a:srgbClr val="FFFFFF"/>
          </a:solidFill>
          <a:ln w="12700">
            <a:solidFill>
              <a:srgbClr val="E7E9EE"/>
            </a:solidFill>
            <a:prstDash val="solid"/>
          </a:ln>
          <a:effectLst>
            <a:outerShdw sx="100000" sy="100000" kx="0" ky="0" algn="bl" rotWithShape="0" blurRad="88900" dist="25400" dir="5400000">
              <a:srgbClr val="BFC4CC">
                <a:alpha val="30000"/>
              </a:srgbClr>
            </a:outerShdw>
          </a:effectLst>
        </p:spPr>
      </p:sp>
      <p:sp>
        <p:nvSpPr>
          <p:cNvPr id="11" name="Shape 9"/>
          <p:cNvSpPr/>
          <p:nvPr/>
        </p:nvSpPr>
        <p:spPr>
          <a:xfrm>
            <a:off x="4617720" y="2514600"/>
            <a:ext cx="566928" cy="566928"/>
          </a:xfrm>
          <a:prstGeom prst="ellipse">
            <a:avLst/>
          </a:prstGeom>
          <a:solidFill>
            <a:srgbClr val="FCE4EA"/>
          </a:solidFill>
          <a:ln/>
        </p:spPr>
      </p:sp>
      <p:sp>
        <p:nvSpPr>
          <p:cNvPr id="12" name="Text 10"/>
          <p:cNvSpPr/>
          <p:nvPr/>
        </p:nvSpPr>
        <p:spPr>
          <a:xfrm>
            <a:off x="4617720" y="2514600"/>
            <a:ext cx="566928" cy="566928"/>
          </a:xfrm>
          <a:prstGeom prst="rect">
            <a:avLst/>
          </a:prstGeom>
          <a:noFill/>
          <a:ln/>
        </p:spPr>
        <p:txBody>
          <a:bodyPr wrap="square" lIns="0" tIns="0" rIns="0" bIns="0" rtlCol="0" anchor="ctr"/>
          <a:lstStyle/>
          <a:p>
            <a:pPr algn="ctr" indent="0" marL="0">
              <a:buNone/>
            </a:pPr>
            <a:r>
              <a:rPr lang="en-US" sz="2200" b="1" dirty="0">
                <a:solidFill>
                  <a:srgbClr val="D31242"/>
                </a:solidFill>
                <a:latin typeface="Arial" pitchFamily="34" charset="0"/>
                <a:ea typeface="Arial" pitchFamily="34" charset="-122"/>
                <a:cs typeface="Arial" pitchFamily="34" charset="-120"/>
              </a:rPr>
              <a:t>2</a:t>
            </a:r>
            <a:endParaRPr lang="en-US" sz="2200" dirty="0"/>
          </a:p>
        </p:txBody>
      </p:sp>
      <p:sp>
        <p:nvSpPr>
          <p:cNvPr id="13" name="Text 11"/>
          <p:cNvSpPr/>
          <p:nvPr/>
        </p:nvSpPr>
        <p:spPr>
          <a:xfrm>
            <a:off x="4617720" y="3337560"/>
            <a:ext cx="2971800" cy="685800"/>
          </a:xfrm>
          <a:prstGeom prst="rect">
            <a:avLst/>
          </a:prstGeom>
          <a:noFill/>
          <a:ln/>
        </p:spPr>
        <p:txBody>
          <a:bodyPr wrap="square" lIns="0" tIns="0" rIns="0" bIns="0" rtlCol="0" anchor="t"/>
          <a:lstStyle/>
          <a:p>
            <a:pPr indent="0" marL="0">
              <a:buNone/>
            </a:pPr>
            <a:r>
              <a:rPr lang="en-US" sz="1700" b="1" dirty="0">
                <a:solidFill>
                  <a:srgbClr val="1F2733"/>
                </a:solidFill>
                <a:latin typeface="Arial" pitchFamily="34" charset="0"/>
                <a:ea typeface="Arial" pitchFamily="34" charset="-122"/>
                <a:cs typeface="Arial" pitchFamily="34" charset="-120"/>
              </a:rPr>
              <a:t>One blocker</a:t>
            </a:r>
            <a:endParaRPr lang="en-US" sz="1700" dirty="0"/>
          </a:p>
        </p:txBody>
      </p:sp>
      <p:sp>
        <p:nvSpPr>
          <p:cNvPr id="14" name="Text 12"/>
          <p:cNvSpPr/>
          <p:nvPr/>
        </p:nvSpPr>
        <p:spPr>
          <a:xfrm>
            <a:off x="4617720" y="4023360"/>
            <a:ext cx="2971800" cy="640080"/>
          </a:xfrm>
          <a:prstGeom prst="rect">
            <a:avLst/>
          </a:prstGeom>
          <a:noFill/>
          <a:ln/>
        </p:spPr>
        <p:txBody>
          <a:bodyPr wrap="square" lIns="0" tIns="0" rIns="0" bIns="0" rtlCol="0" anchor="t"/>
          <a:lstStyle/>
          <a:p>
            <a:pPr indent="0" marL="0">
              <a:buNone/>
            </a:pPr>
            <a:r>
              <a:rPr lang="en-US" sz="1200" dirty="0">
                <a:solidFill>
                  <a:srgbClr val="5E6A78"/>
                </a:solidFill>
                <a:latin typeface="Arial" pitchFamily="34" charset="0"/>
                <a:ea typeface="Arial" pitchFamily="34" charset="-122"/>
                <a:cs typeface="Arial" pitchFamily="34" charset="-120"/>
              </a:rPr>
              <a:t>Where you're stuck, or an open question</a:t>
            </a:r>
            <a:endParaRPr lang="en-US" sz="1200" dirty="0"/>
          </a:p>
        </p:txBody>
      </p:sp>
      <p:sp>
        <p:nvSpPr>
          <p:cNvPr id="15" name="Shape 13"/>
          <p:cNvSpPr/>
          <p:nvPr/>
        </p:nvSpPr>
        <p:spPr>
          <a:xfrm>
            <a:off x="8092440" y="2148840"/>
            <a:ext cx="3611880" cy="2743200"/>
          </a:xfrm>
          <a:prstGeom prst="roundRect">
            <a:avLst>
              <a:gd name="adj" fmla="val 2667"/>
            </a:avLst>
          </a:prstGeom>
          <a:solidFill>
            <a:srgbClr val="FFFFFF"/>
          </a:solidFill>
          <a:ln w="12700">
            <a:solidFill>
              <a:srgbClr val="E7E9EE"/>
            </a:solidFill>
            <a:prstDash val="solid"/>
          </a:ln>
          <a:effectLst>
            <a:outerShdw sx="100000" sy="100000" kx="0" ky="0" algn="bl" rotWithShape="0" blurRad="88900" dist="25400" dir="5400000">
              <a:srgbClr val="BFC4CC">
                <a:alpha val="30000"/>
              </a:srgbClr>
            </a:outerShdw>
          </a:effectLst>
        </p:spPr>
      </p:sp>
      <p:sp>
        <p:nvSpPr>
          <p:cNvPr id="16" name="Shape 14"/>
          <p:cNvSpPr/>
          <p:nvPr/>
        </p:nvSpPr>
        <p:spPr>
          <a:xfrm>
            <a:off x="8412480" y="2514600"/>
            <a:ext cx="566928" cy="566928"/>
          </a:xfrm>
          <a:prstGeom prst="ellipse">
            <a:avLst/>
          </a:prstGeom>
          <a:solidFill>
            <a:srgbClr val="FCE4EA"/>
          </a:solidFill>
          <a:ln/>
        </p:spPr>
      </p:sp>
      <p:sp>
        <p:nvSpPr>
          <p:cNvPr id="17" name="Text 15"/>
          <p:cNvSpPr/>
          <p:nvPr/>
        </p:nvSpPr>
        <p:spPr>
          <a:xfrm>
            <a:off x="8412480" y="2514600"/>
            <a:ext cx="566928" cy="566928"/>
          </a:xfrm>
          <a:prstGeom prst="rect">
            <a:avLst/>
          </a:prstGeom>
          <a:noFill/>
          <a:ln/>
        </p:spPr>
        <p:txBody>
          <a:bodyPr wrap="square" lIns="0" tIns="0" rIns="0" bIns="0" rtlCol="0" anchor="ctr"/>
          <a:lstStyle/>
          <a:p>
            <a:pPr algn="ctr" indent="0" marL="0">
              <a:buNone/>
            </a:pPr>
            <a:r>
              <a:rPr lang="en-US" sz="2200" b="1" dirty="0">
                <a:solidFill>
                  <a:srgbClr val="D31242"/>
                </a:solidFill>
                <a:latin typeface="Arial" pitchFamily="34" charset="0"/>
                <a:ea typeface="Arial" pitchFamily="34" charset="-122"/>
                <a:cs typeface="Arial" pitchFamily="34" charset="-120"/>
              </a:rPr>
              <a:t>3</a:t>
            </a:r>
            <a:endParaRPr lang="en-US" sz="2200" dirty="0"/>
          </a:p>
        </p:txBody>
      </p:sp>
      <p:sp>
        <p:nvSpPr>
          <p:cNvPr id="18" name="Text 16"/>
          <p:cNvSpPr/>
          <p:nvPr/>
        </p:nvSpPr>
        <p:spPr>
          <a:xfrm>
            <a:off x="8412480" y="3337560"/>
            <a:ext cx="2971800" cy="685800"/>
          </a:xfrm>
          <a:prstGeom prst="rect">
            <a:avLst/>
          </a:prstGeom>
          <a:noFill/>
          <a:ln/>
        </p:spPr>
        <p:txBody>
          <a:bodyPr wrap="square" lIns="0" tIns="0" rIns="0" bIns="0" rtlCol="0" anchor="t"/>
          <a:lstStyle/>
          <a:p>
            <a:pPr indent="0" marL="0">
              <a:buNone/>
            </a:pPr>
            <a:r>
              <a:rPr lang="en-US" sz="1700" b="1" dirty="0">
                <a:solidFill>
                  <a:srgbClr val="1F2733"/>
                </a:solidFill>
                <a:latin typeface="Arial" pitchFamily="34" charset="0"/>
                <a:ea typeface="Arial" pitchFamily="34" charset="-122"/>
                <a:cs typeface="Arial" pitchFamily="34" charset="-120"/>
              </a:rPr>
              <a:t>What your users are asking</a:t>
            </a:r>
            <a:endParaRPr lang="en-US" sz="1700" dirty="0"/>
          </a:p>
        </p:txBody>
      </p:sp>
      <p:sp>
        <p:nvSpPr>
          <p:cNvPr id="19" name="Text 17"/>
          <p:cNvSpPr/>
          <p:nvPr/>
        </p:nvSpPr>
        <p:spPr>
          <a:xfrm>
            <a:off x="8412480" y="4023360"/>
            <a:ext cx="2971800" cy="640080"/>
          </a:xfrm>
          <a:prstGeom prst="rect">
            <a:avLst/>
          </a:prstGeom>
          <a:noFill/>
          <a:ln/>
        </p:spPr>
        <p:txBody>
          <a:bodyPr wrap="square" lIns="0" tIns="0" rIns="0" bIns="0" rtlCol="0" anchor="t"/>
          <a:lstStyle/>
          <a:p>
            <a:pPr indent="0" marL="0">
              <a:buNone/>
            </a:pPr>
            <a:r>
              <a:rPr lang="en-US" sz="1200" dirty="0">
                <a:solidFill>
                  <a:srgbClr val="5E6A78"/>
                </a:solidFill>
                <a:latin typeface="Arial" pitchFamily="34" charset="0"/>
                <a:ea typeface="Arial" pitchFamily="34" charset="-122"/>
                <a:cs typeface="Arial" pitchFamily="34" charset="-120"/>
              </a:rPr>
              <a:t>Use-case themes from your AI Connect users</a:t>
            </a:r>
            <a:endParaRPr lang="en-US" sz="1200" dirty="0"/>
          </a:p>
        </p:txBody>
      </p:sp>
      <p:sp>
        <p:nvSpPr>
          <p:cNvPr id="20" name="Text 18"/>
          <p:cNvSpPr/>
          <p:nvPr/>
        </p:nvSpPr>
        <p:spPr>
          <a:xfrm>
            <a:off x="502920" y="5486400"/>
            <a:ext cx="11183112" cy="502920"/>
          </a:xfrm>
          <a:prstGeom prst="roundRect">
            <a:avLst>
              <a:gd name="adj" fmla="val 10909"/>
            </a:avLst>
          </a:prstGeom>
          <a:solidFill>
            <a:srgbClr val="D31242"/>
          </a:solid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Didn't get a turn? </a:t>
            </a:r>
            <a:pPr algn="ctr" indent="0" marL="0">
              <a:buNone/>
            </a:pPr>
            <a:r>
              <a:rPr lang="en-US" sz="1250" dirty="0">
                <a:solidFill>
                  <a:srgbClr val="FFFFFF"/>
                </a:solidFill>
                <a:latin typeface="Arial" pitchFamily="34" charset="0"/>
                <a:ea typeface="Arial" pitchFamily="34" charset="-122"/>
                <a:cs typeface="Arial" pitchFamily="34" charset="-120"/>
              </a:rPr>
              <a:t>The CD_AI Champions channel and office hours are always open.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0972800" cy="256032"/>
          </a:xfrm>
          <a:prstGeom prst="rect">
            <a:avLst/>
          </a:prstGeom>
          <a:noFill/>
          <a:ln/>
        </p:spPr>
        <p:txBody>
          <a:bodyPr wrap="square" lIns="0" tIns="0" rIns="0" bIns="0" rtlCol="0" anchor="ctr"/>
          <a:lstStyle/>
          <a:p>
            <a:pPr indent="0" marL="0">
              <a:buNone/>
            </a:pPr>
            <a:r>
              <a:rPr lang="en-US" sz="1150" b="1" spc="200" kern="0" dirty="0">
                <a:solidFill>
                  <a:srgbClr val="D31242"/>
                </a:solidFill>
                <a:latin typeface="Arial" pitchFamily="34" charset="0"/>
                <a:ea typeface="Arial" pitchFamily="34" charset="-122"/>
                <a:cs typeface="Arial" pitchFamily="34" charset="-120"/>
              </a:rPr>
              <a:t>APPENDIX</a:t>
            </a:r>
            <a:endParaRPr lang="en-US" sz="1150" dirty="0"/>
          </a:p>
        </p:txBody>
      </p:sp>
      <p:sp>
        <p:nvSpPr>
          <p:cNvPr id="3" name="Text 1"/>
          <p:cNvSpPr/>
          <p:nvPr/>
        </p:nvSpPr>
        <p:spPr>
          <a:xfrm>
            <a:off x="502920" y="621792"/>
            <a:ext cx="11201400" cy="512064"/>
          </a:xfrm>
          <a:prstGeom prst="rect">
            <a:avLst/>
          </a:prstGeom>
          <a:noFill/>
          <a:ln/>
        </p:spPr>
        <p:txBody>
          <a:bodyPr wrap="square" lIns="0" tIns="0" rIns="0" bIns="0" rtlCol="0" anchor="ctr"/>
          <a:lstStyle/>
          <a:p>
            <a:pPr indent="0" marL="0">
              <a:buNone/>
            </a:pPr>
            <a:r>
              <a:rPr lang="en-US" sz="2500" b="1" dirty="0">
                <a:solidFill>
                  <a:srgbClr val="1F2733"/>
                </a:solidFill>
                <a:latin typeface="Arial" pitchFamily="34" charset="0"/>
                <a:ea typeface="Arial" pitchFamily="34" charset="-122"/>
                <a:cs typeface="Arial" pitchFamily="34" charset="-120"/>
              </a:rPr>
              <a:t>EVP check-in: one-page template</a:t>
            </a:r>
            <a:endParaRPr lang="en-US" sz="2500" dirty="0"/>
          </a:p>
        </p:txBody>
      </p:sp>
      <p:sp>
        <p:nvSpPr>
          <p:cNvPr id="4" name="Text 2"/>
          <p:cNvSpPr/>
          <p:nvPr/>
        </p:nvSpPr>
        <p:spPr>
          <a:xfrm>
            <a:off x="502920" y="1133856"/>
            <a:ext cx="11201400" cy="320040"/>
          </a:xfrm>
          <a:prstGeom prst="rect">
            <a:avLst/>
          </a:prstGeom>
          <a:noFill/>
          <a:ln/>
        </p:spPr>
        <p:txBody>
          <a:bodyPr wrap="square" lIns="0" tIns="0" rIns="0" bIns="0" rtlCol="0" anchor="ctr"/>
          <a:lstStyle/>
          <a:p>
            <a:pPr indent="0" marL="0">
              <a:buNone/>
            </a:pPr>
            <a:r>
              <a:rPr lang="en-US" sz="1350" dirty="0">
                <a:solidFill>
                  <a:srgbClr val="5E6A78"/>
                </a:solidFill>
                <a:latin typeface="Arial" pitchFamily="34" charset="0"/>
                <a:ea typeface="Arial" pitchFamily="34" charset="-122"/>
                <a:cs typeface="Arial" pitchFamily="34" charset="-120"/>
              </a:rPr>
              <a:t>Monthly, 30 to 60 minutes, and your first one is next week. Fill this in the day before. Three sections, nothing more.</a:t>
            </a:r>
            <a:endParaRPr lang="en-US" sz="1350" dirty="0"/>
          </a:p>
        </p:txBody>
      </p:sp>
      <p:sp>
        <p:nvSpPr>
          <p:cNvPr id="5" name="Shape 3"/>
          <p:cNvSpPr/>
          <p:nvPr/>
        </p:nvSpPr>
        <p:spPr>
          <a:xfrm>
            <a:off x="502920" y="1645920"/>
            <a:ext cx="11201400" cy="1371600"/>
          </a:xfrm>
          <a:prstGeom prst="roundRect">
            <a:avLst>
              <a:gd name="adj" fmla="val 5333"/>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6" name="Shape 4"/>
          <p:cNvSpPr/>
          <p:nvPr/>
        </p:nvSpPr>
        <p:spPr>
          <a:xfrm>
            <a:off x="502920" y="1755648"/>
            <a:ext cx="82296" cy="1152144"/>
          </a:xfrm>
          <a:prstGeom prst="roundRect">
            <a:avLst>
              <a:gd name="adj" fmla="val 44444"/>
            </a:avLst>
          </a:prstGeom>
          <a:solidFill>
            <a:srgbClr val="D31242"/>
          </a:solidFill>
          <a:ln/>
        </p:spPr>
      </p:sp>
      <p:sp>
        <p:nvSpPr>
          <p:cNvPr id="7" name="Text 5"/>
          <p:cNvSpPr/>
          <p:nvPr/>
        </p:nvSpPr>
        <p:spPr>
          <a:xfrm>
            <a:off x="777240" y="1810512"/>
            <a:ext cx="457200" cy="457200"/>
          </a:xfrm>
          <a:prstGeom prst="rect">
            <a:avLst/>
          </a:prstGeom>
          <a:noFill/>
          <a:ln/>
        </p:spPr>
        <p:txBody>
          <a:bodyPr wrap="square" lIns="0" tIns="0" rIns="0" bIns="0" rtlCol="0" anchor="ctr"/>
          <a:lstStyle/>
          <a:p>
            <a:pPr indent="0" marL="0">
              <a:buNone/>
            </a:pPr>
            <a:r>
              <a:rPr lang="en-US" sz="2200" b="1" dirty="0">
                <a:solidFill>
                  <a:srgbClr val="D31242"/>
                </a:solidFill>
                <a:latin typeface="Arial" pitchFamily="34" charset="0"/>
                <a:ea typeface="Arial" pitchFamily="34" charset="-122"/>
                <a:cs typeface="Arial" pitchFamily="34" charset="-120"/>
              </a:rPr>
              <a:t>1</a:t>
            </a:r>
            <a:endParaRPr lang="en-US" sz="2200" dirty="0"/>
          </a:p>
        </p:txBody>
      </p:sp>
      <p:sp>
        <p:nvSpPr>
          <p:cNvPr id="8" name="Text 6"/>
          <p:cNvSpPr/>
          <p:nvPr/>
        </p:nvSpPr>
        <p:spPr>
          <a:xfrm>
            <a:off x="1371600" y="1792224"/>
            <a:ext cx="4937760" cy="274320"/>
          </a:xfrm>
          <a:prstGeom prst="rect">
            <a:avLst/>
          </a:prstGeom>
          <a:noFill/>
          <a:ln/>
        </p:spPr>
        <p:txBody>
          <a:bodyPr wrap="square" lIns="0" tIns="0" rIns="0" bIns="0" rtlCol="0" anchor="ctr"/>
          <a:lstStyle/>
          <a:p>
            <a:pPr indent="0" marL="0">
              <a:buNone/>
            </a:pPr>
            <a:r>
              <a:rPr lang="en-US" sz="1350" b="1" spc="50" kern="0" dirty="0">
                <a:solidFill>
                  <a:srgbClr val="1F2733"/>
                </a:solidFill>
                <a:latin typeface="Arial" pitchFamily="34" charset="0"/>
                <a:ea typeface="Arial" pitchFamily="34" charset="-122"/>
                <a:cs typeface="Arial" pitchFamily="34" charset="-120"/>
              </a:rPr>
              <a:t>PROGRESS</a:t>
            </a:r>
            <a:endParaRPr lang="en-US" sz="1350" dirty="0"/>
          </a:p>
        </p:txBody>
      </p:sp>
      <p:sp>
        <p:nvSpPr>
          <p:cNvPr id="9" name="Text 7"/>
          <p:cNvSpPr/>
          <p:nvPr/>
        </p:nvSpPr>
        <p:spPr>
          <a:xfrm>
            <a:off x="1371600" y="2066544"/>
            <a:ext cx="4937760" cy="256032"/>
          </a:xfrm>
          <a:prstGeom prst="rect">
            <a:avLst/>
          </a:prstGeom>
          <a:noFill/>
          <a:ln/>
        </p:spPr>
        <p:txBody>
          <a:bodyPr wrap="square" lIns="0" tIns="0" rIns="0" bIns="0" rtlCol="0" anchor="ctr"/>
          <a:lstStyle/>
          <a:p>
            <a:pPr indent="0" marL="0">
              <a:buNone/>
            </a:pPr>
            <a:r>
              <a:rPr lang="en-US" sz="1050" i="1" dirty="0">
                <a:solidFill>
                  <a:srgbClr val="5E6A78"/>
                </a:solidFill>
                <a:latin typeface="Arial" pitchFamily="34" charset="0"/>
                <a:ea typeface="Arial" pitchFamily="34" charset="-122"/>
                <a:cs typeface="Arial" pitchFamily="34" charset="-120"/>
              </a:rPr>
              <a:t>Since the last check-in</a:t>
            </a:r>
            <a:endParaRPr lang="en-US" sz="1050" dirty="0"/>
          </a:p>
        </p:txBody>
      </p:sp>
      <p:sp>
        <p:nvSpPr>
          <p:cNvPr id="10" name="Shape 8"/>
          <p:cNvSpPr/>
          <p:nvPr/>
        </p:nvSpPr>
        <p:spPr>
          <a:xfrm>
            <a:off x="6629400" y="1865376"/>
            <a:ext cx="73152" cy="73152"/>
          </a:xfrm>
          <a:prstGeom prst="ellipse">
            <a:avLst/>
          </a:prstGeom>
          <a:solidFill>
            <a:srgbClr val="D31242"/>
          </a:solidFill>
          <a:ln/>
        </p:spPr>
      </p:sp>
      <p:sp>
        <p:nvSpPr>
          <p:cNvPr id="11" name="Text 9"/>
          <p:cNvSpPr/>
          <p:nvPr/>
        </p:nvSpPr>
        <p:spPr>
          <a:xfrm>
            <a:off x="6812280" y="1755648"/>
            <a:ext cx="4754880" cy="365760"/>
          </a:xfrm>
          <a:prstGeom prst="rect">
            <a:avLst/>
          </a:prstGeom>
          <a:noFill/>
          <a:ln/>
        </p:spPr>
        <p:txBody>
          <a:bodyPr wrap="square" lIns="0" tIns="0" rIns="0" bIns="0" rtlCol="0" anchor="ctr"/>
          <a:lstStyle/>
          <a:p>
            <a:pPr indent="0" marL="0">
              <a:buNone/>
            </a:pPr>
            <a:r>
              <a:rPr lang="en-US" sz="1050" dirty="0">
                <a:solidFill>
                  <a:srgbClr val="1F2733"/>
                </a:solidFill>
                <a:latin typeface="Arial" pitchFamily="34" charset="0"/>
                <a:ea typeface="Arial" pitchFamily="34" charset="-122"/>
                <a:cs typeface="Arial" pitchFamily="34" charset="-120"/>
              </a:rPr>
              <a:t>Trainings completed and tools in regular use</a:t>
            </a:r>
            <a:endParaRPr lang="en-US" sz="1050" dirty="0"/>
          </a:p>
        </p:txBody>
      </p:sp>
      <p:sp>
        <p:nvSpPr>
          <p:cNvPr id="12" name="Shape 10"/>
          <p:cNvSpPr/>
          <p:nvPr/>
        </p:nvSpPr>
        <p:spPr>
          <a:xfrm>
            <a:off x="6629400" y="2249424"/>
            <a:ext cx="73152" cy="73152"/>
          </a:xfrm>
          <a:prstGeom prst="ellipse">
            <a:avLst/>
          </a:prstGeom>
          <a:solidFill>
            <a:srgbClr val="D31242"/>
          </a:solidFill>
          <a:ln/>
        </p:spPr>
      </p:sp>
      <p:sp>
        <p:nvSpPr>
          <p:cNvPr id="13" name="Text 11"/>
          <p:cNvSpPr/>
          <p:nvPr/>
        </p:nvSpPr>
        <p:spPr>
          <a:xfrm>
            <a:off x="6812280" y="2139696"/>
            <a:ext cx="4754880" cy="365760"/>
          </a:xfrm>
          <a:prstGeom prst="rect">
            <a:avLst/>
          </a:prstGeom>
          <a:noFill/>
          <a:ln/>
        </p:spPr>
        <p:txBody>
          <a:bodyPr wrap="square" lIns="0" tIns="0" rIns="0" bIns="0" rtlCol="0" anchor="ctr"/>
          <a:lstStyle/>
          <a:p>
            <a:pPr indent="0" marL="0">
              <a:buNone/>
            </a:pPr>
            <a:r>
              <a:rPr lang="en-US" sz="1050" dirty="0">
                <a:solidFill>
                  <a:srgbClr val="1F2733"/>
                </a:solidFill>
                <a:latin typeface="Arial" pitchFamily="34" charset="0"/>
                <a:ea typeface="Arial" pitchFamily="34" charset="-122"/>
                <a:cs typeface="Arial" pitchFamily="34" charset="-120"/>
              </a:rPr>
              <a:t>Use cases submitted (yours and your Connect users')</a:t>
            </a:r>
            <a:endParaRPr lang="en-US" sz="1050" dirty="0"/>
          </a:p>
        </p:txBody>
      </p:sp>
      <p:sp>
        <p:nvSpPr>
          <p:cNvPr id="14" name="Shape 12"/>
          <p:cNvSpPr/>
          <p:nvPr/>
        </p:nvSpPr>
        <p:spPr>
          <a:xfrm>
            <a:off x="6629400" y="2633472"/>
            <a:ext cx="73152" cy="73152"/>
          </a:xfrm>
          <a:prstGeom prst="ellipse">
            <a:avLst/>
          </a:prstGeom>
          <a:solidFill>
            <a:srgbClr val="D31242"/>
          </a:solidFill>
          <a:ln/>
        </p:spPr>
      </p:sp>
      <p:sp>
        <p:nvSpPr>
          <p:cNvPr id="15" name="Text 13"/>
          <p:cNvSpPr/>
          <p:nvPr/>
        </p:nvSpPr>
        <p:spPr>
          <a:xfrm>
            <a:off x="6812280" y="2523744"/>
            <a:ext cx="4754880" cy="365760"/>
          </a:xfrm>
          <a:prstGeom prst="rect">
            <a:avLst/>
          </a:prstGeom>
          <a:noFill/>
          <a:ln/>
        </p:spPr>
        <p:txBody>
          <a:bodyPr wrap="square" lIns="0" tIns="0" rIns="0" bIns="0" rtlCol="0" anchor="ctr"/>
          <a:lstStyle/>
          <a:p>
            <a:pPr indent="0" marL="0">
              <a:buNone/>
            </a:pPr>
            <a:r>
              <a:rPr lang="en-US" sz="1050" dirty="0">
                <a:solidFill>
                  <a:srgbClr val="1F2733"/>
                </a:solidFill>
                <a:latin typeface="Arial" pitchFamily="34" charset="0"/>
                <a:ea typeface="Arial" pitchFamily="34" charset="-122"/>
                <a:cs typeface="Arial" pitchFamily="34" charset="-120"/>
              </a:rPr>
              <a:t>Where your Connect users are against their milestones</a:t>
            </a:r>
            <a:endParaRPr lang="en-US" sz="1050" dirty="0"/>
          </a:p>
        </p:txBody>
      </p:sp>
      <p:sp>
        <p:nvSpPr>
          <p:cNvPr id="16" name="Shape 14"/>
          <p:cNvSpPr/>
          <p:nvPr/>
        </p:nvSpPr>
        <p:spPr>
          <a:xfrm>
            <a:off x="502920" y="3163824"/>
            <a:ext cx="11201400" cy="1371600"/>
          </a:xfrm>
          <a:prstGeom prst="roundRect">
            <a:avLst>
              <a:gd name="adj" fmla="val 5333"/>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17" name="Shape 15"/>
          <p:cNvSpPr/>
          <p:nvPr/>
        </p:nvSpPr>
        <p:spPr>
          <a:xfrm>
            <a:off x="502920" y="3273552"/>
            <a:ext cx="82296" cy="1152144"/>
          </a:xfrm>
          <a:prstGeom prst="roundRect">
            <a:avLst>
              <a:gd name="adj" fmla="val 44444"/>
            </a:avLst>
          </a:prstGeom>
          <a:solidFill>
            <a:srgbClr val="D31242"/>
          </a:solidFill>
          <a:ln/>
        </p:spPr>
      </p:sp>
      <p:sp>
        <p:nvSpPr>
          <p:cNvPr id="18" name="Text 16"/>
          <p:cNvSpPr/>
          <p:nvPr/>
        </p:nvSpPr>
        <p:spPr>
          <a:xfrm>
            <a:off x="777240" y="3328416"/>
            <a:ext cx="457200" cy="457200"/>
          </a:xfrm>
          <a:prstGeom prst="rect">
            <a:avLst/>
          </a:prstGeom>
          <a:noFill/>
          <a:ln/>
        </p:spPr>
        <p:txBody>
          <a:bodyPr wrap="square" lIns="0" tIns="0" rIns="0" bIns="0" rtlCol="0" anchor="ctr"/>
          <a:lstStyle/>
          <a:p>
            <a:pPr indent="0" marL="0">
              <a:buNone/>
            </a:pPr>
            <a:r>
              <a:rPr lang="en-US" sz="2200" b="1" dirty="0">
                <a:solidFill>
                  <a:srgbClr val="D31242"/>
                </a:solidFill>
                <a:latin typeface="Arial" pitchFamily="34" charset="0"/>
                <a:ea typeface="Arial" pitchFamily="34" charset="-122"/>
                <a:cs typeface="Arial" pitchFamily="34" charset="-120"/>
              </a:rPr>
              <a:t>2</a:t>
            </a:r>
            <a:endParaRPr lang="en-US" sz="2200" dirty="0"/>
          </a:p>
        </p:txBody>
      </p:sp>
      <p:sp>
        <p:nvSpPr>
          <p:cNvPr id="19" name="Text 17"/>
          <p:cNvSpPr/>
          <p:nvPr/>
        </p:nvSpPr>
        <p:spPr>
          <a:xfrm>
            <a:off x="1371600" y="3310128"/>
            <a:ext cx="4937760" cy="274320"/>
          </a:xfrm>
          <a:prstGeom prst="rect">
            <a:avLst/>
          </a:prstGeom>
          <a:noFill/>
          <a:ln/>
        </p:spPr>
        <p:txBody>
          <a:bodyPr wrap="square" lIns="0" tIns="0" rIns="0" bIns="0" rtlCol="0" anchor="ctr"/>
          <a:lstStyle/>
          <a:p>
            <a:pPr indent="0" marL="0">
              <a:buNone/>
            </a:pPr>
            <a:r>
              <a:rPr lang="en-US" sz="1350" b="1" spc="50" kern="0" dirty="0">
                <a:solidFill>
                  <a:srgbClr val="1F2733"/>
                </a:solidFill>
                <a:latin typeface="Arial" pitchFamily="34" charset="0"/>
                <a:ea typeface="Arial" pitchFamily="34" charset="-122"/>
                <a:cs typeface="Arial" pitchFamily="34" charset="-120"/>
              </a:rPr>
              <a:t>FEEDBACK</a:t>
            </a:r>
            <a:endParaRPr lang="en-US" sz="1350" dirty="0"/>
          </a:p>
        </p:txBody>
      </p:sp>
      <p:sp>
        <p:nvSpPr>
          <p:cNvPr id="20" name="Text 18"/>
          <p:cNvSpPr/>
          <p:nvPr/>
        </p:nvSpPr>
        <p:spPr>
          <a:xfrm>
            <a:off x="1371600" y="3584448"/>
            <a:ext cx="4937760" cy="256032"/>
          </a:xfrm>
          <a:prstGeom prst="rect">
            <a:avLst/>
          </a:prstGeom>
          <a:noFill/>
          <a:ln/>
        </p:spPr>
        <p:txBody>
          <a:bodyPr wrap="square" lIns="0" tIns="0" rIns="0" bIns="0" rtlCol="0" anchor="ctr"/>
          <a:lstStyle/>
          <a:p>
            <a:pPr indent="0" marL="0">
              <a:buNone/>
            </a:pPr>
            <a:r>
              <a:rPr lang="en-US" sz="1050" i="1" dirty="0">
                <a:solidFill>
                  <a:srgbClr val="5E6A78"/>
                </a:solidFill>
                <a:latin typeface="Arial" pitchFamily="34" charset="0"/>
                <a:ea typeface="Arial" pitchFamily="34" charset="-122"/>
                <a:cs typeface="Arial" pitchFamily="34" charset="-120"/>
              </a:rPr>
              <a:t>What you're hearing and hitting</a:t>
            </a:r>
            <a:endParaRPr lang="en-US" sz="1050" dirty="0"/>
          </a:p>
        </p:txBody>
      </p:sp>
      <p:sp>
        <p:nvSpPr>
          <p:cNvPr id="21" name="Shape 19"/>
          <p:cNvSpPr/>
          <p:nvPr/>
        </p:nvSpPr>
        <p:spPr>
          <a:xfrm>
            <a:off x="6629400" y="3383280"/>
            <a:ext cx="73152" cy="73152"/>
          </a:xfrm>
          <a:prstGeom prst="ellipse">
            <a:avLst/>
          </a:prstGeom>
          <a:solidFill>
            <a:srgbClr val="D31242"/>
          </a:solidFill>
          <a:ln/>
        </p:spPr>
      </p:sp>
      <p:sp>
        <p:nvSpPr>
          <p:cNvPr id="22" name="Text 20"/>
          <p:cNvSpPr/>
          <p:nvPr/>
        </p:nvSpPr>
        <p:spPr>
          <a:xfrm>
            <a:off x="6812280" y="3273552"/>
            <a:ext cx="4754880" cy="365760"/>
          </a:xfrm>
          <a:prstGeom prst="rect">
            <a:avLst/>
          </a:prstGeom>
          <a:noFill/>
          <a:ln/>
        </p:spPr>
        <p:txBody>
          <a:bodyPr wrap="square" lIns="0" tIns="0" rIns="0" bIns="0" rtlCol="0" anchor="ctr"/>
          <a:lstStyle/>
          <a:p>
            <a:pPr indent="0" marL="0">
              <a:buNone/>
            </a:pPr>
            <a:r>
              <a:rPr lang="en-US" sz="1050" dirty="0">
                <a:solidFill>
                  <a:srgbClr val="1F2733"/>
                </a:solidFill>
                <a:latin typeface="Arial" pitchFamily="34" charset="0"/>
                <a:ea typeface="Arial" pitchFamily="34" charset="-122"/>
                <a:cs typeface="Arial" pitchFamily="34" charset="-120"/>
              </a:rPr>
              <a:t>What's working in the department</a:t>
            </a:r>
            <a:endParaRPr lang="en-US" sz="1050" dirty="0"/>
          </a:p>
        </p:txBody>
      </p:sp>
      <p:sp>
        <p:nvSpPr>
          <p:cNvPr id="23" name="Shape 21"/>
          <p:cNvSpPr/>
          <p:nvPr/>
        </p:nvSpPr>
        <p:spPr>
          <a:xfrm>
            <a:off x="6629400" y="3767328"/>
            <a:ext cx="73152" cy="73152"/>
          </a:xfrm>
          <a:prstGeom prst="ellipse">
            <a:avLst/>
          </a:prstGeom>
          <a:solidFill>
            <a:srgbClr val="D31242"/>
          </a:solidFill>
          <a:ln/>
        </p:spPr>
      </p:sp>
      <p:sp>
        <p:nvSpPr>
          <p:cNvPr id="24" name="Text 22"/>
          <p:cNvSpPr/>
          <p:nvPr/>
        </p:nvSpPr>
        <p:spPr>
          <a:xfrm>
            <a:off x="6812280" y="3657600"/>
            <a:ext cx="4754880" cy="365760"/>
          </a:xfrm>
          <a:prstGeom prst="rect">
            <a:avLst/>
          </a:prstGeom>
          <a:noFill/>
          <a:ln/>
        </p:spPr>
        <p:txBody>
          <a:bodyPr wrap="square" lIns="0" tIns="0" rIns="0" bIns="0" rtlCol="0" anchor="ctr"/>
          <a:lstStyle/>
          <a:p>
            <a:pPr indent="0" marL="0">
              <a:buNone/>
            </a:pPr>
            <a:r>
              <a:rPr lang="en-US" sz="1050" dirty="0">
                <a:solidFill>
                  <a:srgbClr val="1F2733"/>
                </a:solidFill>
                <a:latin typeface="Arial" pitchFamily="34" charset="0"/>
                <a:ea typeface="Arial" pitchFamily="34" charset="-122"/>
                <a:cs typeface="Arial" pitchFamily="34" charset="-120"/>
              </a:rPr>
              <a:t>What's blocking you or your users</a:t>
            </a:r>
            <a:endParaRPr lang="en-US" sz="1050" dirty="0"/>
          </a:p>
        </p:txBody>
      </p:sp>
      <p:sp>
        <p:nvSpPr>
          <p:cNvPr id="25" name="Shape 23"/>
          <p:cNvSpPr/>
          <p:nvPr/>
        </p:nvSpPr>
        <p:spPr>
          <a:xfrm>
            <a:off x="6629400" y="4151376"/>
            <a:ext cx="73152" cy="73152"/>
          </a:xfrm>
          <a:prstGeom prst="ellipse">
            <a:avLst/>
          </a:prstGeom>
          <a:solidFill>
            <a:srgbClr val="D31242"/>
          </a:solidFill>
          <a:ln/>
        </p:spPr>
      </p:sp>
      <p:sp>
        <p:nvSpPr>
          <p:cNvPr id="26" name="Text 24"/>
          <p:cNvSpPr/>
          <p:nvPr/>
        </p:nvSpPr>
        <p:spPr>
          <a:xfrm>
            <a:off x="6812280" y="4041648"/>
            <a:ext cx="4754880" cy="365760"/>
          </a:xfrm>
          <a:prstGeom prst="rect">
            <a:avLst/>
          </a:prstGeom>
          <a:noFill/>
          <a:ln/>
        </p:spPr>
        <p:txBody>
          <a:bodyPr wrap="square" lIns="0" tIns="0" rIns="0" bIns="0" rtlCol="0" anchor="ctr"/>
          <a:lstStyle/>
          <a:p>
            <a:pPr indent="0" marL="0">
              <a:buNone/>
            </a:pPr>
            <a:r>
              <a:rPr lang="en-US" sz="1050" dirty="0">
                <a:solidFill>
                  <a:srgbClr val="1F2733"/>
                </a:solidFill>
                <a:latin typeface="Arial" pitchFamily="34" charset="0"/>
                <a:ea typeface="Arial" pitchFamily="34" charset="-122"/>
                <a:cs typeface="Arial" pitchFamily="34" charset="-120"/>
              </a:rPr>
              <a:t>What you need from your EVP to move faster</a:t>
            </a:r>
            <a:endParaRPr lang="en-US" sz="1050" dirty="0"/>
          </a:p>
        </p:txBody>
      </p:sp>
      <p:sp>
        <p:nvSpPr>
          <p:cNvPr id="27" name="Shape 25"/>
          <p:cNvSpPr/>
          <p:nvPr/>
        </p:nvSpPr>
        <p:spPr>
          <a:xfrm>
            <a:off x="502920" y="4681728"/>
            <a:ext cx="11201400" cy="1371600"/>
          </a:xfrm>
          <a:prstGeom prst="roundRect">
            <a:avLst>
              <a:gd name="adj" fmla="val 5333"/>
            </a:avLst>
          </a:prstGeom>
          <a:solidFill>
            <a:srgbClr val="FFFFFF"/>
          </a:solidFill>
          <a:ln w="12700">
            <a:solidFill>
              <a:srgbClr val="E7E9EE"/>
            </a:solidFill>
            <a:prstDash val="solid"/>
          </a:ln>
          <a:effectLst>
            <a:outerShdw sx="100000" sy="100000" kx="0" ky="0" algn="bl" rotWithShape="0" blurRad="76200" dist="25400" dir="5400000">
              <a:srgbClr val="BFC4CC">
                <a:alpha val="28000"/>
              </a:srgbClr>
            </a:outerShdw>
          </a:effectLst>
        </p:spPr>
      </p:sp>
      <p:sp>
        <p:nvSpPr>
          <p:cNvPr id="28" name="Shape 26"/>
          <p:cNvSpPr/>
          <p:nvPr/>
        </p:nvSpPr>
        <p:spPr>
          <a:xfrm>
            <a:off x="502920" y="4791456"/>
            <a:ext cx="82296" cy="1152144"/>
          </a:xfrm>
          <a:prstGeom prst="roundRect">
            <a:avLst>
              <a:gd name="adj" fmla="val 44444"/>
            </a:avLst>
          </a:prstGeom>
          <a:solidFill>
            <a:srgbClr val="D31242"/>
          </a:solidFill>
          <a:ln/>
        </p:spPr>
      </p:sp>
      <p:sp>
        <p:nvSpPr>
          <p:cNvPr id="29" name="Text 27"/>
          <p:cNvSpPr/>
          <p:nvPr/>
        </p:nvSpPr>
        <p:spPr>
          <a:xfrm>
            <a:off x="777240" y="4846320"/>
            <a:ext cx="457200" cy="457200"/>
          </a:xfrm>
          <a:prstGeom prst="rect">
            <a:avLst/>
          </a:prstGeom>
          <a:noFill/>
          <a:ln/>
        </p:spPr>
        <p:txBody>
          <a:bodyPr wrap="square" lIns="0" tIns="0" rIns="0" bIns="0" rtlCol="0" anchor="ctr"/>
          <a:lstStyle/>
          <a:p>
            <a:pPr indent="0" marL="0">
              <a:buNone/>
            </a:pPr>
            <a:r>
              <a:rPr lang="en-US" sz="2200" b="1" dirty="0">
                <a:solidFill>
                  <a:srgbClr val="D31242"/>
                </a:solidFill>
                <a:latin typeface="Arial" pitchFamily="34" charset="0"/>
                <a:ea typeface="Arial" pitchFamily="34" charset="-122"/>
                <a:cs typeface="Arial" pitchFamily="34" charset="-120"/>
              </a:rPr>
              <a:t>3</a:t>
            </a:r>
            <a:endParaRPr lang="en-US" sz="2200" dirty="0"/>
          </a:p>
        </p:txBody>
      </p:sp>
      <p:sp>
        <p:nvSpPr>
          <p:cNvPr id="30" name="Text 28"/>
          <p:cNvSpPr/>
          <p:nvPr/>
        </p:nvSpPr>
        <p:spPr>
          <a:xfrm>
            <a:off x="1371600" y="4828032"/>
            <a:ext cx="4937760" cy="274320"/>
          </a:xfrm>
          <a:prstGeom prst="rect">
            <a:avLst/>
          </a:prstGeom>
          <a:noFill/>
          <a:ln/>
        </p:spPr>
        <p:txBody>
          <a:bodyPr wrap="square" lIns="0" tIns="0" rIns="0" bIns="0" rtlCol="0" anchor="ctr"/>
          <a:lstStyle/>
          <a:p>
            <a:pPr indent="0" marL="0">
              <a:buNone/>
            </a:pPr>
            <a:r>
              <a:rPr lang="en-US" sz="1350" b="1" spc="50" kern="0" dirty="0">
                <a:solidFill>
                  <a:srgbClr val="1F2733"/>
                </a:solidFill>
                <a:latin typeface="Arial" pitchFamily="34" charset="0"/>
                <a:ea typeface="Arial" pitchFamily="34" charset="-122"/>
                <a:cs typeface="Arial" pitchFamily="34" charset="-120"/>
              </a:rPr>
              <a:t>TOP TWO AI OPPORTUNITIES</a:t>
            </a:r>
            <a:endParaRPr lang="en-US" sz="1350" dirty="0"/>
          </a:p>
        </p:txBody>
      </p:sp>
      <p:sp>
        <p:nvSpPr>
          <p:cNvPr id="31" name="Text 29"/>
          <p:cNvSpPr/>
          <p:nvPr/>
        </p:nvSpPr>
        <p:spPr>
          <a:xfrm>
            <a:off x="1371600" y="5102352"/>
            <a:ext cx="4937760" cy="256032"/>
          </a:xfrm>
          <a:prstGeom prst="rect">
            <a:avLst/>
          </a:prstGeom>
          <a:noFill/>
          <a:ln/>
        </p:spPr>
        <p:txBody>
          <a:bodyPr wrap="square" lIns="0" tIns="0" rIns="0" bIns="0" rtlCol="0" anchor="ctr"/>
          <a:lstStyle/>
          <a:p>
            <a:pPr indent="0" marL="0">
              <a:buNone/>
            </a:pPr>
            <a:r>
              <a:rPr lang="en-US" sz="1050" i="1" dirty="0">
                <a:solidFill>
                  <a:srgbClr val="5E6A78"/>
                </a:solidFill>
                <a:latin typeface="Arial" pitchFamily="34" charset="0"/>
                <a:ea typeface="Arial" pitchFamily="34" charset="-122"/>
                <a:cs typeface="Arial" pitchFamily="34" charset="-120"/>
              </a:rPr>
              <a:t>The two strongest candidates in your department</a:t>
            </a:r>
            <a:endParaRPr lang="en-US" sz="1050" dirty="0"/>
          </a:p>
        </p:txBody>
      </p:sp>
      <p:sp>
        <p:nvSpPr>
          <p:cNvPr id="32" name="Shape 30"/>
          <p:cNvSpPr/>
          <p:nvPr/>
        </p:nvSpPr>
        <p:spPr>
          <a:xfrm>
            <a:off x="6629400" y="4901184"/>
            <a:ext cx="73152" cy="73152"/>
          </a:xfrm>
          <a:prstGeom prst="ellipse">
            <a:avLst/>
          </a:prstGeom>
          <a:solidFill>
            <a:srgbClr val="D31242"/>
          </a:solidFill>
          <a:ln/>
        </p:spPr>
      </p:sp>
      <p:sp>
        <p:nvSpPr>
          <p:cNvPr id="33" name="Text 31"/>
          <p:cNvSpPr/>
          <p:nvPr/>
        </p:nvSpPr>
        <p:spPr>
          <a:xfrm>
            <a:off x="6812280" y="4791456"/>
            <a:ext cx="4754880" cy="365760"/>
          </a:xfrm>
          <a:prstGeom prst="rect">
            <a:avLst/>
          </a:prstGeom>
          <a:noFill/>
          <a:ln/>
        </p:spPr>
        <p:txBody>
          <a:bodyPr wrap="square" lIns="0" tIns="0" rIns="0" bIns="0" rtlCol="0" anchor="ctr"/>
          <a:lstStyle/>
          <a:p>
            <a:pPr indent="0" marL="0">
              <a:buNone/>
            </a:pPr>
            <a:r>
              <a:rPr lang="en-US" sz="1050" dirty="0">
                <a:solidFill>
                  <a:srgbClr val="1F2733"/>
                </a:solidFill>
                <a:latin typeface="Arial" pitchFamily="34" charset="0"/>
                <a:ea typeface="Arial" pitchFamily="34" charset="-122"/>
                <a:cs typeface="Arial" pitchFamily="34" charset="-120"/>
              </a:rPr>
              <a:t>Opportunity 1: the task, the tool, the expected impact</a:t>
            </a:r>
            <a:endParaRPr lang="en-US" sz="1050" dirty="0"/>
          </a:p>
        </p:txBody>
      </p:sp>
      <p:sp>
        <p:nvSpPr>
          <p:cNvPr id="34" name="Shape 32"/>
          <p:cNvSpPr/>
          <p:nvPr/>
        </p:nvSpPr>
        <p:spPr>
          <a:xfrm>
            <a:off x="6629400" y="5285232"/>
            <a:ext cx="73152" cy="73152"/>
          </a:xfrm>
          <a:prstGeom prst="ellipse">
            <a:avLst/>
          </a:prstGeom>
          <a:solidFill>
            <a:srgbClr val="D31242"/>
          </a:solidFill>
          <a:ln/>
        </p:spPr>
      </p:sp>
      <p:sp>
        <p:nvSpPr>
          <p:cNvPr id="35" name="Text 33"/>
          <p:cNvSpPr/>
          <p:nvPr/>
        </p:nvSpPr>
        <p:spPr>
          <a:xfrm>
            <a:off x="6812280" y="5175504"/>
            <a:ext cx="4754880" cy="365760"/>
          </a:xfrm>
          <a:prstGeom prst="rect">
            <a:avLst/>
          </a:prstGeom>
          <a:noFill/>
          <a:ln/>
        </p:spPr>
        <p:txBody>
          <a:bodyPr wrap="square" lIns="0" tIns="0" rIns="0" bIns="0" rtlCol="0" anchor="ctr"/>
          <a:lstStyle/>
          <a:p>
            <a:pPr indent="0" marL="0">
              <a:buNone/>
            </a:pPr>
            <a:r>
              <a:rPr lang="en-US" sz="1050" dirty="0">
                <a:solidFill>
                  <a:srgbClr val="1F2733"/>
                </a:solidFill>
                <a:latin typeface="Arial" pitchFamily="34" charset="0"/>
                <a:ea typeface="Arial" pitchFamily="34" charset="-122"/>
                <a:cs typeface="Arial" pitchFamily="34" charset="-120"/>
              </a:rPr>
              <a:t>Opportunity 2: the task, the tool, the expected impact</a:t>
            </a:r>
            <a:endParaRPr lang="en-US" sz="1050" dirty="0"/>
          </a:p>
        </p:txBody>
      </p:sp>
      <p:sp>
        <p:nvSpPr>
          <p:cNvPr id="36" name="Shape 34"/>
          <p:cNvSpPr/>
          <p:nvPr/>
        </p:nvSpPr>
        <p:spPr>
          <a:xfrm>
            <a:off x="6629400" y="5669280"/>
            <a:ext cx="73152" cy="73152"/>
          </a:xfrm>
          <a:prstGeom prst="ellipse">
            <a:avLst/>
          </a:prstGeom>
          <a:solidFill>
            <a:srgbClr val="D31242"/>
          </a:solidFill>
          <a:ln/>
        </p:spPr>
      </p:sp>
      <p:sp>
        <p:nvSpPr>
          <p:cNvPr id="37" name="Text 35"/>
          <p:cNvSpPr/>
          <p:nvPr/>
        </p:nvSpPr>
        <p:spPr>
          <a:xfrm>
            <a:off x="6812280" y="5559552"/>
            <a:ext cx="4754880" cy="365760"/>
          </a:xfrm>
          <a:prstGeom prst="rect">
            <a:avLst/>
          </a:prstGeom>
          <a:noFill/>
          <a:ln/>
        </p:spPr>
        <p:txBody>
          <a:bodyPr wrap="square" lIns="0" tIns="0" rIns="0" bIns="0" rtlCol="0" anchor="ctr"/>
          <a:lstStyle/>
          <a:p>
            <a:pPr indent="0" marL="0">
              <a:buNone/>
            </a:pPr>
            <a:r>
              <a:rPr lang="en-US" sz="1050" dirty="0">
                <a:solidFill>
                  <a:srgbClr val="1F2733"/>
                </a:solidFill>
                <a:latin typeface="Arial" pitchFamily="34" charset="0"/>
                <a:ea typeface="Arial" pitchFamily="34" charset="-122"/>
                <a:cs typeface="Arial" pitchFamily="34" charset="-120"/>
              </a:rPr>
              <a:t>Pick them with the four signals from the use-case framework</a:t>
            </a:r>
            <a:endParaRPr lang="en-US" sz="1050" dirty="0"/>
          </a:p>
        </p:txBody>
      </p:sp>
      <p:sp>
        <p:nvSpPr>
          <p:cNvPr id="38" name="Text 36"/>
          <p:cNvSpPr/>
          <p:nvPr/>
        </p:nvSpPr>
        <p:spPr>
          <a:xfrm>
            <a:off x="502920" y="6263640"/>
            <a:ext cx="11183112" cy="457200"/>
          </a:xfrm>
          <a:prstGeom prst="roundRect">
            <a:avLst>
              <a:gd name="adj" fmla="val 12000"/>
            </a:avLst>
          </a:prstGeom>
          <a:solidFill>
            <a:srgbClr val="D31242"/>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Leave it with your EVP: </a:t>
            </a:r>
            <a:pPr algn="ctr" indent="0" marL="0">
              <a:buNone/>
            </a:pPr>
            <a:r>
              <a:rPr lang="en-US" sz="1200" dirty="0">
                <a:solidFill>
                  <a:srgbClr val="FFFFFF"/>
                </a:solidFill>
                <a:latin typeface="Arial" pitchFamily="34" charset="0"/>
                <a:ea typeface="Arial" pitchFamily="34" charset="-122"/>
                <a:cs typeface="Arial" pitchFamily="34" charset="-120"/>
              </a:rPr>
              <a:t>one page, three sections, so every check-in has the same shape.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2026-07-21T00:00:08Z</dcterms:created>
  <dcterms:modified xsi:type="dcterms:W3CDTF">2026-07-21T00:00:08Z</dcterms:modified>
</cp:coreProperties>
</file>