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1280160" cy="384048"/>
          </a:xfrm>
          <a:prstGeom prst="rect">
            <a:avLst/>
          </a:prstGeom>
          <a:noFill/>
          <a:ln/>
        </p:spPr>
        <p:txBody>
          <a:bodyPr wrap="square" lIns="0" tIns="0" rIns="0" bIns="0" rtlCol="0" anchor="ctr"/>
          <a:lstStyle/>
          <a:p>
            <a:pPr indent="0" marL="0">
              <a:buNone/>
            </a:pPr>
            <a:r>
              <a:rPr lang="en-US" sz="2600" b="1" i="1" dirty="0">
                <a:solidFill>
                  <a:srgbClr val="D31242"/>
                </a:solidFill>
                <a:latin typeface="Arial" pitchFamily="34" charset="0"/>
                <a:ea typeface="Arial" pitchFamily="34" charset="-122"/>
                <a:cs typeface="Arial" pitchFamily="34" charset="-120"/>
              </a:rPr>
              <a:t>BJ's</a:t>
            </a:r>
            <a:endParaRPr lang="en-US" sz="2600" dirty="0"/>
          </a:p>
        </p:txBody>
      </p:sp>
      <p:sp>
        <p:nvSpPr>
          <p:cNvPr id="3" name="Text 1"/>
          <p:cNvSpPr/>
          <p:nvPr/>
        </p:nvSpPr>
        <p:spPr>
          <a:xfrm>
            <a:off x="475488" y="658368"/>
            <a:ext cx="2377440" cy="182880"/>
          </a:xfrm>
          <a:prstGeom prst="rect">
            <a:avLst/>
          </a:prstGeom>
          <a:noFill/>
          <a:ln/>
        </p:spPr>
        <p:txBody>
          <a:bodyPr wrap="square" lIns="0" tIns="0" rIns="0" bIns="0" rtlCol="0" anchor="ctr"/>
          <a:lstStyle/>
          <a:p>
            <a:pPr indent="0" marL="0">
              <a:buNone/>
            </a:pPr>
            <a:r>
              <a:rPr lang="en-US" sz="750" b="1" spc="300" kern="0" dirty="0">
                <a:solidFill>
                  <a:srgbClr val="D31242"/>
                </a:solidFill>
                <a:latin typeface="Arial" pitchFamily="34" charset="0"/>
                <a:ea typeface="Arial" pitchFamily="34" charset="-122"/>
                <a:cs typeface="Arial" pitchFamily="34" charset="-120"/>
              </a:rPr>
              <a:t>WHOLESALE CLUB</a:t>
            </a:r>
            <a:endParaRPr lang="en-US" sz="750" dirty="0"/>
          </a:p>
        </p:txBody>
      </p:sp>
      <p:sp>
        <p:nvSpPr>
          <p:cNvPr id="4" name="Text 2"/>
          <p:cNvSpPr/>
          <p:nvPr/>
        </p:nvSpPr>
        <p:spPr>
          <a:xfrm>
            <a:off x="7772400" y="384048"/>
            <a:ext cx="3959352" cy="274320"/>
          </a:xfrm>
          <a:prstGeom prst="rect">
            <a:avLst/>
          </a:prstGeom>
          <a:noFill/>
          <a:ln/>
        </p:spPr>
        <p:txBody>
          <a:bodyPr wrap="square" lIns="0" tIns="0" rIns="0" bIns="0" rtlCol="0" anchor="ctr"/>
          <a:lstStyle/>
          <a:p>
            <a:pPr algn="r" indent="0" marL="0">
              <a:buNone/>
            </a:pPr>
            <a:r>
              <a:rPr lang="en-US" sz="1150" b="1" spc="200" kern="0" dirty="0">
                <a:solidFill>
                  <a:srgbClr val="D31242"/>
                </a:solidFill>
                <a:latin typeface="Arial" pitchFamily="34" charset="0"/>
                <a:ea typeface="Arial" pitchFamily="34" charset="-122"/>
                <a:cs typeface="Arial" pitchFamily="34" charset="-120"/>
              </a:rPr>
              <a:t>GUIDED EXERCISE</a:t>
            </a:r>
            <a:endParaRPr lang="en-US" sz="1150" dirty="0"/>
          </a:p>
        </p:txBody>
      </p:sp>
      <p:sp>
        <p:nvSpPr>
          <p:cNvPr id="5" name="Text 3"/>
          <p:cNvSpPr/>
          <p:nvPr/>
        </p:nvSpPr>
        <p:spPr>
          <a:xfrm>
            <a:off x="457200" y="1097280"/>
            <a:ext cx="11274552" cy="548640"/>
          </a:xfrm>
          <a:prstGeom prst="rect">
            <a:avLst/>
          </a:prstGeom>
          <a:noFill/>
          <a:ln/>
        </p:spPr>
        <p:txBody>
          <a:bodyPr wrap="square" lIns="0" tIns="0" rIns="0" bIns="0" rtlCol="0" anchor="t"/>
          <a:lstStyle/>
          <a:p>
            <a:pPr indent="0" marL="0">
              <a:buNone/>
            </a:pPr>
            <a:r>
              <a:rPr lang="en-US" sz="3000" b="1" dirty="0">
                <a:solidFill>
                  <a:srgbClr val="1F2733"/>
                </a:solidFill>
                <a:latin typeface="Arial" pitchFamily="34" charset="0"/>
                <a:ea typeface="Arial" pitchFamily="34" charset="-122"/>
                <a:cs typeface="Arial" pitchFamily="34" charset="-120"/>
              </a:rPr>
              <a:t>Refining a prompt, together</a:t>
            </a:r>
            <a:endParaRPr lang="en-US" sz="3000" dirty="0"/>
          </a:p>
        </p:txBody>
      </p:sp>
      <p:sp>
        <p:nvSpPr>
          <p:cNvPr id="6" name="Text 4"/>
          <p:cNvSpPr/>
          <p:nvPr/>
        </p:nvSpPr>
        <p:spPr>
          <a:xfrm>
            <a:off x="457200" y="1737360"/>
            <a:ext cx="11274552" cy="365760"/>
          </a:xfrm>
          <a:prstGeom prst="rect">
            <a:avLst/>
          </a:prstGeom>
          <a:noFill/>
          <a:ln/>
        </p:spPr>
        <p:txBody>
          <a:bodyPr wrap="square" lIns="0" tIns="0" rIns="0" bIns="0" rtlCol="0" anchor="t"/>
          <a:lstStyle/>
          <a:p>
            <a:pPr indent="0" marL="0">
              <a:buNone/>
            </a:pPr>
            <a:r>
              <a:rPr lang="en-US" sz="1500" dirty="0">
                <a:solidFill>
                  <a:srgbClr val="5E6A78"/>
                </a:solidFill>
                <a:latin typeface="Arial" pitchFamily="34" charset="0"/>
                <a:ea typeface="Arial" pitchFamily="34" charset="-122"/>
                <a:cs typeface="Arial" pitchFamily="34" charset="-120"/>
              </a:rPr>
              <a:t>A live exercise: the group directs the improvements by poll.</a:t>
            </a:r>
            <a:endParaRPr lang="en-US" sz="1500" dirty="0"/>
          </a:p>
        </p:txBody>
      </p:sp>
      <p:sp>
        <p:nvSpPr>
          <p:cNvPr id="7" name="Shape 5"/>
          <p:cNvSpPr/>
          <p:nvPr/>
        </p:nvSpPr>
        <p:spPr>
          <a:xfrm>
            <a:off x="457200" y="2212848"/>
            <a:ext cx="6309360" cy="3017520"/>
          </a:xfrm>
          <a:prstGeom prst="roundRect">
            <a:avLst>
              <a:gd name="adj" fmla="val 1818"/>
            </a:avLst>
          </a:prstGeom>
          <a:solidFill>
            <a:srgbClr val="FFFFFF"/>
          </a:solidFill>
          <a:ln w="12700">
            <a:solidFill>
              <a:srgbClr val="E7E9EE"/>
            </a:solidFill>
            <a:prstDash val="solid"/>
          </a:ln>
        </p:spPr>
      </p:sp>
      <p:sp>
        <p:nvSpPr>
          <p:cNvPr id="8" name="Text 6"/>
          <p:cNvSpPr/>
          <p:nvPr/>
        </p:nvSpPr>
        <p:spPr>
          <a:xfrm>
            <a:off x="713232" y="2414016"/>
            <a:ext cx="5760720" cy="219456"/>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THE RAW NOTES</a:t>
            </a:r>
            <a:endParaRPr lang="en-US" sz="1050" dirty="0"/>
          </a:p>
        </p:txBody>
      </p:sp>
      <p:sp>
        <p:nvSpPr>
          <p:cNvPr id="9" name="Shape 7"/>
          <p:cNvSpPr/>
          <p:nvPr/>
        </p:nvSpPr>
        <p:spPr>
          <a:xfrm>
            <a:off x="713232" y="2816352"/>
            <a:ext cx="91440" cy="91440"/>
          </a:xfrm>
          <a:prstGeom prst="ellipse">
            <a:avLst/>
          </a:prstGeom>
          <a:solidFill>
            <a:srgbClr val="D31242"/>
          </a:solidFill>
          <a:ln/>
        </p:spPr>
      </p:sp>
      <p:sp>
        <p:nvSpPr>
          <p:cNvPr id="10" name="Text 8"/>
          <p:cNvSpPr/>
          <p:nvPr/>
        </p:nvSpPr>
        <p:spPr>
          <a:xfrm>
            <a:off x="932688" y="2743200"/>
            <a:ext cx="5669280" cy="329184"/>
          </a:xfrm>
          <a:prstGeom prst="rect">
            <a:avLst/>
          </a:prstGeom>
          <a:noFill/>
          <a:ln/>
        </p:spPr>
        <p:txBody>
          <a:bodyPr wrap="square" lIns="0" tIns="0" rIns="0" bIns="0" rtlCol="0" anchor="t"/>
          <a:lstStyle/>
          <a:p>
            <a:pPr indent="0" marL="0">
              <a:buNone/>
            </a:pPr>
            <a:r>
              <a:rPr lang="en-US" sz="1250" dirty="0">
                <a:solidFill>
                  <a:srgbClr val="5E6A78"/>
                </a:solidFill>
                <a:latin typeface="Arial" pitchFamily="34" charset="0"/>
                <a:ea typeface="Arial" pitchFamily="34" charset="-122"/>
                <a:cs typeface="Arial" pitchFamily="34" charset="-120"/>
              </a:rPr>
              <a:t>Scan-first rollout live in 12 of 16 clubs, Sept 8 on track</a:t>
            </a:r>
            <a:endParaRPr lang="en-US" sz="1250" dirty="0"/>
          </a:p>
        </p:txBody>
      </p:sp>
      <p:sp>
        <p:nvSpPr>
          <p:cNvPr id="11" name="Shape 9"/>
          <p:cNvSpPr/>
          <p:nvPr/>
        </p:nvSpPr>
        <p:spPr>
          <a:xfrm>
            <a:off x="713232" y="3182112"/>
            <a:ext cx="91440" cy="91440"/>
          </a:xfrm>
          <a:prstGeom prst="ellipse">
            <a:avLst/>
          </a:prstGeom>
          <a:solidFill>
            <a:srgbClr val="D31242"/>
          </a:solidFill>
          <a:ln/>
        </p:spPr>
      </p:sp>
      <p:sp>
        <p:nvSpPr>
          <p:cNvPr id="12" name="Text 10"/>
          <p:cNvSpPr/>
          <p:nvPr/>
        </p:nvSpPr>
        <p:spPr>
          <a:xfrm>
            <a:off x="932688" y="3108960"/>
            <a:ext cx="5669280" cy="329184"/>
          </a:xfrm>
          <a:prstGeom prst="rect">
            <a:avLst/>
          </a:prstGeom>
          <a:noFill/>
          <a:ln/>
        </p:spPr>
        <p:txBody>
          <a:bodyPr wrap="square" lIns="0" tIns="0" rIns="0" bIns="0" rtlCol="0" anchor="t"/>
          <a:lstStyle/>
          <a:p>
            <a:pPr indent="0" marL="0">
              <a:buNone/>
            </a:pPr>
            <a:r>
              <a:rPr lang="en-US" sz="1250" dirty="0">
                <a:solidFill>
                  <a:srgbClr val="5E6A78"/>
                </a:solidFill>
                <a:latin typeface="Arial" pitchFamily="34" charset="0"/>
                <a:ea typeface="Arial" pitchFamily="34" charset="-122"/>
                <a:cs typeface="Arial" pitchFamily="34" charset="-120"/>
              </a:rPr>
              <a:t>Self-checkout coupon defect fixed, closed Tuesday</a:t>
            </a:r>
            <a:endParaRPr lang="en-US" sz="1250" dirty="0"/>
          </a:p>
        </p:txBody>
      </p:sp>
      <p:sp>
        <p:nvSpPr>
          <p:cNvPr id="13" name="Shape 11"/>
          <p:cNvSpPr/>
          <p:nvPr/>
        </p:nvSpPr>
        <p:spPr>
          <a:xfrm>
            <a:off x="713232" y="3547872"/>
            <a:ext cx="91440" cy="91440"/>
          </a:xfrm>
          <a:prstGeom prst="ellipse">
            <a:avLst/>
          </a:prstGeom>
          <a:solidFill>
            <a:srgbClr val="D31242"/>
          </a:solidFill>
          <a:ln/>
        </p:spPr>
      </p:sp>
      <p:sp>
        <p:nvSpPr>
          <p:cNvPr id="14" name="Text 12"/>
          <p:cNvSpPr/>
          <p:nvPr/>
        </p:nvSpPr>
        <p:spPr>
          <a:xfrm>
            <a:off x="932688" y="3474720"/>
            <a:ext cx="5669280" cy="329184"/>
          </a:xfrm>
          <a:prstGeom prst="rect">
            <a:avLst/>
          </a:prstGeom>
          <a:noFill/>
          <a:ln/>
        </p:spPr>
        <p:txBody>
          <a:bodyPr wrap="square" lIns="0" tIns="0" rIns="0" bIns="0" rtlCol="0" anchor="t"/>
          <a:lstStyle/>
          <a:p>
            <a:pPr indent="0" marL="0">
              <a:buNone/>
            </a:pPr>
            <a:r>
              <a:rPr lang="en-US" sz="1250" dirty="0">
                <a:solidFill>
                  <a:srgbClr val="5E6A78"/>
                </a:solidFill>
                <a:latin typeface="Arial" pitchFamily="34" charset="0"/>
                <a:ea typeface="Arial" pitchFamily="34" charset="-122"/>
                <a:cs typeface="Arial" pitchFamily="34" charset="-120"/>
              </a:rPr>
              <a:t>Vendor B signage slipped two weeks, may hit the Columbus opening</a:t>
            </a:r>
            <a:endParaRPr lang="en-US" sz="1250" dirty="0"/>
          </a:p>
        </p:txBody>
      </p:sp>
      <p:sp>
        <p:nvSpPr>
          <p:cNvPr id="15" name="Shape 13"/>
          <p:cNvSpPr/>
          <p:nvPr/>
        </p:nvSpPr>
        <p:spPr>
          <a:xfrm>
            <a:off x="713232" y="3913632"/>
            <a:ext cx="91440" cy="91440"/>
          </a:xfrm>
          <a:prstGeom prst="ellipse">
            <a:avLst/>
          </a:prstGeom>
          <a:solidFill>
            <a:srgbClr val="D31242"/>
          </a:solidFill>
          <a:ln/>
        </p:spPr>
      </p:sp>
      <p:sp>
        <p:nvSpPr>
          <p:cNvPr id="16" name="Text 14"/>
          <p:cNvSpPr/>
          <p:nvPr/>
        </p:nvSpPr>
        <p:spPr>
          <a:xfrm>
            <a:off x="932688" y="3840480"/>
            <a:ext cx="5669280" cy="329184"/>
          </a:xfrm>
          <a:prstGeom prst="rect">
            <a:avLst/>
          </a:prstGeom>
          <a:noFill/>
          <a:ln/>
        </p:spPr>
        <p:txBody>
          <a:bodyPr wrap="square" lIns="0" tIns="0" rIns="0" bIns="0" rtlCol="0" anchor="t"/>
          <a:lstStyle/>
          <a:p>
            <a:pPr indent="0" marL="0">
              <a:buNone/>
            </a:pPr>
            <a:r>
              <a:rPr lang="en-US" sz="1250" dirty="0">
                <a:solidFill>
                  <a:srgbClr val="5E6A78"/>
                </a:solidFill>
                <a:latin typeface="Arial" pitchFamily="34" charset="0"/>
                <a:ea typeface="Arial" pitchFamily="34" charset="-122"/>
                <a:cs typeface="Arial" pitchFamily="34" charset="-120"/>
              </a:rPr>
              <a:t>New analyst starts Monday · savings at +$40K for the quarter</a:t>
            </a:r>
            <a:endParaRPr lang="en-US" sz="1250" dirty="0"/>
          </a:p>
        </p:txBody>
      </p:sp>
      <p:sp>
        <p:nvSpPr>
          <p:cNvPr id="17" name="Text 15"/>
          <p:cNvSpPr/>
          <p:nvPr/>
        </p:nvSpPr>
        <p:spPr>
          <a:xfrm>
            <a:off x="713232" y="4297680"/>
            <a:ext cx="5760720" cy="219456"/>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THE STARTING PROMPT</a:t>
            </a:r>
            <a:endParaRPr lang="en-US" sz="1050" dirty="0"/>
          </a:p>
        </p:txBody>
      </p:sp>
      <p:sp>
        <p:nvSpPr>
          <p:cNvPr id="18" name="Shape 16"/>
          <p:cNvSpPr/>
          <p:nvPr/>
        </p:nvSpPr>
        <p:spPr>
          <a:xfrm>
            <a:off x="713232" y="4572000"/>
            <a:ext cx="5760720" cy="457200"/>
          </a:xfrm>
          <a:prstGeom prst="roundRect">
            <a:avLst>
              <a:gd name="adj" fmla="val 10000"/>
            </a:avLst>
          </a:prstGeom>
          <a:solidFill>
            <a:srgbClr val="F7F8FA"/>
          </a:solidFill>
          <a:ln w="12700">
            <a:solidFill>
              <a:srgbClr val="E7E9EE"/>
            </a:solidFill>
            <a:prstDash val="solid"/>
          </a:ln>
        </p:spPr>
      </p:sp>
      <p:sp>
        <p:nvSpPr>
          <p:cNvPr id="19" name="Text 17"/>
          <p:cNvSpPr/>
          <p:nvPr/>
        </p:nvSpPr>
        <p:spPr>
          <a:xfrm>
            <a:off x="896112" y="4572000"/>
            <a:ext cx="5486400" cy="457200"/>
          </a:xfrm>
          <a:prstGeom prst="rect">
            <a:avLst/>
          </a:prstGeom>
          <a:noFill/>
          <a:ln/>
        </p:spPr>
        <p:txBody>
          <a:bodyPr wrap="square" lIns="0" tIns="0" rIns="0" bIns="0" rtlCol="0" anchor="ctr"/>
          <a:lstStyle/>
          <a:p>
            <a:pPr indent="0" marL="0">
              <a:buNone/>
            </a:pPr>
            <a:r>
              <a:rPr lang="en-US" sz="1250" i="1" dirty="0">
                <a:solidFill>
                  <a:srgbClr val="1F2733"/>
                </a:solidFill>
                <a:latin typeface="Arial" pitchFamily="34" charset="0"/>
                <a:ea typeface="Arial" pitchFamily="34" charset="-122"/>
                <a:cs typeface="Arial" pitchFamily="34" charset="-120"/>
              </a:rPr>
              <a:t>“Write a status update based on these notes.”</a:t>
            </a:r>
            <a:endParaRPr lang="en-US" sz="1250" dirty="0"/>
          </a:p>
        </p:txBody>
      </p:sp>
      <p:sp>
        <p:nvSpPr>
          <p:cNvPr id="20" name="Shape 18"/>
          <p:cNvSpPr/>
          <p:nvPr/>
        </p:nvSpPr>
        <p:spPr>
          <a:xfrm>
            <a:off x="6949440" y="2212848"/>
            <a:ext cx="4782312" cy="3017520"/>
          </a:xfrm>
          <a:prstGeom prst="roundRect">
            <a:avLst>
              <a:gd name="adj" fmla="val 1818"/>
            </a:avLst>
          </a:prstGeom>
          <a:solidFill>
            <a:srgbClr val="FFFFFF"/>
          </a:solidFill>
          <a:ln w="12700">
            <a:solidFill>
              <a:srgbClr val="E7E9EE"/>
            </a:solidFill>
            <a:prstDash val="solid"/>
          </a:ln>
        </p:spPr>
      </p:sp>
      <p:sp>
        <p:nvSpPr>
          <p:cNvPr id="21" name="Text 19"/>
          <p:cNvSpPr/>
          <p:nvPr/>
        </p:nvSpPr>
        <p:spPr>
          <a:xfrm>
            <a:off x="7205472" y="2414016"/>
            <a:ext cx="4297680" cy="219456"/>
          </a:xfrm>
          <a:prstGeom prst="rect">
            <a:avLst/>
          </a:prstGeom>
          <a:noFill/>
          <a:ln/>
        </p:spPr>
        <p:txBody>
          <a:bodyPr wrap="square" lIns="0" tIns="0" rIns="0" bIns="0" rtlCol="0" anchor="ctr"/>
          <a:lstStyle/>
          <a:p>
            <a:pPr indent="0" marL="0">
              <a:buNone/>
            </a:pPr>
            <a:r>
              <a:rPr lang="en-US" sz="1050" b="1" spc="150" kern="0" dirty="0">
                <a:solidFill>
                  <a:srgbClr val="D31242"/>
                </a:solidFill>
                <a:latin typeface="Arial" pitchFamily="34" charset="0"/>
                <a:ea typeface="Arial" pitchFamily="34" charset="-122"/>
                <a:cs typeface="Arial" pitchFamily="34" charset="-120"/>
              </a:rPr>
              <a:t>FORMAT</a:t>
            </a:r>
            <a:endParaRPr lang="en-US" sz="1050" dirty="0"/>
          </a:p>
        </p:txBody>
      </p:sp>
      <p:sp>
        <p:nvSpPr>
          <p:cNvPr id="22" name="Shape 20"/>
          <p:cNvSpPr/>
          <p:nvPr/>
        </p:nvSpPr>
        <p:spPr>
          <a:xfrm>
            <a:off x="7205472" y="2761488"/>
            <a:ext cx="329184" cy="329184"/>
          </a:xfrm>
          <a:prstGeom prst="ellipse">
            <a:avLst/>
          </a:prstGeom>
          <a:solidFill>
            <a:srgbClr val="D31242"/>
          </a:solidFill>
          <a:ln/>
        </p:spPr>
      </p:sp>
      <p:sp>
        <p:nvSpPr>
          <p:cNvPr id="23" name="Text 21"/>
          <p:cNvSpPr/>
          <p:nvPr/>
        </p:nvSpPr>
        <p:spPr>
          <a:xfrm>
            <a:off x="7205472"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4" name="Text 22"/>
          <p:cNvSpPr/>
          <p:nvPr/>
        </p:nvSpPr>
        <p:spPr>
          <a:xfrm>
            <a:off x="7680960" y="2752344"/>
            <a:ext cx="3931920" cy="512064"/>
          </a:xfrm>
          <a:prstGeom prst="rect">
            <a:avLst/>
          </a:prstGeom>
          <a:noFill/>
          <a:ln/>
        </p:spPr>
        <p:txBody>
          <a:bodyPr wrap="square" lIns="0" tIns="0" rIns="0" bIns="0" rtlCol="0" anchor="t"/>
          <a:lstStyle/>
          <a:p>
            <a:pPr indent="0" marL="0">
              <a:buNone/>
            </a:pPr>
            <a:r>
              <a:rPr lang="en-US" sz="1150" dirty="0">
                <a:solidFill>
                  <a:srgbClr val="5E6A78"/>
                </a:solidFill>
                <a:latin typeface="Arial" pitchFamily="34" charset="0"/>
                <a:ea typeface="Arial" pitchFamily="34" charset="-122"/>
                <a:cs typeface="Arial" pitchFamily="34" charset="-120"/>
              </a:rPr>
              <a:t>The starting prompt runs live, and the group reviews the output.</a:t>
            </a:r>
            <a:endParaRPr lang="en-US" sz="1150" dirty="0"/>
          </a:p>
        </p:txBody>
      </p:sp>
      <p:sp>
        <p:nvSpPr>
          <p:cNvPr id="25" name="Shape 23"/>
          <p:cNvSpPr/>
          <p:nvPr/>
        </p:nvSpPr>
        <p:spPr>
          <a:xfrm>
            <a:off x="7205472" y="3328416"/>
            <a:ext cx="329184" cy="329184"/>
          </a:xfrm>
          <a:prstGeom prst="ellipse">
            <a:avLst/>
          </a:prstGeom>
          <a:solidFill>
            <a:srgbClr val="D31242"/>
          </a:solidFill>
          <a:ln/>
        </p:spPr>
      </p:sp>
      <p:sp>
        <p:nvSpPr>
          <p:cNvPr id="26" name="Text 24"/>
          <p:cNvSpPr/>
          <p:nvPr/>
        </p:nvSpPr>
        <p:spPr>
          <a:xfrm>
            <a:off x="7205472" y="33284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7" name="Text 25"/>
          <p:cNvSpPr/>
          <p:nvPr/>
        </p:nvSpPr>
        <p:spPr>
          <a:xfrm>
            <a:off x="7680960" y="3319272"/>
            <a:ext cx="3931920" cy="512064"/>
          </a:xfrm>
          <a:prstGeom prst="rect">
            <a:avLst/>
          </a:prstGeom>
          <a:noFill/>
          <a:ln/>
        </p:spPr>
        <p:txBody>
          <a:bodyPr wrap="square" lIns="0" tIns="0" rIns="0" bIns="0" rtlCol="0" anchor="t"/>
          <a:lstStyle/>
          <a:p>
            <a:pPr indent="0" marL="0">
              <a:buNone/>
            </a:pPr>
            <a:r>
              <a:rPr lang="en-US" sz="1150" dirty="0">
                <a:solidFill>
                  <a:srgbClr val="5E6A78"/>
                </a:solidFill>
                <a:latin typeface="Arial" pitchFamily="34" charset="0"/>
                <a:ea typeface="Arial" pitchFamily="34" charset="-122"/>
                <a:cs typeface="Arial" pitchFamily="34" charset="-120"/>
              </a:rPr>
              <a:t>A poll asks what matters most to fix. Everyone votes.</a:t>
            </a:r>
            <a:endParaRPr lang="en-US" sz="1150" dirty="0"/>
          </a:p>
        </p:txBody>
      </p:sp>
      <p:sp>
        <p:nvSpPr>
          <p:cNvPr id="28" name="Shape 26"/>
          <p:cNvSpPr/>
          <p:nvPr/>
        </p:nvSpPr>
        <p:spPr>
          <a:xfrm>
            <a:off x="7205472" y="3895344"/>
            <a:ext cx="329184" cy="329184"/>
          </a:xfrm>
          <a:prstGeom prst="ellipse">
            <a:avLst/>
          </a:prstGeom>
          <a:solidFill>
            <a:srgbClr val="D31242"/>
          </a:solidFill>
          <a:ln/>
        </p:spPr>
      </p:sp>
      <p:sp>
        <p:nvSpPr>
          <p:cNvPr id="29" name="Text 27"/>
          <p:cNvSpPr/>
          <p:nvPr/>
        </p:nvSpPr>
        <p:spPr>
          <a:xfrm>
            <a:off x="7205472" y="38953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0" name="Text 28"/>
          <p:cNvSpPr/>
          <p:nvPr/>
        </p:nvSpPr>
        <p:spPr>
          <a:xfrm>
            <a:off x="7680960" y="3886200"/>
            <a:ext cx="3931920" cy="512064"/>
          </a:xfrm>
          <a:prstGeom prst="rect">
            <a:avLst/>
          </a:prstGeom>
          <a:noFill/>
          <a:ln/>
        </p:spPr>
        <p:txBody>
          <a:bodyPr wrap="square" lIns="0" tIns="0" rIns="0" bIns="0" rtlCol="0" anchor="t"/>
          <a:lstStyle/>
          <a:p>
            <a:pPr indent="0" marL="0">
              <a:buNone/>
            </a:pPr>
            <a:r>
              <a:rPr lang="en-US" sz="1150" dirty="0">
                <a:solidFill>
                  <a:srgbClr val="5E6A78"/>
                </a:solidFill>
                <a:latin typeface="Arial" pitchFamily="34" charset="0"/>
                <a:ea typeface="Arial" pitchFamily="34" charset="-122"/>
                <a:cs typeface="Arial" pitchFamily="34" charset="-120"/>
              </a:rPr>
              <a:t>The winning improvements go into the prompt, and it runs again.</a:t>
            </a:r>
            <a:endParaRPr lang="en-US" sz="1150" dirty="0"/>
          </a:p>
        </p:txBody>
      </p:sp>
      <p:sp>
        <p:nvSpPr>
          <p:cNvPr id="31" name="Shape 29"/>
          <p:cNvSpPr/>
          <p:nvPr/>
        </p:nvSpPr>
        <p:spPr>
          <a:xfrm>
            <a:off x="7205472" y="4462272"/>
            <a:ext cx="329184" cy="329184"/>
          </a:xfrm>
          <a:prstGeom prst="ellipse">
            <a:avLst/>
          </a:prstGeom>
          <a:solidFill>
            <a:srgbClr val="D31242"/>
          </a:solidFill>
          <a:ln/>
        </p:spPr>
      </p:sp>
      <p:sp>
        <p:nvSpPr>
          <p:cNvPr id="32" name="Text 30"/>
          <p:cNvSpPr/>
          <p:nvPr/>
        </p:nvSpPr>
        <p:spPr>
          <a:xfrm>
            <a:off x="7205472" y="44622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7680960" y="4453128"/>
            <a:ext cx="3931920" cy="512064"/>
          </a:xfrm>
          <a:prstGeom prst="rect">
            <a:avLst/>
          </a:prstGeom>
          <a:noFill/>
          <a:ln/>
        </p:spPr>
        <p:txBody>
          <a:bodyPr wrap="square" lIns="0" tIns="0" rIns="0" bIns="0" rtlCol="0" anchor="t"/>
          <a:lstStyle/>
          <a:p>
            <a:pPr indent="0" marL="0">
              <a:buNone/>
            </a:pPr>
            <a:r>
              <a:rPr lang="en-US" sz="1150" dirty="0">
                <a:solidFill>
                  <a:srgbClr val="5E6A78"/>
                </a:solidFill>
                <a:latin typeface="Arial" pitchFamily="34" charset="0"/>
                <a:ea typeface="Arial" pitchFamily="34" charset="-122"/>
                <a:cs typeface="Arial" pitchFamily="34" charset="-120"/>
              </a:rPr>
              <a:t>After two rounds, the first and final outputs are compared.</a:t>
            </a:r>
            <a:endParaRPr lang="en-US" sz="1150" dirty="0"/>
          </a:p>
        </p:txBody>
      </p:sp>
      <p:sp>
        <p:nvSpPr>
          <p:cNvPr id="34" name="Shape 32"/>
          <p:cNvSpPr/>
          <p:nvPr/>
        </p:nvSpPr>
        <p:spPr>
          <a:xfrm>
            <a:off x="457200" y="5468112"/>
            <a:ext cx="11274552" cy="731520"/>
          </a:xfrm>
          <a:prstGeom prst="roundRect">
            <a:avLst>
              <a:gd name="adj" fmla="val 8750"/>
            </a:avLst>
          </a:prstGeom>
          <a:solidFill>
            <a:srgbClr val="D31242"/>
          </a:solidFill>
          <a:ln/>
        </p:spPr>
      </p:sp>
      <p:sp>
        <p:nvSpPr>
          <p:cNvPr id="35" name="Text 33"/>
          <p:cNvSpPr/>
          <p:nvPr/>
        </p:nvSpPr>
        <p:spPr>
          <a:xfrm>
            <a:off x="731520" y="5468112"/>
            <a:ext cx="107259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The polls decide the direction. </a:t>
            </a:r>
            <a:pPr algn="ctr" indent="0" marL="0">
              <a:buNone/>
            </a:pPr>
            <a:r>
              <a:rPr lang="en-US" sz="1300" dirty="0">
                <a:solidFill>
                  <a:srgbClr val="FFFFFF"/>
                </a:solidFill>
                <a:latin typeface="Arial" pitchFamily="34" charset="0"/>
                <a:ea typeface="Arial" pitchFamily="34" charset="-122"/>
                <a:cs typeface="Arial" pitchFamily="34" charset="-120"/>
              </a:rPr>
              <a:t>No confidential information goes into the prompt at any point.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7315200" cy="256032"/>
          </a:xfrm>
          <a:prstGeom prst="rect">
            <a:avLst/>
          </a:prstGeom>
          <a:noFill/>
          <a:ln/>
        </p:spPr>
        <p:txBody>
          <a:bodyPr wrap="square" lIns="0" tIns="0" rIns="0" bIns="0" rtlCol="0" anchor="ctr"/>
          <a:lstStyle/>
          <a:p>
            <a:pPr indent="0" marL="0">
              <a:buNone/>
            </a:pPr>
            <a:r>
              <a:rPr lang="en-US" sz="1100" b="1" spc="150" kern="0" dirty="0">
                <a:solidFill>
                  <a:srgbClr val="D31242"/>
                </a:solidFill>
                <a:latin typeface="Arial" pitchFamily="34" charset="0"/>
                <a:ea typeface="Arial" pitchFamily="34" charset="-122"/>
                <a:cs typeface="Arial" pitchFamily="34" charset="-120"/>
              </a:rPr>
              <a:t>TALKING POINTS  ·  SLIDE 1 · SOLO RUN, PART 1</a:t>
            </a:r>
            <a:endParaRPr lang="en-US" sz="1100" dirty="0"/>
          </a:p>
        </p:txBody>
      </p:sp>
      <p:sp>
        <p:nvSpPr>
          <p:cNvPr id="3" name="Text 1"/>
          <p:cNvSpPr/>
          <p:nvPr/>
        </p:nvSpPr>
        <p:spPr>
          <a:xfrm>
            <a:off x="457200" y="713232"/>
            <a:ext cx="11274552" cy="411480"/>
          </a:xfrm>
          <a:prstGeom prst="rect">
            <a:avLst/>
          </a:prstGeom>
          <a:noFill/>
          <a:ln/>
        </p:spPr>
        <p:txBody>
          <a:bodyPr wrap="square" lIns="0" tIns="0" rIns="0" bIns="0" rtlCol="0" anchor="ctr"/>
          <a:lstStyle/>
          <a:p>
            <a:pPr indent="0" marL="0">
              <a:buNone/>
            </a:pPr>
            <a:r>
              <a:rPr lang="en-US" sz="2200" b="1" dirty="0">
                <a:solidFill>
                  <a:srgbClr val="1F2733"/>
                </a:solidFill>
                <a:latin typeface="Arial" pitchFamily="34" charset="0"/>
                <a:ea typeface="Arial" pitchFamily="34" charset="-122"/>
                <a:cs typeface="Arial" pitchFamily="34" charset="-120"/>
              </a:rPr>
              <a:t>Open, run the weak prompt, launch Poll 1 yourself</a:t>
            </a:r>
            <a:endParaRPr lang="en-US" sz="2200" dirty="0"/>
          </a:p>
        </p:txBody>
      </p:sp>
      <p:sp>
        <p:nvSpPr>
          <p:cNvPr id="4" name="Text 2"/>
          <p:cNvSpPr/>
          <p:nvPr/>
        </p:nvSpPr>
        <p:spPr>
          <a:xfrm>
            <a:off x="457200" y="1371600"/>
            <a:ext cx="11274552" cy="4572000"/>
          </a:xfrm>
          <a:prstGeom prst="rect">
            <a:avLst/>
          </a:prstGeom>
          <a:noFill/>
          <a:ln/>
        </p:spPr>
        <p:txBody>
          <a:bodyPr wrap="square" lIns="0" tIns="0" rIns="0" bIns="0" rtlCol="0" anchor="t"/>
          <a:lstStyle/>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Show this slide about one minute. Say: “We close with a live exercise. You’ll direct the improvements by poll.” Let them read. The slide explains the steps, you don’t.</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Alt-Tab to Claude. The staged message (five notes + “Write a status update based on these notes”) is waiting in the box. Press Enter. While it writes: “This is the prompt most people type in week one.”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Read the output, skimming. “Accurate. And the one thing leadership must act on is buried in paragraph two.”</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Click the Teams meeting window, open the Polls icon, click Launch on Poll 1. Say: “Forty-five seconds. Vote.” The poll pops on their screens on its own. This wait is a rest for your voice.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When the bars stop moving: dropdown next to View results, Close poll. Read the top two options aloud. Alt-Tab back to Claude.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Type: “Rewrite it.” plus the two map sentences for the winners, saying them as you type. Press Enter.  POLL 1 MAP — A (who it’s for): “This is for a VP skimming between meetings.”  B (length/format): “Keep it short and structured.”  C (what to highlight): “Lead with the one item that needs attention.”  D (plain language): “Cut the filler phrases.”</a:t>
            </a:r>
            <a:endParaRPr lang="en-US" sz="1250" dirty="0"/>
          </a:p>
        </p:txBody>
      </p:sp>
      <p:sp>
        <p:nvSpPr>
          <p:cNvPr id="5" name="Text 3"/>
          <p:cNvSpPr/>
          <p:nvPr/>
        </p:nvSpPr>
        <p:spPr>
          <a:xfrm>
            <a:off x="457200" y="6172200"/>
            <a:ext cx="11274552" cy="365760"/>
          </a:xfrm>
          <a:prstGeom prst="rect">
            <a:avLst/>
          </a:prstGeom>
          <a:noFill/>
          <a:ln/>
        </p:spPr>
        <p:txBody>
          <a:bodyPr wrap="square" lIns="0" tIns="0" rIns="0" bIns="0" rtlCol="0" anchor="ctr"/>
          <a:lstStyle/>
          <a:p>
            <a:pPr indent="0" marL="0">
              <a:buNone/>
            </a:pPr>
            <a:r>
              <a:rPr lang="en-US" sz="1250" b="1" i="1" dirty="0">
                <a:solidFill>
                  <a:srgbClr val="D31242"/>
                </a:solidFill>
                <a:latin typeface="Arial" pitchFamily="34" charset="0"/>
                <a:ea typeface="Arial" pitchFamily="34" charset="-122"/>
                <a:cs typeface="Arial" pitchFamily="34" charset="-120"/>
              </a:rPr>
              <a:t>Continue on the next talking points page: Poll 2, the scroll comparison, and the close.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7315200" cy="256032"/>
          </a:xfrm>
          <a:prstGeom prst="rect">
            <a:avLst/>
          </a:prstGeom>
          <a:noFill/>
          <a:ln/>
        </p:spPr>
        <p:txBody>
          <a:bodyPr wrap="square" lIns="0" tIns="0" rIns="0" bIns="0" rtlCol="0" anchor="ctr"/>
          <a:lstStyle/>
          <a:p>
            <a:pPr indent="0" marL="0">
              <a:buNone/>
            </a:pPr>
            <a:r>
              <a:rPr lang="en-US" sz="1100" b="1" spc="150" kern="0" dirty="0">
                <a:solidFill>
                  <a:srgbClr val="D31242"/>
                </a:solidFill>
                <a:latin typeface="Arial" pitchFamily="34" charset="0"/>
                <a:ea typeface="Arial" pitchFamily="34" charset="-122"/>
                <a:cs typeface="Arial" pitchFamily="34" charset="-120"/>
              </a:rPr>
              <a:t>TALKING POINTS  ·  SLIDE 1 · SOLO RUN, PART 2</a:t>
            </a:r>
            <a:endParaRPr lang="en-US" sz="1100" dirty="0"/>
          </a:p>
        </p:txBody>
      </p:sp>
      <p:sp>
        <p:nvSpPr>
          <p:cNvPr id="3" name="Text 1"/>
          <p:cNvSpPr/>
          <p:nvPr/>
        </p:nvSpPr>
        <p:spPr>
          <a:xfrm>
            <a:off x="457200" y="713232"/>
            <a:ext cx="11274552" cy="411480"/>
          </a:xfrm>
          <a:prstGeom prst="rect">
            <a:avLst/>
          </a:prstGeom>
          <a:noFill/>
          <a:ln/>
        </p:spPr>
        <p:txBody>
          <a:bodyPr wrap="square" lIns="0" tIns="0" rIns="0" bIns="0" rtlCol="0" anchor="ctr"/>
          <a:lstStyle/>
          <a:p>
            <a:pPr indent="0" marL="0">
              <a:buNone/>
            </a:pPr>
            <a:r>
              <a:rPr lang="en-US" sz="2200" b="1" dirty="0">
                <a:solidFill>
                  <a:srgbClr val="1F2733"/>
                </a:solidFill>
                <a:latin typeface="Arial" pitchFamily="34" charset="0"/>
                <a:ea typeface="Arial" pitchFamily="34" charset="-122"/>
                <a:cs typeface="Arial" pitchFamily="34" charset="-120"/>
              </a:rPr>
              <a:t>Poll 2, the scroll comparison, then to the closing slide</a:t>
            </a:r>
            <a:endParaRPr lang="en-US" sz="2200" dirty="0"/>
          </a:p>
        </p:txBody>
      </p:sp>
      <p:sp>
        <p:nvSpPr>
          <p:cNvPr id="4" name="Text 2"/>
          <p:cNvSpPr/>
          <p:nvPr/>
        </p:nvSpPr>
        <p:spPr>
          <a:xfrm>
            <a:off x="457200" y="1371600"/>
            <a:ext cx="11274552" cy="4572000"/>
          </a:xfrm>
          <a:prstGeom prst="rect">
            <a:avLst/>
          </a:prstGeom>
          <a:noFill/>
          <a:ln/>
        </p:spPr>
        <p:txBody>
          <a:bodyPr wrap="square" lIns="0" tIns="0" rIns="0" bIns="0" rtlCol="0" anchor="t"/>
          <a:lstStyle/>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Read the improved update. Credit the votes: “shorter, and look what moved to the top, that came from your vote.”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Teams window again, Polls panel, Launch Poll 2. Wait, Close poll, read the top two aloud. Back to Claude.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Type: “Rewrite it.” plus the two winning sentences. Enter. Final version appears.  POLL 2 MAP — A (shorter, bullets): “Under 120 words, on-track items as bullets.”  B (split sections): “Separate needs-attention from on-track.”  C (name the decision): “Name the decision needed and the date.”  D (plain language): “Plain, direct words.”</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THE COMPARISON: scroll up in the same chat to the first output. Three seconds of silence. Scroll back down to the final. “Same tool, same notes. The difference came from the direction this group provided. And before this goes anywhere: facts, fit, gaps, risk. That part stays human.”</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Alt-Tab to PowerPoint, click next once. Slides 2 and 3 are hidden, so you land on the closing slide.</a:t>
            </a:r>
            <a:endParaRPr lang="en-US" sz="1250" dirty="0"/>
          </a:p>
        </p:txBody>
      </p:sp>
      <p:sp>
        <p:nvSpPr>
          <p:cNvPr id="5" name="Text 3"/>
          <p:cNvSpPr/>
          <p:nvPr/>
        </p:nvSpPr>
        <p:spPr>
          <a:xfrm>
            <a:off x="457200" y="6172200"/>
            <a:ext cx="11274552" cy="365760"/>
          </a:xfrm>
          <a:prstGeom prst="rect">
            <a:avLst/>
          </a:prstGeom>
          <a:noFill/>
          <a:ln/>
        </p:spPr>
        <p:txBody>
          <a:bodyPr wrap="square" lIns="0" tIns="0" rIns="0" bIns="0" rtlCol="0" anchor="ctr"/>
          <a:lstStyle/>
          <a:p>
            <a:pPr indent="0" marL="0">
              <a:buNone/>
            </a:pPr>
            <a:r>
              <a:rPr lang="en-US" sz="1250" b="1" i="1" dirty="0">
                <a:solidFill>
                  <a:srgbClr val="D31242"/>
                </a:solidFill>
                <a:latin typeface="Arial" pitchFamily="34" charset="0"/>
                <a:ea typeface="Arial" pitchFamily="34" charset="-122"/>
                <a:cs typeface="Arial" pitchFamily="34" charset="-120"/>
              </a:rPr>
              <a:t>If Claude failed at the start: type 2 + Enter in the slideshow for the backup output, run both polls the same way, then 3 + Enter for the before-and-after, then next to the closing slide.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1280160" cy="384048"/>
          </a:xfrm>
          <a:prstGeom prst="rect">
            <a:avLst/>
          </a:prstGeom>
          <a:noFill/>
          <a:ln/>
        </p:spPr>
        <p:txBody>
          <a:bodyPr wrap="square" lIns="0" tIns="0" rIns="0" bIns="0" rtlCol="0" anchor="ctr"/>
          <a:lstStyle/>
          <a:p>
            <a:pPr indent="0" marL="0">
              <a:buNone/>
            </a:pPr>
            <a:r>
              <a:rPr lang="en-US" sz="2600" b="1" i="1" dirty="0">
                <a:solidFill>
                  <a:srgbClr val="D31242"/>
                </a:solidFill>
                <a:latin typeface="Arial" pitchFamily="34" charset="0"/>
                <a:ea typeface="Arial" pitchFamily="34" charset="-122"/>
                <a:cs typeface="Arial" pitchFamily="34" charset="-120"/>
              </a:rPr>
              <a:t>BJ's</a:t>
            </a:r>
            <a:endParaRPr lang="en-US" sz="2600" dirty="0"/>
          </a:p>
        </p:txBody>
      </p:sp>
      <p:sp>
        <p:nvSpPr>
          <p:cNvPr id="3" name="Text 1"/>
          <p:cNvSpPr/>
          <p:nvPr/>
        </p:nvSpPr>
        <p:spPr>
          <a:xfrm>
            <a:off x="475488" y="658368"/>
            <a:ext cx="2377440" cy="182880"/>
          </a:xfrm>
          <a:prstGeom prst="rect">
            <a:avLst/>
          </a:prstGeom>
          <a:noFill/>
          <a:ln/>
        </p:spPr>
        <p:txBody>
          <a:bodyPr wrap="square" lIns="0" tIns="0" rIns="0" bIns="0" rtlCol="0" anchor="ctr"/>
          <a:lstStyle/>
          <a:p>
            <a:pPr indent="0" marL="0">
              <a:buNone/>
            </a:pPr>
            <a:r>
              <a:rPr lang="en-US" sz="750" b="1" spc="300" kern="0" dirty="0">
                <a:solidFill>
                  <a:srgbClr val="D31242"/>
                </a:solidFill>
                <a:latin typeface="Arial" pitchFamily="34" charset="0"/>
                <a:ea typeface="Arial" pitchFamily="34" charset="-122"/>
                <a:cs typeface="Arial" pitchFamily="34" charset="-120"/>
              </a:rPr>
              <a:t>WHOLESALE CLUB</a:t>
            </a:r>
            <a:endParaRPr lang="en-US" sz="750" dirty="0"/>
          </a:p>
        </p:txBody>
      </p:sp>
      <p:sp>
        <p:nvSpPr>
          <p:cNvPr id="4" name="Text 2"/>
          <p:cNvSpPr/>
          <p:nvPr/>
        </p:nvSpPr>
        <p:spPr>
          <a:xfrm>
            <a:off x="7772400" y="384048"/>
            <a:ext cx="3959352" cy="274320"/>
          </a:xfrm>
          <a:prstGeom prst="rect">
            <a:avLst/>
          </a:prstGeom>
          <a:noFill/>
          <a:ln/>
        </p:spPr>
        <p:txBody>
          <a:bodyPr wrap="square" lIns="0" tIns="0" rIns="0" bIns="0" rtlCol="0" anchor="ctr"/>
          <a:lstStyle/>
          <a:p>
            <a:pPr algn="r" indent="0" marL="0">
              <a:buNone/>
            </a:pPr>
            <a:r>
              <a:rPr lang="en-US" sz="1150" b="1" spc="200" kern="0" dirty="0">
                <a:solidFill>
                  <a:srgbClr val="D31242"/>
                </a:solidFill>
                <a:latin typeface="Arial" pitchFamily="34" charset="0"/>
                <a:ea typeface="Arial" pitchFamily="34" charset="-122"/>
                <a:cs typeface="Arial" pitchFamily="34" charset="-120"/>
              </a:rPr>
              <a:t>GUIDED EXERCISE</a:t>
            </a:r>
            <a:endParaRPr lang="en-US" sz="1150" dirty="0"/>
          </a:p>
        </p:txBody>
      </p:sp>
      <p:sp>
        <p:nvSpPr>
          <p:cNvPr id="5" name="Text 3"/>
          <p:cNvSpPr/>
          <p:nvPr/>
        </p:nvSpPr>
        <p:spPr>
          <a:xfrm>
            <a:off x="457200" y="1097280"/>
            <a:ext cx="11274552" cy="548640"/>
          </a:xfrm>
          <a:prstGeom prst="rect">
            <a:avLst/>
          </a:prstGeom>
          <a:noFill/>
          <a:ln/>
        </p:spPr>
        <p:txBody>
          <a:bodyPr wrap="square" lIns="0" tIns="0" rIns="0" bIns="0" rtlCol="0" anchor="t"/>
          <a:lstStyle/>
          <a:p>
            <a:pPr indent="0" marL="0">
              <a:buNone/>
            </a:pPr>
            <a:r>
              <a:rPr lang="en-US" sz="3000" b="1" dirty="0">
                <a:solidFill>
                  <a:srgbClr val="1F2733"/>
                </a:solidFill>
                <a:latin typeface="Arial" pitchFamily="34" charset="0"/>
                <a:ea typeface="Arial" pitchFamily="34" charset="-122"/>
                <a:cs typeface="Arial" pitchFamily="34" charset="-120"/>
              </a:rPr>
              <a:t>Round 0: the starting prompt’s output</a:t>
            </a:r>
            <a:endParaRPr lang="en-US" sz="3000" dirty="0"/>
          </a:p>
        </p:txBody>
      </p:sp>
      <p:sp>
        <p:nvSpPr>
          <p:cNvPr id="6" name="Shape 4"/>
          <p:cNvSpPr/>
          <p:nvPr/>
        </p:nvSpPr>
        <p:spPr>
          <a:xfrm>
            <a:off x="10424160" y="868680"/>
            <a:ext cx="1307592" cy="310896"/>
          </a:xfrm>
          <a:prstGeom prst="roundRect">
            <a:avLst>
              <a:gd name="adj" fmla="val 14706"/>
            </a:avLst>
          </a:prstGeom>
          <a:solidFill>
            <a:srgbClr val="FCE4EA"/>
          </a:solidFill>
          <a:ln/>
        </p:spPr>
      </p:sp>
      <p:sp>
        <p:nvSpPr>
          <p:cNvPr id="7" name="Text 5"/>
          <p:cNvSpPr/>
          <p:nvPr/>
        </p:nvSpPr>
        <p:spPr>
          <a:xfrm>
            <a:off x="10424160" y="868680"/>
            <a:ext cx="1307592" cy="310896"/>
          </a:xfrm>
          <a:prstGeom prst="rect">
            <a:avLst/>
          </a:prstGeom>
          <a:noFill/>
          <a:ln/>
        </p:spPr>
        <p:txBody>
          <a:bodyPr wrap="square" lIns="0" tIns="0" rIns="0" bIns="0" rtlCol="0" anchor="ctr"/>
          <a:lstStyle/>
          <a:p>
            <a:pPr algn="ctr" indent="0" marL="0">
              <a:buNone/>
            </a:pPr>
            <a:r>
              <a:rPr lang="en-US" sz="850" b="1" spc="100" kern="0" dirty="0">
                <a:solidFill>
                  <a:srgbClr val="A60E34"/>
                </a:solidFill>
                <a:latin typeface="Arial" pitchFamily="34" charset="0"/>
                <a:ea typeface="Arial" pitchFamily="34" charset="-122"/>
                <a:cs typeface="Arial" pitchFamily="34" charset="-120"/>
              </a:rPr>
              <a:t>BACKUP SLIDE</a:t>
            </a:r>
            <a:endParaRPr lang="en-US" sz="850" dirty="0"/>
          </a:p>
        </p:txBody>
      </p:sp>
      <p:sp>
        <p:nvSpPr>
          <p:cNvPr id="8" name="Shape 6"/>
          <p:cNvSpPr/>
          <p:nvPr/>
        </p:nvSpPr>
        <p:spPr>
          <a:xfrm>
            <a:off x="457200" y="1783080"/>
            <a:ext cx="11274552" cy="3520440"/>
          </a:xfrm>
          <a:prstGeom prst="roundRect">
            <a:avLst>
              <a:gd name="adj" fmla="val 1558"/>
            </a:avLst>
          </a:prstGeom>
          <a:solidFill>
            <a:srgbClr val="F7F8FA"/>
          </a:solidFill>
          <a:ln w="12700">
            <a:solidFill>
              <a:srgbClr val="E7E9EE"/>
            </a:solidFill>
            <a:prstDash val="solid"/>
          </a:ln>
        </p:spPr>
      </p:sp>
      <p:sp>
        <p:nvSpPr>
          <p:cNvPr id="9" name="Text 7"/>
          <p:cNvSpPr/>
          <p:nvPr/>
        </p:nvSpPr>
        <p:spPr>
          <a:xfrm>
            <a:off x="777240" y="2011680"/>
            <a:ext cx="10607040" cy="3108960"/>
          </a:xfrm>
          <a:prstGeom prst="rect">
            <a:avLst/>
          </a:prstGeom>
          <a:noFill/>
          <a:ln/>
        </p:spPr>
        <p:txBody>
          <a:bodyPr wrap="square" lIns="0" tIns="0" rIns="0" bIns="0" rtlCol="0" anchor="t"/>
          <a:lstStyle/>
          <a:p>
            <a:pPr indent="0" marL="0">
              <a:lnSpc>
                <a:spcPts val="1600"/>
              </a:lnSpc>
              <a:buNone/>
            </a:pPr>
            <a:r>
              <a:rPr lang="en-US" sz="1150" dirty="0">
                <a:solidFill>
                  <a:srgbClr val="5E6A78"/>
                </a:solidFill>
                <a:latin typeface="Arial" pitchFamily="34" charset="0"/>
                <a:ea typeface="Arial" pitchFamily="34" charset="-122"/>
                <a:cs typeface="Arial" pitchFamily="34" charset="-120"/>
              </a:rPr>
              <a:t>Subject: Weekly Status Update</a:t>
            </a:r>
            <a:endParaRPr lang="en-US" sz="1150" dirty="0"/>
          </a:p>
          <a:p>
            <a:pPr indent="0" marL="0">
              <a:lnSpc>
                <a:spcPts val="1600"/>
              </a:lnSpc>
              <a:buNone/>
            </a:pPr>
            <a:endParaRPr lang="en-US" sz="1150" dirty="0"/>
          </a:p>
          <a:p>
            <a:pPr indent="0" marL="0">
              <a:lnSpc>
                <a:spcPts val="1600"/>
              </a:lnSpc>
              <a:buNone/>
            </a:pPr>
            <a:r>
              <a:rPr lang="en-US" sz="1150" dirty="0">
                <a:solidFill>
                  <a:srgbClr val="5E6A78"/>
                </a:solidFill>
                <a:latin typeface="Arial" pitchFamily="34" charset="0"/>
                <a:ea typeface="Arial" pitchFamily="34" charset="-122"/>
                <a:cs typeface="Arial" pitchFamily="34" charset="-120"/>
              </a:rPr>
              <a:t>The team continues to make meaningful progress across multiple workstreams this week. The scan-first rollout initiative remains a key focus area, with deployment now live in twelve clubs and the remaining four progressing according to plan toward the September 8 target. Additionally, the self-checkout coupon defect identified previously has been successfully resolved and closed as of Tuesday.</a:t>
            </a:r>
            <a:endParaRPr lang="en-US" sz="1150" dirty="0"/>
          </a:p>
          <a:p>
            <a:pPr indent="0" marL="0">
              <a:lnSpc>
                <a:spcPts val="1600"/>
              </a:lnSpc>
              <a:buNone/>
            </a:pPr>
            <a:endParaRPr lang="en-US" sz="1150" dirty="0"/>
          </a:p>
          <a:p>
            <a:pPr indent="0" marL="0">
              <a:lnSpc>
                <a:spcPts val="1600"/>
              </a:lnSpc>
              <a:buNone/>
            </a:pPr>
            <a:r>
              <a:rPr lang="en-US" sz="1150" dirty="0">
                <a:solidFill>
                  <a:srgbClr val="5E6A78"/>
                </a:solidFill>
                <a:latin typeface="Arial" pitchFamily="34" charset="0"/>
                <a:ea typeface="Arial" pitchFamily="34" charset="-122"/>
                <a:cs typeface="Arial" pitchFamily="34" charset="-120"/>
              </a:rPr>
              <a:t>In other developments, we are pleased to share that our new analyst has accepted the offer and will be onboarding Monday. The savings tracker currently reflects a positive position of approximately $40K for the quarter. It should also be noted that Vendor B has communicated a two-week delay to the signage delivery timeline, which the team is monitoring closely with respect to the Columbus opening.</a:t>
            </a:r>
            <a:endParaRPr lang="en-US" sz="1150" dirty="0"/>
          </a:p>
          <a:p>
            <a:pPr indent="0" marL="0">
              <a:lnSpc>
                <a:spcPts val="1600"/>
              </a:lnSpc>
              <a:buNone/>
            </a:pPr>
            <a:endParaRPr lang="en-US" sz="1150" dirty="0"/>
          </a:p>
          <a:p>
            <a:pPr indent="0" marL="0">
              <a:lnSpc>
                <a:spcPts val="1600"/>
              </a:lnSpc>
              <a:buNone/>
            </a:pPr>
            <a:r>
              <a:rPr lang="en-US" sz="1150" dirty="0">
                <a:solidFill>
                  <a:srgbClr val="5E6A78"/>
                </a:solidFill>
                <a:latin typeface="Arial" pitchFamily="34" charset="0"/>
                <a:ea typeface="Arial" pitchFamily="34" charset="-122"/>
                <a:cs typeface="Arial" pitchFamily="34" charset="-120"/>
              </a:rPr>
              <a:t>We will continue to keep stakeholders informed as these initiatives progress.</a:t>
            </a:r>
            <a:endParaRPr lang="en-US" sz="1150" dirty="0"/>
          </a:p>
        </p:txBody>
      </p:sp>
      <p:sp>
        <p:nvSpPr>
          <p:cNvPr id="10" name="Shape 8"/>
          <p:cNvSpPr/>
          <p:nvPr/>
        </p:nvSpPr>
        <p:spPr>
          <a:xfrm>
            <a:off x="457200" y="5468112"/>
            <a:ext cx="11274552" cy="731520"/>
          </a:xfrm>
          <a:prstGeom prst="roundRect">
            <a:avLst>
              <a:gd name="adj" fmla="val 8750"/>
            </a:avLst>
          </a:prstGeom>
          <a:solidFill>
            <a:srgbClr val="D31242"/>
          </a:solidFill>
          <a:ln/>
        </p:spPr>
      </p:sp>
      <p:sp>
        <p:nvSpPr>
          <p:cNvPr id="11" name="Text 9"/>
          <p:cNvSpPr/>
          <p:nvPr/>
        </p:nvSpPr>
        <p:spPr>
          <a:xfrm>
            <a:off x="731520" y="5468112"/>
            <a:ext cx="107259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Accurate, and the one item leadership must act on is buried in the middle. </a:t>
            </a:r>
            <a:pPr algn="ctr" indent="0" marL="0">
              <a:buNone/>
            </a:pPr>
            <a:r>
              <a:rPr lang="en-US" sz="1300" dirty="0">
                <a:solidFill>
                  <a:srgbClr val="FFFFFF"/>
                </a:solidFill>
                <a:latin typeface="Arial" pitchFamily="34" charset="0"/>
                <a:ea typeface="Arial" pitchFamily="34" charset="-122"/>
                <a:cs typeface="Arial" pitchFamily="34" charset="-120"/>
              </a:rPr>
              <a:t>The next rounds fix that.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7315200" cy="256032"/>
          </a:xfrm>
          <a:prstGeom prst="rect">
            <a:avLst/>
          </a:prstGeom>
          <a:noFill/>
          <a:ln/>
        </p:spPr>
        <p:txBody>
          <a:bodyPr wrap="square" lIns="0" tIns="0" rIns="0" bIns="0" rtlCol="0" anchor="ctr"/>
          <a:lstStyle/>
          <a:p>
            <a:pPr indent="0" marL="0">
              <a:buNone/>
            </a:pPr>
            <a:r>
              <a:rPr lang="en-US" sz="1100" b="1" spc="150" kern="0" dirty="0">
                <a:solidFill>
                  <a:srgbClr val="D31242"/>
                </a:solidFill>
                <a:latin typeface="Arial" pitchFamily="34" charset="0"/>
                <a:ea typeface="Arial" pitchFamily="34" charset="-122"/>
                <a:cs typeface="Arial" pitchFamily="34" charset="-120"/>
              </a:rPr>
              <a:t>TALKING POINTS  ·  SLIDE 2 · BACKUP ONLY</a:t>
            </a:r>
            <a:endParaRPr lang="en-US" sz="1100" dirty="0"/>
          </a:p>
        </p:txBody>
      </p:sp>
      <p:sp>
        <p:nvSpPr>
          <p:cNvPr id="3" name="Text 1"/>
          <p:cNvSpPr/>
          <p:nvPr/>
        </p:nvSpPr>
        <p:spPr>
          <a:xfrm>
            <a:off x="457200" y="713232"/>
            <a:ext cx="11274552" cy="411480"/>
          </a:xfrm>
          <a:prstGeom prst="rect">
            <a:avLst/>
          </a:prstGeom>
          <a:noFill/>
          <a:ln/>
        </p:spPr>
        <p:txBody>
          <a:bodyPr wrap="square" lIns="0" tIns="0" rIns="0" bIns="0" rtlCol="0" anchor="ctr"/>
          <a:lstStyle/>
          <a:p>
            <a:pPr indent="0" marL="0">
              <a:buNone/>
            </a:pPr>
            <a:r>
              <a:rPr lang="en-US" sz="2200" b="1" dirty="0">
                <a:solidFill>
                  <a:srgbClr val="1F2733"/>
                </a:solidFill>
                <a:latin typeface="Arial" pitchFamily="34" charset="0"/>
                <a:ea typeface="Arial" pitchFamily="34" charset="-122"/>
                <a:cs typeface="Arial" pitchFamily="34" charset="-120"/>
              </a:rPr>
              <a:t>Use only if Claude will not run live</a:t>
            </a:r>
            <a:endParaRPr lang="en-US" sz="2200" dirty="0"/>
          </a:p>
        </p:txBody>
      </p:sp>
      <p:sp>
        <p:nvSpPr>
          <p:cNvPr id="4" name="Text 2"/>
          <p:cNvSpPr/>
          <p:nvPr/>
        </p:nvSpPr>
        <p:spPr>
          <a:xfrm>
            <a:off x="457200" y="1371600"/>
            <a:ext cx="11274552" cy="4572000"/>
          </a:xfrm>
          <a:prstGeom prst="rect">
            <a:avLst/>
          </a:prstGeom>
          <a:noFill/>
          <a:ln/>
        </p:spPr>
        <p:txBody>
          <a:bodyPr wrap="square" lIns="0" tIns="0" rIns="0" bIns="0" rtlCol="0" anchor="t"/>
          <a:lstStyle/>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If the tool is slow or down, show this slide instead of the live run (type 2 + Enter in the slideshow). Say: “Here’s what this exact prompt produced when I ran it this morning.”</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Run both polls exactly the same way, from the Teams Polls panel, and speak the fixes you would have typed.</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The reveal moves to the next slide (3 + Enter): the final version is already in the right-hand panel.</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If the tool works, this slide is never shown. It is hidden, so clicking next skips it automatically.</a:t>
            </a:r>
            <a:endParaRPr lang="en-US" sz="1250" dirty="0"/>
          </a:p>
        </p:txBody>
      </p:sp>
      <p:sp>
        <p:nvSpPr>
          <p:cNvPr id="5" name="Text 3"/>
          <p:cNvSpPr/>
          <p:nvPr/>
        </p:nvSpPr>
        <p:spPr>
          <a:xfrm>
            <a:off x="457200" y="6172200"/>
            <a:ext cx="11274552" cy="365760"/>
          </a:xfrm>
          <a:prstGeom prst="rect">
            <a:avLst/>
          </a:prstGeom>
          <a:noFill/>
          <a:ln/>
        </p:spPr>
        <p:txBody>
          <a:bodyPr wrap="square" lIns="0" tIns="0" rIns="0" bIns="0" rtlCol="0" anchor="ctr"/>
          <a:lstStyle/>
          <a:p>
            <a:pPr indent="0" marL="0">
              <a:buNone/>
            </a:pPr>
            <a:r>
              <a:rPr lang="en-US" sz="1250" b="1" i="1" dirty="0">
                <a:solidFill>
                  <a:srgbClr val="D31242"/>
                </a:solidFill>
                <a:latin typeface="Arial" pitchFamily="34" charset="0"/>
                <a:ea typeface="Arial" pitchFamily="34" charset="-122"/>
                <a:cs typeface="Arial" pitchFamily="34" charset="-120"/>
              </a:rPr>
              <a:t>Transition: “Here’s where the group’s direction lands.” → side-by-side slide (3 + Enter).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1280160" cy="384048"/>
          </a:xfrm>
          <a:prstGeom prst="rect">
            <a:avLst/>
          </a:prstGeom>
          <a:noFill/>
          <a:ln/>
        </p:spPr>
        <p:txBody>
          <a:bodyPr wrap="square" lIns="0" tIns="0" rIns="0" bIns="0" rtlCol="0" anchor="ctr"/>
          <a:lstStyle/>
          <a:p>
            <a:pPr indent="0" marL="0">
              <a:buNone/>
            </a:pPr>
            <a:r>
              <a:rPr lang="en-US" sz="2600" b="1" i="1" dirty="0">
                <a:solidFill>
                  <a:srgbClr val="D31242"/>
                </a:solidFill>
                <a:latin typeface="Arial" pitchFamily="34" charset="0"/>
                <a:ea typeface="Arial" pitchFamily="34" charset="-122"/>
                <a:cs typeface="Arial" pitchFamily="34" charset="-120"/>
              </a:rPr>
              <a:t>BJ's</a:t>
            </a:r>
            <a:endParaRPr lang="en-US" sz="2600" dirty="0"/>
          </a:p>
        </p:txBody>
      </p:sp>
      <p:sp>
        <p:nvSpPr>
          <p:cNvPr id="3" name="Text 1"/>
          <p:cNvSpPr/>
          <p:nvPr/>
        </p:nvSpPr>
        <p:spPr>
          <a:xfrm>
            <a:off x="475488" y="658368"/>
            <a:ext cx="2377440" cy="182880"/>
          </a:xfrm>
          <a:prstGeom prst="rect">
            <a:avLst/>
          </a:prstGeom>
          <a:noFill/>
          <a:ln/>
        </p:spPr>
        <p:txBody>
          <a:bodyPr wrap="square" lIns="0" tIns="0" rIns="0" bIns="0" rtlCol="0" anchor="ctr"/>
          <a:lstStyle/>
          <a:p>
            <a:pPr indent="0" marL="0">
              <a:buNone/>
            </a:pPr>
            <a:r>
              <a:rPr lang="en-US" sz="750" b="1" spc="300" kern="0" dirty="0">
                <a:solidFill>
                  <a:srgbClr val="D31242"/>
                </a:solidFill>
                <a:latin typeface="Arial" pitchFamily="34" charset="0"/>
                <a:ea typeface="Arial" pitchFamily="34" charset="-122"/>
                <a:cs typeface="Arial" pitchFamily="34" charset="-120"/>
              </a:rPr>
              <a:t>WHOLESALE CLUB</a:t>
            </a:r>
            <a:endParaRPr lang="en-US" sz="750" dirty="0"/>
          </a:p>
        </p:txBody>
      </p:sp>
      <p:sp>
        <p:nvSpPr>
          <p:cNvPr id="4" name="Text 2"/>
          <p:cNvSpPr/>
          <p:nvPr/>
        </p:nvSpPr>
        <p:spPr>
          <a:xfrm>
            <a:off x="7772400" y="384048"/>
            <a:ext cx="3959352" cy="274320"/>
          </a:xfrm>
          <a:prstGeom prst="rect">
            <a:avLst/>
          </a:prstGeom>
          <a:noFill/>
          <a:ln/>
        </p:spPr>
        <p:txBody>
          <a:bodyPr wrap="square" lIns="0" tIns="0" rIns="0" bIns="0" rtlCol="0" anchor="ctr"/>
          <a:lstStyle/>
          <a:p>
            <a:pPr algn="r" indent="0" marL="0">
              <a:buNone/>
            </a:pPr>
            <a:r>
              <a:rPr lang="en-US" sz="1150" b="1" spc="200" kern="0" dirty="0">
                <a:solidFill>
                  <a:srgbClr val="D31242"/>
                </a:solidFill>
                <a:latin typeface="Arial" pitchFamily="34" charset="0"/>
                <a:ea typeface="Arial" pitchFamily="34" charset="-122"/>
                <a:cs typeface="Arial" pitchFamily="34" charset="-120"/>
              </a:rPr>
              <a:t>GUIDED EXERCISE</a:t>
            </a:r>
            <a:endParaRPr lang="en-US" sz="1150" dirty="0"/>
          </a:p>
        </p:txBody>
      </p:sp>
      <p:sp>
        <p:nvSpPr>
          <p:cNvPr id="5" name="Text 3"/>
          <p:cNvSpPr/>
          <p:nvPr/>
        </p:nvSpPr>
        <p:spPr>
          <a:xfrm>
            <a:off x="457200" y="1097280"/>
            <a:ext cx="11274552" cy="548640"/>
          </a:xfrm>
          <a:prstGeom prst="rect">
            <a:avLst/>
          </a:prstGeom>
          <a:noFill/>
          <a:ln/>
        </p:spPr>
        <p:txBody>
          <a:bodyPr wrap="square" lIns="0" tIns="0" rIns="0" bIns="0" rtlCol="0" anchor="t"/>
          <a:lstStyle/>
          <a:p>
            <a:pPr indent="0" marL="0">
              <a:buNone/>
            </a:pPr>
            <a:r>
              <a:rPr lang="en-US" sz="3000" b="1" dirty="0">
                <a:solidFill>
                  <a:srgbClr val="1F2733"/>
                </a:solidFill>
                <a:latin typeface="Arial" pitchFamily="34" charset="0"/>
                <a:ea typeface="Arial" pitchFamily="34" charset="-122"/>
                <a:cs typeface="Arial" pitchFamily="34" charset="-120"/>
              </a:rPr>
              <a:t>The same facts, before and after refinement</a:t>
            </a:r>
            <a:endParaRPr lang="en-US" sz="3000" dirty="0"/>
          </a:p>
        </p:txBody>
      </p:sp>
      <p:sp>
        <p:nvSpPr>
          <p:cNvPr id="6" name="Shape 4"/>
          <p:cNvSpPr/>
          <p:nvPr/>
        </p:nvSpPr>
        <p:spPr>
          <a:xfrm>
            <a:off x="10424160" y="868680"/>
            <a:ext cx="1307592" cy="310896"/>
          </a:xfrm>
          <a:prstGeom prst="roundRect">
            <a:avLst>
              <a:gd name="adj" fmla="val 14706"/>
            </a:avLst>
          </a:prstGeom>
          <a:solidFill>
            <a:srgbClr val="FCE4EA"/>
          </a:solidFill>
          <a:ln/>
        </p:spPr>
      </p:sp>
      <p:sp>
        <p:nvSpPr>
          <p:cNvPr id="7" name="Text 5"/>
          <p:cNvSpPr/>
          <p:nvPr/>
        </p:nvSpPr>
        <p:spPr>
          <a:xfrm>
            <a:off x="10424160" y="868680"/>
            <a:ext cx="1307592" cy="310896"/>
          </a:xfrm>
          <a:prstGeom prst="rect">
            <a:avLst/>
          </a:prstGeom>
          <a:noFill/>
          <a:ln/>
        </p:spPr>
        <p:txBody>
          <a:bodyPr wrap="square" lIns="0" tIns="0" rIns="0" bIns="0" rtlCol="0" anchor="ctr"/>
          <a:lstStyle/>
          <a:p>
            <a:pPr algn="ctr" indent="0" marL="0">
              <a:buNone/>
            </a:pPr>
            <a:r>
              <a:rPr lang="en-US" sz="850" b="1" spc="100" kern="0" dirty="0">
                <a:solidFill>
                  <a:srgbClr val="A60E34"/>
                </a:solidFill>
                <a:latin typeface="Arial" pitchFamily="34" charset="0"/>
                <a:ea typeface="Arial" pitchFamily="34" charset="-122"/>
                <a:cs typeface="Arial" pitchFamily="34" charset="-120"/>
              </a:rPr>
              <a:t>BACKUP SLIDE</a:t>
            </a:r>
            <a:endParaRPr lang="en-US" sz="850" dirty="0"/>
          </a:p>
        </p:txBody>
      </p:sp>
      <p:sp>
        <p:nvSpPr>
          <p:cNvPr id="8" name="Shape 6"/>
          <p:cNvSpPr/>
          <p:nvPr/>
        </p:nvSpPr>
        <p:spPr>
          <a:xfrm>
            <a:off x="457200" y="1783080"/>
            <a:ext cx="5486400" cy="3520440"/>
          </a:xfrm>
          <a:prstGeom prst="roundRect">
            <a:avLst>
              <a:gd name="adj" fmla="val 1558"/>
            </a:avLst>
          </a:prstGeom>
          <a:solidFill>
            <a:srgbClr val="F7F8FA"/>
          </a:solidFill>
          <a:ln w="12700">
            <a:solidFill>
              <a:srgbClr val="E7E9EE"/>
            </a:solidFill>
            <a:prstDash val="solid"/>
          </a:ln>
        </p:spPr>
      </p:sp>
      <p:sp>
        <p:nvSpPr>
          <p:cNvPr id="9" name="Text 7"/>
          <p:cNvSpPr/>
          <p:nvPr/>
        </p:nvSpPr>
        <p:spPr>
          <a:xfrm>
            <a:off x="685800" y="1938528"/>
            <a:ext cx="5029200" cy="219456"/>
          </a:xfrm>
          <a:prstGeom prst="rect">
            <a:avLst/>
          </a:prstGeom>
          <a:noFill/>
          <a:ln/>
        </p:spPr>
        <p:txBody>
          <a:bodyPr wrap="square" lIns="0" tIns="0" rIns="0" bIns="0" rtlCol="0" anchor="ctr"/>
          <a:lstStyle/>
          <a:p>
            <a:pPr indent="0" marL="0">
              <a:buNone/>
            </a:pPr>
            <a:r>
              <a:rPr lang="en-US" sz="950" b="1" spc="100" kern="0" dirty="0">
                <a:solidFill>
                  <a:srgbClr val="8A93A0"/>
                </a:solidFill>
                <a:latin typeface="Arial" pitchFamily="34" charset="0"/>
                <a:ea typeface="Arial" pitchFamily="34" charset="-122"/>
                <a:cs typeface="Arial" pitchFamily="34" charset="-120"/>
              </a:rPr>
              <a:t>ROUND 0 · “Write a status update based on these notes”</a:t>
            </a:r>
            <a:endParaRPr lang="en-US" sz="950" dirty="0"/>
          </a:p>
        </p:txBody>
      </p:sp>
      <p:sp>
        <p:nvSpPr>
          <p:cNvPr id="10" name="Text 8"/>
          <p:cNvSpPr/>
          <p:nvPr/>
        </p:nvSpPr>
        <p:spPr>
          <a:xfrm>
            <a:off x="685800" y="2240280"/>
            <a:ext cx="5029200" cy="2971800"/>
          </a:xfrm>
          <a:prstGeom prst="rect">
            <a:avLst/>
          </a:prstGeom>
          <a:noFill/>
          <a:ln/>
        </p:spPr>
        <p:txBody>
          <a:bodyPr wrap="square" lIns="0" tIns="0" rIns="0" bIns="0" rtlCol="0" anchor="t"/>
          <a:lstStyle/>
          <a:p>
            <a:pPr indent="0" marL="0">
              <a:lnSpc>
                <a:spcPts val="1200"/>
              </a:lnSpc>
              <a:buNone/>
            </a:pPr>
            <a:r>
              <a:rPr lang="en-US" sz="850" dirty="0">
                <a:solidFill>
                  <a:srgbClr val="5E6A78"/>
                </a:solidFill>
                <a:latin typeface="Arial" pitchFamily="34" charset="0"/>
                <a:ea typeface="Arial" pitchFamily="34" charset="-122"/>
                <a:cs typeface="Arial" pitchFamily="34" charset="-120"/>
              </a:rPr>
              <a:t>Subject: Weekly Status Update</a:t>
            </a:r>
            <a:endParaRPr lang="en-US" sz="850" dirty="0"/>
          </a:p>
          <a:p>
            <a:pPr indent="0" marL="0">
              <a:lnSpc>
                <a:spcPts val="1200"/>
              </a:lnSpc>
              <a:buNone/>
            </a:pPr>
            <a:endParaRPr lang="en-US" sz="850" dirty="0"/>
          </a:p>
          <a:p>
            <a:pPr indent="0" marL="0">
              <a:lnSpc>
                <a:spcPts val="1200"/>
              </a:lnSpc>
              <a:buNone/>
            </a:pPr>
            <a:r>
              <a:rPr lang="en-US" sz="850" dirty="0">
                <a:solidFill>
                  <a:srgbClr val="5E6A78"/>
                </a:solidFill>
                <a:latin typeface="Arial" pitchFamily="34" charset="0"/>
                <a:ea typeface="Arial" pitchFamily="34" charset="-122"/>
                <a:cs typeface="Arial" pitchFamily="34" charset="-120"/>
              </a:rPr>
              <a:t>The team continues to make meaningful progress across multiple workstreams this week. The scan-first rollout initiative remains a key focus area, with deployment now live in twelve clubs and the remaining four progressing according to plan toward the September 8 target. Additionally, the self-checkout coupon defect identified previously has been successfully resolved and closed as of Tuesday.</a:t>
            </a:r>
            <a:endParaRPr lang="en-US" sz="850" dirty="0"/>
          </a:p>
          <a:p>
            <a:pPr indent="0" marL="0">
              <a:lnSpc>
                <a:spcPts val="1200"/>
              </a:lnSpc>
              <a:buNone/>
            </a:pPr>
            <a:endParaRPr lang="en-US" sz="850" dirty="0"/>
          </a:p>
          <a:p>
            <a:pPr indent="0" marL="0">
              <a:lnSpc>
                <a:spcPts val="1200"/>
              </a:lnSpc>
              <a:buNone/>
            </a:pPr>
            <a:r>
              <a:rPr lang="en-US" sz="850" dirty="0">
                <a:solidFill>
                  <a:srgbClr val="5E6A78"/>
                </a:solidFill>
                <a:latin typeface="Arial" pitchFamily="34" charset="0"/>
                <a:ea typeface="Arial" pitchFamily="34" charset="-122"/>
                <a:cs typeface="Arial" pitchFamily="34" charset="-120"/>
              </a:rPr>
              <a:t>In other developments, we are pleased to share that our new analyst has accepted the offer and will be onboarding Monday. The savings tracker currently reflects a positive position of approximately $40K for the quarter. It should also be noted that Vendor B has communicated a two-week delay to the signage delivery timeline, which the team is monitoring closely with respect to the Columbus opening.</a:t>
            </a:r>
            <a:endParaRPr lang="en-US" sz="850" dirty="0"/>
          </a:p>
          <a:p>
            <a:pPr indent="0" marL="0">
              <a:lnSpc>
                <a:spcPts val="1200"/>
              </a:lnSpc>
              <a:buNone/>
            </a:pPr>
            <a:endParaRPr lang="en-US" sz="850" dirty="0"/>
          </a:p>
          <a:p>
            <a:pPr indent="0" marL="0">
              <a:lnSpc>
                <a:spcPts val="1200"/>
              </a:lnSpc>
              <a:buNone/>
            </a:pPr>
            <a:r>
              <a:rPr lang="en-US" sz="850" dirty="0">
                <a:solidFill>
                  <a:srgbClr val="5E6A78"/>
                </a:solidFill>
                <a:latin typeface="Arial" pitchFamily="34" charset="0"/>
                <a:ea typeface="Arial" pitchFamily="34" charset="-122"/>
                <a:cs typeface="Arial" pitchFamily="34" charset="-120"/>
              </a:rPr>
              <a:t>We will continue to keep stakeholders informed as these initiatives progress.</a:t>
            </a:r>
            <a:endParaRPr lang="en-US" sz="850" dirty="0"/>
          </a:p>
        </p:txBody>
      </p:sp>
      <p:sp>
        <p:nvSpPr>
          <p:cNvPr id="11" name="Shape 9"/>
          <p:cNvSpPr/>
          <p:nvPr/>
        </p:nvSpPr>
        <p:spPr>
          <a:xfrm>
            <a:off x="6245352" y="1783080"/>
            <a:ext cx="5486400" cy="3520440"/>
          </a:xfrm>
          <a:prstGeom prst="roundRect">
            <a:avLst>
              <a:gd name="adj" fmla="val 1558"/>
            </a:avLst>
          </a:prstGeom>
          <a:solidFill>
            <a:srgbClr val="EAF4EC"/>
          </a:solidFill>
          <a:ln w="15875">
            <a:solidFill>
              <a:srgbClr val="9CCFAD"/>
            </a:solidFill>
            <a:prstDash val="solid"/>
          </a:ln>
        </p:spPr>
      </p:sp>
      <p:sp>
        <p:nvSpPr>
          <p:cNvPr id="12" name="Text 10"/>
          <p:cNvSpPr/>
          <p:nvPr/>
        </p:nvSpPr>
        <p:spPr>
          <a:xfrm>
            <a:off x="6473952" y="1938528"/>
            <a:ext cx="5029200" cy="219456"/>
          </a:xfrm>
          <a:prstGeom prst="rect">
            <a:avLst/>
          </a:prstGeom>
          <a:noFill/>
          <a:ln/>
        </p:spPr>
        <p:txBody>
          <a:bodyPr wrap="square" lIns="0" tIns="0" rIns="0" bIns="0" rtlCol="0" anchor="ctr"/>
          <a:lstStyle/>
          <a:p>
            <a:pPr indent="0" marL="0">
              <a:buNone/>
            </a:pPr>
            <a:r>
              <a:rPr lang="en-US" sz="950" b="1" spc="100" kern="0" dirty="0">
                <a:solidFill>
                  <a:srgbClr val="217A3C"/>
                </a:solidFill>
                <a:latin typeface="Arial" pitchFamily="34" charset="0"/>
                <a:ea typeface="Arial" pitchFamily="34" charset="-122"/>
                <a:cs typeface="Arial" pitchFamily="34" charset="-120"/>
              </a:rPr>
              <a:t>FINAL ROUND · with the group’s refinements applied</a:t>
            </a:r>
            <a:endParaRPr lang="en-US" sz="950" dirty="0"/>
          </a:p>
        </p:txBody>
      </p:sp>
      <p:sp>
        <p:nvSpPr>
          <p:cNvPr id="13" name="Text 11"/>
          <p:cNvSpPr/>
          <p:nvPr/>
        </p:nvSpPr>
        <p:spPr>
          <a:xfrm>
            <a:off x="6473952" y="2240280"/>
            <a:ext cx="5029200" cy="2971800"/>
          </a:xfrm>
          <a:prstGeom prst="rect">
            <a:avLst/>
          </a:prstGeom>
          <a:noFill/>
          <a:ln/>
        </p:spPr>
        <p:txBody>
          <a:bodyPr wrap="square" lIns="0" tIns="0" rIns="0" bIns="0" rtlCol="0" anchor="t"/>
          <a:lstStyle/>
          <a:p>
            <a:pPr indent="0" marL="0">
              <a:lnSpc>
                <a:spcPts val="1700"/>
              </a:lnSpc>
              <a:buNone/>
            </a:pPr>
            <a:r>
              <a:rPr lang="en-US" sz="1150" dirty="0">
                <a:solidFill>
                  <a:srgbClr val="1F2733"/>
                </a:solidFill>
                <a:latin typeface="Arial" pitchFamily="34" charset="0"/>
                <a:ea typeface="Arial" pitchFamily="34" charset="-122"/>
                <a:cs typeface="Arial" pitchFamily="34" charset="-120"/>
              </a:rPr>
              <a:t>Subject: Weekly update: rollout on track, one vendor risk</a:t>
            </a:r>
            <a:endParaRPr lang="en-US" sz="1150" dirty="0"/>
          </a:p>
          <a:p>
            <a:pPr indent="0" marL="0">
              <a:lnSpc>
                <a:spcPts val="1700"/>
              </a:lnSpc>
              <a:buNone/>
            </a:pP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Needs attention: Vendor B signage slipped two weeks and could hit the Columbus opening. Backup decision needed by Friday.</a:t>
            </a:r>
            <a:endParaRPr lang="en-US" sz="1150" dirty="0"/>
          </a:p>
          <a:p>
            <a:pPr indent="0" marL="0">
              <a:lnSpc>
                <a:spcPts val="1700"/>
              </a:lnSpc>
              <a:buNone/>
            </a:pP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On track:</a:t>
            </a: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  Scan-first live in 12 of 16 clubs. September 8 holds.</a:t>
            </a: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  Self-checkout coupon defect fixed, closed Tuesday.</a:t>
            </a: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  Savings at +$40K for the quarter.</a:t>
            </a:r>
            <a:endParaRPr lang="en-US" sz="1150" dirty="0"/>
          </a:p>
          <a:p>
            <a:pPr indent="0" marL="0">
              <a:lnSpc>
                <a:spcPts val="1700"/>
              </a:lnSpc>
              <a:buNone/>
            </a:pPr>
            <a:endParaRPr lang="en-US" sz="1150" dirty="0"/>
          </a:p>
          <a:p>
            <a:pPr indent="0" marL="0">
              <a:lnSpc>
                <a:spcPts val="1700"/>
              </a:lnSpc>
              <a:buNone/>
            </a:pPr>
            <a:r>
              <a:rPr lang="en-US" sz="1150" dirty="0">
                <a:solidFill>
                  <a:srgbClr val="1F2733"/>
                </a:solidFill>
                <a:latin typeface="Arial" pitchFamily="34" charset="0"/>
                <a:ea typeface="Arial" pitchFamily="34" charset="-122"/>
                <a:cs typeface="Arial" pitchFamily="34" charset="-120"/>
              </a:rPr>
              <a:t>Team: new analyst starts Monday.</a:t>
            </a:r>
            <a:endParaRPr lang="en-US" sz="1150" dirty="0"/>
          </a:p>
        </p:txBody>
      </p:sp>
      <p:sp>
        <p:nvSpPr>
          <p:cNvPr id="14" name="Shape 12"/>
          <p:cNvSpPr/>
          <p:nvPr/>
        </p:nvSpPr>
        <p:spPr>
          <a:xfrm>
            <a:off x="457200" y="5468112"/>
            <a:ext cx="11274552" cy="731520"/>
          </a:xfrm>
          <a:prstGeom prst="roundRect">
            <a:avLst>
              <a:gd name="adj" fmla="val 8750"/>
            </a:avLst>
          </a:prstGeom>
          <a:solidFill>
            <a:srgbClr val="D31242"/>
          </a:solidFill>
          <a:ln/>
        </p:spPr>
      </p:sp>
      <p:sp>
        <p:nvSpPr>
          <p:cNvPr id="15" name="Text 13"/>
          <p:cNvSpPr/>
          <p:nvPr/>
        </p:nvSpPr>
        <p:spPr>
          <a:xfrm>
            <a:off x="731520" y="5468112"/>
            <a:ext cx="10725912" cy="731520"/>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Same tool, same facts. </a:t>
            </a:r>
            <a:pPr algn="ctr" indent="0" marL="0">
              <a:buNone/>
            </a:pPr>
            <a:r>
              <a:rPr lang="en-US" sz="1300" b="1" dirty="0">
                <a:solidFill>
                  <a:srgbClr val="FFFFFF"/>
                </a:solidFill>
                <a:latin typeface="Arial" pitchFamily="34" charset="0"/>
                <a:ea typeface="Arial" pitchFamily="34" charset="-122"/>
                <a:cs typeface="Arial" pitchFamily="34" charset="-120"/>
              </a:rPr>
              <a:t>The difference came from the direction the group provided.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7315200" cy="256032"/>
          </a:xfrm>
          <a:prstGeom prst="rect">
            <a:avLst/>
          </a:prstGeom>
          <a:noFill/>
          <a:ln/>
        </p:spPr>
        <p:txBody>
          <a:bodyPr wrap="square" lIns="0" tIns="0" rIns="0" bIns="0" rtlCol="0" anchor="ctr"/>
          <a:lstStyle/>
          <a:p>
            <a:pPr indent="0" marL="0">
              <a:buNone/>
            </a:pPr>
            <a:r>
              <a:rPr lang="en-US" sz="1100" b="1" spc="150" kern="0" dirty="0">
                <a:solidFill>
                  <a:srgbClr val="D31242"/>
                </a:solidFill>
                <a:latin typeface="Arial" pitchFamily="34" charset="0"/>
                <a:ea typeface="Arial" pitchFamily="34" charset="-122"/>
                <a:cs typeface="Arial" pitchFamily="34" charset="-120"/>
              </a:rPr>
              <a:t>TALKING POINTS  ·  SLIDE 3 · BACKUP COMPARISON</a:t>
            </a:r>
            <a:endParaRPr lang="en-US" sz="1100" dirty="0"/>
          </a:p>
        </p:txBody>
      </p:sp>
      <p:sp>
        <p:nvSpPr>
          <p:cNvPr id="3" name="Text 1"/>
          <p:cNvSpPr/>
          <p:nvPr/>
        </p:nvSpPr>
        <p:spPr>
          <a:xfrm>
            <a:off x="457200" y="713232"/>
            <a:ext cx="11274552" cy="411480"/>
          </a:xfrm>
          <a:prstGeom prst="rect">
            <a:avLst/>
          </a:prstGeom>
          <a:noFill/>
          <a:ln/>
        </p:spPr>
        <p:txBody>
          <a:bodyPr wrap="square" lIns="0" tIns="0" rIns="0" bIns="0" rtlCol="0" anchor="ctr"/>
          <a:lstStyle/>
          <a:p>
            <a:pPr indent="0" marL="0">
              <a:buNone/>
            </a:pPr>
            <a:r>
              <a:rPr lang="en-US" sz="2200" b="1" dirty="0">
                <a:solidFill>
                  <a:srgbClr val="1F2733"/>
                </a:solidFill>
                <a:latin typeface="Arial" pitchFamily="34" charset="0"/>
                <a:ea typeface="Arial" pitchFamily="34" charset="-122"/>
                <a:cs typeface="Arial" pitchFamily="34" charset="-120"/>
              </a:rPr>
              <a:t>The payoff. Slow down here</a:t>
            </a:r>
            <a:endParaRPr lang="en-US" sz="2200" dirty="0"/>
          </a:p>
        </p:txBody>
      </p:sp>
      <p:sp>
        <p:nvSpPr>
          <p:cNvPr id="4" name="Text 2"/>
          <p:cNvSpPr/>
          <p:nvPr/>
        </p:nvSpPr>
        <p:spPr>
          <a:xfrm>
            <a:off x="457200" y="1371600"/>
            <a:ext cx="11274552" cy="4572000"/>
          </a:xfrm>
          <a:prstGeom prst="rect">
            <a:avLst/>
          </a:prstGeom>
          <a:noFill/>
          <a:ln/>
        </p:spPr>
        <p:txBody>
          <a:bodyPr wrap="square" lIns="0" tIns="0" rIns="0" bIns="0" rtlCol="0" anchor="t"/>
          <a:lstStyle/>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The comparison moment is the point of the whole exercise. Live run: scroll, do not switch slides. Tool failed: show this slide instead. Either way, stop talking for three full seconds and let people read.</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Then, quietly: “Same tool. Same notes. The difference came from the direction this group provided.”  (pause)</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The discipline beat, one sentence: “And before an update like this goes anywhere, facts, fit, gaps, risk. That part stays human.”</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Note: in the normal run you do NOT show this slide. The live comparison is a scroll: in the same Claude chat, scroll up to the Round 0 output, pause, scroll back down to the final. This slide is the fallback comparison for when the tool failed, its text comes from the morning pre-run.</a:t>
            </a:r>
            <a:endParaRPr lang="en-US" sz="1250" dirty="0"/>
          </a:p>
        </p:txBody>
      </p:sp>
      <p:sp>
        <p:nvSpPr>
          <p:cNvPr id="5" name="Text 3"/>
          <p:cNvSpPr/>
          <p:nvPr/>
        </p:nvSpPr>
        <p:spPr>
          <a:xfrm>
            <a:off x="457200" y="6172200"/>
            <a:ext cx="11274552" cy="365760"/>
          </a:xfrm>
          <a:prstGeom prst="rect">
            <a:avLst/>
          </a:prstGeom>
          <a:noFill/>
          <a:ln/>
        </p:spPr>
        <p:txBody>
          <a:bodyPr wrap="square" lIns="0" tIns="0" rIns="0" bIns="0" rtlCol="0" anchor="ctr"/>
          <a:lstStyle/>
          <a:p>
            <a:pPr indent="0" marL="0">
              <a:buNone/>
            </a:pPr>
            <a:r>
              <a:rPr lang="en-US" sz="1250" b="1" i="1" dirty="0">
                <a:solidFill>
                  <a:srgbClr val="D31242"/>
                </a:solidFill>
                <a:latin typeface="Arial" pitchFamily="34" charset="0"/>
                <a:ea typeface="Arial" pitchFamily="34" charset="-122"/>
                <a:cs typeface="Arial" pitchFamily="34" charset="-120"/>
              </a:rPr>
              <a:t>Transition: “One last thing before we wrap.” → closing slide.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1280160" cy="384048"/>
          </a:xfrm>
          <a:prstGeom prst="rect">
            <a:avLst/>
          </a:prstGeom>
          <a:noFill/>
          <a:ln/>
        </p:spPr>
        <p:txBody>
          <a:bodyPr wrap="square" lIns="0" tIns="0" rIns="0" bIns="0" rtlCol="0" anchor="ctr"/>
          <a:lstStyle/>
          <a:p>
            <a:pPr indent="0" marL="0">
              <a:buNone/>
            </a:pPr>
            <a:r>
              <a:rPr lang="en-US" sz="2600" b="1" i="1" dirty="0">
                <a:solidFill>
                  <a:srgbClr val="D31242"/>
                </a:solidFill>
                <a:latin typeface="Arial" pitchFamily="34" charset="0"/>
                <a:ea typeface="Arial" pitchFamily="34" charset="-122"/>
                <a:cs typeface="Arial" pitchFamily="34" charset="-120"/>
              </a:rPr>
              <a:t>BJ's</a:t>
            </a:r>
            <a:endParaRPr lang="en-US" sz="2600" dirty="0"/>
          </a:p>
        </p:txBody>
      </p:sp>
      <p:sp>
        <p:nvSpPr>
          <p:cNvPr id="3" name="Text 1"/>
          <p:cNvSpPr/>
          <p:nvPr/>
        </p:nvSpPr>
        <p:spPr>
          <a:xfrm>
            <a:off x="475488" y="658368"/>
            <a:ext cx="2377440" cy="182880"/>
          </a:xfrm>
          <a:prstGeom prst="rect">
            <a:avLst/>
          </a:prstGeom>
          <a:noFill/>
          <a:ln/>
        </p:spPr>
        <p:txBody>
          <a:bodyPr wrap="square" lIns="0" tIns="0" rIns="0" bIns="0" rtlCol="0" anchor="ctr"/>
          <a:lstStyle/>
          <a:p>
            <a:pPr indent="0" marL="0">
              <a:buNone/>
            </a:pPr>
            <a:r>
              <a:rPr lang="en-US" sz="750" b="1" spc="300" kern="0" dirty="0">
                <a:solidFill>
                  <a:srgbClr val="D31242"/>
                </a:solidFill>
                <a:latin typeface="Arial" pitchFamily="34" charset="0"/>
                <a:ea typeface="Arial" pitchFamily="34" charset="-122"/>
                <a:cs typeface="Arial" pitchFamily="34" charset="-120"/>
              </a:rPr>
              <a:t>WHOLESALE CLUB</a:t>
            </a:r>
            <a:endParaRPr lang="en-US" sz="750" dirty="0"/>
          </a:p>
        </p:txBody>
      </p:sp>
      <p:sp>
        <p:nvSpPr>
          <p:cNvPr id="4" name="Text 2"/>
          <p:cNvSpPr/>
          <p:nvPr/>
        </p:nvSpPr>
        <p:spPr>
          <a:xfrm>
            <a:off x="7772400" y="384048"/>
            <a:ext cx="3959352" cy="274320"/>
          </a:xfrm>
          <a:prstGeom prst="rect">
            <a:avLst/>
          </a:prstGeom>
          <a:noFill/>
          <a:ln/>
        </p:spPr>
        <p:txBody>
          <a:bodyPr wrap="square" lIns="0" tIns="0" rIns="0" bIns="0" rtlCol="0" anchor="ctr"/>
          <a:lstStyle/>
          <a:p>
            <a:pPr algn="r" indent="0" marL="0">
              <a:buNone/>
            </a:pPr>
            <a:r>
              <a:rPr lang="en-US" sz="1150" b="1" spc="200" kern="0" dirty="0">
                <a:solidFill>
                  <a:srgbClr val="D31242"/>
                </a:solidFill>
                <a:latin typeface="Arial" pitchFamily="34" charset="0"/>
                <a:ea typeface="Arial" pitchFamily="34" charset="-122"/>
                <a:cs typeface="Arial" pitchFamily="34" charset="-120"/>
              </a:rPr>
              <a:t>BEFORE YOU GO</a:t>
            </a:r>
            <a:endParaRPr lang="en-US" sz="1150" dirty="0"/>
          </a:p>
        </p:txBody>
      </p:sp>
      <p:sp>
        <p:nvSpPr>
          <p:cNvPr id="5" name="Text 3"/>
          <p:cNvSpPr/>
          <p:nvPr/>
        </p:nvSpPr>
        <p:spPr>
          <a:xfrm>
            <a:off x="457200" y="1097280"/>
            <a:ext cx="11274552" cy="548640"/>
          </a:xfrm>
          <a:prstGeom prst="rect">
            <a:avLst/>
          </a:prstGeom>
          <a:noFill/>
          <a:ln/>
        </p:spPr>
        <p:txBody>
          <a:bodyPr wrap="square" lIns="0" tIns="0" rIns="0" bIns="0" rtlCol="0" anchor="t"/>
          <a:lstStyle/>
          <a:p>
            <a:pPr indent="0" marL="0">
              <a:buNone/>
            </a:pPr>
            <a:r>
              <a:rPr lang="en-US" sz="3000" b="1" dirty="0">
                <a:solidFill>
                  <a:srgbClr val="1F2733"/>
                </a:solidFill>
                <a:latin typeface="Arial" pitchFamily="34" charset="0"/>
                <a:ea typeface="Arial" pitchFamily="34" charset="-122"/>
                <a:cs typeface="Arial" pitchFamily="34" charset="-120"/>
              </a:rPr>
              <a:t>Your first task this week</a:t>
            </a:r>
            <a:endParaRPr lang="en-US" sz="3000" dirty="0"/>
          </a:p>
        </p:txBody>
      </p:sp>
      <p:sp>
        <p:nvSpPr>
          <p:cNvPr id="6" name="Text 4"/>
          <p:cNvSpPr/>
          <p:nvPr/>
        </p:nvSpPr>
        <p:spPr>
          <a:xfrm>
            <a:off x="457200" y="1737360"/>
            <a:ext cx="11274552" cy="365760"/>
          </a:xfrm>
          <a:prstGeom prst="rect">
            <a:avLst/>
          </a:prstGeom>
          <a:noFill/>
          <a:ln/>
        </p:spPr>
        <p:txBody>
          <a:bodyPr wrap="square" lIns="0" tIns="0" rIns="0" bIns="0" rtlCol="0" anchor="t"/>
          <a:lstStyle/>
          <a:p>
            <a:pPr indent="0" marL="0">
              <a:buNone/>
            </a:pPr>
            <a:r>
              <a:rPr lang="en-US" sz="1500" dirty="0">
                <a:solidFill>
                  <a:srgbClr val="5E6A78"/>
                </a:solidFill>
                <a:latin typeface="Arial" pitchFamily="34" charset="0"/>
                <a:ea typeface="Arial" pitchFamily="34" charset="-122"/>
                <a:cs typeface="Arial" pitchFamily="34" charset="-120"/>
              </a:rPr>
              <a:t>Apply what this exercise showed to one piece of your own work.</a:t>
            </a:r>
            <a:endParaRPr lang="en-US" sz="1500" dirty="0"/>
          </a:p>
        </p:txBody>
      </p:sp>
      <p:sp>
        <p:nvSpPr>
          <p:cNvPr id="7" name="Shape 5"/>
          <p:cNvSpPr/>
          <p:nvPr/>
        </p:nvSpPr>
        <p:spPr>
          <a:xfrm>
            <a:off x="457200" y="2377440"/>
            <a:ext cx="11274552" cy="2651760"/>
          </a:xfrm>
          <a:prstGeom prst="roundRect">
            <a:avLst>
              <a:gd name="adj" fmla="val 2069"/>
            </a:avLst>
          </a:prstGeom>
          <a:solidFill>
            <a:srgbClr val="FFFFFF"/>
          </a:solidFill>
          <a:ln w="12700">
            <a:solidFill>
              <a:srgbClr val="E7E9EE"/>
            </a:solidFill>
            <a:prstDash val="solid"/>
          </a:ln>
        </p:spPr>
      </p:sp>
      <p:sp>
        <p:nvSpPr>
          <p:cNvPr id="8" name="Text 6"/>
          <p:cNvSpPr/>
          <p:nvPr/>
        </p:nvSpPr>
        <p:spPr>
          <a:xfrm>
            <a:off x="777240" y="2697480"/>
            <a:ext cx="10607040" cy="274320"/>
          </a:xfrm>
          <a:prstGeom prst="rect">
            <a:avLst/>
          </a:prstGeom>
          <a:noFill/>
          <a:ln/>
        </p:spPr>
        <p:txBody>
          <a:bodyPr wrap="square" lIns="0" tIns="0" rIns="0" bIns="0" rtlCol="0" anchor="ctr"/>
          <a:lstStyle/>
          <a:p>
            <a:pPr indent="0" marL="0">
              <a:buNone/>
            </a:pPr>
            <a:r>
              <a:rPr lang="en-US" sz="1400" dirty="0">
                <a:solidFill>
                  <a:srgbClr val="5E6A78"/>
                </a:solidFill>
                <a:latin typeface="Arial" pitchFamily="34" charset="0"/>
                <a:ea typeface="Arial" pitchFamily="34" charset="-122"/>
                <a:cs typeface="Arial" pitchFamily="34" charset="-120"/>
              </a:rPr>
              <a:t>In the Q&amp;A panel, submit:</a:t>
            </a:r>
            <a:endParaRPr lang="en-US" sz="1400" dirty="0"/>
          </a:p>
        </p:txBody>
      </p:sp>
      <p:sp>
        <p:nvSpPr>
          <p:cNvPr id="9" name="Text 7"/>
          <p:cNvSpPr/>
          <p:nvPr/>
        </p:nvSpPr>
        <p:spPr>
          <a:xfrm>
            <a:off x="777240" y="3063240"/>
            <a:ext cx="10607040" cy="548640"/>
          </a:xfrm>
          <a:prstGeom prst="rect">
            <a:avLst/>
          </a:prstGeom>
          <a:noFill/>
          <a:ln/>
        </p:spPr>
        <p:txBody>
          <a:bodyPr wrap="square" lIns="0" tIns="0" rIns="0" bIns="0" rtlCol="0" anchor="ctr"/>
          <a:lstStyle/>
          <a:p>
            <a:pPr indent="0" marL="0">
              <a:buNone/>
            </a:pPr>
            <a:r>
              <a:rPr lang="en-US" sz="2000" b="1" dirty="0">
                <a:solidFill>
                  <a:srgbClr val="1F2733"/>
                </a:solidFill>
                <a:latin typeface="Arial" pitchFamily="34" charset="0"/>
                <a:ea typeface="Arial" pitchFamily="34" charset="-122"/>
                <a:cs typeface="Arial" pitchFamily="34" charset="-120"/>
              </a:rPr>
              <a:t>The one task from your own work you will run this on before Friday.</a:t>
            </a:r>
            <a:endParaRPr lang="en-US" sz="2000" dirty="0"/>
          </a:p>
        </p:txBody>
      </p:sp>
      <p:sp>
        <p:nvSpPr>
          <p:cNvPr id="10" name="Text 8"/>
          <p:cNvSpPr/>
          <p:nvPr/>
        </p:nvSpPr>
        <p:spPr>
          <a:xfrm>
            <a:off x="777240" y="3794760"/>
            <a:ext cx="10607040" cy="365760"/>
          </a:xfrm>
          <a:prstGeom prst="rect">
            <a:avLst/>
          </a:prstGeom>
          <a:noFill/>
          <a:ln/>
        </p:spPr>
        <p:txBody>
          <a:bodyPr wrap="square" lIns="0" tIns="0" rIns="0" bIns="0" rtlCol="0" anchor="ctr"/>
          <a:lstStyle/>
          <a:p>
            <a:pPr indent="0" marL="0">
              <a:buNone/>
            </a:pPr>
            <a:r>
              <a:rPr lang="en-US" sz="1250" i="1" dirty="0">
                <a:solidFill>
                  <a:srgbClr val="5E6A78"/>
                </a:solidFill>
                <a:latin typeface="Arial" pitchFamily="34" charset="0"/>
                <a:ea typeface="Arial" pitchFamily="34" charset="-122"/>
                <a:cs typeface="Arial" pitchFamily="34" charset="-120"/>
              </a:rPr>
              <a:t>A recurring report, a draft you have been postponing, two options you keep comparing. A small task is ideal.</a:t>
            </a:r>
            <a:endParaRPr lang="en-US" sz="1250" dirty="0"/>
          </a:p>
        </p:txBody>
      </p:sp>
      <p:sp>
        <p:nvSpPr>
          <p:cNvPr id="11" name="Text 9"/>
          <p:cNvSpPr/>
          <p:nvPr/>
        </p:nvSpPr>
        <p:spPr>
          <a:xfrm>
            <a:off x="777240" y="4343400"/>
            <a:ext cx="10607040" cy="320040"/>
          </a:xfrm>
          <a:prstGeom prst="rect">
            <a:avLst/>
          </a:prstGeom>
          <a:noFill/>
          <a:ln/>
        </p:spPr>
        <p:txBody>
          <a:bodyPr wrap="square" lIns="0" tIns="0" rIns="0" bIns="0" rtlCol="0" anchor="ctr"/>
          <a:lstStyle/>
          <a:p>
            <a:pPr indent="0" marL="0">
              <a:buNone/>
            </a:pPr>
            <a:r>
              <a:rPr lang="en-US" sz="1200" dirty="0">
                <a:solidFill>
                  <a:srgbClr val="5E6A78"/>
                </a:solidFill>
                <a:latin typeface="Arial" pitchFamily="34" charset="0"/>
                <a:ea typeface="Arial" pitchFamily="34" charset="-122"/>
                <a:cs typeface="Arial" pitchFamily="34" charset="-120"/>
              </a:rPr>
              <a:t>Guides and the use case form are on the AI Connect Hub. Questions go to the AI Champions Teams channel.</a:t>
            </a:r>
            <a:endParaRPr lang="en-US" sz="1200" dirty="0"/>
          </a:p>
        </p:txBody>
      </p:sp>
      <p:sp>
        <p:nvSpPr>
          <p:cNvPr id="12" name="Shape 10"/>
          <p:cNvSpPr/>
          <p:nvPr/>
        </p:nvSpPr>
        <p:spPr>
          <a:xfrm>
            <a:off x="457200" y="5468112"/>
            <a:ext cx="11274552" cy="731520"/>
          </a:xfrm>
          <a:prstGeom prst="roundRect">
            <a:avLst>
              <a:gd name="adj" fmla="val 8750"/>
            </a:avLst>
          </a:prstGeom>
          <a:solidFill>
            <a:srgbClr val="D31242"/>
          </a:solidFill>
          <a:ln/>
        </p:spPr>
      </p:sp>
      <p:sp>
        <p:nvSpPr>
          <p:cNvPr id="13" name="Text 11"/>
          <p:cNvSpPr/>
          <p:nvPr/>
        </p:nvSpPr>
        <p:spPr>
          <a:xfrm>
            <a:off x="731520" y="5468112"/>
            <a:ext cx="10725912"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Run one real task this week. </a:t>
            </a:r>
            <a:pPr algn="ctr" indent="0" marL="0">
              <a:buNone/>
            </a:pPr>
            <a:r>
              <a:rPr lang="en-US" sz="1300" dirty="0">
                <a:solidFill>
                  <a:srgbClr val="FFFFFF"/>
                </a:solidFill>
                <a:latin typeface="Arial" pitchFamily="34" charset="0"/>
                <a:ea typeface="Arial" pitchFamily="34" charset="-122"/>
                <a:cs typeface="Arial" pitchFamily="34" charset="-120"/>
              </a:rPr>
              <a:t>That is the goal of this session.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7315200" cy="256032"/>
          </a:xfrm>
          <a:prstGeom prst="rect">
            <a:avLst/>
          </a:prstGeom>
          <a:noFill/>
          <a:ln/>
        </p:spPr>
        <p:txBody>
          <a:bodyPr wrap="square" lIns="0" tIns="0" rIns="0" bIns="0" rtlCol="0" anchor="ctr"/>
          <a:lstStyle/>
          <a:p>
            <a:pPr indent="0" marL="0">
              <a:buNone/>
            </a:pPr>
            <a:r>
              <a:rPr lang="en-US" sz="1100" b="1" spc="150" kern="0" dirty="0">
                <a:solidFill>
                  <a:srgbClr val="D31242"/>
                </a:solidFill>
                <a:latin typeface="Arial" pitchFamily="34" charset="0"/>
                <a:ea typeface="Arial" pitchFamily="34" charset="-122"/>
                <a:cs typeface="Arial" pitchFamily="34" charset="-120"/>
              </a:rPr>
              <a:t>TALKING POINTS  ·  SLIDE 4</a:t>
            </a:r>
            <a:endParaRPr lang="en-US" sz="1100" dirty="0"/>
          </a:p>
        </p:txBody>
      </p:sp>
      <p:sp>
        <p:nvSpPr>
          <p:cNvPr id="3" name="Text 1"/>
          <p:cNvSpPr/>
          <p:nvPr/>
        </p:nvSpPr>
        <p:spPr>
          <a:xfrm>
            <a:off x="457200" y="713232"/>
            <a:ext cx="11274552" cy="411480"/>
          </a:xfrm>
          <a:prstGeom prst="rect">
            <a:avLst/>
          </a:prstGeom>
          <a:noFill/>
          <a:ln/>
        </p:spPr>
        <p:txBody>
          <a:bodyPr wrap="square" lIns="0" tIns="0" rIns="0" bIns="0" rtlCol="0" anchor="ctr"/>
          <a:lstStyle/>
          <a:p>
            <a:pPr indent="0" marL="0">
              <a:buNone/>
            </a:pPr>
            <a:r>
              <a:rPr lang="en-US" sz="2200" b="1" dirty="0">
                <a:solidFill>
                  <a:srgbClr val="1F2733"/>
                </a:solidFill>
                <a:latin typeface="Arial" pitchFamily="34" charset="0"/>
                <a:ea typeface="Arial" pitchFamily="34" charset="-122"/>
                <a:cs typeface="Arial" pitchFamily="34" charset="-120"/>
              </a:rPr>
              <a:t>Closing the session, solo</a:t>
            </a:r>
            <a:endParaRPr lang="en-US" sz="2200" dirty="0"/>
          </a:p>
        </p:txBody>
      </p:sp>
      <p:sp>
        <p:nvSpPr>
          <p:cNvPr id="4" name="Text 2"/>
          <p:cNvSpPr/>
          <p:nvPr/>
        </p:nvSpPr>
        <p:spPr>
          <a:xfrm>
            <a:off x="457200" y="1371600"/>
            <a:ext cx="11274552" cy="4572000"/>
          </a:xfrm>
          <a:prstGeom prst="rect">
            <a:avLst/>
          </a:prstGeom>
          <a:noFill/>
          <a:ln/>
        </p:spPr>
        <p:txBody>
          <a:bodyPr wrap="square" lIns="0" tIns="0" rIns="0" bIns="0" rtlCol="0" anchor="t"/>
          <a:lstStyle/>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With this slide up, say: “In the Q&amp;A panel, name the one task from your own work you’ll run this on before Friday. A recurring report, a draft you keep postponing. Small is perfect.”</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Click the Teams window, open the Q&amp;A icon. Submissions sit in your review list; the audience sees none of them. Read three good ones aloud. You never need to publish anything.</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Close, slowly: “Select the problem. Guide the AI. Own the results. Guides are on the Hub, questions in the champions channel. Thank you.”</a:t>
            </a:r>
            <a:endParaRPr lang="en-US" sz="1250" dirty="0"/>
          </a:p>
          <a:p>
            <a:pPr indent="0" marL="0">
              <a:lnSpc>
                <a:spcPts val="1800"/>
              </a:lnSpc>
              <a:spcAft>
                <a:spcPts val="1200"/>
              </a:spcAft>
              <a:buNone/>
            </a:pPr>
            <a:r>
              <a:rPr lang="en-US" sz="1250" dirty="0">
                <a:solidFill>
                  <a:srgbClr val="5E6A78"/>
                </a:solidFill>
                <a:latin typeface="Arial" pitchFamily="34" charset="0"/>
                <a:ea typeface="Arial" pitchFamily="34" charset="-122"/>
                <a:cs typeface="Arial" pitchFamily="34" charset="-120"/>
              </a:rPr>
              <a:t>After the session: export the Q&amp;A and the poll results. The one-task answers are use case leads; confused submissions are FAQ material.</a:t>
            </a:r>
            <a:endParaRPr lang="en-US" sz="1250" dirty="0"/>
          </a:p>
        </p:txBody>
      </p:sp>
      <p:sp>
        <p:nvSpPr>
          <p:cNvPr id="5" name="Text 3"/>
          <p:cNvSpPr/>
          <p:nvPr/>
        </p:nvSpPr>
        <p:spPr>
          <a:xfrm>
            <a:off x="457200" y="6172200"/>
            <a:ext cx="11274552" cy="365760"/>
          </a:xfrm>
          <a:prstGeom prst="rect">
            <a:avLst/>
          </a:prstGeom>
          <a:noFill/>
          <a:ln/>
        </p:spPr>
        <p:txBody>
          <a:bodyPr wrap="square" lIns="0" tIns="0" rIns="0" bIns="0" rtlCol="0" anchor="ctr"/>
          <a:lstStyle/>
          <a:p>
            <a:pPr indent="0" marL="0">
              <a:buNone/>
            </a:pPr>
            <a:r>
              <a:rPr lang="en-US" sz="1250" b="1" i="1" dirty="0">
                <a:solidFill>
                  <a:srgbClr val="D31242"/>
                </a:solidFill>
                <a:latin typeface="Arial" pitchFamily="34" charset="0"/>
                <a:ea typeface="Arial" pitchFamily="34" charset="-122"/>
                <a:cs typeface="Arial" pitchFamily="34" charset="-120"/>
              </a:rPr>
              <a:t>End of session.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2026-08-05T03:04:05Z</dcterms:created>
  <dcterms:modified xsi:type="dcterms:W3CDTF">2026-08-05T03:04:05Z</dcterms:modified>
</cp:coreProperties>
</file>