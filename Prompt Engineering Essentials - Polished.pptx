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this session is hands-on. Six techniques, about eight minutes each, and they will use the tools themselves for most of that time. Ask everyone to open Claude or ChatGPT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objectives, and they are the three parts of the session. The red line is the thread for the hour: every technique supplies something the AI cannot know, your format, your material, your reader, your checkpoints. The agenda slide that follows shows how they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session. The three objectives are the three parts. Techniques are numbered one to six straight through, so the footer on every slide tells people where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Techniques one to three. All of them are about what you type before you press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then the two panels. There is no need to explain where the name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top to bottom. Without the highlighted block, the response on the red card is what comes back: a reasonable log entry built on fields nobody at BJ's uses, and the next note would come back different again. With the block, the response on the green card uses your fields. The note itself is identical in both runs; the example is the only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the exercise. Deciding what a finished entry looks like is the technique; everything after that is watching their own decision get applied. Everyone's labels will differ, which is the point worth drawing out in the share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never ask for a particular form at all. This is the quickest improvement available in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card is accurate and useless for anything further: it cannot be sorted, counted, or pasted into Excel. The green card exists because the prompt named the columns and what each holds. Say only “a table” and the AI invents the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of formats is wider than most people know: flowcharts, process maps, timelines, org charts, and charts drawn from data. Claude returns these as artifacts; ChatGPT draws diagrams or images. Run this before the session and keep the result as a screenshot. This slide is also the bridge to technique 3: format is what the AI gives you, and next comes what you give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the columns is the work. The CSV step is what most people take away and use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Claude and ChatGPT accept pasted images. On a BJ's laptop, Snipping Tool then Ctrl+V into the chat is the whole workflow. Until the AI Council's data guidance is issued, tell people to keep member and confidential data out of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performs identically in both runs; the loss happens in the retyping, before the AI is involved. Run this live with a real whiteboard photo taken in advance: the pasting of the image is itself the lesson, because most of the room does not know images can go into the chat. Data caution: no member or confidential data in screenshots until the Council guidance is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types the list, and that is the point. The panel is deliberately on the slide so everyone has the same safe material to screenshot. Invite people to repeat the move on their own notes after the session, with the data caution repeated.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technique in this part, and it is usually the one people enjoy most. Allow time for reactions.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technique for anyone who says they are not good at prompting, because it removes the problem of the empty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card reads fine and says nothing, because the details are still in your head. The green card is the AI asking for exactly those details; answering takes about a minute. This usually gets the strongest reaction of the session. If you run one thing live, run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 back works best if you ask specifically for a question the AI raised that they had not considered. That is the evidence the technique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techniques. This is where most of the quality comes from, and where most people stop too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not to suggest first drafts are poor. They are usually good. What they cannot do is anticipate the questions of a reader they know nothing about, and that is what this technique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the first draft is good; the room can see it is. Ask whether they would send it, and most say yes. The review then surfaces the questions the reader would have sent back, which the notes cannot answer. For a more independent read, paste the draft into a new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question it raised that the notes cannot answer, rather than the rewritten text. Those are the ones that would have come back from the reader, and they read quickly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claim is not that one large prompt produces a poor answer. It usually produces a reasonable one. The problem is that you cannot audit it, and anything omitted is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accurate: the single-prompt answer is good. The problem is that nobody can see what it dropped. The two corrections in steps one and two are the point, and neither was possible when everything happened in one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people to count the issues in step one and check them against the final summary. Watch for anyone running all three prompts at once, which removes the only part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time for questions here. Most people in the room have been given at least one of these as advice. Be accurate: they were sound techniques that newer models have absorbed.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objectives from the start of the session, now completed. Read them as things the room has done, not as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people to type into the chat which technique they will use and on what task. A written commitment is more likely to be acted on than a nod.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AI CONNECT TRAINING SERIES</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Prompt Engineering Essentials</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Six techniques that improve the quality of what AI returns.</a:t>
            </a:r>
            <a:endParaRPr lang="en-US" sz="1800" dirty="0"/>
          </a:p>
        </p:txBody>
      </p:sp>
      <p:sp>
        <p:nvSpPr>
          <p:cNvPr id="8" name="Shape 6"/>
          <p:cNvSpPr/>
          <p:nvPr/>
        </p:nvSpPr>
        <p:spPr>
          <a:xfrm>
            <a:off x="658368" y="1956816"/>
            <a:ext cx="640080" cy="32004"/>
          </a:xfrm>
          <a:prstGeom prst="rect">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session, you will be able to:</a:t>
            </a:r>
            <a:endParaRPr lang="en-US" sz="3000" dirty="0"/>
          </a:p>
        </p:txBody>
      </p:sp>
      <p:sp>
        <p:nvSpPr>
          <p:cNvPr id="6" name="Shape 3"/>
          <p:cNvSpPr/>
          <p:nvPr/>
        </p:nvSpPr>
        <p:spPr>
          <a:xfrm>
            <a:off x="640080" y="2103120"/>
            <a:ext cx="10881360" cy="1051560"/>
          </a:xfrm>
          <a:prstGeom prst="roundRect">
            <a:avLst>
              <a:gd name="adj" fmla="val 7826"/>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7" name="Shape 4"/>
          <p:cNvSpPr/>
          <p:nvPr/>
        </p:nvSpPr>
        <p:spPr>
          <a:xfrm>
            <a:off x="896112" y="2359152"/>
            <a:ext cx="530352" cy="530352"/>
          </a:xfrm>
          <a:prstGeom prst="ellipse">
            <a:avLst/>
          </a:prstGeom>
          <a:solidFill>
            <a:srgbClr val="D31242"/>
          </a:solidFill>
          <a:ln/>
        </p:spPr>
      </p:sp>
      <p:sp>
        <p:nvSpPr>
          <p:cNvPr id="8" name="Text 5"/>
          <p:cNvSpPr/>
          <p:nvPr/>
        </p:nvSpPr>
        <p:spPr>
          <a:xfrm>
            <a:off x="896112" y="2359152"/>
            <a:ext cx="530352" cy="530352"/>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9" name="Text 6"/>
          <p:cNvSpPr/>
          <p:nvPr/>
        </p:nvSpPr>
        <p:spPr>
          <a:xfrm>
            <a:off x="1691640" y="2231136"/>
            <a:ext cx="9509760" cy="822960"/>
          </a:xfrm>
          <a:prstGeom prst="rect">
            <a:avLst/>
          </a:prstGeom>
          <a:noFill/>
          <a:ln/>
        </p:spPr>
        <p:txBody>
          <a:bodyPr wrap="square" lIns="0" tIns="0" rIns="0" bIns="0" rtlCol="0" anchor="ctr"/>
          <a:lstStyle/>
          <a:p>
            <a:pPr indent="0" marL="0">
              <a:lnSpc>
                <a:spcPct val="112000"/>
              </a:lnSpc>
              <a:buNone/>
            </a:pPr>
            <a:r>
              <a:rPr lang="en-US" sz="1700" b="1" dirty="0">
                <a:solidFill>
                  <a:srgbClr val="1F2733"/>
                </a:solidFill>
                <a:latin typeface="Arial" pitchFamily="34" charset="0"/>
                <a:ea typeface="Arial" pitchFamily="34" charset="-122"/>
                <a:cs typeface="Arial" pitchFamily="34" charset="-120"/>
              </a:rPr>
              <a:t>Give the AI clear direction
</a:t>
            </a:r>
            <a:pPr indent="0" marL="0">
              <a:lnSpc>
                <a:spcPct val="112000"/>
              </a:lnSpc>
              <a:buNone/>
            </a:pPr>
            <a:r>
              <a:rPr lang="en-US" sz="1350" dirty="0">
                <a:solidFill>
                  <a:srgbClr val="5E6A78"/>
                </a:solidFill>
                <a:latin typeface="Arial" pitchFamily="34" charset="0"/>
                <a:ea typeface="Arial" pitchFamily="34" charset="-122"/>
                <a:cs typeface="Arial" pitchFamily="34" charset="-120"/>
              </a:rPr>
              <a:t>Show it an example of what you want, name the format, and show it what you are working from.</a:t>
            </a:r>
            <a:endParaRPr lang="en-US" sz="1700" dirty="0"/>
          </a:p>
        </p:txBody>
      </p:sp>
      <p:sp>
        <p:nvSpPr>
          <p:cNvPr id="10" name="Shape 7"/>
          <p:cNvSpPr/>
          <p:nvPr/>
        </p:nvSpPr>
        <p:spPr>
          <a:xfrm>
            <a:off x="640080" y="3310128"/>
            <a:ext cx="10881360" cy="1051560"/>
          </a:xfrm>
          <a:prstGeom prst="roundRect">
            <a:avLst>
              <a:gd name="adj" fmla="val 7826"/>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1" name="Shape 8"/>
          <p:cNvSpPr/>
          <p:nvPr/>
        </p:nvSpPr>
        <p:spPr>
          <a:xfrm>
            <a:off x="896112" y="3566160"/>
            <a:ext cx="530352" cy="530352"/>
          </a:xfrm>
          <a:prstGeom prst="ellipse">
            <a:avLst/>
          </a:prstGeom>
          <a:solidFill>
            <a:srgbClr val="D31242"/>
          </a:solidFill>
          <a:ln/>
        </p:spPr>
      </p:sp>
      <p:sp>
        <p:nvSpPr>
          <p:cNvPr id="12" name="Text 9"/>
          <p:cNvSpPr/>
          <p:nvPr/>
        </p:nvSpPr>
        <p:spPr>
          <a:xfrm>
            <a:off x="896112" y="3566160"/>
            <a:ext cx="530352" cy="530352"/>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13" name="Text 10"/>
          <p:cNvSpPr/>
          <p:nvPr/>
        </p:nvSpPr>
        <p:spPr>
          <a:xfrm>
            <a:off x="1691640" y="3438144"/>
            <a:ext cx="9509760" cy="822960"/>
          </a:xfrm>
          <a:prstGeom prst="rect">
            <a:avLst/>
          </a:prstGeom>
          <a:noFill/>
          <a:ln/>
        </p:spPr>
        <p:txBody>
          <a:bodyPr wrap="square" lIns="0" tIns="0" rIns="0" bIns="0" rtlCol="0" anchor="ctr"/>
          <a:lstStyle/>
          <a:p>
            <a:pPr indent="0" marL="0">
              <a:lnSpc>
                <a:spcPct val="112000"/>
              </a:lnSpc>
              <a:buNone/>
            </a:pPr>
            <a:r>
              <a:rPr lang="en-US" sz="1700" b="1" dirty="0">
                <a:solidFill>
                  <a:srgbClr val="1F2733"/>
                </a:solidFill>
                <a:latin typeface="Arial" pitchFamily="34" charset="0"/>
                <a:ea typeface="Arial" pitchFamily="34" charset="-122"/>
                <a:cs typeface="Arial" pitchFamily="34" charset="-120"/>
              </a:rPr>
              <a:t>Get the AI's help writing your prompt
</a:t>
            </a:r>
            <a:pPr indent="0" marL="0">
              <a:lnSpc>
                <a:spcPct val="112000"/>
              </a:lnSpc>
              <a:buNone/>
            </a:pPr>
            <a:r>
              <a:rPr lang="en-US" sz="1350" dirty="0">
                <a:solidFill>
                  <a:srgbClr val="5E6A78"/>
                </a:solidFill>
                <a:latin typeface="Arial" pitchFamily="34" charset="0"/>
                <a:ea typeface="Arial" pitchFamily="34" charset="-122"/>
                <a:cs typeface="Arial" pitchFamily="34" charset="-120"/>
              </a:rPr>
              <a:t>Have it ask you for the missing details before it answers.</a:t>
            </a:r>
            <a:endParaRPr lang="en-US" sz="1700" dirty="0"/>
          </a:p>
        </p:txBody>
      </p:sp>
      <p:sp>
        <p:nvSpPr>
          <p:cNvPr id="14" name="Shape 11"/>
          <p:cNvSpPr/>
          <p:nvPr/>
        </p:nvSpPr>
        <p:spPr>
          <a:xfrm>
            <a:off x="640080" y="4517136"/>
            <a:ext cx="10881360" cy="1051560"/>
          </a:xfrm>
          <a:prstGeom prst="roundRect">
            <a:avLst>
              <a:gd name="adj" fmla="val 7826"/>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5" name="Shape 12"/>
          <p:cNvSpPr/>
          <p:nvPr/>
        </p:nvSpPr>
        <p:spPr>
          <a:xfrm>
            <a:off x="896112" y="4773168"/>
            <a:ext cx="530352" cy="530352"/>
          </a:xfrm>
          <a:prstGeom prst="ellipse">
            <a:avLst/>
          </a:prstGeom>
          <a:solidFill>
            <a:srgbClr val="D31242"/>
          </a:solidFill>
          <a:ln/>
        </p:spPr>
      </p:sp>
      <p:sp>
        <p:nvSpPr>
          <p:cNvPr id="16" name="Text 13"/>
          <p:cNvSpPr/>
          <p:nvPr/>
        </p:nvSpPr>
        <p:spPr>
          <a:xfrm>
            <a:off x="896112" y="4773168"/>
            <a:ext cx="530352" cy="530352"/>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17" name="Text 14"/>
          <p:cNvSpPr/>
          <p:nvPr/>
        </p:nvSpPr>
        <p:spPr>
          <a:xfrm>
            <a:off x="1691640" y="4645152"/>
            <a:ext cx="9509760" cy="822960"/>
          </a:xfrm>
          <a:prstGeom prst="rect">
            <a:avLst/>
          </a:prstGeom>
          <a:noFill/>
          <a:ln/>
        </p:spPr>
        <p:txBody>
          <a:bodyPr wrap="square" lIns="0" tIns="0" rIns="0" bIns="0" rtlCol="0" anchor="ctr"/>
          <a:lstStyle/>
          <a:p>
            <a:pPr indent="0" marL="0">
              <a:lnSpc>
                <a:spcPct val="112000"/>
              </a:lnSpc>
              <a:buNone/>
            </a:pPr>
            <a:r>
              <a:rPr lang="en-US" sz="1700" b="1" dirty="0">
                <a:solidFill>
                  <a:srgbClr val="1F2733"/>
                </a:solidFill>
                <a:latin typeface="Arial" pitchFamily="34" charset="0"/>
                <a:ea typeface="Arial" pitchFamily="34" charset="-122"/>
                <a:cs typeface="Arial" pitchFamily="34" charset="-120"/>
              </a:rPr>
              <a:t>Improve the AI's first draft
</a:t>
            </a:r>
            <a:pPr indent="0" marL="0">
              <a:lnSpc>
                <a:spcPct val="112000"/>
              </a:lnSpc>
              <a:buNone/>
            </a:pPr>
            <a:r>
              <a:rPr lang="en-US" sz="1350" dirty="0">
                <a:solidFill>
                  <a:srgbClr val="5E6A78"/>
                </a:solidFill>
                <a:latin typeface="Arial" pitchFamily="34" charset="0"/>
                <a:ea typeface="Arial" pitchFamily="34" charset="-122"/>
                <a:cs typeface="Arial" pitchFamily="34" charset="-120"/>
              </a:rPr>
              <a:t>Have it review its own work, and take large tasks in steps you check.</a:t>
            </a:r>
            <a:endParaRPr lang="en-US" sz="1700" dirty="0"/>
          </a:p>
        </p:txBody>
      </p:sp>
      <p:sp>
        <p:nvSpPr>
          <p:cNvPr id="18" name="Text 15"/>
          <p:cNvSpPr/>
          <p:nvPr/>
        </p:nvSpPr>
        <p:spPr>
          <a:xfrm>
            <a:off x="640080" y="5897880"/>
            <a:ext cx="10881360" cy="320040"/>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One idea runs through all six techniques: give the AI what it cannot know on its own.</a:t>
            </a:r>
            <a:endParaRPr lang="en-US" sz="1450" dirty="0"/>
          </a:p>
        </p:txBody>
      </p:sp>
      <p:sp>
        <p:nvSpPr>
          <p:cNvPr id="19" name="Text 16"/>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PROMPT ENGINEERING ESSENTIALS</a:t>
            </a:r>
            <a:endParaRPr lang="en-US" sz="850" dirty="0"/>
          </a:p>
        </p:txBody>
      </p:sp>
      <p:sp>
        <p:nvSpPr>
          <p:cNvPr id="20" name="Text 17"/>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AGENDA</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How the session is organized</a:t>
            </a:r>
            <a:endParaRPr lang="en-US" sz="3000" dirty="0"/>
          </a:p>
        </p:txBody>
      </p:sp>
      <p:sp>
        <p:nvSpPr>
          <p:cNvPr id="6" name="Shape 3"/>
          <p:cNvSpPr/>
          <p:nvPr/>
        </p:nvSpPr>
        <p:spPr>
          <a:xfrm>
            <a:off x="640080" y="2057400"/>
            <a:ext cx="3447288" cy="3291840"/>
          </a:xfrm>
          <a:prstGeom prst="roundRect">
            <a:avLst>
              <a:gd name="adj" fmla="val 2500"/>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7" name="Text 4"/>
          <p:cNvSpPr/>
          <p:nvPr/>
        </p:nvSpPr>
        <p:spPr>
          <a:xfrm>
            <a:off x="914400" y="2286000"/>
            <a:ext cx="2926080" cy="256032"/>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PART 1</a:t>
            </a:r>
            <a:endParaRPr lang="en-US" sz="1050" dirty="0"/>
          </a:p>
        </p:txBody>
      </p:sp>
      <p:sp>
        <p:nvSpPr>
          <p:cNvPr id="8" name="Text 5"/>
          <p:cNvSpPr/>
          <p:nvPr/>
        </p:nvSpPr>
        <p:spPr>
          <a:xfrm>
            <a:off x="914400" y="2578608"/>
            <a:ext cx="2971800" cy="777240"/>
          </a:xfrm>
          <a:prstGeom prst="rect">
            <a:avLst/>
          </a:prstGeom>
          <a:noFill/>
          <a:ln/>
        </p:spPr>
        <p:txBody>
          <a:bodyPr wrap="square" lIns="0" tIns="0" rIns="0" bIns="0" rtlCol="0" anchor="t"/>
          <a:lstStyle/>
          <a:p>
            <a:pPr indent="0" marL="0">
              <a:lnSpc>
                <a:spcPct val="108000"/>
              </a:lnSpc>
              <a:buNone/>
            </a:pPr>
            <a:r>
              <a:rPr lang="en-US" sz="1650" b="1" dirty="0">
                <a:solidFill>
                  <a:srgbClr val="1F2733"/>
                </a:solidFill>
                <a:latin typeface="Arial" pitchFamily="34" charset="0"/>
                <a:ea typeface="Arial" pitchFamily="34" charset="-122"/>
                <a:cs typeface="Arial" pitchFamily="34" charset="-120"/>
              </a:rPr>
              <a:t>Give the AI clear direction</a:t>
            </a:r>
            <a:endParaRPr lang="en-US" sz="1650" dirty="0"/>
          </a:p>
        </p:txBody>
      </p:sp>
      <p:sp>
        <p:nvSpPr>
          <p:cNvPr id="9" name="Text 6"/>
          <p:cNvSpPr/>
          <p:nvPr/>
        </p:nvSpPr>
        <p:spPr>
          <a:xfrm>
            <a:off x="914400" y="3520440"/>
            <a:ext cx="2971800" cy="329184"/>
          </a:xfrm>
          <a:prstGeom prst="rect">
            <a:avLst/>
          </a:prstGeom>
          <a:noFill/>
          <a:ln/>
        </p:spPr>
        <p:txBody>
          <a:bodyPr wrap="square" lIns="0" tIns="0" rIns="0" bIns="0" rtlCol="0" anchor="ctr"/>
          <a:lstStyle/>
          <a:p>
            <a:pPr indent="0" marL="0">
              <a:buNone/>
            </a:pPr>
            <a:r>
              <a:rPr lang="en-US" sz="1350" dirty="0">
                <a:solidFill>
                  <a:srgbClr val="3A4452"/>
                </a:solidFill>
                <a:latin typeface="Arial" pitchFamily="34" charset="0"/>
                <a:ea typeface="Arial" pitchFamily="34" charset="-122"/>
                <a:cs typeface="Arial" pitchFamily="34" charset="-120"/>
              </a:rPr>
              <a:t>1  Show a finished example</a:t>
            </a:r>
            <a:endParaRPr lang="en-US" sz="1350" dirty="0"/>
          </a:p>
        </p:txBody>
      </p:sp>
      <p:sp>
        <p:nvSpPr>
          <p:cNvPr id="10" name="Text 7"/>
          <p:cNvSpPr/>
          <p:nvPr/>
        </p:nvSpPr>
        <p:spPr>
          <a:xfrm>
            <a:off x="914400" y="3941064"/>
            <a:ext cx="2971800" cy="329184"/>
          </a:xfrm>
          <a:prstGeom prst="rect">
            <a:avLst/>
          </a:prstGeom>
          <a:noFill/>
          <a:ln/>
        </p:spPr>
        <p:txBody>
          <a:bodyPr wrap="square" lIns="0" tIns="0" rIns="0" bIns="0" rtlCol="0" anchor="ctr"/>
          <a:lstStyle/>
          <a:p>
            <a:pPr indent="0" marL="0">
              <a:buNone/>
            </a:pPr>
            <a:r>
              <a:rPr lang="en-US" sz="1350" dirty="0">
                <a:solidFill>
                  <a:srgbClr val="3A4452"/>
                </a:solidFill>
                <a:latin typeface="Arial" pitchFamily="34" charset="0"/>
                <a:ea typeface="Arial" pitchFamily="34" charset="-122"/>
                <a:cs typeface="Arial" pitchFamily="34" charset="-120"/>
              </a:rPr>
              <a:t>2  Name the format</a:t>
            </a:r>
            <a:endParaRPr lang="en-US" sz="1350" dirty="0"/>
          </a:p>
        </p:txBody>
      </p:sp>
      <p:sp>
        <p:nvSpPr>
          <p:cNvPr id="11" name="Text 8"/>
          <p:cNvSpPr/>
          <p:nvPr/>
        </p:nvSpPr>
        <p:spPr>
          <a:xfrm>
            <a:off x="914400" y="4361688"/>
            <a:ext cx="2971800" cy="329184"/>
          </a:xfrm>
          <a:prstGeom prst="rect">
            <a:avLst/>
          </a:prstGeom>
          <a:noFill/>
          <a:ln/>
        </p:spPr>
        <p:txBody>
          <a:bodyPr wrap="square" lIns="0" tIns="0" rIns="0" bIns="0" rtlCol="0" anchor="ctr"/>
          <a:lstStyle/>
          <a:p>
            <a:pPr indent="0" marL="0">
              <a:buNone/>
            </a:pPr>
            <a:r>
              <a:rPr lang="en-US" sz="1350" dirty="0">
                <a:solidFill>
                  <a:srgbClr val="3A4452"/>
                </a:solidFill>
                <a:latin typeface="Arial" pitchFamily="34" charset="0"/>
                <a:ea typeface="Arial" pitchFamily="34" charset="-122"/>
                <a:cs typeface="Arial" pitchFamily="34" charset="-120"/>
              </a:rPr>
              <a:t>3  Show it, don't type it</a:t>
            </a:r>
            <a:endParaRPr lang="en-US" sz="1350" dirty="0"/>
          </a:p>
        </p:txBody>
      </p:sp>
      <p:sp>
        <p:nvSpPr>
          <p:cNvPr id="12" name="Shape 9"/>
          <p:cNvSpPr/>
          <p:nvPr/>
        </p:nvSpPr>
        <p:spPr>
          <a:xfrm>
            <a:off x="4370832" y="2057400"/>
            <a:ext cx="3447288" cy="3291840"/>
          </a:xfrm>
          <a:prstGeom prst="roundRect">
            <a:avLst>
              <a:gd name="adj" fmla="val 2500"/>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3" name="Text 10"/>
          <p:cNvSpPr/>
          <p:nvPr/>
        </p:nvSpPr>
        <p:spPr>
          <a:xfrm>
            <a:off x="4645152" y="2286000"/>
            <a:ext cx="2926080" cy="256032"/>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PART 2</a:t>
            </a:r>
            <a:endParaRPr lang="en-US" sz="1050" dirty="0"/>
          </a:p>
        </p:txBody>
      </p:sp>
      <p:sp>
        <p:nvSpPr>
          <p:cNvPr id="14" name="Text 11"/>
          <p:cNvSpPr/>
          <p:nvPr/>
        </p:nvSpPr>
        <p:spPr>
          <a:xfrm>
            <a:off x="4645152" y="2578608"/>
            <a:ext cx="2971800" cy="777240"/>
          </a:xfrm>
          <a:prstGeom prst="rect">
            <a:avLst/>
          </a:prstGeom>
          <a:noFill/>
          <a:ln/>
        </p:spPr>
        <p:txBody>
          <a:bodyPr wrap="square" lIns="0" tIns="0" rIns="0" bIns="0" rtlCol="0" anchor="t"/>
          <a:lstStyle/>
          <a:p>
            <a:pPr indent="0" marL="0">
              <a:lnSpc>
                <a:spcPct val="108000"/>
              </a:lnSpc>
              <a:buNone/>
            </a:pPr>
            <a:r>
              <a:rPr lang="en-US" sz="1650" b="1" dirty="0">
                <a:solidFill>
                  <a:srgbClr val="1F2733"/>
                </a:solidFill>
                <a:latin typeface="Arial" pitchFamily="34" charset="0"/>
                <a:ea typeface="Arial" pitchFamily="34" charset="-122"/>
                <a:cs typeface="Arial" pitchFamily="34" charset="-120"/>
              </a:rPr>
              <a:t>Get the AI's help writing your prompt</a:t>
            </a:r>
            <a:endParaRPr lang="en-US" sz="1650" dirty="0"/>
          </a:p>
        </p:txBody>
      </p:sp>
      <p:sp>
        <p:nvSpPr>
          <p:cNvPr id="15" name="Text 12"/>
          <p:cNvSpPr/>
          <p:nvPr/>
        </p:nvSpPr>
        <p:spPr>
          <a:xfrm>
            <a:off x="4645152" y="3520440"/>
            <a:ext cx="2971800" cy="329184"/>
          </a:xfrm>
          <a:prstGeom prst="rect">
            <a:avLst/>
          </a:prstGeom>
          <a:noFill/>
          <a:ln/>
        </p:spPr>
        <p:txBody>
          <a:bodyPr wrap="square" lIns="0" tIns="0" rIns="0" bIns="0" rtlCol="0" anchor="ctr"/>
          <a:lstStyle/>
          <a:p>
            <a:pPr indent="0" marL="0">
              <a:buNone/>
            </a:pPr>
            <a:r>
              <a:rPr lang="en-US" sz="1350" dirty="0">
                <a:solidFill>
                  <a:srgbClr val="3A4452"/>
                </a:solidFill>
                <a:latin typeface="Arial" pitchFamily="34" charset="0"/>
                <a:ea typeface="Arial" pitchFamily="34" charset="-122"/>
                <a:cs typeface="Arial" pitchFamily="34" charset="-120"/>
              </a:rPr>
              <a:t>4  Have it ask you first</a:t>
            </a:r>
            <a:endParaRPr lang="en-US" sz="1350" dirty="0"/>
          </a:p>
        </p:txBody>
      </p:sp>
      <p:sp>
        <p:nvSpPr>
          <p:cNvPr id="16" name="Shape 13"/>
          <p:cNvSpPr/>
          <p:nvPr/>
        </p:nvSpPr>
        <p:spPr>
          <a:xfrm>
            <a:off x="8101584" y="2057400"/>
            <a:ext cx="3447288" cy="3291840"/>
          </a:xfrm>
          <a:prstGeom prst="roundRect">
            <a:avLst>
              <a:gd name="adj" fmla="val 2500"/>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7" name="Text 14"/>
          <p:cNvSpPr/>
          <p:nvPr/>
        </p:nvSpPr>
        <p:spPr>
          <a:xfrm>
            <a:off x="8375904" y="2286000"/>
            <a:ext cx="2926080" cy="256032"/>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PART 3</a:t>
            </a:r>
            <a:endParaRPr lang="en-US" sz="1050" dirty="0"/>
          </a:p>
        </p:txBody>
      </p:sp>
      <p:sp>
        <p:nvSpPr>
          <p:cNvPr id="18" name="Text 15"/>
          <p:cNvSpPr/>
          <p:nvPr/>
        </p:nvSpPr>
        <p:spPr>
          <a:xfrm>
            <a:off x="8375904" y="2578608"/>
            <a:ext cx="2971800" cy="777240"/>
          </a:xfrm>
          <a:prstGeom prst="rect">
            <a:avLst/>
          </a:prstGeom>
          <a:noFill/>
          <a:ln/>
        </p:spPr>
        <p:txBody>
          <a:bodyPr wrap="square" lIns="0" tIns="0" rIns="0" bIns="0" rtlCol="0" anchor="t"/>
          <a:lstStyle/>
          <a:p>
            <a:pPr indent="0" marL="0">
              <a:lnSpc>
                <a:spcPct val="108000"/>
              </a:lnSpc>
              <a:buNone/>
            </a:pPr>
            <a:r>
              <a:rPr lang="en-US" sz="1650" b="1" dirty="0">
                <a:solidFill>
                  <a:srgbClr val="1F2733"/>
                </a:solidFill>
                <a:latin typeface="Arial" pitchFamily="34" charset="0"/>
                <a:ea typeface="Arial" pitchFamily="34" charset="-122"/>
                <a:cs typeface="Arial" pitchFamily="34" charset="-120"/>
              </a:rPr>
              <a:t>Improve the AI's first draft</a:t>
            </a:r>
            <a:endParaRPr lang="en-US" sz="1650" dirty="0"/>
          </a:p>
        </p:txBody>
      </p:sp>
      <p:sp>
        <p:nvSpPr>
          <p:cNvPr id="19" name="Text 16"/>
          <p:cNvSpPr/>
          <p:nvPr/>
        </p:nvSpPr>
        <p:spPr>
          <a:xfrm>
            <a:off x="8375904" y="3520440"/>
            <a:ext cx="2971800" cy="329184"/>
          </a:xfrm>
          <a:prstGeom prst="rect">
            <a:avLst/>
          </a:prstGeom>
          <a:noFill/>
          <a:ln/>
        </p:spPr>
        <p:txBody>
          <a:bodyPr wrap="square" lIns="0" tIns="0" rIns="0" bIns="0" rtlCol="0" anchor="ctr"/>
          <a:lstStyle/>
          <a:p>
            <a:pPr indent="0" marL="0">
              <a:buNone/>
            </a:pPr>
            <a:r>
              <a:rPr lang="en-US" sz="1350" dirty="0">
                <a:solidFill>
                  <a:srgbClr val="3A4452"/>
                </a:solidFill>
                <a:latin typeface="Arial" pitchFamily="34" charset="0"/>
                <a:ea typeface="Arial" pitchFamily="34" charset="-122"/>
                <a:cs typeface="Arial" pitchFamily="34" charset="-120"/>
              </a:rPr>
              <a:t>5  Have it review its draft</a:t>
            </a:r>
            <a:endParaRPr lang="en-US" sz="1350" dirty="0"/>
          </a:p>
        </p:txBody>
      </p:sp>
      <p:sp>
        <p:nvSpPr>
          <p:cNvPr id="20" name="Text 17"/>
          <p:cNvSpPr/>
          <p:nvPr/>
        </p:nvSpPr>
        <p:spPr>
          <a:xfrm>
            <a:off x="8375904" y="3941064"/>
            <a:ext cx="2971800" cy="329184"/>
          </a:xfrm>
          <a:prstGeom prst="rect">
            <a:avLst/>
          </a:prstGeom>
          <a:noFill/>
          <a:ln/>
        </p:spPr>
        <p:txBody>
          <a:bodyPr wrap="square" lIns="0" tIns="0" rIns="0" bIns="0" rtlCol="0" anchor="ctr"/>
          <a:lstStyle/>
          <a:p>
            <a:pPr indent="0" marL="0">
              <a:buNone/>
            </a:pPr>
            <a:r>
              <a:rPr lang="en-US" sz="1350" dirty="0">
                <a:solidFill>
                  <a:srgbClr val="3A4452"/>
                </a:solidFill>
                <a:latin typeface="Arial" pitchFamily="34" charset="0"/>
                <a:ea typeface="Arial" pitchFamily="34" charset="-122"/>
                <a:cs typeface="Arial" pitchFamily="34" charset="-120"/>
              </a:rPr>
              <a:t>6  Split the job into steps</a:t>
            </a:r>
            <a:endParaRPr lang="en-US" sz="1350" dirty="0"/>
          </a:p>
        </p:txBody>
      </p:sp>
      <p:sp>
        <p:nvSpPr>
          <p:cNvPr id="21" name="Text 18"/>
          <p:cNvSpPr/>
          <p:nvPr/>
        </p:nvSpPr>
        <p:spPr>
          <a:xfrm>
            <a:off x="640080" y="5669280"/>
            <a:ext cx="10881360" cy="36576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For each technique: concept, short demonstration, then hands-on practice.</a:t>
            </a:r>
            <a:endParaRPr lang="en-US" sz="1500" dirty="0"/>
          </a:p>
        </p:txBody>
      </p:sp>
      <p:sp>
        <p:nvSpPr>
          <p:cNvPr id="22" name="Text 19"/>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PROMPT ENGINEERING ESSENTIALS</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PART 1 OF 3</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Give the AI clear direction</a:t>
            </a:r>
            <a:endParaRPr lang="en-US" sz="4400" dirty="0"/>
          </a:p>
        </p:txBody>
      </p:sp>
      <p:sp>
        <p:nvSpPr>
          <p:cNvPr id="7" name="Text 5"/>
          <p:cNvSpPr/>
          <p:nvPr/>
        </p:nvSpPr>
        <p:spPr>
          <a:xfrm>
            <a:off x="9509760" y="777240"/>
            <a:ext cx="2103120" cy="2286000"/>
          </a:xfrm>
          <a:prstGeom prst="rect">
            <a:avLst/>
          </a:prstGeom>
          <a:noFill/>
          <a:ln/>
        </p:spPr>
        <p:txBody>
          <a:bodyPr wrap="square" lIns="0" tIns="0" rIns="0" bIns="0" rtlCol="0" anchor="ctr"/>
          <a:lstStyle/>
          <a:p>
            <a:pPr algn="r" indent="0" marL="0">
              <a:buNone/>
            </a:pPr>
            <a:r>
              <a:rPr lang="en-US" sz="15000" b="1" dirty="0">
                <a:solidFill>
                  <a:srgbClr val="A60E34"/>
                </a:solidFill>
                <a:latin typeface="Arial" pitchFamily="34" charset="0"/>
                <a:ea typeface="Arial" pitchFamily="34" charset="-122"/>
                <a:cs typeface="Arial" pitchFamily="34" charset="-120"/>
              </a:rPr>
              <a:t>1</a:t>
            </a:r>
            <a:endParaRPr lang="en-US" sz="15000" dirty="0"/>
          </a:p>
        </p:txBody>
      </p:sp>
      <p:sp>
        <p:nvSpPr>
          <p:cNvPr id="8" name="Shape 6"/>
          <p:cNvSpPr/>
          <p:nvPr/>
        </p:nvSpPr>
        <p:spPr>
          <a:xfrm>
            <a:off x="658368" y="4800600"/>
            <a:ext cx="3520440" cy="457200"/>
          </a:xfrm>
          <a:prstGeom prst="roundRect">
            <a:avLst>
              <a:gd name="adj" fmla="val 24000"/>
            </a:avLst>
          </a:prstGeom>
          <a:solidFill>
            <a:srgbClr val="FFFFFF"/>
          </a:solidFill>
          <a:ln/>
        </p:spPr>
      </p:sp>
      <p:sp>
        <p:nvSpPr>
          <p:cNvPr id="9" name="Text 7"/>
          <p:cNvSpPr/>
          <p:nvPr/>
        </p:nvSpPr>
        <p:spPr>
          <a:xfrm>
            <a:off x="658368" y="4800600"/>
            <a:ext cx="3520440" cy="457200"/>
          </a:xfrm>
          <a:prstGeom prst="rect">
            <a:avLst/>
          </a:prstGeom>
          <a:noFill/>
          <a:ln/>
        </p:spPr>
        <p:txBody>
          <a:bodyPr wrap="square" lIns="0" tIns="0" rIns="0" bIns="0" rtlCol="0" anchor="ctr"/>
          <a:lstStyle/>
          <a:p>
            <a:pPr algn="ctr" indent="0" marL="0">
              <a:buNone/>
            </a:pPr>
            <a:r>
              <a:rPr lang="en-US" sz="1150" b="1" dirty="0">
                <a:solidFill>
                  <a:srgbClr val="D31242"/>
                </a:solidFill>
                <a:latin typeface="Arial" pitchFamily="34" charset="0"/>
                <a:ea typeface="Arial" pitchFamily="34" charset="-122"/>
                <a:cs typeface="Arial" pitchFamily="34" charset="-120"/>
              </a:rPr>
              <a:t>1 · Give the AI clear direction</a:t>
            </a:r>
            <a:endParaRPr lang="en-US" sz="1150" dirty="0"/>
          </a:p>
        </p:txBody>
      </p:sp>
      <p:sp>
        <p:nvSpPr>
          <p:cNvPr id="10" name="Shape 8"/>
          <p:cNvSpPr/>
          <p:nvPr/>
        </p:nvSpPr>
        <p:spPr>
          <a:xfrm>
            <a:off x="4315968" y="4800600"/>
            <a:ext cx="3520440" cy="457200"/>
          </a:xfrm>
          <a:prstGeom prst="roundRect">
            <a:avLst>
              <a:gd name="adj" fmla="val 24000"/>
            </a:avLst>
          </a:prstGeom>
          <a:solidFill>
            <a:srgbClr val="A60E34"/>
          </a:solidFill>
          <a:ln/>
        </p:spPr>
      </p:sp>
      <p:sp>
        <p:nvSpPr>
          <p:cNvPr id="11" name="Text 9"/>
          <p:cNvSpPr/>
          <p:nvPr/>
        </p:nvSpPr>
        <p:spPr>
          <a:xfrm>
            <a:off x="4315968" y="4800600"/>
            <a:ext cx="3520440" cy="457200"/>
          </a:xfrm>
          <a:prstGeom prst="rect">
            <a:avLst/>
          </a:prstGeom>
          <a:noFill/>
          <a:ln/>
        </p:spPr>
        <p:txBody>
          <a:bodyPr wrap="square" lIns="0" tIns="0" rIns="0" bIns="0" rtlCol="0" anchor="ctr"/>
          <a:lstStyle/>
          <a:p>
            <a:pPr algn="ctr" indent="0" marL="0">
              <a:buNone/>
            </a:pPr>
            <a:r>
              <a:rPr lang="en-US" sz="1150" dirty="0">
                <a:solidFill>
                  <a:srgbClr val="FCE4EA"/>
                </a:solidFill>
                <a:latin typeface="Arial" pitchFamily="34" charset="0"/>
                <a:ea typeface="Arial" pitchFamily="34" charset="-122"/>
                <a:cs typeface="Arial" pitchFamily="34" charset="-120"/>
              </a:rPr>
              <a:t>2 · Get the AI's help writing your prompt</a:t>
            </a:r>
            <a:endParaRPr lang="en-US" sz="1150" dirty="0"/>
          </a:p>
        </p:txBody>
      </p:sp>
      <p:sp>
        <p:nvSpPr>
          <p:cNvPr id="12" name="Shape 10"/>
          <p:cNvSpPr/>
          <p:nvPr/>
        </p:nvSpPr>
        <p:spPr>
          <a:xfrm>
            <a:off x="7973568" y="4800600"/>
            <a:ext cx="3520440" cy="457200"/>
          </a:xfrm>
          <a:prstGeom prst="roundRect">
            <a:avLst>
              <a:gd name="adj" fmla="val 24000"/>
            </a:avLst>
          </a:prstGeom>
          <a:solidFill>
            <a:srgbClr val="A60E34"/>
          </a:solidFill>
          <a:ln/>
        </p:spPr>
      </p:sp>
      <p:sp>
        <p:nvSpPr>
          <p:cNvPr id="13" name="Text 11"/>
          <p:cNvSpPr/>
          <p:nvPr/>
        </p:nvSpPr>
        <p:spPr>
          <a:xfrm>
            <a:off x="7973568" y="4800600"/>
            <a:ext cx="3520440" cy="457200"/>
          </a:xfrm>
          <a:prstGeom prst="rect">
            <a:avLst/>
          </a:prstGeom>
          <a:noFill/>
          <a:ln/>
        </p:spPr>
        <p:txBody>
          <a:bodyPr wrap="square" lIns="0" tIns="0" rIns="0" bIns="0" rtlCol="0" anchor="ctr"/>
          <a:lstStyle/>
          <a:p>
            <a:pPr algn="ctr" indent="0" marL="0">
              <a:buNone/>
            </a:pPr>
            <a:r>
              <a:rPr lang="en-US" sz="1150" dirty="0">
                <a:solidFill>
                  <a:srgbClr val="FCE4EA"/>
                </a:solidFill>
                <a:latin typeface="Arial" pitchFamily="34" charset="0"/>
                <a:ea typeface="Arial" pitchFamily="34" charset="-122"/>
                <a:cs typeface="Arial" pitchFamily="34" charset="-120"/>
              </a:rPr>
              <a:t>3 · Improve the AI's first draft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3" name="Text 1"/>
          <p:cNvSpPr/>
          <p:nvPr/>
        </p:nvSpPr>
        <p:spPr>
          <a:xfrm>
            <a:off x="640080" y="566928"/>
            <a:ext cx="841248" cy="841248"/>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4" name="Text 2"/>
          <p:cNvSpPr/>
          <p:nvPr/>
        </p:nvSpPr>
        <p:spPr>
          <a:xfrm>
            <a:off x="1664208" y="548640"/>
            <a:ext cx="640080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TECHNIQUE 1 OF 6</a:t>
            </a:r>
            <a:endParaRPr lang="en-US" sz="1200" dirty="0"/>
          </a:p>
        </p:txBody>
      </p:sp>
      <p:sp>
        <p:nvSpPr>
          <p:cNvPr id="5" name="Text 3"/>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Show the AI a finished example</a:t>
            </a:r>
            <a:endParaRPr lang="en-US" sz="3000" dirty="0"/>
          </a:p>
        </p:txBody>
      </p:sp>
      <p:sp>
        <p:nvSpPr>
          <p:cNvPr id="6" name="Text 4"/>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GIVE THE AI CLEAR DIRECTION</a:t>
            </a:r>
            <a:endParaRPr lang="en-US" sz="900" dirty="0"/>
          </a:p>
        </p:txBody>
      </p:sp>
      <p:sp>
        <p:nvSpPr>
          <p:cNvPr id="7" name="Text 5"/>
          <p:cNvSpPr/>
          <p:nvPr/>
        </p:nvSpPr>
        <p:spPr>
          <a:xfrm>
            <a:off x="1664208" y="1517904"/>
            <a:ext cx="7315200" cy="274320"/>
          </a:xfrm>
          <a:prstGeom prst="rect">
            <a:avLst/>
          </a:prstGeom>
          <a:noFill/>
          <a:ln/>
        </p:spPr>
        <p:txBody>
          <a:bodyPr wrap="square" lIns="0" tIns="0" rIns="0" bIns="0" rtlCol="0" anchor="ctr"/>
          <a:lstStyle/>
          <a:p>
            <a:pPr indent="0" marL="0">
              <a:buNone/>
            </a:pPr>
            <a:r>
              <a:rPr lang="en-US" sz="1150" i="1" dirty="0">
                <a:solidFill>
                  <a:srgbClr val="5E6A78"/>
                </a:solidFill>
                <a:latin typeface="Arial" pitchFamily="34" charset="0"/>
                <a:ea typeface="Arial" pitchFamily="34" charset="-122"/>
                <a:cs typeface="Arial" pitchFamily="34" charset="-120"/>
              </a:rPr>
              <a:t>Also called: few-shot prompting</a:t>
            </a:r>
            <a:endParaRPr lang="en-US" sz="1150" dirty="0"/>
          </a:p>
        </p:txBody>
      </p:sp>
      <p:sp>
        <p:nvSpPr>
          <p:cNvPr id="8" name="Shape 6"/>
          <p:cNvSpPr/>
          <p:nvPr/>
        </p:nvSpPr>
        <p:spPr>
          <a:xfrm>
            <a:off x="640080" y="1874520"/>
            <a:ext cx="10881360" cy="1005840"/>
          </a:xfrm>
          <a:prstGeom prst="roundRect">
            <a:avLst>
              <a:gd name="adj" fmla="val 8182"/>
            </a:avLst>
          </a:prstGeom>
          <a:solidFill>
            <a:srgbClr val="FCE4EA"/>
          </a:solidFill>
          <a:ln/>
          <a:effectLst>
            <a:outerShdw sx="100000" sy="100000" kx="0" ky="0" algn="bl" rotWithShape="0" blurRad="88900" dist="38100" dir="5400000">
              <a:srgbClr val="1F2733">
                <a:alpha val="10000"/>
              </a:srgbClr>
            </a:outerShdw>
          </a:effectLst>
        </p:spPr>
      </p:sp>
      <p:sp>
        <p:nvSpPr>
          <p:cNvPr id="9" name="Text 7"/>
          <p:cNvSpPr/>
          <p:nvPr/>
        </p:nvSpPr>
        <p:spPr>
          <a:xfrm>
            <a:off x="960120" y="2057400"/>
            <a:ext cx="10241280" cy="640080"/>
          </a:xfrm>
          <a:prstGeom prst="rect">
            <a:avLst/>
          </a:prstGeom>
          <a:noFill/>
          <a:ln/>
        </p:spPr>
        <p:txBody>
          <a:bodyPr wrap="square" lIns="0" tIns="0" rIns="0" bIns="0" rtlCol="0" anchor="ctr"/>
          <a:lstStyle/>
          <a:p>
            <a:pPr indent="0" marL="0">
              <a:lnSpc>
                <a:spcPct val="110000"/>
              </a:lnSpc>
              <a:buNone/>
            </a:pPr>
            <a:r>
              <a:rPr lang="en-US" sz="1850" b="1" dirty="0">
                <a:solidFill>
                  <a:srgbClr val="1F2733"/>
                </a:solidFill>
                <a:latin typeface="Arial" pitchFamily="34" charset="0"/>
                <a:ea typeface="Arial" pitchFamily="34" charset="-122"/>
                <a:cs typeface="Arial" pitchFamily="34" charset="-120"/>
              </a:rPr>
              <a:t>Give the AI one or two finished examples, and ask it to do the real work the same way.</a:t>
            </a:r>
            <a:endParaRPr lang="en-US" sz="1850" dirty="0"/>
          </a:p>
        </p:txBody>
      </p:sp>
      <p:sp>
        <p:nvSpPr>
          <p:cNvPr id="10" name="Shape 8"/>
          <p:cNvSpPr/>
          <p:nvPr/>
        </p:nvSpPr>
        <p:spPr>
          <a:xfrm>
            <a:off x="640080" y="3246120"/>
            <a:ext cx="5074920" cy="1783080"/>
          </a:xfrm>
          <a:prstGeom prst="roundRect">
            <a:avLst>
              <a:gd name="adj" fmla="val 4615"/>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1" name="Text 9"/>
          <p:cNvSpPr/>
          <p:nvPr/>
        </p:nvSpPr>
        <p:spPr>
          <a:xfrm>
            <a:off x="914400" y="3456432"/>
            <a:ext cx="4526280" cy="274320"/>
          </a:xfrm>
          <a:prstGeom prst="rect">
            <a:avLst/>
          </a:prstGeom>
          <a:noFill/>
          <a:ln/>
        </p:spPr>
        <p:txBody>
          <a:bodyPr wrap="square" lIns="0" tIns="0" rIns="0" bIns="0" rtlCol="0" anchor="ctr"/>
          <a:lstStyle/>
          <a:p>
            <a:pPr indent="0" marL="0">
              <a:buNone/>
            </a:pPr>
            <a:r>
              <a:rPr lang="en-US" sz="1050" b="1" spc="150" kern="0" dirty="0">
                <a:solidFill>
                  <a:srgbClr val="5E6A78"/>
                </a:solidFill>
                <a:latin typeface="Arial" pitchFamily="34" charset="0"/>
                <a:ea typeface="Arial" pitchFamily="34" charset="-122"/>
                <a:cs typeface="Arial" pitchFamily="34" charset="-120"/>
              </a:rPr>
              <a:t>IF YOU DESCRIBE WHAT YOU WANT</a:t>
            </a:r>
            <a:endParaRPr lang="en-US" sz="1050" dirty="0"/>
          </a:p>
        </p:txBody>
      </p:sp>
      <p:sp>
        <p:nvSpPr>
          <p:cNvPr id="12" name="Text 10"/>
          <p:cNvSpPr/>
          <p:nvPr/>
        </p:nvSpPr>
        <p:spPr>
          <a:xfrm>
            <a:off x="914400" y="3785616"/>
            <a:ext cx="4526280" cy="1097280"/>
          </a:xfrm>
          <a:prstGeom prst="rect">
            <a:avLst/>
          </a:prstGeom>
          <a:noFill/>
          <a:ln/>
        </p:spPr>
        <p:txBody>
          <a:bodyPr wrap="square" lIns="0" tIns="0" rIns="0" bIns="0" rtlCol="0" anchor="t"/>
          <a:lstStyle/>
          <a:p>
            <a:pPr indent="0" marL="0">
              <a:lnSpc>
                <a:spcPct val="120000"/>
              </a:lnSpc>
              <a:buNone/>
            </a:pPr>
            <a:r>
              <a:rPr lang="en-US" sz="1450" dirty="0">
                <a:solidFill>
                  <a:srgbClr val="3A4452"/>
                </a:solidFill>
                <a:latin typeface="Arial" pitchFamily="34" charset="0"/>
                <a:ea typeface="Arial" pitchFamily="34" charset="-122"/>
                <a:cs typeface="Arial" pitchFamily="34" charset="-120"/>
              </a:rPr>
              <a:t>The AI decides what a good answer looks like, and decides differently each time.</a:t>
            </a:r>
            <a:endParaRPr lang="en-US" sz="1450" dirty="0"/>
          </a:p>
        </p:txBody>
      </p:sp>
      <p:sp>
        <p:nvSpPr>
          <p:cNvPr id="13" name="Shape 11"/>
          <p:cNvSpPr/>
          <p:nvPr/>
        </p:nvSpPr>
        <p:spPr>
          <a:xfrm>
            <a:off x="5824728" y="3931920"/>
            <a:ext cx="420624" cy="420624"/>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14" name="Text 12"/>
          <p:cNvSpPr/>
          <p:nvPr/>
        </p:nvSpPr>
        <p:spPr>
          <a:xfrm>
            <a:off x="5824728" y="3931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Shape 13"/>
          <p:cNvSpPr/>
          <p:nvPr/>
        </p:nvSpPr>
        <p:spPr>
          <a:xfrm>
            <a:off x="6355080" y="3246120"/>
            <a:ext cx="5166360" cy="1783080"/>
          </a:xfrm>
          <a:prstGeom prst="roundRect">
            <a:avLst>
              <a:gd name="adj" fmla="val 4615"/>
            </a:avLst>
          </a:prstGeom>
          <a:solidFill>
            <a:srgbClr val="DCFCE7"/>
          </a:solidFill>
          <a:ln/>
          <a:effectLst>
            <a:outerShdw sx="100000" sy="100000" kx="0" ky="0" algn="bl" rotWithShape="0" blurRad="88900" dist="38100" dir="5400000">
              <a:srgbClr val="1F2733">
                <a:alpha val="10000"/>
              </a:srgbClr>
            </a:outerShdw>
          </a:effectLst>
        </p:spPr>
      </p:sp>
      <p:sp>
        <p:nvSpPr>
          <p:cNvPr id="16" name="Text 14"/>
          <p:cNvSpPr/>
          <p:nvPr/>
        </p:nvSpPr>
        <p:spPr>
          <a:xfrm>
            <a:off x="6629400" y="3456432"/>
            <a:ext cx="4617720" cy="274320"/>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IF YOU SHOW WHAT YOU WANT</a:t>
            </a:r>
            <a:endParaRPr lang="en-US" sz="1050" dirty="0"/>
          </a:p>
        </p:txBody>
      </p:sp>
      <p:sp>
        <p:nvSpPr>
          <p:cNvPr id="17" name="Text 15"/>
          <p:cNvSpPr/>
          <p:nvPr/>
        </p:nvSpPr>
        <p:spPr>
          <a:xfrm>
            <a:off x="6629400" y="3785616"/>
            <a:ext cx="4617720" cy="1097280"/>
          </a:xfrm>
          <a:prstGeom prst="rect">
            <a:avLst/>
          </a:prstGeom>
          <a:noFill/>
          <a:ln/>
        </p:spPr>
        <p:txBody>
          <a:bodyPr wrap="square" lIns="0" tIns="0" rIns="0" bIns="0" rtlCol="0" anchor="t"/>
          <a:lstStyle/>
          <a:p>
            <a:pPr indent="0" marL="0">
              <a:lnSpc>
                <a:spcPct val="120000"/>
              </a:lnSpc>
              <a:buNone/>
            </a:pPr>
            <a:r>
              <a:rPr lang="en-US" sz="1450" dirty="0">
                <a:solidFill>
                  <a:srgbClr val="1F2733"/>
                </a:solidFill>
                <a:latin typeface="Arial" pitchFamily="34" charset="0"/>
                <a:ea typeface="Arial" pitchFamily="34" charset="-122"/>
                <a:cs typeface="Arial" pitchFamily="34" charset="-120"/>
              </a:rPr>
              <a:t>The AI follows the example you gave it.</a:t>
            </a:r>
            <a:endParaRPr lang="en-US" sz="1450" dirty="0"/>
          </a:p>
        </p:txBody>
      </p:sp>
      <p:sp>
        <p:nvSpPr>
          <p:cNvPr id="18" name="Text 16"/>
          <p:cNvSpPr/>
          <p:nvPr/>
        </p:nvSpPr>
        <p:spPr>
          <a:xfrm>
            <a:off x="640080" y="5440680"/>
            <a:ext cx="10881360" cy="36576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Use this when the answer must follow a specific format.</a:t>
            </a:r>
            <a:endParaRPr lang="en-US" sz="1500" dirty="0"/>
          </a:p>
        </p:txBody>
      </p:sp>
      <p:sp>
        <p:nvSpPr>
          <p:cNvPr id="19" name="Text 17"/>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1 OF 6 · SHOW A FINISHED EXAMPLE</a:t>
            </a:r>
            <a:endParaRPr lang="en-US" sz="850" dirty="0"/>
          </a:p>
        </p:txBody>
      </p:sp>
      <p:sp>
        <p:nvSpPr>
          <p:cNvPr id="20" name="Shape 18"/>
          <p:cNvSpPr/>
          <p:nvPr/>
        </p:nvSpPr>
        <p:spPr>
          <a:xfrm>
            <a:off x="6551676" y="6451092"/>
            <a:ext cx="182880" cy="182880"/>
          </a:xfrm>
          <a:prstGeom prst="ellipse">
            <a:avLst/>
          </a:prstGeom>
          <a:ln w="9525">
            <a:solidFill>
              <a:srgbClr val="D31242"/>
            </a:solidFill>
            <a:prstDash val="solid"/>
          </a:ln>
        </p:spPr>
      </p:sp>
      <p:sp>
        <p:nvSpPr>
          <p:cNvPr id="21" name="Shape 19"/>
          <p:cNvSpPr/>
          <p:nvPr/>
        </p:nvSpPr>
        <p:spPr>
          <a:xfrm>
            <a:off x="6583680" y="6483096"/>
            <a:ext cx="118872" cy="118872"/>
          </a:xfrm>
          <a:prstGeom prst="ellipse">
            <a:avLst/>
          </a:prstGeom>
          <a:solidFill>
            <a:srgbClr val="D31242"/>
          </a:solidFill>
          <a:ln/>
        </p:spPr>
      </p:sp>
      <p:sp>
        <p:nvSpPr>
          <p:cNvPr id="22" name="Shape 20"/>
          <p:cNvSpPr/>
          <p:nvPr/>
        </p:nvSpPr>
        <p:spPr>
          <a:xfrm>
            <a:off x="6803136" y="6483096"/>
            <a:ext cx="118872" cy="118872"/>
          </a:xfrm>
          <a:prstGeom prst="ellipse">
            <a:avLst/>
          </a:prstGeom>
          <a:solidFill>
            <a:srgbClr val="D9DDE3"/>
          </a:solidFill>
          <a:ln/>
        </p:spPr>
      </p:sp>
      <p:sp>
        <p:nvSpPr>
          <p:cNvPr id="23" name="Shape 21"/>
          <p:cNvSpPr/>
          <p:nvPr/>
        </p:nvSpPr>
        <p:spPr>
          <a:xfrm>
            <a:off x="7022592" y="6483096"/>
            <a:ext cx="118872" cy="118872"/>
          </a:xfrm>
          <a:prstGeom prst="ellipse">
            <a:avLst/>
          </a:prstGeom>
          <a:solidFill>
            <a:srgbClr val="D9DDE3"/>
          </a:solidFill>
          <a:ln/>
        </p:spPr>
      </p:sp>
      <p:sp>
        <p:nvSpPr>
          <p:cNvPr id="24" name="Shape 22"/>
          <p:cNvSpPr/>
          <p:nvPr/>
        </p:nvSpPr>
        <p:spPr>
          <a:xfrm>
            <a:off x="7370064" y="6483096"/>
            <a:ext cx="118872" cy="118872"/>
          </a:xfrm>
          <a:prstGeom prst="ellipse">
            <a:avLst/>
          </a:prstGeom>
          <a:solidFill>
            <a:srgbClr val="D9DDE3"/>
          </a:solidFill>
          <a:ln/>
        </p:spPr>
      </p:sp>
      <p:sp>
        <p:nvSpPr>
          <p:cNvPr id="25" name="Shape 23"/>
          <p:cNvSpPr/>
          <p:nvPr/>
        </p:nvSpPr>
        <p:spPr>
          <a:xfrm>
            <a:off x="7717536" y="6483096"/>
            <a:ext cx="118872" cy="118872"/>
          </a:xfrm>
          <a:prstGeom prst="ellipse">
            <a:avLst/>
          </a:prstGeom>
          <a:solidFill>
            <a:srgbClr val="D9DDE3"/>
          </a:solidFill>
          <a:ln/>
        </p:spPr>
      </p:sp>
      <p:sp>
        <p:nvSpPr>
          <p:cNvPr id="26" name="Shape 24"/>
          <p:cNvSpPr/>
          <p:nvPr/>
        </p:nvSpPr>
        <p:spPr>
          <a:xfrm>
            <a:off x="7936992" y="6483096"/>
            <a:ext cx="118872" cy="118872"/>
          </a:xfrm>
          <a:prstGeom prst="ellipse">
            <a:avLst/>
          </a:prstGeom>
          <a:solidFill>
            <a:srgbClr val="D9DDE3"/>
          </a:solidFill>
          <a:ln/>
        </p:spPr>
      </p:sp>
      <p:sp>
        <p:nvSpPr>
          <p:cNvPr id="27" name="Text 25"/>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SHOW A FINISHED EXAMPLE · BEFORE AND AFTER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example decides the fields</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GIVE THE AI CLEAR DIRECTION</a:t>
            </a:r>
            <a:endParaRPr lang="en-US" sz="900" dirty="0"/>
          </a:p>
        </p:txBody>
      </p:sp>
      <p:sp>
        <p:nvSpPr>
          <p:cNvPr id="7" name="Shape 4"/>
          <p:cNvSpPr/>
          <p:nvPr/>
        </p:nvSpPr>
        <p:spPr>
          <a:xfrm>
            <a:off x="640080" y="1874520"/>
            <a:ext cx="5074920" cy="3566160"/>
          </a:xfrm>
          <a:prstGeom prst="roundRect">
            <a:avLst>
              <a:gd name="adj" fmla="val 230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66544"/>
            <a:ext cx="4526280" cy="256032"/>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PROMPT</a:t>
            </a:r>
            <a:endParaRPr lang="en-US" sz="1100" dirty="0"/>
          </a:p>
        </p:txBody>
      </p:sp>
      <p:sp>
        <p:nvSpPr>
          <p:cNvPr id="9" name="Text 6"/>
          <p:cNvSpPr/>
          <p:nvPr/>
        </p:nvSpPr>
        <p:spPr>
          <a:xfrm>
            <a:off x="960120" y="2414016"/>
            <a:ext cx="4480560" cy="292608"/>
          </a:xfrm>
          <a:prstGeom prst="rect">
            <a:avLst/>
          </a:prstGeom>
          <a:noFill/>
          <a:ln/>
        </p:spPr>
        <p:txBody>
          <a:bodyPr wrap="square" lIns="0" tIns="0" rIns="0" bIns="0" rtlCol="0" anchor="t"/>
          <a:lstStyle/>
          <a:p>
            <a:pPr indent="0" marL="0">
              <a:lnSpc>
                <a:spcPct val="116000"/>
              </a:lnSpc>
              <a:buNone/>
            </a:pPr>
            <a:r>
              <a:rPr lang="en-US" sz="1250" dirty="0">
                <a:solidFill>
                  <a:srgbClr val="1F2733"/>
                </a:solidFill>
                <a:latin typeface="Arial" pitchFamily="34" charset="0"/>
                <a:ea typeface="Arial" pitchFamily="34" charset="-122"/>
                <a:cs typeface="Arial" pitchFamily="34" charset="-120"/>
              </a:rPr>
              <a:t>Turn this incident note into a log entry.</a:t>
            </a:r>
            <a:endParaRPr lang="en-US" sz="1250" dirty="0"/>
          </a:p>
        </p:txBody>
      </p:sp>
      <p:sp>
        <p:nvSpPr>
          <p:cNvPr id="10" name="Shape 7"/>
          <p:cNvSpPr/>
          <p:nvPr/>
        </p:nvSpPr>
        <p:spPr>
          <a:xfrm>
            <a:off x="841248" y="2798064"/>
            <a:ext cx="4681728" cy="1664208"/>
          </a:xfrm>
          <a:prstGeom prst="roundRect">
            <a:avLst>
              <a:gd name="adj" fmla="val 3846"/>
            </a:avLst>
          </a:prstGeom>
          <a:solidFill>
            <a:srgbClr val="DCFCE7"/>
          </a:solidFill>
          <a:ln/>
        </p:spPr>
      </p:sp>
      <p:sp>
        <p:nvSpPr>
          <p:cNvPr id="11" name="Text 8"/>
          <p:cNvSpPr/>
          <p:nvPr/>
        </p:nvSpPr>
        <p:spPr>
          <a:xfrm>
            <a:off x="960120" y="2843784"/>
            <a:ext cx="4480560" cy="1554480"/>
          </a:xfrm>
          <a:prstGeom prst="rect">
            <a:avLst/>
          </a:prstGeom>
          <a:noFill/>
          <a:ln/>
        </p:spPr>
        <p:txBody>
          <a:bodyPr wrap="square" lIns="0" tIns="0" rIns="0" bIns="0" rtlCol="0" anchor="t"/>
          <a:lstStyle/>
          <a:p>
            <a:pPr indent="0" marL="0">
              <a:lnSpc>
                <a:spcPct val="116000"/>
              </a:lnSpc>
              <a:buNone/>
            </a:pPr>
            <a:r>
              <a:rPr lang="en-US" sz="950" b="1" spc="150" kern="0" dirty="0">
                <a:solidFill>
                  <a:srgbClr val="15803D"/>
                </a:solidFill>
                <a:latin typeface="Arial" pitchFamily="34" charset="0"/>
                <a:ea typeface="Arial" pitchFamily="34" charset="-122"/>
                <a:cs typeface="Arial" pitchFamily="34" charset="-120"/>
              </a:rPr>
              <a:t>WHAT YOU ADD: ONE FINISHED EXAMPLE
</a:t>
            </a:r>
            <a:pPr indent="0" marL="0">
              <a:lnSpc>
                <a:spcPct val="116000"/>
              </a:lnSpc>
              <a:buNone/>
            </a:pPr>
            <a:r>
              <a:rPr lang="en-US" sz="1200" dirty="0">
                <a:solidFill>
                  <a:srgbClr val="1F2733"/>
                </a:solidFill>
                <a:latin typeface="Arial" pitchFamily="34" charset="0"/>
                <a:ea typeface="Arial" pitchFamily="34" charset="-122"/>
                <a:cs typeface="Arial" pitchFamily="34" charset="-120"/>
              </a:rPr>
              <a:t>“spill in aisle 12, broken jar of sauce,
cleaned it up right away”
</a:t>
            </a:r>
            <a:pPr indent="0" marL="0">
              <a:lnSpc>
                <a:spcPct val="116000"/>
              </a:lnSpc>
              <a:buNone/>
            </a:pPr>
            <a:r>
              <a:rPr lang="en-US" sz="1200" dirty="0">
                <a:solidFill>
                  <a:srgbClr val="1F2733"/>
                </a:solidFill>
                <a:latin typeface="Arial" pitchFamily="34" charset="0"/>
                <a:ea typeface="Arial" pitchFamily="34" charset="-122"/>
                <a:cs typeface="Arial" pitchFamily="34" charset="-120"/>
              </a:rPr>
              <a:t>Type: Spill</a:t>
            </a:r>
            <a:endParaRPr lang="en-US" sz="95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Location: Aisle 12</a:t>
            </a:r>
            <a:endParaRPr lang="en-US" sz="95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Injury: None</a:t>
            </a:r>
            <a:endParaRPr lang="en-US" sz="95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Action: Cleaned up</a:t>
            </a:r>
            <a:endParaRPr lang="en-US" sz="950" dirty="0"/>
          </a:p>
        </p:txBody>
      </p:sp>
      <p:sp>
        <p:nvSpPr>
          <p:cNvPr id="12" name="Text 9"/>
          <p:cNvSpPr/>
          <p:nvPr/>
        </p:nvSpPr>
        <p:spPr>
          <a:xfrm>
            <a:off x="960120" y="4535424"/>
            <a:ext cx="4480560" cy="502920"/>
          </a:xfrm>
          <a:prstGeom prst="rect">
            <a:avLst/>
          </a:prstGeom>
          <a:noFill/>
          <a:ln/>
        </p:spPr>
        <p:txBody>
          <a:bodyPr wrap="square" lIns="0" tIns="0" rIns="0" bIns="0" rtlCol="0" anchor="t"/>
          <a:lstStyle/>
          <a:p>
            <a:pPr indent="0" marL="0">
              <a:lnSpc>
                <a:spcPct val="116000"/>
              </a:lnSpc>
              <a:buNone/>
            </a:pPr>
            <a:r>
              <a:rPr lang="en-US" sz="1250" dirty="0">
                <a:solidFill>
                  <a:srgbClr val="1F2733"/>
                </a:solidFill>
                <a:latin typeface="Arial" pitchFamily="34" charset="0"/>
                <a:ea typeface="Arial" pitchFamily="34" charset="-122"/>
                <a:cs typeface="Arial" pitchFamily="34" charset="-120"/>
              </a:rPr>
              <a:t>“member slipped near the produce misters,</a:t>
            </a:r>
            <a:endParaRPr lang="en-US" sz="1250" dirty="0"/>
          </a:p>
          <a:p>
            <a:pPr indent="0" marL="0">
              <a:lnSpc>
                <a:spcPct val="116000"/>
              </a:lnSpc>
              <a:buNone/>
            </a:pPr>
            <a:r>
              <a:rPr lang="en-US" sz="1250" dirty="0">
                <a:solidFill>
                  <a:srgbClr val="1F2733"/>
                </a:solidFill>
                <a:latin typeface="Arial" pitchFamily="34" charset="0"/>
                <a:ea typeface="Arial" pitchFamily="34" charset="-122"/>
                <a:cs typeface="Arial" pitchFamily="34" charset="-120"/>
              </a:rPr>
              <a:t>said she was fine, we put a cone out”</a:t>
            </a:r>
            <a:endParaRPr lang="en-US" sz="1250" dirty="0"/>
          </a:p>
        </p:txBody>
      </p:sp>
      <p:sp>
        <p:nvSpPr>
          <p:cNvPr id="13" name="Shape 10"/>
          <p:cNvSpPr/>
          <p:nvPr/>
        </p:nvSpPr>
        <p:spPr>
          <a:xfrm>
            <a:off x="6355080" y="1874520"/>
            <a:ext cx="5166360" cy="1600200"/>
          </a:xfrm>
          <a:prstGeom prst="roundRect">
            <a:avLst>
              <a:gd name="adj" fmla="val 5143"/>
            </a:avLst>
          </a:prstGeom>
          <a:solidFill>
            <a:srgbClr val="FEE2E2"/>
          </a:solidFill>
          <a:ln/>
          <a:effectLst>
            <a:outerShdw sx="100000" sy="100000" kx="0" ky="0" algn="bl" rotWithShape="0" blurRad="88900" dist="38100" dir="5400000">
              <a:srgbClr val="1F2733">
                <a:alpha val="10000"/>
              </a:srgbClr>
            </a:outerShdw>
          </a:effectLst>
        </p:spPr>
      </p:sp>
      <p:sp>
        <p:nvSpPr>
          <p:cNvPr id="14" name="Shape 11"/>
          <p:cNvSpPr/>
          <p:nvPr/>
        </p:nvSpPr>
        <p:spPr>
          <a:xfrm>
            <a:off x="6455664" y="2029968"/>
            <a:ext cx="50292" cy="1298448"/>
          </a:xfrm>
          <a:prstGeom prst="roundRect">
            <a:avLst>
              <a:gd name="adj" fmla="val 36364"/>
            </a:avLst>
          </a:prstGeom>
          <a:solidFill>
            <a:srgbClr val="B91C1C"/>
          </a:solidFill>
          <a:ln/>
        </p:spPr>
      </p:sp>
      <p:sp>
        <p:nvSpPr>
          <p:cNvPr id="15" name="Text 12"/>
          <p:cNvSpPr/>
          <p:nvPr/>
        </p:nvSpPr>
        <p:spPr>
          <a:xfrm>
            <a:off x="6629400" y="2048256"/>
            <a:ext cx="4617720" cy="237744"/>
          </a:xfrm>
          <a:prstGeom prst="rect">
            <a:avLst/>
          </a:prstGeom>
          <a:noFill/>
          <a:ln/>
        </p:spPr>
        <p:txBody>
          <a:bodyPr wrap="square" lIns="0" tIns="0" rIns="0" bIns="0" rtlCol="0" anchor="ctr"/>
          <a:lstStyle/>
          <a:p>
            <a:pPr indent="0" marL="0">
              <a:buNone/>
            </a:pPr>
            <a:r>
              <a:rPr lang="en-US" sz="1000" b="1" spc="120" kern="0" dirty="0">
                <a:solidFill>
                  <a:srgbClr val="B91C1C"/>
                </a:solidFill>
                <a:latin typeface="Arial" pitchFamily="34" charset="0"/>
                <a:ea typeface="Arial" pitchFamily="34" charset="-122"/>
                <a:cs typeface="Arial" pitchFamily="34" charset="-120"/>
              </a:rPr>
              <a:t>RESPONSE, WITHOUT THE ADDITION</a:t>
            </a:r>
            <a:endParaRPr lang="en-US" sz="1000" dirty="0"/>
          </a:p>
        </p:txBody>
      </p:sp>
      <p:sp>
        <p:nvSpPr>
          <p:cNvPr id="16" name="Text 13"/>
          <p:cNvSpPr/>
          <p:nvPr/>
        </p:nvSpPr>
        <p:spPr>
          <a:xfrm>
            <a:off x="6629400" y="2340864"/>
            <a:ext cx="4617720" cy="1042416"/>
          </a:xfrm>
          <a:prstGeom prst="rect">
            <a:avLst/>
          </a:prstGeom>
          <a:noFill/>
          <a:ln/>
        </p:spPr>
        <p:txBody>
          <a:bodyPr wrap="square" lIns="0" tIns="0" rIns="0" bIns="0" rtlCol="0" anchor="t"/>
          <a:lstStyle/>
          <a:p>
            <a:pPr indent="0" marL="0">
              <a:lnSpc>
                <a:spcPct val="114000"/>
              </a:lnSpc>
              <a:buNone/>
            </a:pPr>
            <a:r>
              <a:rPr lang="en-US" sz="1150" dirty="0">
                <a:solidFill>
                  <a:srgbClr val="1F2733"/>
                </a:solidFill>
                <a:latin typeface="Arial" pitchFamily="34" charset="0"/>
                <a:ea typeface="Arial" pitchFamily="34" charset="-122"/>
                <a:cs typeface="Arial" pitchFamily="34" charset="-120"/>
              </a:rPr>
              <a:t>Date: Not specified · Severity: Low</a:t>
            </a:r>
            <a:endParaRPr lang="en-US" sz="1150" dirty="0"/>
          </a:p>
          <a:p>
            <a:pPr indent="0" marL="0">
              <a:lnSpc>
                <a:spcPct val="114000"/>
              </a:lnSpc>
              <a:buNone/>
            </a:pPr>
            <a:r>
              <a:rPr lang="en-US" sz="1150" dirty="0">
                <a:solidFill>
                  <a:srgbClr val="1F2733"/>
                </a:solidFill>
                <a:latin typeface="Arial" pitchFamily="34" charset="0"/>
                <a:ea typeface="Arial" pitchFamily="34" charset="-122"/>
                <a:cs typeface="Arial" pitchFamily="34" charset="-120"/>
              </a:rPr>
              <a:t>Description: Member slipped near</a:t>
            </a:r>
            <a:endParaRPr lang="en-US" sz="1150" dirty="0"/>
          </a:p>
          <a:p>
            <a:pPr indent="0" marL="0">
              <a:lnSpc>
                <a:spcPct val="114000"/>
              </a:lnSpc>
              <a:buNone/>
            </a:pPr>
            <a:r>
              <a:rPr lang="en-US" sz="1150" dirty="0">
                <a:solidFill>
                  <a:srgbClr val="1F2733"/>
                </a:solidFill>
                <a:latin typeface="Arial" pitchFamily="34" charset="0"/>
                <a:ea typeface="Arial" pitchFamily="34" charset="-122"/>
                <a:cs typeface="Arial" pitchFamily="34" charset="-120"/>
              </a:rPr>
              <a:t>produce misters · Status: Resolved</a:t>
            </a:r>
            <a:endParaRPr lang="en-US" sz="1150" dirty="0"/>
          </a:p>
        </p:txBody>
      </p:sp>
      <p:sp>
        <p:nvSpPr>
          <p:cNvPr id="17" name="Shape 14"/>
          <p:cNvSpPr/>
          <p:nvPr/>
        </p:nvSpPr>
        <p:spPr>
          <a:xfrm>
            <a:off x="6355080" y="3611880"/>
            <a:ext cx="5166360" cy="1828800"/>
          </a:xfrm>
          <a:prstGeom prst="roundRect">
            <a:avLst>
              <a:gd name="adj" fmla="val 4500"/>
            </a:avLst>
          </a:prstGeom>
          <a:solidFill>
            <a:srgbClr val="DCFCE7"/>
          </a:solidFill>
          <a:ln/>
          <a:effectLst>
            <a:outerShdw sx="100000" sy="100000" kx="0" ky="0" algn="bl" rotWithShape="0" blurRad="88900" dist="38100" dir="5400000">
              <a:srgbClr val="1F2733">
                <a:alpha val="10000"/>
              </a:srgbClr>
            </a:outerShdw>
          </a:effectLst>
        </p:spPr>
      </p:sp>
      <p:sp>
        <p:nvSpPr>
          <p:cNvPr id="18" name="Shape 15"/>
          <p:cNvSpPr/>
          <p:nvPr/>
        </p:nvSpPr>
        <p:spPr>
          <a:xfrm>
            <a:off x="6455664" y="3767328"/>
            <a:ext cx="50292" cy="1536192"/>
          </a:xfrm>
          <a:prstGeom prst="roundRect">
            <a:avLst>
              <a:gd name="adj" fmla="val 36364"/>
            </a:avLst>
          </a:prstGeom>
          <a:solidFill>
            <a:srgbClr val="15803D"/>
          </a:solidFill>
          <a:ln/>
        </p:spPr>
      </p:sp>
      <p:sp>
        <p:nvSpPr>
          <p:cNvPr id="19" name="Text 16"/>
          <p:cNvSpPr/>
          <p:nvPr/>
        </p:nvSpPr>
        <p:spPr>
          <a:xfrm>
            <a:off x="6629400" y="3776472"/>
            <a:ext cx="4617720" cy="237744"/>
          </a:xfrm>
          <a:prstGeom prst="rect">
            <a:avLst/>
          </a:prstGeom>
          <a:noFill/>
          <a:ln/>
        </p:spPr>
        <p:txBody>
          <a:bodyPr wrap="square" lIns="0" tIns="0" rIns="0" bIns="0" rtlCol="0" anchor="ctr"/>
          <a:lstStyle/>
          <a:p>
            <a:pPr indent="0" marL="0">
              <a:buNone/>
            </a:pPr>
            <a:r>
              <a:rPr lang="en-US" sz="1000" b="1" spc="120" kern="0" dirty="0">
                <a:solidFill>
                  <a:srgbClr val="15803D"/>
                </a:solidFill>
                <a:latin typeface="Arial" pitchFamily="34" charset="0"/>
                <a:ea typeface="Arial" pitchFamily="34" charset="-122"/>
                <a:cs typeface="Arial" pitchFamily="34" charset="-120"/>
              </a:rPr>
              <a:t>RESPONSE, WITH THE ADDITION</a:t>
            </a:r>
            <a:endParaRPr lang="en-US" sz="1000" dirty="0"/>
          </a:p>
        </p:txBody>
      </p:sp>
      <p:sp>
        <p:nvSpPr>
          <p:cNvPr id="20" name="Text 17"/>
          <p:cNvSpPr/>
          <p:nvPr/>
        </p:nvSpPr>
        <p:spPr>
          <a:xfrm>
            <a:off x="6629400" y="4069080"/>
            <a:ext cx="4617720" cy="1298448"/>
          </a:xfrm>
          <a:prstGeom prst="rect">
            <a:avLst/>
          </a:prstGeom>
          <a:noFill/>
          <a:ln/>
        </p:spPr>
        <p:txBody>
          <a:bodyPr wrap="square" lIns="0" tIns="0" rIns="0" bIns="0" rtlCol="0" anchor="t"/>
          <a:lstStyle/>
          <a:p>
            <a:pPr indent="0" marL="0">
              <a:lnSpc>
                <a:spcPct val="114000"/>
              </a:lnSpc>
              <a:buNone/>
            </a:pPr>
            <a:r>
              <a:rPr lang="en-US" sz="1150" dirty="0">
                <a:solidFill>
                  <a:srgbClr val="1F2733"/>
                </a:solidFill>
                <a:latin typeface="Arial" pitchFamily="34" charset="0"/>
                <a:ea typeface="Arial" pitchFamily="34" charset="-122"/>
                <a:cs typeface="Arial" pitchFamily="34" charset="-120"/>
              </a:rPr>
              <a:t>Type: Slip</a:t>
            </a:r>
            <a:endParaRPr lang="en-US" sz="1150" dirty="0"/>
          </a:p>
          <a:p>
            <a:pPr indent="0" marL="0">
              <a:lnSpc>
                <a:spcPct val="114000"/>
              </a:lnSpc>
              <a:buNone/>
            </a:pPr>
            <a:r>
              <a:rPr lang="en-US" sz="1150" dirty="0">
                <a:solidFill>
                  <a:srgbClr val="1F2733"/>
                </a:solidFill>
                <a:latin typeface="Arial" pitchFamily="34" charset="0"/>
                <a:ea typeface="Arial" pitchFamily="34" charset="-122"/>
                <a:cs typeface="Arial" pitchFamily="34" charset="-120"/>
              </a:rPr>
              <a:t>Location: Produce</a:t>
            </a:r>
            <a:endParaRPr lang="en-US" sz="1150" dirty="0"/>
          </a:p>
          <a:p>
            <a:pPr indent="0" marL="0">
              <a:lnSpc>
                <a:spcPct val="114000"/>
              </a:lnSpc>
              <a:buNone/>
            </a:pPr>
            <a:r>
              <a:rPr lang="en-US" sz="1150" dirty="0">
                <a:solidFill>
                  <a:srgbClr val="1F2733"/>
                </a:solidFill>
                <a:latin typeface="Arial" pitchFamily="34" charset="0"/>
                <a:ea typeface="Arial" pitchFamily="34" charset="-122"/>
                <a:cs typeface="Arial" pitchFamily="34" charset="-120"/>
              </a:rPr>
              <a:t>Injury: None reported</a:t>
            </a:r>
            <a:endParaRPr lang="en-US" sz="1150" dirty="0"/>
          </a:p>
          <a:p>
            <a:pPr indent="0" marL="0">
              <a:lnSpc>
                <a:spcPct val="114000"/>
              </a:lnSpc>
              <a:buNone/>
            </a:pPr>
            <a:r>
              <a:rPr lang="en-US" sz="1150" dirty="0">
                <a:solidFill>
                  <a:srgbClr val="1F2733"/>
                </a:solidFill>
                <a:latin typeface="Arial" pitchFamily="34" charset="0"/>
                <a:ea typeface="Arial" pitchFamily="34" charset="-122"/>
                <a:cs typeface="Arial" pitchFamily="34" charset="-120"/>
              </a:rPr>
              <a:t>Action: Cone placed</a:t>
            </a:r>
            <a:endParaRPr lang="en-US" sz="1150" dirty="0"/>
          </a:p>
        </p:txBody>
      </p:sp>
      <p:sp>
        <p:nvSpPr>
          <p:cNvPr id="21" name="Text 18"/>
          <p:cNvSpPr/>
          <p:nvPr/>
        </p:nvSpPr>
        <p:spPr>
          <a:xfrm>
            <a:off x="640080" y="5870448"/>
            <a:ext cx="10881360" cy="41148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Without the addition, the AI invents its fields. With it, the fields are yours.</a:t>
            </a:r>
            <a:endParaRPr lang="en-US" sz="1500" dirty="0"/>
          </a:p>
        </p:txBody>
      </p:sp>
      <p:sp>
        <p:nvSpPr>
          <p:cNvPr id="22" name="Text 19"/>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1 OF 6 · SHOW A FINISHED EXAMPLE</a:t>
            </a:r>
            <a:endParaRPr lang="en-US" sz="850" dirty="0"/>
          </a:p>
        </p:txBody>
      </p:sp>
      <p:sp>
        <p:nvSpPr>
          <p:cNvPr id="23" name="Shape 20"/>
          <p:cNvSpPr/>
          <p:nvPr/>
        </p:nvSpPr>
        <p:spPr>
          <a:xfrm>
            <a:off x="6551676" y="6451092"/>
            <a:ext cx="182880" cy="182880"/>
          </a:xfrm>
          <a:prstGeom prst="ellipse">
            <a:avLst/>
          </a:prstGeom>
          <a:ln w="9525">
            <a:solidFill>
              <a:srgbClr val="D31242"/>
            </a:solidFill>
            <a:prstDash val="solid"/>
          </a:ln>
        </p:spPr>
      </p:sp>
      <p:sp>
        <p:nvSpPr>
          <p:cNvPr id="24" name="Shape 21"/>
          <p:cNvSpPr/>
          <p:nvPr/>
        </p:nvSpPr>
        <p:spPr>
          <a:xfrm>
            <a:off x="6583680" y="6483096"/>
            <a:ext cx="118872" cy="118872"/>
          </a:xfrm>
          <a:prstGeom prst="ellipse">
            <a:avLst/>
          </a:prstGeom>
          <a:solidFill>
            <a:srgbClr val="D31242"/>
          </a:solidFill>
          <a:ln/>
        </p:spPr>
      </p:sp>
      <p:sp>
        <p:nvSpPr>
          <p:cNvPr id="25" name="Shape 22"/>
          <p:cNvSpPr/>
          <p:nvPr/>
        </p:nvSpPr>
        <p:spPr>
          <a:xfrm>
            <a:off x="6803136" y="6483096"/>
            <a:ext cx="118872" cy="118872"/>
          </a:xfrm>
          <a:prstGeom prst="ellipse">
            <a:avLst/>
          </a:prstGeom>
          <a:solidFill>
            <a:srgbClr val="D9DDE3"/>
          </a:solidFill>
          <a:ln/>
        </p:spPr>
      </p:sp>
      <p:sp>
        <p:nvSpPr>
          <p:cNvPr id="26" name="Shape 23"/>
          <p:cNvSpPr/>
          <p:nvPr/>
        </p:nvSpPr>
        <p:spPr>
          <a:xfrm>
            <a:off x="7022592" y="6483096"/>
            <a:ext cx="118872" cy="118872"/>
          </a:xfrm>
          <a:prstGeom prst="ellipse">
            <a:avLst/>
          </a:prstGeom>
          <a:solidFill>
            <a:srgbClr val="D9DDE3"/>
          </a:solidFill>
          <a:ln/>
        </p:spPr>
      </p:sp>
      <p:sp>
        <p:nvSpPr>
          <p:cNvPr id="27" name="Shape 24"/>
          <p:cNvSpPr/>
          <p:nvPr/>
        </p:nvSpPr>
        <p:spPr>
          <a:xfrm>
            <a:off x="7370064" y="6483096"/>
            <a:ext cx="118872" cy="118872"/>
          </a:xfrm>
          <a:prstGeom prst="ellipse">
            <a:avLst/>
          </a:prstGeom>
          <a:solidFill>
            <a:srgbClr val="D9DDE3"/>
          </a:solidFill>
          <a:ln/>
        </p:spPr>
      </p:sp>
      <p:sp>
        <p:nvSpPr>
          <p:cNvPr id="28" name="Shape 25"/>
          <p:cNvSpPr/>
          <p:nvPr/>
        </p:nvSpPr>
        <p:spPr>
          <a:xfrm>
            <a:off x="7717536" y="6483096"/>
            <a:ext cx="118872" cy="118872"/>
          </a:xfrm>
          <a:prstGeom prst="ellipse">
            <a:avLst/>
          </a:prstGeom>
          <a:solidFill>
            <a:srgbClr val="D9DDE3"/>
          </a:solidFill>
          <a:ln/>
        </p:spPr>
      </p:sp>
      <p:sp>
        <p:nvSpPr>
          <p:cNvPr id="29" name="Shape 26"/>
          <p:cNvSpPr/>
          <p:nvPr/>
        </p:nvSpPr>
        <p:spPr>
          <a:xfrm>
            <a:off x="7936992" y="6483096"/>
            <a:ext cx="118872" cy="118872"/>
          </a:xfrm>
          <a:prstGeom prst="ellipse">
            <a:avLst/>
          </a:prstGeom>
          <a:solidFill>
            <a:srgbClr val="D9DDE3"/>
          </a:solidFill>
          <a:ln/>
        </p:spPr>
      </p:sp>
      <p:sp>
        <p:nvSpPr>
          <p:cNvPr id="30" name="Text 27"/>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SHOW A FINISHED 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Your turn</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GIVE THE AI CLEAR DIRECTION</a:t>
            </a:r>
            <a:endParaRPr lang="en-US" sz="900" dirty="0"/>
          </a:p>
        </p:txBody>
      </p:sp>
      <p:sp>
        <p:nvSpPr>
          <p:cNvPr id="7" name="Shape 4"/>
          <p:cNvSpPr/>
          <p:nvPr/>
        </p:nvSpPr>
        <p:spPr>
          <a:xfrm>
            <a:off x="640080" y="1874520"/>
            <a:ext cx="5074920" cy="3566160"/>
          </a:xfrm>
          <a:prstGeom prst="roundRect">
            <a:avLst>
              <a:gd name="adj" fmla="val 230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84832"/>
            <a:ext cx="4526280" cy="256032"/>
          </a:xfrm>
          <a:prstGeom prst="rect">
            <a:avLst/>
          </a:prstGeom>
          <a:noFill/>
          <a:ln/>
        </p:spPr>
        <p:txBody>
          <a:bodyPr wrap="square" lIns="0" tIns="0" rIns="0" bIns="0" rtlCol="0" anchor="ctr"/>
          <a:lstStyle/>
          <a:p>
            <a:pPr indent="0" marL="0">
              <a:buNone/>
            </a:pPr>
            <a:r>
              <a:rPr lang="en-US" sz="1050" b="1" spc="150" kern="0" dirty="0">
                <a:solidFill>
                  <a:srgbClr val="5E6A78"/>
                </a:solidFill>
                <a:latin typeface="Arial" pitchFamily="34" charset="0"/>
                <a:ea typeface="Arial" pitchFamily="34" charset="-122"/>
                <a:cs typeface="Arial" pitchFamily="34" charset="-120"/>
              </a:rPr>
              <a:t>THREE INCIDENT NOTES</a:t>
            </a:r>
            <a:endParaRPr lang="en-US" sz="1050" dirty="0"/>
          </a:p>
        </p:txBody>
      </p:sp>
      <p:sp>
        <p:nvSpPr>
          <p:cNvPr id="9" name="Text 6"/>
          <p:cNvSpPr/>
          <p:nvPr/>
        </p:nvSpPr>
        <p:spPr>
          <a:xfrm>
            <a:off x="914400" y="2450592"/>
            <a:ext cx="4526280" cy="2880360"/>
          </a:xfrm>
          <a:prstGeom prst="rect">
            <a:avLst/>
          </a:prstGeom>
          <a:noFill/>
          <a:ln/>
        </p:spPr>
        <p:txBody>
          <a:bodyPr wrap="square" lIns="0" tIns="0" rIns="0" bIns="0" rtlCol="0" anchor="t"/>
          <a:lstStyle/>
          <a:p>
            <a:pPr indent="0" marL="0">
              <a:lnSpc>
                <a:spcPct val="122000"/>
              </a:lnSpc>
              <a:buNone/>
            </a:pPr>
            <a:r>
              <a:rPr lang="en-US" sz="1200" dirty="0">
                <a:solidFill>
                  <a:srgbClr val="1F2733"/>
                </a:solidFill>
                <a:latin typeface="Arial" pitchFamily="34" charset="0"/>
                <a:ea typeface="Arial" pitchFamily="34" charset="-122"/>
                <a:cs typeface="Arial" pitchFamily="34" charset="-120"/>
              </a:rPr>
              <a:t>1.  “member bumped into a display near the</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     freezers, said he was okay, we put the</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     display back”</a:t>
            </a:r>
            <a:endParaRPr lang="en-US" sz="1200" dirty="0"/>
          </a:p>
          <a:p>
            <a:pPr indent="0" marL="0">
              <a:lnSpc>
                <a:spcPct val="122000"/>
              </a:lnSpc>
              <a:buNone/>
            </a:pP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2.  “cart corral came loose in the wind, moved</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     it back and secured it”</a:t>
            </a:r>
            <a:endParaRPr lang="en-US" sz="1200" dirty="0"/>
          </a:p>
          <a:p>
            <a:pPr indent="0" marL="0">
              <a:lnSpc>
                <a:spcPct val="122000"/>
              </a:lnSpc>
              <a:buNone/>
            </a:pP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3.  “bakery case door not closing properly,</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     told maintenance”</a:t>
            </a:r>
            <a:endParaRPr lang="en-US" sz="1200" dirty="0"/>
          </a:p>
        </p:txBody>
      </p:sp>
      <p:sp>
        <p:nvSpPr>
          <p:cNvPr id="10" name="Text 7"/>
          <p:cNvSpPr/>
          <p:nvPr/>
        </p:nvSpPr>
        <p:spPr>
          <a:xfrm>
            <a:off x="640080" y="5532120"/>
            <a:ext cx="5074920" cy="274320"/>
          </a:xfrm>
          <a:prstGeom prst="rect">
            <a:avLst/>
          </a:prstGeom>
          <a:noFill/>
          <a:ln/>
        </p:spPr>
        <p:txBody>
          <a:bodyPr wrap="square" lIns="0" tIns="0" rIns="0" bIns="0" rtlCol="0" anchor="ctr"/>
          <a:lstStyle/>
          <a:p>
            <a:pPr indent="0" marL="0">
              <a:buNone/>
            </a:pPr>
            <a:r>
              <a:rPr lang="en-US" sz="1100" dirty="0">
                <a:solidFill>
                  <a:srgbClr val="5E6A78"/>
                </a:solidFill>
                <a:latin typeface="Arial" pitchFamily="34" charset="0"/>
                <a:ea typeface="Arial" pitchFamily="34" charset="-122"/>
                <a:cs typeface="Arial" pitchFamily="34" charset="-120"/>
              </a:rPr>
              <a:t>Also posted in the chat, ready to copy.</a:t>
            </a:r>
            <a:endParaRPr lang="en-US" sz="1100" dirty="0"/>
          </a:p>
        </p:txBody>
      </p:sp>
      <p:sp>
        <p:nvSpPr>
          <p:cNvPr id="11" name="Text 8"/>
          <p:cNvSpPr/>
          <p:nvPr/>
        </p:nvSpPr>
        <p:spPr>
          <a:xfrm>
            <a:off x="6355080" y="2084832"/>
            <a:ext cx="4617720" cy="256032"/>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TO DO</a:t>
            </a:r>
            <a:endParaRPr lang="en-US" sz="1050" dirty="0"/>
          </a:p>
        </p:txBody>
      </p:sp>
      <p:sp>
        <p:nvSpPr>
          <p:cNvPr id="12" name="Shape 9"/>
          <p:cNvSpPr/>
          <p:nvPr/>
        </p:nvSpPr>
        <p:spPr>
          <a:xfrm>
            <a:off x="6355080" y="2450592"/>
            <a:ext cx="384048" cy="384048"/>
          </a:xfrm>
          <a:prstGeom prst="ellipse">
            <a:avLst/>
          </a:prstGeom>
          <a:solidFill>
            <a:srgbClr val="D31242"/>
          </a:solidFill>
          <a:ln/>
        </p:spPr>
      </p:sp>
      <p:sp>
        <p:nvSpPr>
          <p:cNvPr id="13" name="Text 10"/>
          <p:cNvSpPr/>
          <p:nvPr/>
        </p:nvSpPr>
        <p:spPr>
          <a:xfrm>
            <a:off x="6355080" y="24505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4" name="Text 11"/>
          <p:cNvSpPr/>
          <p:nvPr/>
        </p:nvSpPr>
        <p:spPr>
          <a:xfrm>
            <a:off x="6903720" y="243230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Take note 1 and type it out as a tidy log entry. You choose the labels.</a:t>
            </a:r>
            <a:endParaRPr lang="en-US" sz="1350" dirty="0"/>
          </a:p>
        </p:txBody>
      </p:sp>
      <p:sp>
        <p:nvSpPr>
          <p:cNvPr id="15" name="Shape 12"/>
          <p:cNvSpPr/>
          <p:nvPr/>
        </p:nvSpPr>
        <p:spPr>
          <a:xfrm>
            <a:off x="6355080" y="3319272"/>
            <a:ext cx="384048" cy="384048"/>
          </a:xfrm>
          <a:prstGeom prst="ellipse">
            <a:avLst/>
          </a:prstGeom>
          <a:solidFill>
            <a:srgbClr val="D31242"/>
          </a:solidFill>
          <a:ln/>
        </p:spPr>
      </p:sp>
      <p:sp>
        <p:nvSpPr>
          <p:cNvPr id="16" name="Text 13"/>
          <p:cNvSpPr/>
          <p:nvPr/>
        </p:nvSpPr>
        <p:spPr>
          <a:xfrm>
            <a:off x="6355080" y="3319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7" name="Text 14"/>
          <p:cNvSpPr/>
          <p:nvPr/>
        </p:nvSpPr>
        <p:spPr>
          <a:xfrm>
            <a:off x="6903720" y="330098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Underneath, paste notes 2 and 3 exactly as they are.</a:t>
            </a:r>
            <a:endParaRPr lang="en-US" sz="1350" dirty="0"/>
          </a:p>
        </p:txBody>
      </p:sp>
      <p:sp>
        <p:nvSpPr>
          <p:cNvPr id="18" name="Shape 15"/>
          <p:cNvSpPr/>
          <p:nvPr/>
        </p:nvSpPr>
        <p:spPr>
          <a:xfrm>
            <a:off x="6355080" y="4187952"/>
            <a:ext cx="384048" cy="384048"/>
          </a:xfrm>
          <a:prstGeom prst="ellipse">
            <a:avLst/>
          </a:prstGeom>
          <a:solidFill>
            <a:srgbClr val="D31242"/>
          </a:solidFill>
          <a:ln/>
        </p:spPr>
      </p:sp>
      <p:sp>
        <p:nvSpPr>
          <p:cNvPr id="19" name="Text 16"/>
          <p:cNvSpPr/>
          <p:nvPr/>
        </p:nvSpPr>
        <p:spPr>
          <a:xfrm>
            <a:off x="6355080" y="41879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0" name="Text 17"/>
          <p:cNvSpPr/>
          <p:nvPr/>
        </p:nvSpPr>
        <p:spPr>
          <a:xfrm>
            <a:off x="6903720" y="416966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Add: “Write these two the same way.” Run it.</a:t>
            </a:r>
            <a:endParaRPr lang="en-US" sz="1350" dirty="0"/>
          </a:p>
        </p:txBody>
      </p:sp>
      <p:sp>
        <p:nvSpPr>
          <p:cNvPr id="21" name="Shape 18"/>
          <p:cNvSpPr/>
          <p:nvPr/>
        </p:nvSpPr>
        <p:spPr>
          <a:xfrm>
            <a:off x="6355080" y="5084064"/>
            <a:ext cx="5166360" cy="914400"/>
          </a:xfrm>
          <a:prstGeom prst="roundRect">
            <a:avLst>
              <a:gd name="adj" fmla="val 9000"/>
            </a:avLst>
          </a:prstGeom>
          <a:solidFill>
            <a:srgbClr val="DCFCE7"/>
          </a:solidFill>
          <a:ln/>
          <a:effectLst>
            <a:outerShdw sx="100000" sy="100000" kx="0" ky="0" algn="bl" rotWithShape="0" blurRad="88900" dist="38100" dir="5400000">
              <a:srgbClr val="1F2733">
                <a:alpha val="10000"/>
              </a:srgbClr>
            </a:outerShdw>
          </a:effectLst>
        </p:spPr>
      </p:sp>
      <p:sp>
        <p:nvSpPr>
          <p:cNvPr id="22" name="Text 19"/>
          <p:cNvSpPr/>
          <p:nvPr/>
        </p:nvSpPr>
        <p:spPr>
          <a:xfrm>
            <a:off x="6629400" y="5184648"/>
            <a:ext cx="3657600" cy="237744"/>
          </a:xfrm>
          <a:prstGeom prst="rect">
            <a:avLst/>
          </a:prstGeom>
          <a:noFill/>
          <a:ln/>
        </p:spPr>
        <p:txBody>
          <a:bodyPr wrap="square" lIns="0" tIns="0" rIns="0" bIns="0" rtlCol="0" anchor="ctr"/>
          <a:lstStyle/>
          <a:p>
            <a:pPr indent="0" marL="0">
              <a:buNone/>
            </a:pPr>
            <a:r>
              <a:rPr lang="en-US" sz="950" b="1" spc="120" kern="0" dirty="0">
                <a:solidFill>
                  <a:srgbClr val="15803D"/>
                </a:solidFill>
                <a:latin typeface="Arial" pitchFamily="34" charset="0"/>
                <a:ea typeface="Arial" pitchFamily="34" charset="-122"/>
                <a:cs typeface="Arial" pitchFamily="34" charset="-120"/>
              </a:rPr>
              <a:t>CHECK</a:t>
            </a:r>
            <a:endParaRPr lang="en-US" sz="950" dirty="0"/>
          </a:p>
        </p:txBody>
      </p:sp>
      <p:sp>
        <p:nvSpPr>
          <p:cNvPr id="23" name="Text 20"/>
          <p:cNvSpPr/>
          <p:nvPr/>
        </p:nvSpPr>
        <p:spPr>
          <a:xfrm>
            <a:off x="6629400" y="5440680"/>
            <a:ext cx="4617720" cy="475488"/>
          </a:xfrm>
          <a:prstGeom prst="rect">
            <a:avLst/>
          </a:prstGeom>
          <a:noFill/>
          <a:ln/>
        </p:spPr>
        <p:txBody>
          <a:bodyPr wrap="square" lIns="0" tIns="0" rIns="0" bIns="0" rtlCol="0" anchor="t"/>
          <a:lstStyle/>
          <a:p>
            <a:pPr indent="0" marL="0">
              <a:lnSpc>
                <a:spcPct val="112000"/>
              </a:lnSpc>
              <a:buNone/>
            </a:pPr>
            <a:r>
              <a:rPr lang="en-US" sz="1250" dirty="0">
                <a:solidFill>
                  <a:srgbClr val="1F2733"/>
                </a:solidFill>
                <a:latin typeface="Arial" pitchFamily="34" charset="0"/>
                <a:ea typeface="Arial" pitchFamily="34" charset="-122"/>
                <a:cs typeface="Arial" pitchFamily="34" charset="-120"/>
              </a:rPr>
              <a:t>Did notes 2 and 3 come back using your labels?</a:t>
            </a:r>
            <a:endParaRPr lang="en-US" sz="1250" dirty="0"/>
          </a:p>
        </p:txBody>
      </p:sp>
      <p:sp>
        <p:nvSpPr>
          <p:cNvPr id="24" name="Text 21"/>
          <p:cNvSpPr/>
          <p:nvPr/>
        </p:nvSpPr>
        <p:spPr>
          <a:xfrm>
            <a:off x="640080" y="5943600"/>
            <a:ext cx="10881360" cy="365760"/>
          </a:xfrm>
          <a:prstGeom prst="rect">
            <a:avLst/>
          </a:prstGeom>
          <a:noFill/>
          <a:ln/>
        </p:spPr>
        <p:txBody>
          <a:bodyPr wrap="square" lIns="0" tIns="0" rIns="0" bIns="0" rtlCol="0" anchor="ctr"/>
          <a:lstStyle/>
          <a:p>
            <a:pPr indent="0" marL="0">
              <a:buNone/>
            </a:pPr>
            <a:r>
              <a:rPr lang="en-US" sz="1550" b="1" dirty="0">
                <a:solidFill>
                  <a:srgbClr val="D31242"/>
                </a:solidFill>
                <a:latin typeface="Arial" pitchFamily="34" charset="0"/>
                <a:ea typeface="Arial" pitchFamily="34" charset="-122"/>
                <a:cs typeface="Arial" pitchFamily="34" charset="-120"/>
              </a:rPr>
              <a:t>Four minutes. Then paste one of your lines into the chat.</a:t>
            </a:r>
            <a:endParaRPr lang="en-US" sz="1550" dirty="0"/>
          </a:p>
        </p:txBody>
      </p:sp>
      <p:sp>
        <p:nvSpPr>
          <p:cNvPr id="25" name="Text 22"/>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1 OF 6 · SHOW A FINISHED EXAMPLE</a:t>
            </a:r>
            <a:endParaRPr lang="en-US" sz="850" dirty="0"/>
          </a:p>
        </p:txBody>
      </p:sp>
      <p:sp>
        <p:nvSpPr>
          <p:cNvPr id="26" name="Shape 23"/>
          <p:cNvSpPr/>
          <p:nvPr/>
        </p:nvSpPr>
        <p:spPr>
          <a:xfrm>
            <a:off x="6551676" y="6451092"/>
            <a:ext cx="182880" cy="182880"/>
          </a:xfrm>
          <a:prstGeom prst="ellipse">
            <a:avLst/>
          </a:prstGeom>
          <a:ln w="9525">
            <a:solidFill>
              <a:srgbClr val="D31242"/>
            </a:solidFill>
            <a:prstDash val="solid"/>
          </a:ln>
        </p:spPr>
      </p:sp>
      <p:sp>
        <p:nvSpPr>
          <p:cNvPr id="27" name="Shape 24"/>
          <p:cNvSpPr/>
          <p:nvPr/>
        </p:nvSpPr>
        <p:spPr>
          <a:xfrm>
            <a:off x="6583680" y="6483096"/>
            <a:ext cx="118872" cy="118872"/>
          </a:xfrm>
          <a:prstGeom prst="ellipse">
            <a:avLst/>
          </a:prstGeom>
          <a:solidFill>
            <a:srgbClr val="D31242"/>
          </a:solidFill>
          <a:ln/>
        </p:spPr>
      </p:sp>
      <p:sp>
        <p:nvSpPr>
          <p:cNvPr id="28" name="Shape 25"/>
          <p:cNvSpPr/>
          <p:nvPr/>
        </p:nvSpPr>
        <p:spPr>
          <a:xfrm>
            <a:off x="6803136" y="6483096"/>
            <a:ext cx="118872" cy="118872"/>
          </a:xfrm>
          <a:prstGeom prst="ellipse">
            <a:avLst/>
          </a:prstGeom>
          <a:solidFill>
            <a:srgbClr val="D9DDE3"/>
          </a:solidFill>
          <a:ln/>
        </p:spPr>
      </p:sp>
      <p:sp>
        <p:nvSpPr>
          <p:cNvPr id="29" name="Shape 26"/>
          <p:cNvSpPr/>
          <p:nvPr/>
        </p:nvSpPr>
        <p:spPr>
          <a:xfrm>
            <a:off x="7022592" y="6483096"/>
            <a:ext cx="118872" cy="118872"/>
          </a:xfrm>
          <a:prstGeom prst="ellipse">
            <a:avLst/>
          </a:prstGeom>
          <a:solidFill>
            <a:srgbClr val="D9DDE3"/>
          </a:solidFill>
          <a:ln/>
        </p:spPr>
      </p:sp>
      <p:sp>
        <p:nvSpPr>
          <p:cNvPr id="30" name="Shape 27"/>
          <p:cNvSpPr/>
          <p:nvPr/>
        </p:nvSpPr>
        <p:spPr>
          <a:xfrm>
            <a:off x="7370064" y="6483096"/>
            <a:ext cx="118872" cy="118872"/>
          </a:xfrm>
          <a:prstGeom prst="ellipse">
            <a:avLst/>
          </a:prstGeom>
          <a:solidFill>
            <a:srgbClr val="D9DDE3"/>
          </a:solidFill>
          <a:ln/>
        </p:spPr>
      </p:sp>
      <p:sp>
        <p:nvSpPr>
          <p:cNvPr id="31" name="Shape 28"/>
          <p:cNvSpPr/>
          <p:nvPr/>
        </p:nvSpPr>
        <p:spPr>
          <a:xfrm>
            <a:off x="7717536" y="6483096"/>
            <a:ext cx="118872" cy="118872"/>
          </a:xfrm>
          <a:prstGeom prst="ellipse">
            <a:avLst/>
          </a:prstGeom>
          <a:solidFill>
            <a:srgbClr val="D9DDE3"/>
          </a:solidFill>
          <a:ln/>
        </p:spPr>
      </p:sp>
      <p:sp>
        <p:nvSpPr>
          <p:cNvPr id="32" name="Shape 29"/>
          <p:cNvSpPr/>
          <p:nvPr/>
        </p:nvSpPr>
        <p:spPr>
          <a:xfrm>
            <a:off x="7936992" y="6483096"/>
            <a:ext cx="118872" cy="118872"/>
          </a:xfrm>
          <a:prstGeom prst="ellipse">
            <a:avLst/>
          </a:prstGeom>
          <a:solidFill>
            <a:srgbClr val="D9DDE3"/>
          </a:solidFill>
          <a:ln/>
        </p:spPr>
      </p:sp>
      <p:sp>
        <p:nvSpPr>
          <p:cNvPr id="33" name="Text 30"/>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3" name="Text 1"/>
          <p:cNvSpPr/>
          <p:nvPr/>
        </p:nvSpPr>
        <p:spPr>
          <a:xfrm>
            <a:off x="640080" y="566928"/>
            <a:ext cx="841248" cy="841248"/>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4" name="Text 2"/>
          <p:cNvSpPr/>
          <p:nvPr/>
        </p:nvSpPr>
        <p:spPr>
          <a:xfrm>
            <a:off x="1664208" y="548640"/>
            <a:ext cx="640080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TECHNIQUE 2 OF 6</a:t>
            </a:r>
            <a:endParaRPr lang="en-US" sz="1200" dirty="0"/>
          </a:p>
        </p:txBody>
      </p:sp>
      <p:sp>
        <p:nvSpPr>
          <p:cNvPr id="5" name="Text 3"/>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Name the format you want back</a:t>
            </a:r>
            <a:endParaRPr lang="en-US" sz="3000" dirty="0"/>
          </a:p>
        </p:txBody>
      </p:sp>
      <p:sp>
        <p:nvSpPr>
          <p:cNvPr id="6" name="Text 4"/>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GIVE THE AI CLEAR DIRECTION</a:t>
            </a:r>
            <a:endParaRPr lang="en-US" sz="900" dirty="0"/>
          </a:p>
        </p:txBody>
      </p:sp>
      <p:sp>
        <p:nvSpPr>
          <p:cNvPr id="7" name="Text 5"/>
          <p:cNvSpPr/>
          <p:nvPr/>
        </p:nvSpPr>
        <p:spPr>
          <a:xfrm>
            <a:off x="1664208" y="1517904"/>
            <a:ext cx="7315200" cy="274320"/>
          </a:xfrm>
          <a:prstGeom prst="rect">
            <a:avLst/>
          </a:prstGeom>
          <a:noFill/>
          <a:ln/>
        </p:spPr>
        <p:txBody>
          <a:bodyPr wrap="square" lIns="0" tIns="0" rIns="0" bIns="0" rtlCol="0" anchor="ctr"/>
          <a:lstStyle/>
          <a:p>
            <a:pPr indent="0" marL="0">
              <a:buNone/>
            </a:pPr>
            <a:r>
              <a:rPr lang="en-US" sz="1150" i="1" dirty="0">
                <a:solidFill>
                  <a:srgbClr val="5E6A78"/>
                </a:solidFill>
                <a:latin typeface="Arial" pitchFamily="34" charset="0"/>
                <a:ea typeface="Arial" pitchFamily="34" charset="-122"/>
                <a:cs typeface="Arial" pitchFamily="34" charset="-120"/>
              </a:rPr>
              <a:t>Also called: structured output prompting</a:t>
            </a:r>
            <a:endParaRPr lang="en-US" sz="1150" dirty="0"/>
          </a:p>
        </p:txBody>
      </p:sp>
      <p:sp>
        <p:nvSpPr>
          <p:cNvPr id="8" name="Shape 6"/>
          <p:cNvSpPr/>
          <p:nvPr/>
        </p:nvSpPr>
        <p:spPr>
          <a:xfrm>
            <a:off x="640080" y="1874520"/>
            <a:ext cx="10881360" cy="1005840"/>
          </a:xfrm>
          <a:prstGeom prst="roundRect">
            <a:avLst>
              <a:gd name="adj" fmla="val 8182"/>
            </a:avLst>
          </a:prstGeom>
          <a:solidFill>
            <a:srgbClr val="FCE4EA"/>
          </a:solidFill>
          <a:ln/>
          <a:effectLst>
            <a:outerShdw sx="100000" sy="100000" kx="0" ky="0" algn="bl" rotWithShape="0" blurRad="88900" dist="38100" dir="5400000">
              <a:srgbClr val="1F2733">
                <a:alpha val="10000"/>
              </a:srgbClr>
            </a:outerShdw>
          </a:effectLst>
        </p:spPr>
      </p:sp>
      <p:sp>
        <p:nvSpPr>
          <p:cNvPr id="9" name="Text 7"/>
          <p:cNvSpPr/>
          <p:nvPr/>
        </p:nvSpPr>
        <p:spPr>
          <a:xfrm>
            <a:off x="960120" y="2057400"/>
            <a:ext cx="10241280" cy="640080"/>
          </a:xfrm>
          <a:prstGeom prst="rect">
            <a:avLst/>
          </a:prstGeom>
          <a:noFill/>
          <a:ln/>
        </p:spPr>
        <p:txBody>
          <a:bodyPr wrap="square" lIns="0" tIns="0" rIns="0" bIns="0" rtlCol="0" anchor="ctr"/>
          <a:lstStyle/>
          <a:p>
            <a:pPr indent="0" marL="0">
              <a:lnSpc>
                <a:spcPct val="110000"/>
              </a:lnSpc>
              <a:buNone/>
            </a:pPr>
            <a:r>
              <a:rPr lang="en-US" sz="1850" b="1" dirty="0">
                <a:solidFill>
                  <a:srgbClr val="1F2733"/>
                </a:solidFill>
                <a:latin typeface="Arial" pitchFamily="34" charset="0"/>
                <a:ea typeface="Arial" pitchFamily="34" charset="-122"/>
                <a:cs typeface="Arial" pitchFamily="34" charset="-120"/>
              </a:rPr>
              <a:t>Tell the AI the exact form the answer should take, and what belongs in each part of it.</a:t>
            </a:r>
            <a:endParaRPr lang="en-US" sz="1850" dirty="0"/>
          </a:p>
        </p:txBody>
      </p:sp>
      <p:sp>
        <p:nvSpPr>
          <p:cNvPr id="10" name="Shape 8"/>
          <p:cNvSpPr/>
          <p:nvPr/>
        </p:nvSpPr>
        <p:spPr>
          <a:xfrm>
            <a:off x="640080" y="3246120"/>
            <a:ext cx="5074920" cy="1783080"/>
          </a:xfrm>
          <a:prstGeom prst="roundRect">
            <a:avLst>
              <a:gd name="adj" fmla="val 4615"/>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1" name="Text 9"/>
          <p:cNvSpPr/>
          <p:nvPr/>
        </p:nvSpPr>
        <p:spPr>
          <a:xfrm>
            <a:off x="914400" y="3456432"/>
            <a:ext cx="4526280" cy="274320"/>
          </a:xfrm>
          <a:prstGeom prst="rect">
            <a:avLst/>
          </a:prstGeom>
          <a:noFill/>
          <a:ln/>
        </p:spPr>
        <p:txBody>
          <a:bodyPr wrap="square" lIns="0" tIns="0" rIns="0" bIns="0" rtlCol="0" anchor="ctr"/>
          <a:lstStyle/>
          <a:p>
            <a:pPr indent="0" marL="0">
              <a:buNone/>
            </a:pPr>
            <a:r>
              <a:rPr lang="en-US" sz="1050" b="1" spc="150" kern="0" dirty="0">
                <a:solidFill>
                  <a:srgbClr val="5E6A78"/>
                </a:solidFill>
                <a:latin typeface="Arial" pitchFamily="34" charset="0"/>
                <a:ea typeface="Arial" pitchFamily="34" charset="-122"/>
                <a:cs typeface="Arial" pitchFamily="34" charset="-120"/>
              </a:rPr>
              <a:t>IF YOU LEAVE THE FORMAT OPEN</a:t>
            </a:r>
            <a:endParaRPr lang="en-US" sz="1050" dirty="0"/>
          </a:p>
        </p:txBody>
      </p:sp>
      <p:sp>
        <p:nvSpPr>
          <p:cNvPr id="12" name="Text 10"/>
          <p:cNvSpPr/>
          <p:nvPr/>
        </p:nvSpPr>
        <p:spPr>
          <a:xfrm>
            <a:off x="914400" y="3785616"/>
            <a:ext cx="4526280" cy="1097280"/>
          </a:xfrm>
          <a:prstGeom prst="rect">
            <a:avLst/>
          </a:prstGeom>
          <a:noFill/>
          <a:ln/>
        </p:spPr>
        <p:txBody>
          <a:bodyPr wrap="square" lIns="0" tIns="0" rIns="0" bIns="0" rtlCol="0" anchor="t"/>
          <a:lstStyle/>
          <a:p>
            <a:pPr indent="0" marL="0">
              <a:lnSpc>
                <a:spcPct val="120000"/>
              </a:lnSpc>
              <a:buNone/>
            </a:pPr>
            <a:r>
              <a:rPr lang="en-US" sz="1450" dirty="0">
                <a:solidFill>
                  <a:srgbClr val="3A4452"/>
                </a:solidFill>
                <a:latin typeface="Arial" pitchFamily="34" charset="0"/>
                <a:ea typeface="Arial" pitchFamily="34" charset="-122"/>
                <a:cs typeface="Arial" pitchFamily="34" charset="-120"/>
              </a:rPr>
              <a:t>You get paragraphs, laid out differently every time.</a:t>
            </a:r>
            <a:endParaRPr lang="en-US" sz="1450" dirty="0"/>
          </a:p>
        </p:txBody>
      </p:sp>
      <p:sp>
        <p:nvSpPr>
          <p:cNvPr id="13" name="Shape 11"/>
          <p:cNvSpPr/>
          <p:nvPr/>
        </p:nvSpPr>
        <p:spPr>
          <a:xfrm>
            <a:off x="5824728" y="3931920"/>
            <a:ext cx="420624" cy="420624"/>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14" name="Text 12"/>
          <p:cNvSpPr/>
          <p:nvPr/>
        </p:nvSpPr>
        <p:spPr>
          <a:xfrm>
            <a:off x="5824728" y="3931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Shape 13"/>
          <p:cNvSpPr/>
          <p:nvPr/>
        </p:nvSpPr>
        <p:spPr>
          <a:xfrm>
            <a:off x="6355080" y="3246120"/>
            <a:ext cx="5166360" cy="1783080"/>
          </a:xfrm>
          <a:prstGeom prst="roundRect">
            <a:avLst>
              <a:gd name="adj" fmla="val 4615"/>
            </a:avLst>
          </a:prstGeom>
          <a:solidFill>
            <a:srgbClr val="DCFCE7"/>
          </a:solidFill>
          <a:ln/>
          <a:effectLst>
            <a:outerShdw sx="100000" sy="100000" kx="0" ky="0" algn="bl" rotWithShape="0" blurRad="88900" dist="38100" dir="5400000">
              <a:srgbClr val="1F2733">
                <a:alpha val="10000"/>
              </a:srgbClr>
            </a:outerShdw>
          </a:effectLst>
        </p:spPr>
      </p:sp>
      <p:sp>
        <p:nvSpPr>
          <p:cNvPr id="16" name="Text 14"/>
          <p:cNvSpPr/>
          <p:nvPr/>
        </p:nvSpPr>
        <p:spPr>
          <a:xfrm>
            <a:off x="6629400" y="3456432"/>
            <a:ext cx="4617720" cy="274320"/>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IF YOU NAME THE FORMAT</a:t>
            </a:r>
            <a:endParaRPr lang="en-US" sz="1050" dirty="0"/>
          </a:p>
        </p:txBody>
      </p:sp>
      <p:sp>
        <p:nvSpPr>
          <p:cNvPr id="17" name="Text 15"/>
          <p:cNvSpPr/>
          <p:nvPr/>
        </p:nvSpPr>
        <p:spPr>
          <a:xfrm>
            <a:off x="6629400" y="3785616"/>
            <a:ext cx="4617720" cy="1097280"/>
          </a:xfrm>
          <a:prstGeom prst="rect">
            <a:avLst/>
          </a:prstGeom>
          <a:noFill/>
          <a:ln/>
        </p:spPr>
        <p:txBody>
          <a:bodyPr wrap="square" lIns="0" tIns="0" rIns="0" bIns="0" rtlCol="0" anchor="t"/>
          <a:lstStyle/>
          <a:p>
            <a:pPr indent="0" marL="0">
              <a:lnSpc>
                <a:spcPct val="120000"/>
              </a:lnSpc>
              <a:buNone/>
            </a:pPr>
            <a:r>
              <a:rPr lang="en-US" sz="1450" dirty="0">
                <a:solidFill>
                  <a:srgbClr val="1F2733"/>
                </a:solidFill>
                <a:latin typeface="Arial" pitchFamily="34" charset="0"/>
                <a:ea typeface="Arial" pitchFamily="34" charset="-122"/>
                <a:cs typeface="Arial" pitchFamily="34" charset="-120"/>
              </a:rPr>
              <a:t>You get the columns you asked for, ready to use.</a:t>
            </a:r>
            <a:endParaRPr lang="en-US" sz="1450" dirty="0"/>
          </a:p>
        </p:txBody>
      </p:sp>
      <p:sp>
        <p:nvSpPr>
          <p:cNvPr id="18" name="Text 16"/>
          <p:cNvSpPr/>
          <p:nvPr/>
        </p:nvSpPr>
        <p:spPr>
          <a:xfrm>
            <a:off x="640080" y="5440680"/>
            <a:ext cx="10881360" cy="36576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Use this when you plan to work with the answer somewhere else.</a:t>
            </a:r>
            <a:endParaRPr lang="en-US" sz="1500" dirty="0"/>
          </a:p>
        </p:txBody>
      </p:sp>
      <p:sp>
        <p:nvSpPr>
          <p:cNvPr id="19" name="Text 17"/>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2 OF 6 · NAME THE FORMAT</a:t>
            </a:r>
            <a:endParaRPr lang="en-US" sz="850" dirty="0"/>
          </a:p>
        </p:txBody>
      </p:sp>
      <p:sp>
        <p:nvSpPr>
          <p:cNvPr id="20" name="Shape 18"/>
          <p:cNvSpPr/>
          <p:nvPr/>
        </p:nvSpPr>
        <p:spPr>
          <a:xfrm>
            <a:off x="6583680" y="6483096"/>
            <a:ext cx="118872" cy="118872"/>
          </a:xfrm>
          <a:prstGeom prst="ellipse">
            <a:avLst/>
          </a:prstGeom>
          <a:solidFill>
            <a:srgbClr val="D9DDE3"/>
          </a:solidFill>
          <a:ln/>
        </p:spPr>
      </p:sp>
      <p:sp>
        <p:nvSpPr>
          <p:cNvPr id="21" name="Shape 19"/>
          <p:cNvSpPr/>
          <p:nvPr/>
        </p:nvSpPr>
        <p:spPr>
          <a:xfrm>
            <a:off x="6771132" y="6451092"/>
            <a:ext cx="182880" cy="182880"/>
          </a:xfrm>
          <a:prstGeom prst="ellipse">
            <a:avLst/>
          </a:prstGeom>
          <a:ln w="9525">
            <a:solidFill>
              <a:srgbClr val="D31242"/>
            </a:solidFill>
            <a:prstDash val="solid"/>
          </a:ln>
        </p:spPr>
      </p:sp>
      <p:sp>
        <p:nvSpPr>
          <p:cNvPr id="22" name="Shape 20"/>
          <p:cNvSpPr/>
          <p:nvPr/>
        </p:nvSpPr>
        <p:spPr>
          <a:xfrm>
            <a:off x="6803136" y="6483096"/>
            <a:ext cx="118872" cy="118872"/>
          </a:xfrm>
          <a:prstGeom prst="ellipse">
            <a:avLst/>
          </a:prstGeom>
          <a:solidFill>
            <a:srgbClr val="D31242"/>
          </a:solidFill>
          <a:ln/>
        </p:spPr>
      </p:sp>
      <p:sp>
        <p:nvSpPr>
          <p:cNvPr id="23" name="Shape 21"/>
          <p:cNvSpPr/>
          <p:nvPr/>
        </p:nvSpPr>
        <p:spPr>
          <a:xfrm>
            <a:off x="7022592" y="6483096"/>
            <a:ext cx="118872" cy="118872"/>
          </a:xfrm>
          <a:prstGeom prst="ellipse">
            <a:avLst/>
          </a:prstGeom>
          <a:solidFill>
            <a:srgbClr val="D9DDE3"/>
          </a:solidFill>
          <a:ln/>
        </p:spPr>
      </p:sp>
      <p:sp>
        <p:nvSpPr>
          <p:cNvPr id="24" name="Shape 22"/>
          <p:cNvSpPr/>
          <p:nvPr/>
        </p:nvSpPr>
        <p:spPr>
          <a:xfrm>
            <a:off x="7370064" y="6483096"/>
            <a:ext cx="118872" cy="118872"/>
          </a:xfrm>
          <a:prstGeom prst="ellipse">
            <a:avLst/>
          </a:prstGeom>
          <a:solidFill>
            <a:srgbClr val="D9DDE3"/>
          </a:solidFill>
          <a:ln/>
        </p:spPr>
      </p:sp>
      <p:sp>
        <p:nvSpPr>
          <p:cNvPr id="25" name="Shape 23"/>
          <p:cNvSpPr/>
          <p:nvPr/>
        </p:nvSpPr>
        <p:spPr>
          <a:xfrm>
            <a:off x="7717536" y="6483096"/>
            <a:ext cx="118872" cy="118872"/>
          </a:xfrm>
          <a:prstGeom prst="ellipse">
            <a:avLst/>
          </a:prstGeom>
          <a:solidFill>
            <a:srgbClr val="D9DDE3"/>
          </a:solidFill>
          <a:ln/>
        </p:spPr>
      </p:sp>
      <p:sp>
        <p:nvSpPr>
          <p:cNvPr id="26" name="Shape 24"/>
          <p:cNvSpPr/>
          <p:nvPr/>
        </p:nvSpPr>
        <p:spPr>
          <a:xfrm>
            <a:off x="7936992" y="6483096"/>
            <a:ext cx="118872" cy="118872"/>
          </a:xfrm>
          <a:prstGeom prst="ellipse">
            <a:avLst/>
          </a:prstGeom>
          <a:solidFill>
            <a:srgbClr val="D9DDE3"/>
          </a:solidFill>
          <a:ln/>
        </p:spPr>
      </p:sp>
      <p:sp>
        <p:nvSpPr>
          <p:cNvPr id="27" name="Text 25"/>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NAME THE FORMAT · BEFORE AND AFTER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Name the columns and the columns come back</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GIVE THE AI CLEAR DIRECTION</a:t>
            </a:r>
            <a:endParaRPr lang="en-US" sz="900" dirty="0"/>
          </a:p>
        </p:txBody>
      </p:sp>
      <p:sp>
        <p:nvSpPr>
          <p:cNvPr id="7" name="Shape 4"/>
          <p:cNvSpPr/>
          <p:nvPr/>
        </p:nvSpPr>
        <p:spPr>
          <a:xfrm>
            <a:off x="640080" y="1874520"/>
            <a:ext cx="5074920" cy="3566160"/>
          </a:xfrm>
          <a:prstGeom prst="roundRect">
            <a:avLst>
              <a:gd name="adj" fmla="val 230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66544"/>
            <a:ext cx="4526280" cy="256032"/>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PROMPT</a:t>
            </a:r>
            <a:endParaRPr lang="en-US" sz="1100" dirty="0"/>
          </a:p>
        </p:txBody>
      </p:sp>
      <p:sp>
        <p:nvSpPr>
          <p:cNvPr id="9" name="Text 6"/>
          <p:cNvSpPr/>
          <p:nvPr/>
        </p:nvSpPr>
        <p:spPr>
          <a:xfrm>
            <a:off x="960120" y="2414016"/>
            <a:ext cx="4480560" cy="274320"/>
          </a:xfrm>
          <a:prstGeom prst="rect">
            <a:avLst/>
          </a:prstGeom>
          <a:noFill/>
          <a:ln/>
        </p:spPr>
        <p:txBody>
          <a:bodyPr wrap="square" lIns="0" tIns="0" rIns="0" bIns="0" rtlCol="0" anchor="t"/>
          <a:lstStyle/>
          <a:p>
            <a:pPr indent="0" marL="0">
              <a:lnSpc>
                <a:spcPct val="116000"/>
              </a:lnSpc>
              <a:buNone/>
            </a:pPr>
            <a:r>
              <a:rPr lang="en-US" sz="1250" dirty="0">
                <a:solidFill>
                  <a:srgbClr val="1F2733"/>
                </a:solidFill>
                <a:latin typeface="Arial" pitchFamily="34" charset="0"/>
                <a:ea typeface="Arial" pitchFamily="34" charset="-122"/>
                <a:cs typeface="Arial" pitchFamily="34" charset="-120"/>
              </a:rPr>
              <a:t>Here are this week's club comments:</a:t>
            </a:r>
            <a:endParaRPr lang="en-US" sz="1250" dirty="0"/>
          </a:p>
        </p:txBody>
      </p:sp>
      <p:sp>
        <p:nvSpPr>
          <p:cNvPr id="10" name="Text 7"/>
          <p:cNvSpPr/>
          <p:nvPr/>
        </p:nvSpPr>
        <p:spPr>
          <a:xfrm>
            <a:off x="960120" y="2825496"/>
            <a:ext cx="4480560" cy="749808"/>
          </a:xfrm>
          <a:prstGeom prst="rect">
            <a:avLst/>
          </a:prstGeom>
          <a:noFill/>
          <a:ln/>
        </p:spPr>
        <p:txBody>
          <a:bodyPr wrap="square" lIns="0" tIns="0" rIns="0" bIns="0" rtlCol="0" anchor="t"/>
          <a:lstStyle/>
          <a:p>
            <a:pPr indent="0" marL="0">
              <a:lnSpc>
                <a:spcPct val="116000"/>
              </a:lnSpc>
              <a:buNone/>
            </a:pPr>
            <a:r>
              <a:rPr lang="en-US" sz="1250" dirty="0">
                <a:solidFill>
                  <a:srgbClr val="1F2733"/>
                </a:solidFill>
                <a:latin typeface="Arial" pitchFamily="34" charset="0"/>
                <a:ea typeface="Arial" pitchFamily="34" charset="-122"/>
                <a:cs typeface="Arial" pitchFamily="34" charset="-120"/>
              </a:rPr>
              <a:t>“long wait at the deli on Saturday”</a:t>
            </a:r>
            <a:endParaRPr lang="en-US" sz="1250" dirty="0"/>
          </a:p>
          <a:p>
            <a:pPr indent="0" marL="0">
              <a:lnSpc>
                <a:spcPct val="116000"/>
              </a:lnSpc>
              <a:buNone/>
            </a:pPr>
            <a:r>
              <a:rPr lang="en-US" sz="1250" dirty="0">
                <a:solidFill>
                  <a:srgbClr val="1F2733"/>
                </a:solidFill>
                <a:latin typeface="Arial" pitchFamily="34" charset="0"/>
                <a:ea typeface="Arial" pitchFamily="34" charset="-122"/>
                <a:cs typeface="Arial" pitchFamily="34" charset="-120"/>
              </a:rPr>
              <a:t>“produce looked great this week”</a:t>
            </a:r>
            <a:endParaRPr lang="en-US" sz="1250" dirty="0"/>
          </a:p>
          <a:p>
            <a:pPr indent="0" marL="0">
              <a:lnSpc>
                <a:spcPct val="116000"/>
              </a:lnSpc>
              <a:buNone/>
            </a:pPr>
            <a:r>
              <a:rPr lang="en-US" sz="1250" dirty="0">
                <a:solidFill>
                  <a:srgbClr val="1F2733"/>
                </a:solidFill>
                <a:latin typeface="Arial" pitchFamily="34" charset="0"/>
                <a:ea typeface="Arial" pitchFamily="34" charset="-122"/>
                <a:cs typeface="Arial" pitchFamily="34" charset="-120"/>
              </a:rPr>
              <a:t>“self-checkout kept freezing”</a:t>
            </a:r>
            <a:endParaRPr lang="en-US" sz="1250" dirty="0"/>
          </a:p>
        </p:txBody>
      </p:sp>
      <p:sp>
        <p:nvSpPr>
          <p:cNvPr id="11" name="Shape 8"/>
          <p:cNvSpPr/>
          <p:nvPr/>
        </p:nvSpPr>
        <p:spPr>
          <a:xfrm>
            <a:off x="841248" y="3666744"/>
            <a:ext cx="4681728" cy="914400"/>
          </a:xfrm>
          <a:prstGeom prst="roundRect">
            <a:avLst>
              <a:gd name="adj" fmla="val 7000"/>
            </a:avLst>
          </a:prstGeom>
          <a:solidFill>
            <a:srgbClr val="DCFCE7"/>
          </a:solidFill>
          <a:ln/>
        </p:spPr>
      </p:sp>
      <p:sp>
        <p:nvSpPr>
          <p:cNvPr id="12" name="Text 9"/>
          <p:cNvSpPr/>
          <p:nvPr/>
        </p:nvSpPr>
        <p:spPr>
          <a:xfrm>
            <a:off x="960120" y="3712464"/>
            <a:ext cx="4480560" cy="804672"/>
          </a:xfrm>
          <a:prstGeom prst="rect">
            <a:avLst/>
          </a:prstGeom>
          <a:noFill/>
          <a:ln/>
        </p:spPr>
        <p:txBody>
          <a:bodyPr wrap="square" lIns="0" tIns="0" rIns="0" bIns="0" rtlCol="0" anchor="t"/>
          <a:lstStyle/>
          <a:p>
            <a:pPr indent="0" marL="0">
              <a:lnSpc>
                <a:spcPct val="116000"/>
              </a:lnSpc>
              <a:buNone/>
            </a:pPr>
            <a:r>
              <a:rPr lang="en-US" sz="950" b="1" spc="150" kern="0" dirty="0">
                <a:solidFill>
                  <a:srgbClr val="15803D"/>
                </a:solidFill>
                <a:latin typeface="Arial" pitchFamily="34" charset="0"/>
                <a:ea typeface="Arial" pitchFamily="34" charset="-122"/>
                <a:cs typeface="Arial" pitchFamily="34" charset="-120"/>
              </a:rPr>
              <a:t>WHAT YOU ADD: THE FORMAT, BY NAME
</a:t>
            </a:r>
            <a:pPr indent="0" marL="0">
              <a:lnSpc>
                <a:spcPct val="116000"/>
              </a:lnSpc>
              <a:buNone/>
            </a:pPr>
            <a:r>
              <a:rPr lang="en-US" sz="1200" dirty="0">
                <a:solidFill>
                  <a:srgbClr val="1F2733"/>
                </a:solidFill>
                <a:latin typeface="Arial" pitchFamily="34" charset="0"/>
                <a:ea typeface="Arial" pitchFamily="34" charset="-122"/>
                <a:cs typeface="Arial" pitchFamily="34" charset="-120"/>
              </a:rPr>
              <a:t>Put them in a table with three columns:</a:t>
            </a:r>
            <a:endParaRPr lang="en-US" sz="95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Comment, Area, Positive or negative.</a:t>
            </a:r>
            <a:endParaRPr lang="en-US" sz="950" dirty="0"/>
          </a:p>
        </p:txBody>
      </p:sp>
      <p:sp>
        <p:nvSpPr>
          <p:cNvPr id="13" name="Shape 10"/>
          <p:cNvSpPr/>
          <p:nvPr/>
        </p:nvSpPr>
        <p:spPr>
          <a:xfrm>
            <a:off x="6355080" y="1874520"/>
            <a:ext cx="5166360" cy="1600200"/>
          </a:xfrm>
          <a:prstGeom prst="roundRect">
            <a:avLst>
              <a:gd name="adj" fmla="val 5143"/>
            </a:avLst>
          </a:prstGeom>
          <a:solidFill>
            <a:srgbClr val="FEE2E2"/>
          </a:solidFill>
          <a:ln/>
          <a:effectLst>
            <a:outerShdw sx="100000" sy="100000" kx="0" ky="0" algn="bl" rotWithShape="0" blurRad="88900" dist="38100" dir="5400000">
              <a:srgbClr val="1F2733">
                <a:alpha val="10000"/>
              </a:srgbClr>
            </a:outerShdw>
          </a:effectLst>
        </p:spPr>
      </p:sp>
      <p:sp>
        <p:nvSpPr>
          <p:cNvPr id="14" name="Shape 11"/>
          <p:cNvSpPr/>
          <p:nvPr/>
        </p:nvSpPr>
        <p:spPr>
          <a:xfrm>
            <a:off x="6455664" y="2029968"/>
            <a:ext cx="50292" cy="1298448"/>
          </a:xfrm>
          <a:prstGeom prst="roundRect">
            <a:avLst>
              <a:gd name="adj" fmla="val 36364"/>
            </a:avLst>
          </a:prstGeom>
          <a:solidFill>
            <a:srgbClr val="B91C1C"/>
          </a:solidFill>
          <a:ln/>
        </p:spPr>
      </p:sp>
      <p:sp>
        <p:nvSpPr>
          <p:cNvPr id="15" name="Text 12"/>
          <p:cNvSpPr/>
          <p:nvPr/>
        </p:nvSpPr>
        <p:spPr>
          <a:xfrm>
            <a:off x="6629400" y="2048256"/>
            <a:ext cx="4617720" cy="237744"/>
          </a:xfrm>
          <a:prstGeom prst="rect">
            <a:avLst/>
          </a:prstGeom>
          <a:noFill/>
          <a:ln/>
        </p:spPr>
        <p:txBody>
          <a:bodyPr wrap="square" lIns="0" tIns="0" rIns="0" bIns="0" rtlCol="0" anchor="ctr"/>
          <a:lstStyle/>
          <a:p>
            <a:pPr indent="0" marL="0">
              <a:buNone/>
            </a:pPr>
            <a:r>
              <a:rPr lang="en-US" sz="1000" b="1" spc="120" kern="0" dirty="0">
                <a:solidFill>
                  <a:srgbClr val="B91C1C"/>
                </a:solidFill>
                <a:latin typeface="Arial" pitchFamily="34" charset="0"/>
                <a:ea typeface="Arial" pitchFamily="34" charset="-122"/>
                <a:cs typeface="Arial" pitchFamily="34" charset="-120"/>
              </a:rPr>
              <a:t>RESPONSE, WITHOUT THE ADDITION</a:t>
            </a:r>
            <a:endParaRPr lang="en-US" sz="1000" dirty="0"/>
          </a:p>
        </p:txBody>
      </p:sp>
      <p:sp>
        <p:nvSpPr>
          <p:cNvPr id="16" name="Text 13"/>
          <p:cNvSpPr/>
          <p:nvPr/>
        </p:nvSpPr>
        <p:spPr>
          <a:xfrm>
            <a:off x="6629400" y="2340864"/>
            <a:ext cx="4617720" cy="1042416"/>
          </a:xfrm>
          <a:prstGeom prst="rect">
            <a:avLst/>
          </a:prstGeom>
          <a:noFill/>
          <a:ln/>
        </p:spPr>
        <p:txBody>
          <a:bodyPr wrap="square" lIns="0" tIns="0" rIns="0" bIns="0" rtlCol="0" anchor="t"/>
          <a:lstStyle/>
          <a:p>
            <a:pPr indent="0" marL="0">
              <a:lnSpc>
                <a:spcPct val="114000"/>
              </a:lnSpc>
              <a:buNone/>
            </a:pPr>
            <a:r>
              <a:rPr lang="en-US" sz="1100" dirty="0">
                <a:solidFill>
                  <a:srgbClr val="1F2733"/>
                </a:solidFill>
                <a:latin typeface="Arial" pitchFamily="34" charset="0"/>
                <a:ea typeface="Arial" pitchFamily="34" charset="-122"/>
                <a:cs typeface="Arial" pitchFamily="34" charset="-120"/>
              </a:rPr>
              <a:t>“Members raised a few points this week. There was a long wait at the deli on Saturday. The produce section was well received. Some members experienced repeated freezing at self-checkout.”</a:t>
            </a:r>
            <a:endParaRPr lang="en-US" sz="1100" dirty="0"/>
          </a:p>
        </p:txBody>
      </p:sp>
      <p:sp>
        <p:nvSpPr>
          <p:cNvPr id="17" name="Shape 14"/>
          <p:cNvSpPr/>
          <p:nvPr/>
        </p:nvSpPr>
        <p:spPr>
          <a:xfrm>
            <a:off x="6355080" y="3611880"/>
            <a:ext cx="5166360" cy="1828800"/>
          </a:xfrm>
          <a:prstGeom prst="roundRect">
            <a:avLst>
              <a:gd name="adj" fmla="val 4500"/>
            </a:avLst>
          </a:prstGeom>
          <a:solidFill>
            <a:srgbClr val="DCFCE7"/>
          </a:solidFill>
          <a:ln/>
          <a:effectLst>
            <a:outerShdw sx="100000" sy="100000" kx="0" ky="0" algn="bl" rotWithShape="0" blurRad="88900" dist="38100" dir="5400000">
              <a:srgbClr val="1F2733">
                <a:alpha val="10000"/>
              </a:srgbClr>
            </a:outerShdw>
          </a:effectLst>
        </p:spPr>
      </p:sp>
      <p:sp>
        <p:nvSpPr>
          <p:cNvPr id="18" name="Shape 15"/>
          <p:cNvSpPr/>
          <p:nvPr/>
        </p:nvSpPr>
        <p:spPr>
          <a:xfrm>
            <a:off x="6455664" y="3767328"/>
            <a:ext cx="50292" cy="1536192"/>
          </a:xfrm>
          <a:prstGeom prst="roundRect">
            <a:avLst>
              <a:gd name="adj" fmla="val 36364"/>
            </a:avLst>
          </a:prstGeom>
          <a:solidFill>
            <a:srgbClr val="15803D"/>
          </a:solidFill>
          <a:ln/>
        </p:spPr>
      </p:sp>
      <p:sp>
        <p:nvSpPr>
          <p:cNvPr id="19" name="Text 16"/>
          <p:cNvSpPr/>
          <p:nvPr/>
        </p:nvSpPr>
        <p:spPr>
          <a:xfrm>
            <a:off x="6629400" y="3776472"/>
            <a:ext cx="4617720" cy="237744"/>
          </a:xfrm>
          <a:prstGeom prst="rect">
            <a:avLst/>
          </a:prstGeom>
          <a:noFill/>
          <a:ln/>
        </p:spPr>
        <p:txBody>
          <a:bodyPr wrap="square" lIns="0" tIns="0" rIns="0" bIns="0" rtlCol="0" anchor="ctr"/>
          <a:lstStyle/>
          <a:p>
            <a:pPr indent="0" marL="0">
              <a:buNone/>
            </a:pPr>
            <a:r>
              <a:rPr lang="en-US" sz="1000" b="1" spc="120" kern="0" dirty="0">
                <a:solidFill>
                  <a:srgbClr val="15803D"/>
                </a:solidFill>
                <a:latin typeface="Arial" pitchFamily="34" charset="0"/>
                <a:ea typeface="Arial" pitchFamily="34" charset="-122"/>
                <a:cs typeface="Arial" pitchFamily="34" charset="-120"/>
              </a:rPr>
              <a:t>RESPONSE, WITH THE ADDITION</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29400" y="4078224"/>
          <a:ext cx="4617720" cy="914400"/>
        </p:xfrm>
        <a:graphic>
          <a:graphicData uri="http://schemas.openxmlformats.org/drawingml/2006/table">
            <a:tbl>
              <a:tblPr/>
              <a:tblGrid>
                <a:gridCol w="2057400"/>
                <a:gridCol w="1051560"/>
                <a:gridCol w="1508760"/>
              </a:tblGrid>
              <a:tr h="310896">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Comment</a:t>
                      </a:r>
                      <a:endParaRPr lang="en-US" sz="1000" dirty="0">
                        <a:latin typeface="Arial" charset="0"/>
                        <a:ea typeface="Arial" charset="0"/>
                        <a:cs typeface="Arial" charset="0"/>
                      </a:endParaRPr>
                    </a:p>
                  </a:txBody>
                  <a:tcPr marL="36576" marR="36576" marT="36576" marB="36576" anchor="ctr">
                    <a:lnL w="9525" cap="flat" cmpd="sng" algn="ctr">
                      <a:solidFill>
                        <a:srgbClr val="E7E9EE"/>
                      </a:solidFill>
                      <a:prstDash val="solid"/>
                      <a:round/>
                      <a:headEnd type="none" w="med" len="med"/>
                      <a:tailEnd type="none" w="med" len="med"/>
                    </a:lnL>
                    <a:lnR w="9525" cap="flat" cmpd="sng" algn="ctr">
                      <a:solidFill>
                        <a:srgbClr val="E7E9EE"/>
                      </a:solidFill>
                      <a:prstDash val="solid"/>
                      <a:round/>
                      <a:headEnd type="none" w="med" len="med"/>
                      <a:tailEnd type="none" w="med" len="med"/>
                    </a:lnR>
                    <a:lnT w="9525" cap="flat" cmpd="sng" algn="ctr">
                      <a:solidFill>
                        <a:srgbClr val="E7E9EE"/>
                      </a:solidFill>
                      <a:prstDash val="solid"/>
                      <a:round/>
                      <a:headEnd type="none" w="med" len="med"/>
                      <a:tailEnd type="none" w="med" len="med"/>
                    </a:lnT>
                    <a:lnB w="9525" cap="flat" cmpd="sng" algn="ctr">
                      <a:solidFill>
                        <a:srgbClr val="E7E9EE"/>
                      </a:solidFill>
                      <a:prstDash val="solid"/>
                      <a:round/>
                      <a:headEnd type="none" w="med" len="med"/>
                      <a:tailEnd type="none" w="med" len="med"/>
                    </a:lnB>
                    <a:solidFill>
                      <a:srgbClr val="D31242"/>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Area</a:t>
                      </a:r>
                      <a:endParaRPr lang="en-US" sz="1000" dirty="0">
                        <a:latin typeface="Arial" charset="0"/>
                        <a:ea typeface="Arial" charset="0"/>
                        <a:cs typeface="Arial" charset="0"/>
                      </a:endParaRPr>
                    </a:p>
                  </a:txBody>
                  <a:tcPr marL="36576" marR="36576" marT="36576" marB="36576" anchor="ctr">
                    <a:lnL w="9525" cap="flat" cmpd="sng" algn="ctr">
                      <a:solidFill>
                        <a:srgbClr val="E7E9EE"/>
                      </a:solidFill>
                      <a:prstDash val="solid"/>
                      <a:round/>
                      <a:headEnd type="none" w="med" len="med"/>
                      <a:tailEnd type="none" w="med" len="med"/>
                    </a:lnL>
                    <a:lnR w="9525" cap="flat" cmpd="sng" algn="ctr">
                      <a:solidFill>
                        <a:srgbClr val="E7E9EE"/>
                      </a:solidFill>
                      <a:prstDash val="solid"/>
                      <a:round/>
                      <a:headEnd type="none" w="med" len="med"/>
                      <a:tailEnd type="none" w="med" len="med"/>
                    </a:lnR>
                    <a:lnT w="9525" cap="flat" cmpd="sng" algn="ctr">
                      <a:solidFill>
                        <a:srgbClr val="E7E9EE"/>
                      </a:solidFill>
                      <a:prstDash val="solid"/>
                      <a:round/>
                      <a:headEnd type="none" w="med" len="med"/>
                      <a:tailEnd type="none" w="med" len="med"/>
                    </a:lnT>
                    <a:lnB w="9525" cap="flat" cmpd="sng" algn="ctr">
                      <a:solidFill>
                        <a:srgbClr val="E7E9EE"/>
                      </a:solidFill>
                      <a:prstDash val="solid"/>
                      <a:round/>
                      <a:headEnd type="none" w="med" len="med"/>
                      <a:tailEnd type="none" w="med" len="med"/>
                    </a:lnB>
                    <a:solidFill>
                      <a:srgbClr val="D31242"/>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Positive?</a:t>
                      </a:r>
                      <a:endParaRPr lang="en-US" sz="1000" dirty="0">
                        <a:latin typeface="Arial" charset="0"/>
                        <a:ea typeface="Arial" charset="0"/>
                        <a:cs typeface="Arial" charset="0"/>
                      </a:endParaRPr>
                    </a:p>
                  </a:txBody>
                  <a:tcPr marL="36576" marR="36576" marT="36576" marB="36576" anchor="ctr">
                    <a:lnL w="9525" cap="flat" cmpd="sng" algn="ctr">
                      <a:solidFill>
                        <a:srgbClr val="E7E9EE"/>
                      </a:solidFill>
                      <a:prstDash val="solid"/>
                      <a:round/>
                      <a:headEnd type="none" w="med" len="med"/>
                      <a:tailEnd type="none" w="med" len="med"/>
                    </a:lnL>
                    <a:lnR w="9525" cap="flat" cmpd="sng" algn="ctr">
                      <a:solidFill>
                        <a:srgbClr val="E7E9EE"/>
                      </a:solidFill>
                      <a:prstDash val="solid"/>
                      <a:round/>
                      <a:headEnd type="none" w="med" len="med"/>
                      <a:tailEnd type="none" w="med" len="med"/>
                    </a:lnR>
                    <a:lnT w="9525" cap="flat" cmpd="sng" algn="ctr">
                      <a:solidFill>
                        <a:srgbClr val="E7E9EE"/>
                      </a:solidFill>
                      <a:prstDash val="solid"/>
                      <a:round/>
                      <a:headEnd type="none" w="med" len="med"/>
                      <a:tailEnd type="none" w="med" len="med"/>
                    </a:lnT>
                    <a:lnB w="9525" cap="flat" cmpd="sng" algn="ctr">
                      <a:solidFill>
                        <a:srgbClr val="E7E9EE"/>
                      </a:solidFill>
                      <a:prstDash val="solid"/>
                      <a:round/>
                      <a:headEnd type="none" w="med" len="med"/>
                      <a:tailEnd type="none" w="med" len="med"/>
                    </a:lnB>
                    <a:solidFill>
                      <a:srgbClr val="D31242"/>
                    </a:solidFill>
                  </a:tcPr>
                </a:tc>
              </a:tr>
              <a:tr h="310896">
                <a:tc>
                  <a:txBody>
                    <a:bodyPr/>
                    <a:lstStyle/>
                    <a:p>
                      <a:pPr indent="0" marL="0">
                        <a:buNone/>
                      </a:pPr>
                      <a:r>
                        <a:rPr lang="en-US" sz="1000" dirty="0">
                          <a:solidFill>
                            <a:srgbClr val="1F2733"/>
                          </a:solidFill>
                          <a:latin typeface="Arial" pitchFamily="34" charset="0"/>
                          <a:ea typeface="Arial" pitchFamily="34" charset="-122"/>
                          <a:cs typeface="Arial" pitchFamily="34" charset="-120"/>
                        </a:rPr>
                        <a:t>Long wait at the deli</a:t>
                      </a:r>
                      <a:endParaRPr lang="en-US" sz="1000" dirty="0">
                        <a:latin typeface="Arial" charset="0"/>
                        <a:ea typeface="Arial" charset="0"/>
                        <a:cs typeface="Arial" charset="0"/>
                      </a:endParaRPr>
                    </a:p>
                  </a:txBody>
                  <a:tcPr marL="36576" marR="36576" marT="36576" marB="36576" anchor="ctr">
                    <a:lnL w="9525" cap="flat" cmpd="sng" algn="ctr">
                      <a:solidFill>
                        <a:srgbClr val="E7E9EE"/>
                      </a:solidFill>
                      <a:prstDash val="solid"/>
                      <a:round/>
                      <a:headEnd type="none" w="med" len="med"/>
                      <a:tailEnd type="none" w="med" len="med"/>
                    </a:lnL>
                    <a:lnR w="9525" cap="flat" cmpd="sng" algn="ctr">
                      <a:solidFill>
                        <a:srgbClr val="E7E9EE"/>
                      </a:solidFill>
                      <a:prstDash val="solid"/>
                      <a:round/>
                      <a:headEnd type="none" w="med" len="med"/>
                      <a:tailEnd type="none" w="med" len="med"/>
                    </a:lnR>
                    <a:lnT w="9525" cap="flat" cmpd="sng" algn="ctr">
                      <a:solidFill>
                        <a:srgbClr val="E7E9EE"/>
                      </a:solidFill>
                      <a:prstDash val="solid"/>
                      <a:round/>
                      <a:headEnd type="none" w="med" len="med"/>
                      <a:tailEnd type="none" w="med" len="med"/>
                    </a:lnT>
                    <a:lnB w="9525" cap="flat" cmpd="sng" algn="ctr">
                      <a:solidFill>
                        <a:srgbClr val="E7E9EE"/>
                      </a:solidFill>
                      <a:prstDash val="solid"/>
                      <a:round/>
                      <a:headEnd type="none" w="med" len="med"/>
                      <a:tailEnd type="none" w="med" len="med"/>
                    </a:lnB>
                  </a:tcPr>
                </a:tc>
                <a:tc>
                  <a:txBody>
                    <a:bodyPr/>
                    <a:lstStyle/>
                    <a:p>
                      <a:pPr indent="0" marL="0">
                        <a:buNone/>
                      </a:pPr>
                      <a:r>
                        <a:rPr lang="en-US" sz="1000" dirty="0">
                          <a:solidFill>
                            <a:srgbClr val="1F2733"/>
                          </a:solidFill>
                          <a:latin typeface="Arial" pitchFamily="34" charset="0"/>
                          <a:ea typeface="Arial" pitchFamily="34" charset="-122"/>
                          <a:cs typeface="Arial" pitchFamily="34" charset="-120"/>
                        </a:rPr>
                        <a:t>Deli</a:t>
                      </a:r>
                      <a:endParaRPr lang="en-US" sz="1000" dirty="0">
                        <a:latin typeface="Arial" charset="0"/>
                        <a:ea typeface="Arial" charset="0"/>
                        <a:cs typeface="Arial" charset="0"/>
                      </a:endParaRPr>
                    </a:p>
                  </a:txBody>
                  <a:tcPr marL="36576" marR="36576" marT="36576" marB="36576" anchor="ctr">
                    <a:lnL w="9525" cap="flat" cmpd="sng" algn="ctr">
                      <a:solidFill>
                        <a:srgbClr val="E7E9EE"/>
                      </a:solidFill>
                      <a:prstDash val="solid"/>
                      <a:round/>
                      <a:headEnd type="none" w="med" len="med"/>
                      <a:tailEnd type="none" w="med" len="med"/>
                    </a:lnL>
                    <a:lnR w="9525" cap="flat" cmpd="sng" algn="ctr">
                      <a:solidFill>
                        <a:srgbClr val="E7E9EE"/>
                      </a:solidFill>
                      <a:prstDash val="solid"/>
                      <a:round/>
                      <a:headEnd type="none" w="med" len="med"/>
                      <a:tailEnd type="none" w="med" len="med"/>
                    </a:lnR>
                    <a:lnT w="9525" cap="flat" cmpd="sng" algn="ctr">
                      <a:solidFill>
                        <a:srgbClr val="E7E9EE"/>
                      </a:solidFill>
                      <a:prstDash val="solid"/>
                      <a:round/>
                      <a:headEnd type="none" w="med" len="med"/>
                      <a:tailEnd type="none" w="med" len="med"/>
                    </a:lnT>
                    <a:lnB w="9525" cap="flat" cmpd="sng" algn="ctr">
                      <a:solidFill>
                        <a:srgbClr val="E7E9EE"/>
                      </a:solidFill>
                      <a:prstDash val="solid"/>
                      <a:round/>
                      <a:headEnd type="none" w="med" len="med"/>
                      <a:tailEnd type="none" w="med" len="med"/>
                    </a:lnB>
                  </a:tcPr>
                </a:tc>
                <a:tc>
                  <a:txBody>
                    <a:bodyPr/>
                    <a:lstStyle/>
                    <a:p>
                      <a:pPr indent="0" marL="0">
                        <a:buNone/>
                      </a:pPr>
                      <a:r>
                        <a:rPr lang="en-US" sz="1000" dirty="0">
                          <a:solidFill>
                            <a:srgbClr val="1F2733"/>
                          </a:solidFill>
                          <a:latin typeface="Arial" pitchFamily="34" charset="0"/>
                          <a:ea typeface="Arial" pitchFamily="34" charset="-122"/>
                          <a:cs typeface="Arial" pitchFamily="34" charset="-120"/>
                        </a:rPr>
                        <a:t>Negative</a:t>
                      </a:r>
                      <a:endParaRPr lang="en-US" sz="1000" dirty="0">
                        <a:latin typeface="Arial" charset="0"/>
                        <a:ea typeface="Arial" charset="0"/>
                        <a:cs typeface="Arial" charset="0"/>
                      </a:endParaRPr>
                    </a:p>
                  </a:txBody>
                  <a:tcPr marL="36576" marR="36576" marT="36576" marB="36576" anchor="ctr">
                    <a:lnL w="9525" cap="flat" cmpd="sng" algn="ctr">
                      <a:solidFill>
                        <a:srgbClr val="E7E9EE"/>
                      </a:solidFill>
                      <a:prstDash val="solid"/>
                      <a:round/>
                      <a:headEnd type="none" w="med" len="med"/>
                      <a:tailEnd type="none" w="med" len="med"/>
                    </a:lnL>
                    <a:lnR w="9525" cap="flat" cmpd="sng" algn="ctr">
                      <a:solidFill>
                        <a:srgbClr val="E7E9EE"/>
                      </a:solidFill>
                      <a:prstDash val="solid"/>
                      <a:round/>
                      <a:headEnd type="none" w="med" len="med"/>
                      <a:tailEnd type="none" w="med" len="med"/>
                    </a:lnR>
                    <a:lnT w="9525" cap="flat" cmpd="sng" algn="ctr">
                      <a:solidFill>
                        <a:srgbClr val="E7E9EE"/>
                      </a:solidFill>
                      <a:prstDash val="solid"/>
                      <a:round/>
                      <a:headEnd type="none" w="med" len="med"/>
                      <a:tailEnd type="none" w="med" len="med"/>
                    </a:lnT>
                    <a:lnB w="9525" cap="flat" cmpd="sng" algn="ctr">
                      <a:solidFill>
                        <a:srgbClr val="E7E9EE"/>
                      </a:solidFill>
                      <a:prstDash val="solid"/>
                      <a:round/>
                      <a:headEnd type="none" w="med" len="med"/>
                      <a:tailEnd type="none" w="med" len="med"/>
                    </a:lnB>
                  </a:tcPr>
                </a:tc>
              </a:tr>
              <a:tr h="310896">
                <a:tc>
                  <a:txBody>
                    <a:bodyPr/>
                    <a:lstStyle/>
                    <a:p>
                      <a:pPr indent="0" marL="0">
                        <a:buNone/>
                      </a:pPr>
                      <a:r>
                        <a:rPr lang="en-US" sz="1000" dirty="0">
                          <a:solidFill>
                            <a:srgbClr val="1F2733"/>
                          </a:solidFill>
                          <a:latin typeface="Arial" pitchFamily="34" charset="0"/>
                          <a:ea typeface="Arial" pitchFamily="34" charset="-122"/>
                          <a:cs typeface="Arial" pitchFamily="34" charset="-120"/>
                        </a:rPr>
                        <a:t>Produce looked great</a:t>
                      </a:r>
                      <a:endParaRPr lang="en-US" sz="1000" dirty="0">
                        <a:latin typeface="Arial" charset="0"/>
                        <a:ea typeface="Arial" charset="0"/>
                        <a:cs typeface="Arial" charset="0"/>
                      </a:endParaRPr>
                    </a:p>
                  </a:txBody>
                  <a:tcPr marL="36576" marR="36576" marT="36576" marB="36576" anchor="ctr">
                    <a:lnL w="9525" cap="flat" cmpd="sng" algn="ctr">
                      <a:solidFill>
                        <a:srgbClr val="E7E9EE"/>
                      </a:solidFill>
                      <a:prstDash val="solid"/>
                      <a:round/>
                      <a:headEnd type="none" w="med" len="med"/>
                      <a:tailEnd type="none" w="med" len="med"/>
                    </a:lnL>
                    <a:lnR w="9525" cap="flat" cmpd="sng" algn="ctr">
                      <a:solidFill>
                        <a:srgbClr val="E7E9EE"/>
                      </a:solidFill>
                      <a:prstDash val="solid"/>
                      <a:round/>
                      <a:headEnd type="none" w="med" len="med"/>
                      <a:tailEnd type="none" w="med" len="med"/>
                    </a:lnR>
                    <a:lnT w="9525" cap="flat" cmpd="sng" algn="ctr">
                      <a:solidFill>
                        <a:srgbClr val="E7E9EE"/>
                      </a:solidFill>
                      <a:prstDash val="solid"/>
                      <a:round/>
                      <a:headEnd type="none" w="med" len="med"/>
                      <a:tailEnd type="none" w="med" len="med"/>
                    </a:lnT>
                    <a:lnB w="9525" cap="flat" cmpd="sng" algn="ctr">
                      <a:solidFill>
                        <a:srgbClr val="E7E9EE"/>
                      </a:solidFill>
                      <a:prstDash val="solid"/>
                      <a:round/>
                      <a:headEnd type="none" w="med" len="med"/>
                      <a:tailEnd type="none" w="med" len="med"/>
                    </a:lnB>
                  </a:tcPr>
                </a:tc>
                <a:tc>
                  <a:txBody>
                    <a:bodyPr/>
                    <a:lstStyle/>
                    <a:p>
                      <a:pPr indent="0" marL="0">
                        <a:buNone/>
                      </a:pPr>
                      <a:r>
                        <a:rPr lang="en-US" sz="1000" dirty="0">
                          <a:solidFill>
                            <a:srgbClr val="1F2733"/>
                          </a:solidFill>
                          <a:latin typeface="Arial" pitchFamily="34" charset="0"/>
                          <a:ea typeface="Arial" pitchFamily="34" charset="-122"/>
                          <a:cs typeface="Arial" pitchFamily="34" charset="-120"/>
                        </a:rPr>
                        <a:t>Produce</a:t>
                      </a:r>
                      <a:endParaRPr lang="en-US" sz="1000" dirty="0">
                        <a:latin typeface="Arial" charset="0"/>
                        <a:ea typeface="Arial" charset="0"/>
                        <a:cs typeface="Arial" charset="0"/>
                      </a:endParaRPr>
                    </a:p>
                  </a:txBody>
                  <a:tcPr marL="36576" marR="36576" marT="36576" marB="36576" anchor="ctr">
                    <a:lnL w="9525" cap="flat" cmpd="sng" algn="ctr">
                      <a:solidFill>
                        <a:srgbClr val="E7E9EE"/>
                      </a:solidFill>
                      <a:prstDash val="solid"/>
                      <a:round/>
                      <a:headEnd type="none" w="med" len="med"/>
                      <a:tailEnd type="none" w="med" len="med"/>
                    </a:lnL>
                    <a:lnR w="9525" cap="flat" cmpd="sng" algn="ctr">
                      <a:solidFill>
                        <a:srgbClr val="E7E9EE"/>
                      </a:solidFill>
                      <a:prstDash val="solid"/>
                      <a:round/>
                      <a:headEnd type="none" w="med" len="med"/>
                      <a:tailEnd type="none" w="med" len="med"/>
                    </a:lnR>
                    <a:lnT w="9525" cap="flat" cmpd="sng" algn="ctr">
                      <a:solidFill>
                        <a:srgbClr val="E7E9EE"/>
                      </a:solidFill>
                      <a:prstDash val="solid"/>
                      <a:round/>
                      <a:headEnd type="none" w="med" len="med"/>
                      <a:tailEnd type="none" w="med" len="med"/>
                    </a:lnT>
                    <a:lnB w="9525" cap="flat" cmpd="sng" algn="ctr">
                      <a:solidFill>
                        <a:srgbClr val="E7E9EE"/>
                      </a:solidFill>
                      <a:prstDash val="solid"/>
                      <a:round/>
                      <a:headEnd type="none" w="med" len="med"/>
                      <a:tailEnd type="none" w="med" len="med"/>
                    </a:lnB>
                  </a:tcPr>
                </a:tc>
                <a:tc>
                  <a:txBody>
                    <a:bodyPr/>
                    <a:lstStyle/>
                    <a:p>
                      <a:pPr indent="0" marL="0">
                        <a:buNone/>
                      </a:pPr>
                      <a:r>
                        <a:rPr lang="en-US" sz="1000" dirty="0">
                          <a:solidFill>
                            <a:srgbClr val="1F2733"/>
                          </a:solidFill>
                          <a:latin typeface="Arial" pitchFamily="34" charset="0"/>
                          <a:ea typeface="Arial" pitchFamily="34" charset="-122"/>
                          <a:cs typeface="Arial" pitchFamily="34" charset="-120"/>
                        </a:rPr>
                        <a:t>Positive</a:t>
                      </a:r>
                      <a:endParaRPr lang="en-US" sz="1000" dirty="0">
                        <a:latin typeface="Arial" charset="0"/>
                        <a:ea typeface="Arial" charset="0"/>
                        <a:cs typeface="Arial" charset="0"/>
                      </a:endParaRPr>
                    </a:p>
                  </a:txBody>
                  <a:tcPr marL="36576" marR="36576" marT="36576" marB="36576" anchor="ctr">
                    <a:lnL w="9525" cap="flat" cmpd="sng" algn="ctr">
                      <a:solidFill>
                        <a:srgbClr val="E7E9EE"/>
                      </a:solidFill>
                      <a:prstDash val="solid"/>
                      <a:round/>
                      <a:headEnd type="none" w="med" len="med"/>
                      <a:tailEnd type="none" w="med" len="med"/>
                    </a:lnL>
                    <a:lnR w="9525" cap="flat" cmpd="sng" algn="ctr">
                      <a:solidFill>
                        <a:srgbClr val="E7E9EE"/>
                      </a:solidFill>
                      <a:prstDash val="solid"/>
                      <a:round/>
                      <a:headEnd type="none" w="med" len="med"/>
                      <a:tailEnd type="none" w="med" len="med"/>
                    </a:lnR>
                    <a:lnT w="9525" cap="flat" cmpd="sng" algn="ctr">
                      <a:solidFill>
                        <a:srgbClr val="E7E9EE"/>
                      </a:solidFill>
                      <a:prstDash val="solid"/>
                      <a:round/>
                      <a:headEnd type="none" w="med" len="med"/>
                      <a:tailEnd type="none" w="med" len="med"/>
                    </a:lnT>
                    <a:lnB w="9525" cap="flat" cmpd="sng" algn="ctr">
                      <a:solidFill>
                        <a:srgbClr val="E7E9EE"/>
                      </a:solidFill>
                      <a:prstDash val="solid"/>
                      <a:round/>
                      <a:headEnd type="none" w="med" len="med"/>
                      <a:tailEnd type="none" w="med" len="med"/>
                    </a:lnB>
                  </a:tcPr>
                </a:tc>
              </a:tr>
              <a:tr h="310896">
                <a:tc>
                  <a:txBody>
                    <a:bodyPr/>
                    <a:lstStyle/>
                    <a:p>
                      <a:pPr indent="0" marL="0">
                        <a:buNone/>
                      </a:pPr>
                      <a:r>
                        <a:rPr lang="en-US" sz="1000" dirty="0">
                          <a:solidFill>
                            <a:srgbClr val="1F2733"/>
                          </a:solidFill>
                          <a:latin typeface="Arial" pitchFamily="34" charset="0"/>
                          <a:ea typeface="Arial" pitchFamily="34" charset="-122"/>
                          <a:cs typeface="Arial" pitchFamily="34" charset="-120"/>
                        </a:rPr>
                        <a:t>Self-checkout freezing</a:t>
                      </a:r>
                      <a:endParaRPr lang="en-US" sz="1000" dirty="0">
                        <a:latin typeface="Arial" charset="0"/>
                        <a:ea typeface="Arial" charset="0"/>
                        <a:cs typeface="Arial" charset="0"/>
                      </a:endParaRPr>
                    </a:p>
                  </a:txBody>
                  <a:tcPr marL="36576" marR="36576" marT="36576" marB="36576" anchor="ctr">
                    <a:lnL w="9525" cap="flat" cmpd="sng" algn="ctr">
                      <a:solidFill>
                        <a:srgbClr val="E7E9EE"/>
                      </a:solidFill>
                      <a:prstDash val="solid"/>
                      <a:round/>
                      <a:headEnd type="none" w="med" len="med"/>
                      <a:tailEnd type="none" w="med" len="med"/>
                    </a:lnL>
                    <a:lnR w="9525" cap="flat" cmpd="sng" algn="ctr">
                      <a:solidFill>
                        <a:srgbClr val="E7E9EE"/>
                      </a:solidFill>
                      <a:prstDash val="solid"/>
                      <a:round/>
                      <a:headEnd type="none" w="med" len="med"/>
                      <a:tailEnd type="none" w="med" len="med"/>
                    </a:lnR>
                    <a:lnT w="9525" cap="flat" cmpd="sng" algn="ctr">
                      <a:solidFill>
                        <a:srgbClr val="E7E9EE"/>
                      </a:solidFill>
                      <a:prstDash val="solid"/>
                      <a:round/>
                      <a:headEnd type="none" w="med" len="med"/>
                      <a:tailEnd type="none" w="med" len="med"/>
                    </a:lnT>
                    <a:lnB w="9525" cap="flat" cmpd="sng" algn="ctr">
                      <a:solidFill>
                        <a:srgbClr val="E7E9EE"/>
                      </a:solidFill>
                      <a:prstDash val="solid"/>
                      <a:round/>
                      <a:headEnd type="none" w="med" len="med"/>
                      <a:tailEnd type="none" w="med" len="med"/>
                    </a:lnB>
                  </a:tcPr>
                </a:tc>
                <a:tc>
                  <a:txBody>
                    <a:bodyPr/>
                    <a:lstStyle/>
                    <a:p>
                      <a:pPr indent="0" marL="0">
                        <a:buNone/>
                      </a:pPr>
                      <a:r>
                        <a:rPr lang="en-US" sz="1000" dirty="0">
                          <a:solidFill>
                            <a:srgbClr val="1F2733"/>
                          </a:solidFill>
                          <a:latin typeface="Arial" pitchFamily="34" charset="0"/>
                          <a:ea typeface="Arial" pitchFamily="34" charset="-122"/>
                          <a:cs typeface="Arial" pitchFamily="34" charset="-120"/>
                        </a:rPr>
                        <a:t>Front end</a:t>
                      </a:r>
                      <a:endParaRPr lang="en-US" sz="1000" dirty="0">
                        <a:latin typeface="Arial" charset="0"/>
                        <a:ea typeface="Arial" charset="0"/>
                        <a:cs typeface="Arial" charset="0"/>
                      </a:endParaRPr>
                    </a:p>
                  </a:txBody>
                  <a:tcPr marL="36576" marR="36576" marT="36576" marB="36576" anchor="ctr">
                    <a:lnL w="9525" cap="flat" cmpd="sng" algn="ctr">
                      <a:solidFill>
                        <a:srgbClr val="E7E9EE"/>
                      </a:solidFill>
                      <a:prstDash val="solid"/>
                      <a:round/>
                      <a:headEnd type="none" w="med" len="med"/>
                      <a:tailEnd type="none" w="med" len="med"/>
                    </a:lnL>
                    <a:lnR w="9525" cap="flat" cmpd="sng" algn="ctr">
                      <a:solidFill>
                        <a:srgbClr val="E7E9EE"/>
                      </a:solidFill>
                      <a:prstDash val="solid"/>
                      <a:round/>
                      <a:headEnd type="none" w="med" len="med"/>
                      <a:tailEnd type="none" w="med" len="med"/>
                    </a:lnR>
                    <a:lnT w="9525" cap="flat" cmpd="sng" algn="ctr">
                      <a:solidFill>
                        <a:srgbClr val="E7E9EE"/>
                      </a:solidFill>
                      <a:prstDash val="solid"/>
                      <a:round/>
                      <a:headEnd type="none" w="med" len="med"/>
                      <a:tailEnd type="none" w="med" len="med"/>
                    </a:lnT>
                    <a:lnB w="9525" cap="flat" cmpd="sng" algn="ctr">
                      <a:solidFill>
                        <a:srgbClr val="E7E9EE"/>
                      </a:solidFill>
                      <a:prstDash val="solid"/>
                      <a:round/>
                      <a:headEnd type="none" w="med" len="med"/>
                      <a:tailEnd type="none" w="med" len="med"/>
                    </a:lnB>
                  </a:tcPr>
                </a:tc>
                <a:tc>
                  <a:txBody>
                    <a:bodyPr/>
                    <a:lstStyle/>
                    <a:p>
                      <a:pPr indent="0" marL="0">
                        <a:buNone/>
                      </a:pPr>
                      <a:r>
                        <a:rPr lang="en-US" sz="1000" dirty="0">
                          <a:solidFill>
                            <a:srgbClr val="1F2733"/>
                          </a:solidFill>
                          <a:latin typeface="Arial" pitchFamily="34" charset="0"/>
                          <a:ea typeface="Arial" pitchFamily="34" charset="-122"/>
                          <a:cs typeface="Arial" pitchFamily="34" charset="-120"/>
                        </a:rPr>
                        <a:t>Negative</a:t>
                      </a:r>
                      <a:endParaRPr lang="en-US" sz="1000" dirty="0">
                        <a:latin typeface="Arial" charset="0"/>
                        <a:ea typeface="Arial" charset="0"/>
                        <a:cs typeface="Arial" charset="0"/>
                      </a:endParaRPr>
                    </a:p>
                  </a:txBody>
                  <a:tcPr marL="36576" marR="36576" marT="36576" marB="36576" anchor="ctr">
                    <a:lnL w="9525" cap="flat" cmpd="sng" algn="ctr">
                      <a:solidFill>
                        <a:srgbClr val="E7E9EE"/>
                      </a:solidFill>
                      <a:prstDash val="solid"/>
                      <a:round/>
                      <a:headEnd type="none" w="med" len="med"/>
                      <a:tailEnd type="none" w="med" len="med"/>
                    </a:lnL>
                    <a:lnR w="9525" cap="flat" cmpd="sng" algn="ctr">
                      <a:solidFill>
                        <a:srgbClr val="E7E9EE"/>
                      </a:solidFill>
                      <a:prstDash val="solid"/>
                      <a:round/>
                      <a:headEnd type="none" w="med" len="med"/>
                      <a:tailEnd type="none" w="med" len="med"/>
                    </a:lnR>
                    <a:lnT w="9525" cap="flat" cmpd="sng" algn="ctr">
                      <a:solidFill>
                        <a:srgbClr val="E7E9EE"/>
                      </a:solidFill>
                      <a:prstDash val="solid"/>
                      <a:round/>
                      <a:headEnd type="none" w="med" len="med"/>
                      <a:tailEnd type="none" w="med" len="med"/>
                    </a:lnT>
                    <a:lnB w="9525" cap="flat" cmpd="sng" algn="ctr">
                      <a:solidFill>
                        <a:srgbClr val="E7E9EE"/>
                      </a:solidFill>
                      <a:prstDash val="solid"/>
                      <a:round/>
                      <a:headEnd type="none" w="med" len="med"/>
                      <a:tailEnd type="none" w="med" len="med"/>
                    </a:lnB>
                  </a:tcPr>
                </a:tc>
              </a:tr>
            </a:tbl>
          </a:graphicData>
        </a:graphic>
      </p:graphicFrame>
      <p:sp>
        <p:nvSpPr>
          <p:cNvPr id="21" name="Text 17"/>
          <p:cNvSpPr/>
          <p:nvPr/>
        </p:nvSpPr>
        <p:spPr>
          <a:xfrm>
            <a:off x="640080" y="5870448"/>
            <a:ext cx="10881360" cy="41148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Without the addition, prose you can only read. With it, a table you can sort.</a:t>
            </a:r>
            <a:endParaRPr lang="en-US" sz="1500" dirty="0"/>
          </a:p>
        </p:txBody>
      </p:sp>
      <p:sp>
        <p:nvSpPr>
          <p:cNvPr id="22" name="Text 18"/>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2 OF 6 · NAME THE FORMAT</a:t>
            </a:r>
            <a:endParaRPr lang="en-US" sz="850" dirty="0"/>
          </a:p>
        </p:txBody>
      </p:sp>
      <p:sp>
        <p:nvSpPr>
          <p:cNvPr id="23" name="Shape 19"/>
          <p:cNvSpPr/>
          <p:nvPr/>
        </p:nvSpPr>
        <p:spPr>
          <a:xfrm>
            <a:off x="6583680" y="6483096"/>
            <a:ext cx="118872" cy="118872"/>
          </a:xfrm>
          <a:prstGeom prst="ellipse">
            <a:avLst/>
          </a:prstGeom>
          <a:solidFill>
            <a:srgbClr val="D9DDE3"/>
          </a:solidFill>
          <a:ln/>
        </p:spPr>
      </p:sp>
      <p:sp>
        <p:nvSpPr>
          <p:cNvPr id="24" name="Shape 20"/>
          <p:cNvSpPr/>
          <p:nvPr/>
        </p:nvSpPr>
        <p:spPr>
          <a:xfrm>
            <a:off x="6771132" y="6451092"/>
            <a:ext cx="182880" cy="182880"/>
          </a:xfrm>
          <a:prstGeom prst="ellipse">
            <a:avLst/>
          </a:prstGeom>
          <a:ln w="9525">
            <a:solidFill>
              <a:srgbClr val="D31242"/>
            </a:solidFill>
            <a:prstDash val="solid"/>
          </a:ln>
        </p:spPr>
      </p:sp>
      <p:sp>
        <p:nvSpPr>
          <p:cNvPr id="25" name="Shape 21"/>
          <p:cNvSpPr/>
          <p:nvPr/>
        </p:nvSpPr>
        <p:spPr>
          <a:xfrm>
            <a:off x="6803136" y="6483096"/>
            <a:ext cx="118872" cy="118872"/>
          </a:xfrm>
          <a:prstGeom prst="ellipse">
            <a:avLst/>
          </a:prstGeom>
          <a:solidFill>
            <a:srgbClr val="D31242"/>
          </a:solidFill>
          <a:ln/>
        </p:spPr>
      </p:sp>
      <p:sp>
        <p:nvSpPr>
          <p:cNvPr id="26" name="Shape 22"/>
          <p:cNvSpPr/>
          <p:nvPr/>
        </p:nvSpPr>
        <p:spPr>
          <a:xfrm>
            <a:off x="7022592" y="6483096"/>
            <a:ext cx="118872" cy="118872"/>
          </a:xfrm>
          <a:prstGeom prst="ellipse">
            <a:avLst/>
          </a:prstGeom>
          <a:solidFill>
            <a:srgbClr val="D9DDE3"/>
          </a:solidFill>
          <a:ln/>
        </p:spPr>
      </p:sp>
      <p:sp>
        <p:nvSpPr>
          <p:cNvPr id="27" name="Shape 23"/>
          <p:cNvSpPr/>
          <p:nvPr/>
        </p:nvSpPr>
        <p:spPr>
          <a:xfrm>
            <a:off x="7370064" y="6483096"/>
            <a:ext cx="118872" cy="118872"/>
          </a:xfrm>
          <a:prstGeom prst="ellipse">
            <a:avLst/>
          </a:prstGeom>
          <a:solidFill>
            <a:srgbClr val="D9DDE3"/>
          </a:solidFill>
          <a:ln/>
        </p:spPr>
      </p:sp>
      <p:sp>
        <p:nvSpPr>
          <p:cNvPr id="28" name="Shape 24"/>
          <p:cNvSpPr/>
          <p:nvPr/>
        </p:nvSpPr>
        <p:spPr>
          <a:xfrm>
            <a:off x="7717536" y="6483096"/>
            <a:ext cx="118872" cy="118872"/>
          </a:xfrm>
          <a:prstGeom prst="ellipse">
            <a:avLst/>
          </a:prstGeom>
          <a:solidFill>
            <a:srgbClr val="D9DDE3"/>
          </a:solidFill>
          <a:ln/>
        </p:spPr>
      </p:sp>
      <p:sp>
        <p:nvSpPr>
          <p:cNvPr id="29" name="Shape 25"/>
          <p:cNvSpPr/>
          <p:nvPr/>
        </p:nvSpPr>
        <p:spPr>
          <a:xfrm>
            <a:off x="7936992" y="6483096"/>
            <a:ext cx="118872" cy="118872"/>
          </a:xfrm>
          <a:prstGeom prst="ellipse">
            <a:avLst/>
          </a:prstGeom>
          <a:solidFill>
            <a:srgbClr val="D9DDE3"/>
          </a:solidFill>
          <a:ln/>
        </p:spPr>
      </p:sp>
      <p:sp>
        <p:nvSpPr>
          <p:cNvPr id="30" name="Text 26"/>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NAME THE FORMAT · NOT ONLY TEXT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paragraph of policy becomes a flowchart</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GIVE THE AI CLEAR DIRECTION</a:t>
            </a:r>
            <a:endParaRPr lang="en-US" sz="900" dirty="0"/>
          </a:p>
        </p:txBody>
      </p:sp>
      <p:sp>
        <p:nvSpPr>
          <p:cNvPr id="7" name="Shape 4"/>
          <p:cNvSpPr/>
          <p:nvPr/>
        </p:nvSpPr>
        <p:spPr>
          <a:xfrm>
            <a:off x="640080" y="1874520"/>
            <a:ext cx="5074920" cy="3474720"/>
          </a:xfrm>
          <a:prstGeom prst="roundRect">
            <a:avLst>
              <a:gd name="adj" fmla="val 236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66544"/>
            <a:ext cx="4526280" cy="256032"/>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PROMPT</a:t>
            </a:r>
            <a:endParaRPr lang="en-US" sz="1100" dirty="0"/>
          </a:p>
        </p:txBody>
      </p:sp>
      <p:sp>
        <p:nvSpPr>
          <p:cNvPr id="9" name="Text 6"/>
          <p:cNvSpPr/>
          <p:nvPr/>
        </p:nvSpPr>
        <p:spPr>
          <a:xfrm>
            <a:off x="960120" y="2432304"/>
            <a:ext cx="4480560" cy="1600200"/>
          </a:xfrm>
          <a:prstGeom prst="rect">
            <a:avLst/>
          </a:prstGeom>
          <a:noFill/>
          <a:ln/>
        </p:spPr>
        <p:txBody>
          <a:bodyPr wrap="square" lIns="0" tIns="0" rIns="0" bIns="0" rtlCol="0" anchor="t"/>
          <a:lstStyle/>
          <a:p>
            <a:pPr indent="0" marL="0">
              <a:lnSpc>
                <a:spcPct val="118000"/>
              </a:lnSpc>
              <a:buNone/>
            </a:pPr>
            <a:r>
              <a:rPr lang="en-US" sz="1250" dirty="0">
                <a:solidFill>
                  <a:srgbClr val="1F2733"/>
                </a:solidFill>
                <a:latin typeface="Arial" pitchFamily="34" charset="0"/>
                <a:ea typeface="Arial" pitchFamily="34" charset="-122"/>
                <a:cs typeface="Arial" pitchFamily="34" charset="-120"/>
              </a:rPr>
              <a:t>Here is our overtime section:
</a:t>
            </a:r>
            <a:pPr indent="0" marL="0">
              <a:lnSpc>
                <a:spcPct val="118000"/>
              </a:lnSpc>
              <a:buNone/>
            </a:pPr>
            <a:r>
              <a:rPr lang="en-US" sz="1200" dirty="0">
                <a:solidFill>
                  <a:srgbClr val="1F2733"/>
                </a:solidFill>
                <a:latin typeface="Arial" pitchFamily="34" charset="0"/>
                <a:ea typeface="Arial" pitchFamily="34" charset="-122"/>
                <a:cs typeface="Arial" pitchFamily="34" charset="-120"/>
              </a:rPr>
              <a:t>“Club managers approve overtime for their own</a:t>
            </a:r>
            <a:endParaRPr lang="en-US" sz="1250" dirty="0"/>
          </a:p>
          <a:p>
            <a:pPr indent="0" marL="0">
              <a:lnSpc>
                <a:spcPct val="118000"/>
              </a:lnSpc>
              <a:buNone/>
            </a:pPr>
            <a:r>
              <a:rPr lang="en-US" sz="1200" dirty="0">
                <a:solidFill>
                  <a:srgbClr val="1F2733"/>
                </a:solidFill>
                <a:latin typeface="Arial" pitchFamily="34" charset="0"/>
                <a:ea typeface="Arial" pitchFamily="34" charset="-122"/>
                <a:cs typeface="Arial" pitchFamily="34" charset="-120"/>
              </a:rPr>
              <a:t>department up to eight hours per associate per</a:t>
            </a:r>
            <a:endParaRPr lang="en-US" sz="1250" dirty="0"/>
          </a:p>
          <a:p>
            <a:pPr indent="0" marL="0">
              <a:lnSpc>
                <a:spcPct val="118000"/>
              </a:lnSpc>
              <a:buNone/>
            </a:pPr>
            <a:r>
              <a:rPr lang="en-US" sz="1200" dirty="0">
                <a:solidFill>
                  <a:srgbClr val="1F2733"/>
                </a:solidFill>
                <a:latin typeface="Arial" pitchFamily="34" charset="0"/>
                <a:ea typeface="Arial" pitchFamily="34" charset="-122"/>
                <a:cs typeface="Arial" pitchFamily="34" charset="-120"/>
              </a:rPr>
              <a:t>week. Requests above that go to the regional</a:t>
            </a:r>
            <a:endParaRPr lang="en-US" sz="1250" dirty="0"/>
          </a:p>
          <a:p>
            <a:pPr indent="0" marL="0">
              <a:lnSpc>
                <a:spcPct val="118000"/>
              </a:lnSpc>
              <a:buNone/>
            </a:pPr>
            <a:r>
              <a:rPr lang="en-US" sz="1200" dirty="0">
                <a:solidFill>
                  <a:srgbClr val="1F2733"/>
                </a:solidFill>
                <a:latin typeface="Arial" pitchFamily="34" charset="0"/>
                <a:ea typeface="Arial" pitchFamily="34" charset="-122"/>
                <a:cs typeface="Arial" pitchFamily="34" charset="-120"/>
              </a:rPr>
              <a:t>director.”</a:t>
            </a:r>
            <a:endParaRPr lang="en-US" sz="1250" dirty="0"/>
          </a:p>
        </p:txBody>
      </p:sp>
      <p:sp>
        <p:nvSpPr>
          <p:cNvPr id="10" name="Shape 7"/>
          <p:cNvSpPr/>
          <p:nvPr/>
        </p:nvSpPr>
        <p:spPr>
          <a:xfrm>
            <a:off x="841248" y="4160520"/>
            <a:ext cx="4681728" cy="777240"/>
          </a:xfrm>
          <a:prstGeom prst="roundRect">
            <a:avLst>
              <a:gd name="adj" fmla="val 8235"/>
            </a:avLst>
          </a:prstGeom>
          <a:solidFill>
            <a:srgbClr val="DCFCE7"/>
          </a:solidFill>
          <a:ln/>
        </p:spPr>
      </p:sp>
      <p:sp>
        <p:nvSpPr>
          <p:cNvPr id="11" name="Text 8"/>
          <p:cNvSpPr/>
          <p:nvPr/>
        </p:nvSpPr>
        <p:spPr>
          <a:xfrm>
            <a:off x="960120" y="4224528"/>
            <a:ext cx="4480560" cy="685800"/>
          </a:xfrm>
          <a:prstGeom prst="rect">
            <a:avLst/>
          </a:prstGeom>
          <a:noFill/>
          <a:ln/>
        </p:spPr>
        <p:txBody>
          <a:bodyPr wrap="square" lIns="0" tIns="0" rIns="0" bIns="0" rtlCol="0" anchor="t"/>
          <a:lstStyle/>
          <a:p>
            <a:pPr indent="0" marL="0">
              <a:lnSpc>
                <a:spcPct val="115000"/>
              </a:lnSpc>
              <a:buNone/>
            </a:pPr>
            <a:r>
              <a:rPr lang="en-US" sz="950" b="1" spc="150" kern="0" dirty="0">
                <a:solidFill>
                  <a:srgbClr val="15803D"/>
                </a:solidFill>
                <a:latin typeface="Arial" pitchFamily="34" charset="0"/>
                <a:ea typeface="Arial" pitchFamily="34" charset="-122"/>
                <a:cs typeface="Arial" pitchFamily="34" charset="-120"/>
              </a:rPr>
              <a:t>WHAT YOU ADD
</a:t>
            </a:r>
            <a:pPr indent="0" marL="0">
              <a:lnSpc>
                <a:spcPct val="115000"/>
              </a:lnSpc>
              <a:buNone/>
            </a:pPr>
            <a:r>
              <a:rPr lang="en-US" sz="1200" dirty="0">
                <a:solidFill>
                  <a:srgbClr val="1F2733"/>
                </a:solidFill>
                <a:latin typeface="Arial" pitchFamily="34" charset="0"/>
                <a:ea typeface="Arial" pitchFamily="34" charset="-122"/>
                <a:cs typeface="Arial" pitchFamily="34" charset="-120"/>
              </a:rPr>
              <a:t>Draw this as a flowchart a new club manager</a:t>
            </a:r>
            <a:endParaRPr lang="en-US" sz="950" dirty="0"/>
          </a:p>
          <a:p>
            <a:pPr indent="0" marL="0">
              <a:lnSpc>
                <a:spcPct val="115000"/>
              </a:lnSpc>
              <a:buNone/>
            </a:pPr>
            <a:r>
              <a:rPr lang="en-US" sz="1200" dirty="0">
                <a:solidFill>
                  <a:srgbClr val="1F2733"/>
                </a:solidFill>
                <a:latin typeface="Arial" pitchFamily="34" charset="0"/>
                <a:ea typeface="Arial" pitchFamily="34" charset="-122"/>
                <a:cs typeface="Arial" pitchFamily="34" charset="-120"/>
              </a:rPr>
              <a:t>could follow.</a:t>
            </a:r>
            <a:endParaRPr lang="en-US" sz="950" dirty="0"/>
          </a:p>
        </p:txBody>
      </p:sp>
      <p:sp>
        <p:nvSpPr>
          <p:cNvPr id="12" name="Shape 9"/>
          <p:cNvSpPr/>
          <p:nvPr/>
        </p:nvSpPr>
        <p:spPr>
          <a:xfrm>
            <a:off x="5824728" y="3383280"/>
            <a:ext cx="420624" cy="420624"/>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13" name="Text 10"/>
          <p:cNvSpPr/>
          <p:nvPr/>
        </p:nvSpPr>
        <p:spPr>
          <a:xfrm>
            <a:off x="5824728" y="33832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4" name="Shape 11"/>
          <p:cNvSpPr/>
          <p:nvPr/>
        </p:nvSpPr>
        <p:spPr>
          <a:xfrm>
            <a:off x="6355080" y="1874520"/>
            <a:ext cx="5166360" cy="3474720"/>
          </a:xfrm>
          <a:prstGeom prst="roundRect">
            <a:avLst>
              <a:gd name="adj" fmla="val 2368"/>
            </a:avLst>
          </a:prstGeom>
          <a:solidFill>
            <a:srgbClr val="DCFCE7"/>
          </a:solidFill>
          <a:ln/>
          <a:effectLst>
            <a:outerShdw sx="100000" sy="100000" kx="0" ky="0" algn="bl" rotWithShape="0" blurRad="88900" dist="38100" dir="5400000">
              <a:srgbClr val="1F2733">
                <a:alpha val="10000"/>
              </a:srgbClr>
            </a:outerShdw>
          </a:effectLst>
        </p:spPr>
      </p:sp>
      <p:sp>
        <p:nvSpPr>
          <p:cNvPr id="15" name="Text 12"/>
          <p:cNvSpPr/>
          <p:nvPr/>
        </p:nvSpPr>
        <p:spPr>
          <a:xfrm>
            <a:off x="6629400" y="2066544"/>
            <a:ext cx="4617720" cy="256032"/>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RESPONSE</a:t>
            </a:r>
            <a:endParaRPr lang="en-US" sz="1100" dirty="0"/>
          </a:p>
        </p:txBody>
      </p:sp>
      <p:sp>
        <p:nvSpPr>
          <p:cNvPr id="16" name="Shape 13"/>
          <p:cNvSpPr/>
          <p:nvPr/>
        </p:nvSpPr>
        <p:spPr>
          <a:xfrm>
            <a:off x="8092440" y="2395728"/>
            <a:ext cx="1737360" cy="438912"/>
          </a:xfrm>
          <a:prstGeom prst="roundRect">
            <a:avLst>
              <a:gd name="adj" fmla="val 16667"/>
            </a:avLst>
          </a:prstGeom>
          <a:solidFill>
            <a:srgbClr val="FFFFFF"/>
          </a:solidFill>
          <a:ln w="12700">
            <a:solidFill>
              <a:srgbClr val="15803D"/>
            </a:solidFill>
            <a:prstDash val="solid"/>
          </a:ln>
          <a:effectLst>
            <a:outerShdw sx="100000" sy="100000" kx="0" ky="0" algn="bl" rotWithShape="0" blurRad="76200" dist="25400" dir="5400000">
              <a:srgbClr val="1F2733">
                <a:alpha val="12000"/>
              </a:srgbClr>
            </a:outerShdw>
          </a:effectLst>
        </p:spPr>
      </p:sp>
      <p:sp>
        <p:nvSpPr>
          <p:cNvPr id="17" name="Text 14"/>
          <p:cNvSpPr/>
          <p:nvPr/>
        </p:nvSpPr>
        <p:spPr>
          <a:xfrm>
            <a:off x="8092440" y="2395728"/>
            <a:ext cx="1737360" cy="438912"/>
          </a:xfrm>
          <a:prstGeom prst="rect">
            <a:avLst/>
          </a:prstGeom>
          <a:noFill/>
          <a:ln/>
        </p:spPr>
        <p:txBody>
          <a:bodyPr wrap="square" lIns="0" tIns="0" rIns="0" bIns="0" rtlCol="0" anchor="ctr"/>
          <a:lstStyle/>
          <a:p>
            <a:pPr algn="ctr" indent="0" marL="0">
              <a:buNone/>
            </a:pPr>
            <a:r>
              <a:rPr lang="en-US" sz="1050" dirty="0">
                <a:solidFill>
                  <a:srgbClr val="1F2733"/>
                </a:solidFill>
                <a:latin typeface="Arial" pitchFamily="34" charset="0"/>
                <a:ea typeface="Arial" pitchFamily="34" charset="-122"/>
                <a:cs typeface="Arial" pitchFamily="34" charset="-120"/>
              </a:rPr>
              <a:t>Overtime request</a:t>
            </a:r>
            <a:endParaRPr lang="en-US" sz="1050" dirty="0"/>
          </a:p>
        </p:txBody>
      </p:sp>
      <p:sp>
        <p:nvSpPr>
          <p:cNvPr id="18" name="Shape 15"/>
          <p:cNvSpPr/>
          <p:nvPr/>
        </p:nvSpPr>
        <p:spPr>
          <a:xfrm>
            <a:off x="8961120" y="2834640"/>
            <a:ext cx="0" cy="201168"/>
          </a:xfrm>
          <a:prstGeom prst="line">
            <a:avLst/>
          </a:prstGeom>
          <a:noFill/>
          <a:ln w="15875">
            <a:solidFill>
              <a:srgbClr val="1F2733"/>
            </a:solidFill>
            <a:prstDash val="solid"/>
            <a:tailEnd type="triangle"/>
          </a:ln>
        </p:spPr>
      </p:sp>
      <p:sp>
        <p:nvSpPr>
          <p:cNvPr id="19" name="Shape 16"/>
          <p:cNvSpPr/>
          <p:nvPr/>
        </p:nvSpPr>
        <p:spPr>
          <a:xfrm>
            <a:off x="8183880" y="3035808"/>
            <a:ext cx="1554480" cy="868680"/>
          </a:xfrm>
          <a:prstGeom prst="diamond">
            <a:avLst/>
          </a:prstGeom>
          <a:solidFill>
            <a:srgbClr val="FFFFFF"/>
          </a:solidFill>
          <a:ln w="12700">
            <a:solidFill>
              <a:srgbClr val="15803D"/>
            </a:solidFill>
            <a:prstDash val="solid"/>
          </a:ln>
          <a:effectLst>
            <a:outerShdw sx="100000" sy="100000" kx="0" ky="0" algn="bl" rotWithShape="0" blurRad="76200" dist="25400" dir="5400000">
              <a:srgbClr val="1F2733">
                <a:alpha val="12000"/>
              </a:srgbClr>
            </a:outerShdw>
          </a:effectLst>
        </p:spPr>
      </p:sp>
      <p:sp>
        <p:nvSpPr>
          <p:cNvPr id="20" name="Text 17"/>
          <p:cNvSpPr/>
          <p:nvPr/>
        </p:nvSpPr>
        <p:spPr>
          <a:xfrm>
            <a:off x="8183880" y="3035808"/>
            <a:ext cx="1554480" cy="868680"/>
          </a:xfrm>
          <a:prstGeom prst="rect">
            <a:avLst/>
          </a:prstGeom>
          <a:noFill/>
          <a:ln/>
        </p:spPr>
        <p:txBody>
          <a:bodyPr wrap="square" lIns="0" tIns="0" rIns="0" bIns="0" rtlCol="0" anchor="ctr"/>
          <a:lstStyle/>
          <a:p>
            <a:pPr algn="ctr" indent="0" marL="0">
              <a:lnSpc>
                <a:spcPct val="100000"/>
              </a:lnSpc>
              <a:buNone/>
            </a:pPr>
            <a:r>
              <a:rPr lang="en-US" sz="950" dirty="0">
                <a:solidFill>
                  <a:srgbClr val="1F2733"/>
                </a:solidFill>
                <a:latin typeface="Arial" pitchFamily="34" charset="0"/>
                <a:ea typeface="Arial" pitchFamily="34" charset="-122"/>
                <a:cs typeface="Arial" pitchFamily="34" charset="-120"/>
              </a:rPr>
              <a:t>More than</a:t>
            </a:r>
            <a:endParaRPr lang="en-US" sz="950" dirty="0"/>
          </a:p>
          <a:p>
            <a:pPr algn="ctr" indent="0" marL="0">
              <a:lnSpc>
                <a:spcPct val="100000"/>
              </a:lnSpc>
              <a:buNone/>
            </a:pPr>
            <a:r>
              <a:rPr lang="en-US" sz="950" dirty="0">
                <a:solidFill>
                  <a:srgbClr val="1F2733"/>
                </a:solidFill>
                <a:latin typeface="Arial" pitchFamily="34" charset="0"/>
                <a:ea typeface="Arial" pitchFamily="34" charset="-122"/>
                <a:cs typeface="Arial" pitchFamily="34" charset="-120"/>
              </a:rPr>
              <a:t>8 hrs / week?</a:t>
            </a:r>
            <a:endParaRPr lang="en-US" sz="950" dirty="0"/>
          </a:p>
        </p:txBody>
      </p:sp>
      <p:sp>
        <p:nvSpPr>
          <p:cNvPr id="21" name="Shape 18"/>
          <p:cNvSpPr/>
          <p:nvPr/>
        </p:nvSpPr>
        <p:spPr>
          <a:xfrm flipH="1">
            <a:off x="7726680" y="3767328"/>
            <a:ext cx="868680" cy="384048"/>
          </a:xfrm>
          <a:prstGeom prst="line">
            <a:avLst/>
          </a:prstGeom>
          <a:noFill/>
          <a:ln w="15875">
            <a:solidFill>
              <a:srgbClr val="1F2733"/>
            </a:solidFill>
            <a:prstDash val="solid"/>
            <a:tailEnd type="triangle"/>
          </a:ln>
        </p:spPr>
      </p:sp>
      <p:sp>
        <p:nvSpPr>
          <p:cNvPr id="22" name="Shape 19"/>
          <p:cNvSpPr/>
          <p:nvPr/>
        </p:nvSpPr>
        <p:spPr>
          <a:xfrm>
            <a:off x="9326880" y="3767328"/>
            <a:ext cx="777240" cy="384048"/>
          </a:xfrm>
          <a:prstGeom prst="line">
            <a:avLst/>
          </a:prstGeom>
          <a:noFill/>
          <a:ln w="15875">
            <a:solidFill>
              <a:srgbClr val="1F2733"/>
            </a:solidFill>
            <a:prstDash val="solid"/>
            <a:tailEnd type="triangle"/>
          </a:ln>
        </p:spPr>
      </p:sp>
      <p:sp>
        <p:nvSpPr>
          <p:cNvPr id="23" name="Shape 20"/>
          <p:cNvSpPr/>
          <p:nvPr/>
        </p:nvSpPr>
        <p:spPr>
          <a:xfrm>
            <a:off x="6675120" y="4187952"/>
            <a:ext cx="2057400" cy="658368"/>
          </a:xfrm>
          <a:prstGeom prst="roundRect">
            <a:avLst>
              <a:gd name="adj" fmla="val 11111"/>
            </a:avLst>
          </a:prstGeom>
          <a:solidFill>
            <a:srgbClr val="FFFFFF"/>
          </a:solidFill>
          <a:ln w="12700">
            <a:solidFill>
              <a:srgbClr val="15803D"/>
            </a:solidFill>
            <a:prstDash val="solid"/>
          </a:ln>
          <a:effectLst>
            <a:outerShdw sx="100000" sy="100000" kx="0" ky="0" algn="bl" rotWithShape="0" blurRad="76200" dist="25400" dir="5400000">
              <a:srgbClr val="1F2733">
                <a:alpha val="12000"/>
              </a:srgbClr>
            </a:outerShdw>
          </a:effectLst>
        </p:spPr>
      </p:sp>
      <p:sp>
        <p:nvSpPr>
          <p:cNvPr id="24" name="Text 21"/>
          <p:cNvSpPr/>
          <p:nvPr/>
        </p:nvSpPr>
        <p:spPr>
          <a:xfrm>
            <a:off x="6675120" y="4187952"/>
            <a:ext cx="2057400" cy="658368"/>
          </a:xfrm>
          <a:prstGeom prst="rect">
            <a:avLst/>
          </a:prstGeom>
          <a:noFill/>
          <a:ln/>
        </p:spPr>
        <p:txBody>
          <a:bodyPr wrap="square" lIns="0" tIns="0" rIns="0" bIns="0" rtlCol="0" anchor="ctr"/>
          <a:lstStyle/>
          <a:p>
            <a:pPr algn="ctr" indent="0" marL="0">
              <a:lnSpc>
                <a:spcPct val="105000"/>
              </a:lnSpc>
              <a:buNone/>
            </a:pPr>
            <a:r>
              <a:rPr lang="en-US" sz="1000" dirty="0">
                <a:solidFill>
                  <a:srgbClr val="1F2733"/>
                </a:solidFill>
                <a:latin typeface="Arial" pitchFamily="34" charset="0"/>
                <a:ea typeface="Arial" pitchFamily="34" charset="-122"/>
                <a:cs typeface="Arial" pitchFamily="34" charset="-120"/>
              </a:rPr>
              <a:t>No: club manager</a:t>
            </a:r>
            <a:endParaRPr lang="en-US" sz="1000" dirty="0"/>
          </a:p>
          <a:p>
            <a:pPr algn="ctr" indent="0" marL="0">
              <a:lnSpc>
                <a:spcPct val="105000"/>
              </a:lnSpc>
              <a:buNone/>
            </a:pPr>
            <a:r>
              <a:rPr lang="en-US" sz="1000" dirty="0">
                <a:solidFill>
                  <a:srgbClr val="1F2733"/>
                </a:solidFill>
                <a:latin typeface="Arial" pitchFamily="34" charset="0"/>
                <a:ea typeface="Arial" pitchFamily="34" charset="-122"/>
                <a:cs typeface="Arial" pitchFamily="34" charset="-120"/>
              </a:rPr>
              <a:t>approves</a:t>
            </a:r>
            <a:endParaRPr lang="en-US" sz="1000" dirty="0"/>
          </a:p>
        </p:txBody>
      </p:sp>
      <p:sp>
        <p:nvSpPr>
          <p:cNvPr id="25" name="Shape 22"/>
          <p:cNvSpPr/>
          <p:nvPr/>
        </p:nvSpPr>
        <p:spPr>
          <a:xfrm>
            <a:off x="9372600" y="4187952"/>
            <a:ext cx="1965960" cy="658368"/>
          </a:xfrm>
          <a:prstGeom prst="roundRect">
            <a:avLst>
              <a:gd name="adj" fmla="val 11111"/>
            </a:avLst>
          </a:prstGeom>
          <a:solidFill>
            <a:srgbClr val="FFFFFF"/>
          </a:solidFill>
          <a:ln w="12700">
            <a:solidFill>
              <a:srgbClr val="15803D"/>
            </a:solidFill>
            <a:prstDash val="solid"/>
          </a:ln>
          <a:effectLst>
            <a:outerShdw sx="100000" sy="100000" kx="0" ky="0" algn="bl" rotWithShape="0" blurRad="76200" dist="25400" dir="5400000">
              <a:srgbClr val="1F2733">
                <a:alpha val="12000"/>
              </a:srgbClr>
            </a:outerShdw>
          </a:effectLst>
        </p:spPr>
      </p:sp>
      <p:sp>
        <p:nvSpPr>
          <p:cNvPr id="26" name="Text 23"/>
          <p:cNvSpPr/>
          <p:nvPr/>
        </p:nvSpPr>
        <p:spPr>
          <a:xfrm>
            <a:off x="9372600" y="4187952"/>
            <a:ext cx="1965960" cy="658368"/>
          </a:xfrm>
          <a:prstGeom prst="rect">
            <a:avLst/>
          </a:prstGeom>
          <a:noFill/>
          <a:ln/>
        </p:spPr>
        <p:txBody>
          <a:bodyPr wrap="square" lIns="0" tIns="0" rIns="0" bIns="0" rtlCol="0" anchor="ctr"/>
          <a:lstStyle/>
          <a:p>
            <a:pPr algn="ctr" indent="0" marL="0">
              <a:lnSpc>
                <a:spcPct val="105000"/>
              </a:lnSpc>
              <a:buNone/>
            </a:pPr>
            <a:r>
              <a:rPr lang="en-US" sz="1000" dirty="0">
                <a:solidFill>
                  <a:srgbClr val="1F2733"/>
                </a:solidFill>
                <a:latin typeface="Arial" pitchFamily="34" charset="0"/>
                <a:ea typeface="Arial" pitchFamily="34" charset="-122"/>
                <a:cs typeface="Arial" pitchFamily="34" charset="-120"/>
              </a:rPr>
              <a:t>Yes: regional</a:t>
            </a:r>
            <a:endParaRPr lang="en-US" sz="1000" dirty="0"/>
          </a:p>
          <a:p>
            <a:pPr algn="ctr" indent="0" marL="0">
              <a:lnSpc>
                <a:spcPct val="105000"/>
              </a:lnSpc>
              <a:buNone/>
            </a:pPr>
            <a:r>
              <a:rPr lang="en-US" sz="1000" dirty="0">
                <a:solidFill>
                  <a:srgbClr val="1F2733"/>
                </a:solidFill>
                <a:latin typeface="Arial" pitchFamily="34" charset="0"/>
                <a:ea typeface="Arial" pitchFamily="34" charset="-122"/>
                <a:cs typeface="Arial" pitchFamily="34" charset="-120"/>
              </a:rPr>
              <a:t>director approves</a:t>
            </a:r>
            <a:endParaRPr lang="en-US" sz="1000" dirty="0"/>
          </a:p>
        </p:txBody>
      </p:sp>
      <p:sp>
        <p:nvSpPr>
          <p:cNvPr id="27" name="Text 24"/>
          <p:cNvSpPr/>
          <p:nvPr/>
        </p:nvSpPr>
        <p:spPr>
          <a:xfrm>
            <a:off x="640080" y="5852160"/>
            <a:ext cx="10881360" cy="411480"/>
          </a:xfrm>
          <a:prstGeom prst="rect">
            <a:avLst/>
          </a:prstGeom>
          <a:noFill/>
          <a:ln/>
        </p:spPr>
        <p:txBody>
          <a:bodyPr wrap="square" lIns="0" tIns="0" rIns="0" bIns="0" rtlCol="0" anchor="ctr"/>
          <a:lstStyle/>
          <a:p>
            <a:pPr indent="0" marL="0">
              <a:buNone/>
            </a:pPr>
            <a:r>
              <a:rPr lang="en-US" sz="1600" b="1" dirty="0">
                <a:solidFill>
                  <a:srgbClr val="D31242"/>
                </a:solidFill>
                <a:latin typeface="Arial" pitchFamily="34" charset="0"/>
                <a:ea typeface="Arial" pitchFamily="34" charset="-122"/>
                <a:cs typeface="Arial" pitchFamily="34" charset="-120"/>
              </a:rPr>
              <a:t>The same technique. You named the format, and the format happened to be a diagram.</a:t>
            </a:r>
            <a:endParaRPr lang="en-US" sz="1600" dirty="0"/>
          </a:p>
        </p:txBody>
      </p:sp>
      <p:sp>
        <p:nvSpPr>
          <p:cNvPr id="28" name="Text 25"/>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2 OF 6 · NAME THE FORMAT</a:t>
            </a:r>
            <a:endParaRPr lang="en-US" sz="850" dirty="0"/>
          </a:p>
        </p:txBody>
      </p:sp>
      <p:sp>
        <p:nvSpPr>
          <p:cNvPr id="29" name="Shape 26"/>
          <p:cNvSpPr/>
          <p:nvPr/>
        </p:nvSpPr>
        <p:spPr>
          <a:xfrm>
            <a:off x="6583680" y="6483096"/>
            <a:ext cx="118872" cy="118872"/>
          </a:xfrm>
          <a:prstGeom prst="ellipse">
            <a:avLst/>
          </a:prstGeom>
          <a:solidFill>
            <a:srgbClr val="D9DDE3"/>
          </a:solidFill>
          <a:ln/>
        </p:spPr>
      </p:sp>
      <p:sp>
        <p:nvSpPr>
          <p:cNvPr id="30" name="Shape 27"/>
          <p:cNvSpPr/>
          <p:nvPr/>
        </p:nvSpPr>
        <p:spPr>
          <a:xfrm>
            <a:off x="6771132" y="6451092"/>
            <a:ext cx="182880" cy="182880"/>
          </a:xfrm>
          <a:prstGeom prst="ellipse">
            <a:avLst/>
          </a:prstGeom>
          <a:ln w="9525">
            <a:solidFill>
              <a:srgbClr val="D31242"/>
            </a:solidFill>
            <a:prstDash val="solid"/>
          </a:ln>
        </p:spPr>
      </p:sp>
      <p:sp>
        <p:nvSpPr>
          <p:cNvPr id="31" name="Shape 28"/>
          <p:cNvSpPr/>
          <p:nvPr/>
        </p:nvSpPr>
        <p:spPr>
          <a:xfrm>
            <a:off x="6803136" y="6483096"/>
            <a:ext cx="118872" cy="118872"/>
          </a:xfrm>
          <a:prstGeom prst="ellipse">
            <a:avLst/>
          </a:prstGeom>
          <a:solidFill>
            <a:srgbClr val="D31242"/>
          </a:solidFill>
          <a:ln/>
        </p:spPr>
      </p:sp>
      <p:sp>
        <p:nvSpPr>
          <p:cNvPr id="32" name="Shape 29"/>
          <p:cNvSpPr/>
          <p:nvPr/>
        </p:nvSpPr>
        <p:spPr>
          <a:xfrm>
            <a:off x="7022592" y="6483096"/>
            <a:ext cx="118872" cy="118872"/>
          </a:xfrm>
          <a:prstGeom prst="ellipse">
            <a:avLst/>
          </a:prstGeom>
          <a:solidFill>
            <a:srgbClr val="D9DDE3"/>
          </a:solidFill>
          <a:ln/>
        </p:spPr>
      </p:sp>
      <p:sp>
        <p:nvSpPr>
          <p:cNvPr id="33" name="Shape 30"/>
          <p:cNvSpPr/>
          <p:nvPr/>
        </p:nvSpPr>
        <p:spPr>
          <a:xfrm>
            <a:off x="7370064" y="6483096"/>
            <a:ext cx="118872" cy="118872"/>
          </a:xfrm>
          <a:prstGeom prst="ellipse">
            <a:avLst/>
          </a:prstGeom>
          <a:solidFill>
            <a:srgbClr val="D9DDE3"/>
          </a:solidFill>
          <a:ln/>
        </p:spPr>
      </p:sp>
      <p:sp>
        <p:nvSpPr>
          <p:cNvPr id="34" name="Shape 31"/>
          <p:cNvSpPr/>
          <p:nvPr/>
        </p:nvSpPr>
        <p:spPr>
          <a:xfrm>
            <a:off x="7717536" y="6483096"/>
            <a:ext cx="118872" cy="118872"/>
          </a:xfrm>
          <a:prstGeom prst="ellipse">
            <a:avLst/>
          </a:prstGeom>
          <a:solidFill>
            <a:srgbClr val="D9DDE3"/>
          </a:solidFill>
          <a:ln/>
        </p:spPr>
      </p:sp>
      <p:sp>
        <p:nvSpPr>
          <p:cNvPr id="35" name="Shape 32"/>
          <p:cNvSpPr/>
          <p:nvPr/>
        </p:nvSpPr>
        <p:spPr>
          <a:xfrm>
            <a:off x="7936992" y="6483096"/>
            <a:ext cx="118872" cy="118872"/>
          </a:xfrm>
          <a:prstGeom prst="ellipse">
            <a:avLst/>
          </a:prstGeom>
          <a:solidFill>
            <a:srgbClr val="D9DDE3"/>
          </a:solidFill>
          <a:ln/>
        </p:spPr>
      </p:sp>
      <p:sp>
        <p:nvSpPr>
          <p:cNvPr id="36" name="Text 33"/>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NAME THE FORMAT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Your turn</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GIVE THE AI CLEAR DIRECTION</a:t>
            </a:r>
            <a:endParaRPr lang="en-US" sz="900" dirty="0"/>
          </a:p>
        </p:txBody>
      </p:sp>
      <p:sp>
        <p:nvSpPr>
          <p:cNvPr id="7" name="Shape 4"/>
          <p:cNvSpPr/>
          <p:nvPr/>
        </p:nvSpPr>
        <p:spPr>
          <a:xfrm>
            <a:off x="640080" y="1874520"/>
            <a:ext cx="5074920" cy="3566160"/>
          </a:xfrm>
          <a:prstGeom prst="roundRect">
            <a:avLst>
              <a:gd name="adj" fmla="val 230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84832"/>
            <a:ext cx="4526280" cy="256032"/>
          </a:xfrm>
          <a:prstGeom prst="rect">
            <a:avLst/>
          </a:prstGeom>
          <a:noFill/>
          <a:ln/>
        </p:spPr>
        <p:txBody>
          <a:bodyPr wrap="square" lIns="0" tIns="0" rIns="0" bIns="0" rtlCol="0" anchor="ctr"/>
          <a:lstStyle/>
          <a:p>
            <a:pPr indent="0" marL="0">
              <a:buNone/>
            </a:pPr>
            <a:r>
              <a:rPr lang="en-US" sz="1050" b="1" spc="150" kern="0" dirty="0">
                <a:solidFill>
                  <a:srgbClr val="5E6A78"/>
                </a:solidFill>
                <a:latin typeface="Arial" pitchFamily="34" charset="0"/>
                <a:ea typeface="Arial" pitchFamily="34" charset="-122"/>
                <a:cs typeface="Arial" pitchFamily="34" charset="-120"/>
              </a:rPr>
              <a:t>SIX CLUB COMMENTS</a:t>
            </a:r>
            <a:endParaRPr lang="en-US" sz="1050" dirty="0"/>
          </a:p>
        </p:txBody>
      </p:sp>
      <p:sp>
        <p:nvSpPr>
          <p:cNvPr id="9" name="Text 6"/>
          <p:cNvSpPr/>
          <p:nvPr/>
        </p:nvSpPr>
        <p:spPr>
          <a:xfrm>
            <a:off x="914400" y="2450592"/>
            <a:ext cx="4526280" cy="2880360"/>
          </a:xfrm>
          <a:prstGeom prst="rect">
            <a:avLst/>
          </a:prstGeom>
          <a:noFill/>
          <a:ln/>
        </p:spPr>
        <p:txBody>
          <a:bodyPr wrap="square" lIns="0" tIns="0" rIns="0" bIns="0" rtlCol="0" anchor="t"/>
          <a:lstStyle/>
          <a:p>
            <a:pPr indent="0" marL="0">
              <a:lnSpc>
                <a:spcPct val="122000"/>
              </a:lnSpc>
              <a:buNone/>
            </a:pPr>
            <a:r>
              <a:rPr lang="en-US" sz="1200" dirty="0">
                <a:solidFill>
                  <a:srgbClr val="1F2733"/>
                </a:solidFill>
                <a:latin typeface="Arial" pitchFamily="34" charset="0"/>
                <a:ea typeface="Arial" pitchFamily="34" charset="-122"/>
                <a:cs typeface="Arial" pitchFamily="34" charset="-120"/>
              </a:rPr>
              <a:t>“tire bay wait was over an hour Saturday”</a:t>
            </a:r>
            <a:endParaRPr lang="en-US" sz="1200" dirty="0"/>
          </a:p>
          <a:p>
            <a:pPr indent="0" marL="0">
              <a:lnSpc>
                <a:spcPct val="122000"/>
              </a:lnSpc>
              <a:buNone/>
            </a:pP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“new bakery layout is easier to shop”</a:t>
            </a:r>
            <a:endParaRPr lang="en-US" sz="1200" dirty="0"/>
          </a:p>
          <a:p>
            <a:pPr indent="0" marL="0">
              <a:lnSpc>
                <a:spcPct val="122000"/>
              </a:lnSpc>
              <a:buNone/>
            </a:pP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“gas pumps 3 and 4 were out again”</a:t>
            </a:r>
            <a:endParaRPr lang="en-US" sz="1200" dirty="0"/>
          </a:p>
          <a:p>
            <a:pPr indent="0" marL="0">
              <a:lnSpc>
                <a:spcPct val="122000"/>
              </a:lnSpc>
              <a:buNone/>
            </a:pP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“staff at the exit door were very helpful”</a:t>
            </a:r>
            <a:endParaRPr lang="en-US" sz="1200" dirty="0"/>
          </a:p>
          <a:p>
            <a:pPr indent="0" marL="0">
              <a:lnSpc>
                <a:spcPct val="122000"/>
              </a:lnSpc>
              <a:buNone/>
            </a:pP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“produce shelves empty Sunday morning”</a:t>
            </a:r>
            <a:endParaRPr lang="en-US" sz="1200" dirty="0"/>
          </a:p>
          <a:p>
            <a:pPr indent="0" marL="0">
              <a:lnSpc>
                <a:spcPct val="122000"/>
              </a:lnSpc>
              <a:buNone/>
            </a:pP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“self-checkout froze twice on my visit”</a:t>
            </a:r>
            <a:endParaRPr lang="en-US" sz="1200" dirty="0"/>
          </a:p>
        </p:txBody>
      </p:sp>
      <p:sp>
        <p:nvSpPr>
          <p:cNvPr id="10" name="Text 7"/>
          <p:cNvSpPr/>
          <p:nvPr/>
        </p:nvSpPr>
        <p:spPr>
          <a:xfrm>
            <a:off x="640080" y="5532120"/>
            <a:ext cx="5074920" cy="274320"/>
          </a:xfrm>
          <a:prstGeom prst="rect">
            <a:avLst/>
          </a:prstGeom>
          <a:noFill/>
          <a:ln/>
        </p:spPr>
        <p:txBody>
          <a:bodyPr wrap="square" lIns="0" tIns="0" rIns="0" bIns="0" rtlCol="0" anchor="ctr"/>
          <a:lstStyle/>
          <a:p>
            <a:pPr indent="0" marL="0">
              <a:buNone/>
            </a:pPr>
            <a:r>
              <a:rPr lang="en-US" sz="1100" dirty="0">
                <a:solidFill>
                  <a:srgbClr val="5E6A78"/>
                </a:solidFill>
                <a:latin typeface="Arial" pitchFamily="34" charset="0"/>
                <a:ea typeface="Arial" pitchFamily="34" charset="-122"/>
                <a:cs typeface="Arial" pitchFamily="34" charset="-120"/>
              </a:rPr>
              <a:t>Also posted in the chat, ready to copy.</a:t>
            </a:r>
            <a:endParaRPr lang="en-US" sz="1100" dirty="0"/>
          </a:p>
        </p:txBody>
      </p:sp>
      <p:sp>
        <p:nvSpPr>
          <p:cNvPr id="11" name="Text 8"/>
          <p:cNvSpPr/>
          <p:nvPr/>
        </p:nvSpPr>
        <p:spPr>
          <a:xfrm>
            <a:off x="6355080" y="2084832"/>
            <a:ext cx="4617720" cy="256032"/>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TO DO</a:t>
            </a:r>
            <a:endParaRPr lang="en-US" sz="1050" dirty="0"/>
          </a:p>
        </p:txBody>
      </p:sp>
      <p:sp>
        <p:nvSpPr>
          <p:cNvPr id="12" name="Shape 9"/>
          <p:cNvSpPr/>
          <p:nvPr/>
        </p:nvSpPr>
        <p:spPr>
          <a:xfrm>
            <a:off x="6355080" y="2450592"/>
            <a:ext cx="384048" cy="384048"/>
          </a:xfrm>
          <a:prstGeom prst="ellipse">
            <a:avLst/>
          </a:prstGeom>
          <a:solidFill>
            <a:srgbClr val="D31242"/>
          </a:solidFill>
          <a:ln/>
        </p:spPr>
      </p:sp>
      <p:sp>
        <p:nvSpPr>
          <p:cNvPr id="13" name="Text 10"/>
          <p:cNvSpPr/>
          <p:nvPr/>
        </p:nvSpPr>
        <p:spPr>
          <a:xfrm>
            <a:off x="6355080" y="24505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4" name="Text 11"/>
          <p:cNvSpPr/>
          <p:nvPr/>
        </p:nvSpPr>
        <p:spPr>
          <a:xfrm>
            <a:off x="6903720" y="243230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Paste the six comments into Claude or ChatGPT.</a:t>
            </a:r>
            <a:endParaRPr lang="en-US" sz="1350" dirty="0"/>
          </a:p>
        </p:txBody>
      </p:sp>
      <p:sp>
        <p:nvSpPr>
          <p:cNvPr id="15" name="Shape 12"/>
          <p:cNvSpPr/>
          <p:nvPr/>
        </p:nvSpPr>
        <p:spPr>
          <a:xfrm>
            <a:off x="6355080" y="3319272"/>
            <a:ext cx="384048" cy="384048"/>
          </a:xfrm>
          <a:prstGeom prst="ellipse">
            <a:avLst/>
          </a:prstGeom>
          <a:solidFill>
            <a:srgbClr val="D31242"/>
          </a:solidFill>
          <a:ln/>
        </p:spPr>
      </p:sp>
      <p:sp>
        <p:nvSpPr>
          <p:cNvPr id="16" name="Text 13"/>
          <p:cNvSpPr/>
          <p:nvPr/>
        </p:nvSpPr>
        <p:spPr>
          <a:xfrm>
            <a:off x="6355080" y="3319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7" name="Text 14"/>
          <p:cNvSpPr/>
          <p:nvPr/>
        </p:nvSpPr>
        <p:spPr>
          <a:xfrm>
            <a:off x="6903720" y="330098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Ask for a table. Name at least three columns yourself, and say what each one holds.</a:t>
            </a:r>
            <a:endParaRPr lang="en-US" sz="1350" dirty="0"/>
          </a:p>
        </p:txBody>
      </p:sp>
      <p:sp>
        <p:nvSpPr>
          <p:cNvPr id="18" name="Shape 15"/>
          <p:cNvSpPr/>
          <p:nvPr/>
        </p:nvSpPr>
        <p:spPr>
          <a:xfrm>
            <a:off x="6355080" y="4187952"/>
            <a:ext cx="384048" cy="384048"/>
          </a:xfrm>
          <a:prstGeom prst="ellipse">
            <a:avLst/>
          </a:prstGeom>
          <a:solidFill>
            <a:srgbClr val="D31242"/>
          </a:solidFill>
          <a:ln/>
        </p:spPr>
      </p:sp>
      <p:sp>
        <p:nvSpPr>
          <p:cNvPr id="19" name="Text 16"/>
          <p:cNvSpPr/>
          <p:nvPr/>
        </p:nvSpPr>
        <p:spPr>
          <a:xfrm>
            <a:off x="6355080" y="41879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0" name="Text 17"/>
          <p:cNvSpPr/>
          <p:nvPr/>
        </p:nvSpPr>
        <p:spPr>
          <a:xfrm>
            <a:off x="6903720" y="416966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Run it. Then ask for the same answer as CSV.</a:t>
            </a:r>
            <a:endParaRPr lang="en-US" sz="1350" dirty="0"/>
          </a:p>
        </p:txBody>
      </p:sp>
      <p:sp>
        <p:nvSpPr>
          <p:cNvPr id="21" name="Shape 18"/>
          <p:cNvSpPr/>
          <p:nvPr/>
        </p:nvSpPr>
        <p:spPr>
          <a:xfrm>
            <a:off x="6355080" y="5084064"/>
            <a:ext cx="5166360" cy="914400"/>
          </a:xfrm>
          <a:prstGeom prst="roundRect">
            <a:avLst>
              <a:gd name="adj" fmla="val 9000"/>
            </a:avLst>
          </a:prstGeom>
          <a:solidFill>
            <a:srgbClr val="DCFCE7"/>
          </a:solidFill>
          <a:ln/>
          <a:effectLst>
            <a:outerShdw sx="100000" sy="100000" kx="0" ky="0" algn="bl" rotWithShape="0" blurRad="88900" dist="38100" dir="5400000">
              <a:srgbClr val="1F2733">
                <a:alpha val="10000"/>
              </a:srgbClr>
            </a:outerShdw>
          </a:effectLst>
        </p:spPr>
      </p:sp>
      <p:sp>
        <p:nvSpPr>
          <p:cNvPr id="22" name="Text 19"/>
          <p:cNvSpPr/>
          <p:nvPr/>
        </p:nvSpPr>
        <p:spPr>
          <a:xfrm>
            <a:off x="6629400" y="5184648"/>
            <a:ext cx="3657600" cy="237744"/>
          </a:xfrm>
          <a:prstGeom prst="rect">
            <a:avLst/>
          </a:prstGeom>
          <a:noFill/>
          <a:ln/>
        </p:spPr>
        <p:txBody>
          <a:bodyPr wrap="square" lIns="0" tIns="0" rIns="0" bIns="0" rtlCol="0" anchor="ctr"/>
          <a:lstStyle/>
          <a:p>
            <a:pPr indent="0" marL="0">
              <a:buNone/>
            </a:pPr>
            <a:r>
              <a:rPr lang="en-US" sz="950" b="1" spc="120" kern="0" dirty="0">
                <a:solidFill>
                  <a:srgbClr val="15803D"/>
                </a:solidFill>
                <a:latin typeface="Arial" pitchFamily="34" charset="0"/>
                <a:ea typeface="Arial" pitchFamily="34" charset="-122"/>
                <a:cs typeface="Arial" pitchFamily="34" charset="-120"/>
              </a:rPr>
              <a:t>CHECK</a:t>
            </a:r>
            <a:endParaRPr lang="en-US" sz="950" dirty="0"/>
          </a:p>
        </p:txBody>
      </p:sp>
      <p:sp>
        <p:nvSpPr>
          <p:cNvPr id="23" name="Text 20"/>
          <p:cNvSpPr/>
          <p:nvPr/>
        </p:nvSpPr>
        <p:spPr>
          <a:xfrm>
            <a:off x="6629400" y="5440680"/>
            <a:ext cx="4617720" cy="475488"/>
          </a:xfrm>
          <a:prstGeom prst="rect">
            <a:avLst/>
          </a:prstGeom>
          <a:noFill/>
          <a:ln/>
        </p:spPr>
        <p:txBody>
          <a:bodyPr wrap="square" lIns="0" tIns="0" rIns="0" bIns="0" rtlCol="0" anchor="t"/>
          <a:lstStyle/>
          <a:p>
            <a:pPr indent="0" marL="0">
              <a:lnSpc>
                <a:spcPct val="112000"/>
              </a:lnSpc>
              <a:buNone/>
            </a:pPr>
            <a:r>
              <a:rPr lang="en-US" sz="1250" dirty="0">
                <a:solidFill>
                  <a:srgbClr val="1F2733"/>
                </a:solidFill>
                <a:latin typeface="Arial" pitchFamily="34" charset="0"/>
                <a:ea typeface="Arial" pitchFamily="34" charset="-122"/>
                <a:cs typeface="Arial" pitchFamily="34" charset="-120"/>
              </a:rPr>
              <a:t>Does the CSV version paste into your spreadsheet as separate columns?</a:t>
            </a:r>
            <a:endParaRPr lang="en-US" sz="1250" dirty="0"/>
          </a:p>
        </p:txBody>
      </p:sp>
      <p:sp>
        <p:nvSpPr>
          <p:cNvPr id="24" name="Text 21"/>
          <p:cNvSpPr/>
          <p:nvPr/>
        </p:nvSpPr>
        <p:spPr>
          <a:xfrm>
            <a:off x="640080" y="5943600"/>
            <a:ext cx="10881360" cy="365760"/>
          </a:xfrm>
          <a:prstGeom prst="rect">
            <a:avLst/>
          </a:prstGeom>
          <a:noFill/>
          <a:ln/>
        </p:spPr>
        <p:txBody>
          <a:bodyPr wrap="square" lIns="0" tIns="0" rIns="0" bIns="0" rtlCol="0" anchor="ctr"/>
          <a:lstStyle/>
          <a:p>
            <a:pPr indent="0" marL="0">
              <a:buNone/>
            </a:pPr>
            <a:r>
              <a:rPr lang="en-US" sz="1550" b="1" dirty="0">
                <a:solidFill>
                  <a:srgbClr val="D31242"/>
                </a:solidFill>
                <a:latin typeface="Arial" pitchFamily="34" charset="0"/>
                <a:ea typeface="Arial" pitchFamily="34" charset="-122"/>
                <a:cs typeface="Arial" pitchFamily="34" charset="-120"/>
              </a:rPr>
              <a:t>Four minutes. Then paste one row into the chat.</a:t>
            </a:r>
            <a:endParaRPr lang="en-US" sz="1550" dirty="0"/>
          </a:p>
        </p:txBody>
      </p:sp>
      <p:sp>
        <p:nvSpPr>
          <p:cNvPr id="25" name="Text 22"/>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2 OF 6 · NAME THE FORMAT</a:t>
            </a:r>
            <a:endParaRPr lang="en-US" sz="850" dirty="0"/>
          </a:p>
        </p:txBody>
      </p:sp>
      <p:sp>
        <p:nvSpPr>
          <p:cNvPr id="26" name="Shape 23"/>
          <p:cNvSpPr/>
          <p:nvPr/>
        </p:nvSpPr>
        <p:spPr>
          <a:xfrm>
            <a:off x="6583680" y="6483096"/>
            <a:ext cx="118872" cy="118872"/>
          </a:xfrm>
          <a:prstGeom prst="ellipse">
            <a:avLst/>
          </a:prstGeom>
          <a:solidFill>
            <a:srgbClr val="D9DDE3"/>
          </a:solidFill>
          <a:ln/>
        </p:spPr>
      </p:sp>
      <p:sp>
        <p:nvSpPr>
          <p:cNvPr id="27" name="Shape 24"/>
          <p:cNvSpPr/>
          <p:nvPr/>
        </p:nvSpPr>
        <p:spPr>
          <a:xfrm>
            <a:off x="6771132" y="6451092"/>
            <a:ext cx="182880" cy="182880"/>
          </a:xfrm>
          <a:prstGeom prst="ellipse">
            <a:avLst/>
          </a:prstGeom>
          <a:ln w="9525">
            <a:solidFill>
              <a:srgbClr val="D31242"/>
            </a:solidFill>
            <a:prstDash val="solid"/>
          </a:ln>
        </p:spPr>
      </p:sp>
      <p:sp>
        <p:nvSpPr>
          <p:cNvPr id="28" name="Shape 25"/>
          <p:cNvSpPr/>
          <p:nvPr/>
        </p:nvSpPr>
        <p:spPr>
          <a:xfrm>
            <a:off x="6803136" y="6483096"/>
            <a:ext cx="118872" cy="118872"/>
          </a:xfrm>
          <a:prstGeom prst="ellipse">
            <a:avLst/>
          </a:prstGeom>
          <a:solidFill>
            <a:srgbClr val="D31242"/>
          </a:solidFill>
          <a:ln/>
        </p:spPr>
      </p:sp>
      <p:sp>
        <p:nvSpPr>
          <p:cNvPr id="29" name="Shape 26"/>
          <p:cNvSpPr/>
          <p:nvPr/>
        </p:nvSpPr>
        <p:spPr>
          <a:xfrm>
            <a:off x="7022592" y="6483096"/>
            <a:ext cx="118872" cy="118872"/>
          </a:xfrm>
          <a:prstGeom prst="ellipse">
            <a:avLst/>
          </a:prstGeom>
          <a:solidFill>
            <a:srgbClr val="D9DDE3"/>
          </a:solidFill>
          <a:ln/>
        </p:spPr>
      </p:sp>
      <p:sp>
        <p:nvSpPr>
          <p:cNvPr id="30" name="Shape 27"/>
          <p:cNvSpPr/>
          <p:nvPr/>
        </p:nvSpPr>
        <p:spPr>
          <a:xfrm>
            <a:off x="7370064" y="6483096"/>
            <a:ext cx="118872" cy="118872"/>
          </a:xfrm>
          <a:prstGeom prst="ellipse">
            <a:avLst/>
          </a:prstGeom>
          <a:solidFill>
            <a:srgbClr val="D9DDE3"/>
          </a:solidFill>
          <a:ln/>
        </p:spPr>
      </p:sp>
      <p:sp>
        <p:nvSpPr>
          <p:cNvPr id="31" name="Shape 28"/>
          <p:cNvSpPr/>
          <p:nvPr/>
        </p:nvSpPr>
        <p:spPr>
          <a:xfrm>
            <a:off x="7717536" y="6483096"/>
            <a:ext cx="118872" cy="118872"/>
          </a:xfrm>
          <a:prstGeom prst="ellipse">
            <a:avLst/>
          </a:prstGeom>
          <a:solidFill>
            <a:srgbClr val="D9DDE3"/>
          </a:solidFill>
          <a:ln/>
        </p:spPr>
      </p:sp>
      <p:sp>
        <p:nvSpPr>
          <p:cNvPr id="32" name="Shape 29"/>
          <p:cNvSpPr/>
          <p:nvPr/>
        </p:nvSpPr>
        <p:spPr>
          <a:xfrm>
            <a:off x="7936992" y="6483096"/>
            <a:ext cx="118872" cy="118872"/>
          </a:xfrm>
          <a:prstGeom prst="ellipse">
            <a:avLst/>
          </a:prstGeom>
          <a:solidFill>
            <a:srgbClr val="D9DDE3"/>
          </a:solidFill>
          <a:ln/>
        </p:spPr>
      </p:sp>
      <p:sp>
        <p:nvSpPr>
          <p:cNvPr id="33" name="Text 30"/>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3" name="Text 1"/>
          <p:cNvSpPr/>
          <p:nvPr/>
        </p:nvSpPr>
        <p:spPr>
          <a:xfrm>
            <a:off x="640080" y="566928"/>
            <a:ext cx="841248" cy="841248"/>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4" name="Text 2"/>
          <p:cNvSpPr/>
          <p:nvPr/>
        </p:nvSpPr>
        <p:spPr>
          <a:xfrm>
            <a:off x="1664208" y="548640"/>
            <a:ext cx="640080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TECHNIQUE 3 OF 6</a:t>
            </a:r>
            <a:endParaRPr lang="en-US" sz="1200" dirty="0"/>
          </a:p>
        </p:txBody>
      </p:sp>
      <p:sp>
        <p:nvSpPr>
          <p:cNvPr id="5" name="Text 3"/>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Show it, don't type it</a:t>
            </a:r>
            <a:endParaRPr lang="en-US" sz="3000" dirty="0"/>
          </a:p>
        </p:txBody>
      </p:sp>
      <p:sp>
        <p:nvSpPr>
          <p:cNvPr id="6" name="Text 4"/>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GIVE THE AI CLEAR DIRECTION</a:t>
            </a:r>
            <a:endParaRPr lang="en-US" sz="900" dirty="0"/>
          </a:p>
        </p:txBody>
      </p:sp>
      <p:sp>
        <p:nvSpPr>
          <p:cNvPr id="7" name="Text 5"/>
          <p:cNvSpPr/>
          <p:nvPr/>
        </p:nvSpPr>
        <p:spPr>
          <a:xfrm>
            <a:off x="1664208" y="1517904"/>
            <a:ext cx="7315200" cy="274320"/>
          </a:xfrm>
          <a:prstGeom prst="rect">
            <a:avLst/>
          </a:prstGeom>
          <a:noFill/>
          <a:ln/>
        </p:spPr>
        <p:txBody>
          <a:bodyPr wrap="square" lIns="0" tIns="0" rIns="0" bIns="0" rtlCol="0" anchor="ctr"/>
          <a:lstStyle/>
          <a:p>
            <a:pPr indent="0" marL="0">
              <a:buNone/>
            </a:pPr>
            <a:r>
              <a:rPr lang="en-US" sz="1150" i="1" dirty="0">
                <a:solidFill>
                  <a:srgbClr val="5E6A78"/>
                </a:solidFill>
                <a:latin typeface="Arial" pitchFamily="34" charset="0"/>
                <a:ea typeface="Arial" pitchFamily="34" charset="-122"/>
                <a:cs typeface="Arial" pitchFamily="34" charset="-120"/>
              </a:rPr>
              <a:t>Also called: multimodal prompting</a:t>
            </a:r>
            <a:endParaRPr lang="en-US" sz="1150" dirty="0"/>
          </a:p>
        </p:txBody>
      </p:sp>
      <p:sp>
        <p:nvSpPr>
          <p:cNvPr id="8" name="Shape 6"/>
          <p:cNvSpPr/>
          <p:nvPr/>
        </p:nvSpPr>
        <p:spPr>
          <a:xfrm>
            <a:off x="640080" y="1874520"/>
            <a:ext cx="10881360" cy="1005840"/>
          </a:xfrm>
          <a:prstGeom prst="roundRect">
            <a:avLst>
              <a:gd name="adj" fmla="val 8182"/>
            </a:avLst>
          </a:prstGeom>
          <a:solidFill>
            <a:srgbClr val="FCE4EA"/>
          </a:solidFill>
          <a:ln/>
          <a:effectLst>
            <a:outerShdw sx="100000" sy="100000" kx="0" ky="0" algn="bl" rotWithShape="0" blurRad="88900" dist="38100" dir="5400000">
              <a:srgbClr val="1F2733">
                <a:alpha val="10000"/>
              </a:srgbClr>
            </a:outerShdw>
          </a:effectLst>
        </p:spPr>
      </p:sp>
      <p:sp>
        <p:nvSpPr>
          <p:cNvPr id="9" name="Text 7"/>
          <p:cNvSpPr/>
          <p:nvPr/>
        </p:nvSpPr>
        <p:spPr>
          <a:xfrm>
            <a:off x="960120" y="2057400"/>
            <a:ext cx="10241280" cy="640080"/>
          </a:xfrm>
          <a:prstGeom prst="rect">
            <a:avLst/>
          </a:prstGeom>
          <a:noFill/>
          <a:ln/>
        </p:spPr>
        <p:txBody>
          <a:bodyPr wrap="square" lIns="0" tIns="0" rIns="0" bIns="0" rtlCol="0" anchor="ctr"/>
          <a:lstStyle/>
          <a:p>
            <a:pPr indent="0" marL="0">
              <a:lnSpc>
                <a:spcPct val="110000"/>
              </a:lnSpc>
              <a:buNone/>
            </a:pPr>
            <a:r>
              <a:rPr lang="en-US" sz="1850" b="1" dirty="0">
                <a:solidFill>
                  <a:srgbClr val="1F2733"/>
                </a:solidFill>
                <a:latin typeface="Arial" pitchFamily="34" charset="0"/>
                <a:ea typeface="Arial" pitchFamily="34" charset="-122"/>
                <a:cs typeface="Arial" pitchFamily="34" charset="-120"/>
              </a:rPr>
              <a:t>Give the AI a photo or screenshot of what you are working from, instead of typing a description of it.</a:t>
            </a:r>
            <a:endParaRPr lang="en-US" sz="1850" dirty="0"/>
          </a:p>
        </p:txBody>
      </p:sp>
      <p:sp>
        <p:nvSpPr>
          <p:cNvPr id="10" name="Shape 8"/>
          <p:cNvSpPr/>
          <p:nvPr/>
        </p:nvSpPr>
        <p:spPr>
          <a:xfrm>
            <a:off x="640080" y="3246120"/>
            <a:ext cx="5074920" cy="1783080"/>
          </a:xfrm>
          <a:prstGeom prst="roundRect">
            <a:avLst>
              <a:gd name="adj" fmla="val 4615"/>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1" name="Text 9"/>
          <p:cNvSpPr/>
          <p:nvPr/>
        </p:nvSpPr>
        <p:spPr>
          <a:xfrm>
            <a:off x="914400" y="3456432"/>
            <a:ext cx="4526280" cy="274320"/>
          </a:xfrm>
          <a:prstGeom prst="rect">
            <a:avLst/>
          </a:prstGeom>
          <a:noFill/>
          <a:ln/>
        </p:spPr>
        <p:txBody>
          <a:bodyPr wrap="square" lIns="0" tIns="0" rIns="0" bIns="0" rtlCol="0" anchor="ctr"/>
          <a:lstStyle/>
          <a:p>
            <a:pPr indent="0" marL="0">
              <a:buNone/>
            </a:pPr>
            <a:r>
              <a:rPr lang="en-US" sz="1050" b="1" spc="150" kern="0" dirty="0">
                <a:solidFill>
                  <a:srgbClr val="5E6A78"/>
                </a:solidFill>
                <a:latin typeface="Arial" pitchFamily="34" charset="0"/>
                <a:ea typeface="Arial" pitchFamily="34" charset="-122"/>
                <a:cs typeface="Arial" pitchFamily="34" charset="-120"/>
              </a:rPr>
              <a:t>IF YOU DESCRIBE WHAT YOU SEE</a:t>
            </a:r>
            <a:endParaRPr lang="en-US" sz="1050" dirty="0"/>
          </a:p>
        </p:txBody>
      </p:sp>
      <p:sp>
        <p:nvSpPr>
          <p:cNvPr id="12" name="Text 10"/>
          <p:cNvSpPr/>
          <p:nvPr/>
        </p:nvSpPr>
        <p:spPr>
          <a:xfrm>
            <a:off x="914400" y="3785616"/>
            <a:ext cx="4526280" cy="1097280"/>
          </a:xfrm>
          <a:prstGeom prst="rect">
            <a:avLst/>
          </a:prstGeom>
          <a:noFill/>
          <a:ln/>
        </p:spPr>
        <p:txBody>
          <a:bodyPr wrap="square" lIns="0" tIns="0" rIns="0" bIns="0" rtlCol="0" anchor="t"/>
          <a:lstStyle/>
          <a:p>
            <a:pPr indent="0" marL="0">
              <a:lnSpc>
                <a:spcPct val="120000"/>
              </a:lnSpc>
              <a:buNone/>
            </a:pPr>
            <a:r>
              <a:rPr lang="en-US" sz="1450" dirty="0">
                <a:solidFill>
                  <a:srgbClr val="3A4452"/>
                </a:solidFill>
                <a:latin typeface="Arial" pitchFamily="34" charset="0"/>
                <a:ea typeface="Arial" pitchFamily="34" charset="-122"/>
                <a:cs typeface="Arial" pitchFamily="34" charset="-120"/>
              </a:rPr>
              <a:t>You retype from memory, and whatever you leave out is gone.</a:t>
            </a:r>
            <a:endParaRPr lang="en-US" sz="1450" dirty="0"/>
          </a:p>
        </p:txBody>
      </p:sp>
      <p:sp>
        <p:nvSpPr>
          <p:cNvPr id="13" name="Shape 11"/>
          <p:cNvSpPr/>
          <p:nvPr/>
        </p:nvSpPr>
        <p:spPr>
          <a:xfrm>
            <a:off x="5824728" y="3931920"/>
            <a:ext cx="420624" cy="420624"/>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14" name="Text 12"/>
          <p:cNvSpPr/>
          <p:nvPr/>
        </p:nvSpPr>
        <p:spPr>
          <a:xfrm>
            <a:off x="5824728" y="3931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Shape 13"/>
          <p:cNvSpPr/>
          <p:nvPr/>
        </p:nvSpPr>
        <p:spPr>
          <a:xfrm>
            <a:off x="6355080" y="3246120"/>
            <a:ext cx="5166360" cy="1783080"/>
          </a:xfrm>
          <a:prstGeom prst="roundRect">
            <a:avLst>
              <a:gd name="adj" fmla="val 4615"/>
            </a:avLst>
          </a:prstGeom>
          <a:solidFill>
            <a:srgbClr val="DCFCE7"/>
          </a:solidFill>
          <a:ln/>
          <a:effectLst>
            <a:outerShdw sx="100000" sy="100000" kx="0" ky="0" algn="bl" rotWithShape="0" blurRad="88900" dist="38100" dir="5400000">
              <a:srgbClr val="1F2733">
                <a:alpha val="10000"/>
              </a:srgbClr>
            </a:outerShdw>
          </a:effectLst>
        </p:spPr>
      </p:sp>
      <p:sp>
        <p:nvSpPr>
          <p:cNvPr id="16" name="Text 14"/>
          <p:cNvSpPr/>
          <p:nvPr/>
        </p:nvSpPr>
        <p:spPr>
          <a:xfrm>
            <a:off x="6629400" y="3456432"/>
            <a:ext cx="4617720" cy="274320"/>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IF YOU SHOW WHAT YOU SEE</a:t>
            </a:r>
            <a:endParaRPr lang="en-US" sz="1050" dirty="0"/>
          </a:p>
        </p:txBody>
      </p:sp>
      <p:sp>
        <p:nvSpPr>
          <p:cNvPr id="17" name="Text 15"/>
          <p:cNvSpPr/>
          <p:nvPr/>
        </p:nvSpPr>
        <p:spPr>
          <a:xfrm>
            <a:off x="6629400" y="3785616"/>
            <a:ext cx="4617720" cy="1097280"/>
          </a:xfrm>
          <a:prstGeom prst="rect">
            <a:avLst/>
          </a:prstGeom>
          <a:noFill/>
          <a:ln/>
        </p:spPr>
        <p:txBody>
          <a:bodyPr wrap="square" lIns="0" tIns="0" rIns="0" bIns="0" rtlCol="0" anchor="t"/>
          <a:lstStyle/>
          <a:p>
            <a:pPr indent="0" marL="0">
              <a:lnSpc>
                <a:spcPct val="120000"/>
              </a:lnSpc>
              <a:buNone/>
            </a:pPr>
            <a:r>
              <a:rPr lang="en-US" sz="1450" dirty="0">
                <a:solidFill>
                  <a:srgbClr val="1F2733"/>
                </a:solidFill>
                <a:latin typeface="Arial" pitchFamily="34" charset="0"/>
                <a:ea typeface="Arial" pitchFamily="34" charset="-122"/>
                <a:cs typeface="Arial" pitchFamily="34" charset="-120"/>
              </a:rPr>
              <a:t>The AI reads all of it, including what you would not have thought to mention.</a:t>
            </a:r>
            <a:endParaRPr lang="en-US" sz="1450" dirty="0"/>
          </a:p>
        </p:txBody>
      </p:sp>
      <p:sp>
        <p:nvSpPr>
          <p:cNvPr id="18" name="Text 16"/>
          <p:cNvSpPr/>
          <p:nvPr/>
        </p:nvSpPr>
        <p:spPr>
          <a:xfrm>
            <a:off x="640080" y="5440680"/>
            <a:ext cx="10881360" cy="36576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Use this when the material is on paper, on a whiteboard, or on your screen.</a:t>
            </a:r>
            <a:endParaRPr lang="en-US" sz="1500" dirty="0"/>
          </a:p>
        </p:txBody>
      </p:sp>
      <p:sp>
        <p:nvSpPr>
          <p:cNvPr id="19" name="Text 17"/>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3 OF 6 · SHOW IT, DON'T TYPE IT</a:t>
            </a:r>
            <a:endParaRPr lang="en-US" sz="850" dirty="0"/>
          </a:p>
        </p:txBody>
      </p:sp>
      <p:sp>
        <p:nvSpPr>
          <p:cNvPr id="20" name="Shape 18"/>
          <p:cNvSpPr/>
          <p:nvPr/>
        </p:nvSpPr>
        <p:spPr>
          <a:xfrm>
            <a:off x="6583680" y="6483096"/>
            <a:ext cx="118872" cy="118872"/>
          </a:xfrm>
          <a:prstGeom prst="ellipse">
            <a:avLst/>
          </a:prstGeom>
          <a:solidFill>
            <a:srgbClr val="D9DDE3"/>
          </a:solidFill>
          <a:ln/>
        </p:spPr>
      </p:sp>
      <p:sp>
        <p:nvSpPr>
          <p:cNvPr id="21" name="Shape 19"/>
          <p:cNvSpPr/>
          <p:nvPr/>
        </p:nvSpPr>
        <p:spPr>
          <a:xfrm>
            <a:off x="6803136" y="6483096"/>
            <a:ext cx="118872" cy="118872"/>
          </a:xfrm>
          <a:prstGeom prst="ellipse">
            <a:avLst/>
          </a:prstGeom>
          <a:solidFill>
            <a:srgbClr val="D9DDE3"/>
          </a:solidFill>
          <a:ln/>
        </p:spPr>
      </p:sp>
      <p:sp>
        <p:nvSpPr>
          <p:cNvPr id="22" name="Shape 20"/>
          <p:cNvSpPr/>
          <p:nvPr/>
        </p:nvSpPr>
        <p:spPr>
          <a:xfrm>
            <a:off x="6990588" y="6451092"/>
            <a:ext cx="182880" cy="182880"/>
          </a:xfrm>
          <a:prstGeom prst="ellipse">
            <a:avLst/>
          </a:prstGeom>
          <a:ln w="9525">
            <a:solidFill>
              <a:srgbClr val="D31242"/>
            </a:solidFill>
            <a:prstDash val="solid"/>
          </a:ln>
        </p:spPr>
      </p:sp>
      <p:sp>
        <p:nvSpPr>
          <p:cNvPr id="23" name="Shape 21"/>
          <p:cNvSpPr/>
          <p:nvPr/>
        </p:nvSpPr>
        <p:spPr>
          <a:xfrm>
            <a:off x="7022592" y="6483096"/>
            <a:ext cx="118872" cy="118872"/>
          </a:xfrm>
          <a:prstGeom prst="ellipse">
            <a:avLst/>
          </a:prstGeom>
          <a:solidFill>
            <a:srgbClr val="D31242"/>
          </a:solidFill>
          <a:ln/>
        </p:spPr>
      </p:sp>
      <p:sp>
        <p:nvSpPr>
          <p:cNvPr id="24" name="Shape 22"/>
          <p:cNvSpPr/>
          <p:nvPr/>
        </p:nvSpPr>
        <p:spPr>
          <a:xfrm>
            <a:off x="7370064" y="6483096"/>
            <a:ext cx="118872" cy="118872"/>
          </a:xfrm>
          <a:prstGeom prst="ellipse">
            <a:avLst/>
          </a:prstGeom>
          <a:solidFill>
            <a:srgbClr val="D9DDE3"/>
          </a:solidFill>
          <a:ln/>
        </p:spPr>
      </p:sp>
      <p:sp>
        <p:nvSpPr>
          <p:cNvPr id="25" name="Shape 23"/>
          <p:cNvSpPr/>
          <p:nvPr/>
        </p:nvSpPr>
        <p:spPr>
          <a:xfrm>
            <a:off x="7717536" y="6483096"/>
            <a:ext cx="118872" cy="118872"/>
          </a:xfrm>
          <a:prstGeom prst="ellipse">
            <a:avLst/>
          </a:prstGeom>
          <a:solidFill>
            <a:srgbClr val="D9DDE3"/>
          </a:solidFill>
          <a:ln/>
        </p:spPr>
      </p:sp>
      <p:sp>
        <p:nvSpPr>
          <p:cNvPr id="26" name="Shape 24"/>
          <p:cNvSpPr/>
          <p:nvPr/>
        </p:nvSpPr>
        <p:spPr>
          <a:xfrm>
            <a:off x="7936992" y="6483096"/>
            <a:ext cx="118872" cy="118872"/>
          </a:xfrm>
          <a:prstGeom prst="ellipse">
            <a:avLst/>
          </a:prstGeom>
          <a:solidFill>
            <a:srgbClr val="D9DDE3"/>
          </a:solidFill>
          <a:ln/>
        </p:spPr>
      </p:sp>
      <p:sp>
        <p:nvSpPr>
          <p:cNvPr id="27" name="Text 25"/>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SHOW IT, DON'T TYPE IT · BEFORE AND AFTER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photo carries what memory drops</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GIVE THE AI CLEAR DIRECTION</a:t>
            </a:r>
            <a:endParaRPr lang="en-US" sz="900" dirty="0"/>
          </a:p>
        </p:txBody>
      </p:sp>
      <p:sp>
        <p:nvSpPr>
          <p:cNvPr id="7" name="Shape 4"/>
          <p:cNvSpPr/>
          <p:nvPr/>
        </p:nvSpPr>
        <p:spPr>
          <a:xfrm>
            <a:off x="640080" y="1874520"/>
            <a:ext cx="5074920" cy="3566160"/>
          </a:xfrm>
          <a:prstGeom prst="roundRect">
            <a:avLst>
              <a:gd name="adj" fmla="val 230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66544"/>
            <a:ext cx="4526280" cy="256032"/>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PROMPT</a:t>
            </a:r>
            <a:endParaRPr lang="en-US" sz="1100" dirty="0"/>
          </a:p>
        </p:txBody>
      </p:sp>
      <p:sp>
        <p:nvSpPr>
          <p:cNvPr id="9" name="Text 6"/>
          <p:cNvSpPr/>
          <p:nvPr/>
        </p:nvSpPr>
        <p:spPr>
          <a:xfrm>
            <a:off x="960120" y="2414016"/>
            <a:ext cx="4480560" cy="932688"/>
          </a:xfrm>
          <a:prstGeom prst="rect">
            <a:avLst/>
          </a:prstGeom>
          <a:noFill/>
          <a:ln/>
        </p:spPr>
        <p:txBody>
          <a:bodyPr wrap="square" lIns="0" tIns="0" rIns="0" bIns="0" rtlCol="0" anchor="t"/>
          <a:lstStyle/>
          <a:p>
            <a:pPr indent="0" marL="0">
              <a:lnSpc>
                <a:spcPct val="116000"/>
              </a:lnSpc>
              <a:buNone/>
            </a:pPr>
            <a:r>
              <a:rPr lang="en-US" sz="1050" i="1" dirty="0">
                <a:solidFill>
                  <a:srgbClr val="5E6A78"/>
                </a:solidFill>
                <a:latin typeface="Arial" pitchFamily="34" charset="0"/>
                <a:ea typeface="Arial" pitchFamily="34" charset="-122"/>
                <a:cs typeface="Arial" pitchFamily="34" charset="-120"/>
              </a:rPr>
              <a:t>Typed from memory, ten minutes later:
</a:t>
            </a:r>
            <a:pPr indent="0" marL="0">
              <a:lnSpc>
                <a:spcPct val="116000"/>
              </a:lnSpc>
              <a:buNone/>
            </a:pPr>
            <a:r>
              <a:rPr lang="en-US" sz="1200" dirty="0">
                <a:solidFill>
                  <a:srgbClr val="1F2733"/>
                </a:solidFill>
                <a:latin typeface="Arial" pitchFamily="34" charset="0"/>
                <a:ea typeface="Arial" pitchFamily="34" charset="-122"/>
                <a:cs typeface="Arial" pitchFamily="34" charset="-120"/>
              </a:rPr>
              <a:t>From today's huddle: Mike is ordering totes for</a:t>
            </a:r>
            <a:endParaRPr lang="en-US" sz="105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219, Dana is fixing self-checkout by Wednesday,</a:t>
            </a:r>
            <a:endParaRPr lang="en-US" sz="105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and ops is on the bakery rolls problem.</a:t>
            </a:r>
            <a:endParaRPr lang="en-US" sz="1050" dirty="0"/>
          </a:p>
        </p:txBody>
      </p:sp>
      <p:sp>
        <p:nvSpPr>
          <p:cNvPr id="10" name="Text 7"/>
          <p:cNvSpPr/>
          <p:nvPr/>
        </p:nvSpPr>
        <p:spPr>
          <a:xfrm>
            <a:off x="960120" y="3483864"/>
            <a:ext cx="4480560" cy="274320"/>
          </a:xfrm>
          <a:prstGeom prst="rect">
            <a:avLst/>
          </a:prstGeom>
          <a:noFill/>
          <a:ln/>
        </p:spPr>
        <p:txBody>
          <a:bodyPr wrap="square" lIns="0" tIns="0" rIns="0" bIns="0" rtlCol="0" anchor="t"/>
          <a:lstStyle/>
          <a:p>
            <a:pPr indent="0" marL="0">
              <a:lnSpc>
                <a:spcPct val="116000"/>
              </a:lnSpc>
              <a:buNone/>
            </a:pPr>
            <a:r>
              <a:rPr lang="en-US" sz="1250" dirty="0">
                <a:solidFill>
                  <a:srgbClr val="1F2733"/>
                </a:solidFill>
                <a:latin typeface="Arial" pitchFamily="34" charset="0"/>
                <a:ea typeface="Arial" pitchFamily="34" charset="-122"/>
                <a:cs typeface="Arial" pitchFamily="34" charset="-120"/>
              </a:rPr>
              <a:t>Turn this into an action list.</a:t>
            </a:r>
            <a:endParaRPr lang="en-US" sz="1250" dirty="0"/>
          </a:p>
        </p:txBody>
      </p:sp>
      <p:sp>
        <p:nvSpPr>
          <p:cNvPr id="11" name="Shape 8"/>
          <p:cNvSpPr/>
          <p:nvPr/>
        </p:nvSpPr>
        <p:spPr>
          <a:xfrm>
            <a:off x="841248" y="3849624"/>
            <a:ext cx="4681728" cy="1024128"/>
          </a:xfrm>
          <a:prstGeom prst="roundRect">
            <a:avLst>
              <a:gd name="adj" fmla="val 6250"/>
            </a:avLst>
          </a:prstGeom>
          <a:solidFill>
            <a:srgbClr val="DCFCE7"/>
          </a:solidFill>
          <a:ln/>
        </p:spPr>
      </p:sp>
      <p:sp>
        <p:nvSpPr>
          <p:cNvPr id="12" name="Text 9"/>
          <p:cNvSpPr/>
          <p:nvPr/>
        </p:nvSpPr>
        <p:spPr>
          <a:xfrm>
            <a:off x="960120" y="3895344"/>
            <a:ext cx="4480560" cy="914400"/>
          </a:xfrm>
          <a:prstGeom prst="rect">
            <a:avLst/>
          </a:prstGeom>
          <a:noFill/>
          <a:ln/>
        </p:spPr>
        <p:txBody>
          <a:bodyPr wrap="square" lIns="0" tIns="0" rIns="0" bIns="0" rtlCol="0" anchor="t"/>
          <a:lstStyle/>
          <a:p>
            <a:pPr indent="0" marL="0">
              <a:lnSpc>
                <a:spcPct val="116000"/>
              </a:lnSpc>
              <a:buNone/>
            </a:pPr>
            <a:r>
              <a:rPr lang="en-US" sz="950" b="1" spc="150" kern="0" dirty="0">
                <a:solidFill>
                  <a:srgbClr val="15803D"/>
                </a:solidFill>
                <a:latin typeface="Arial" pitchFamily="34" charset="0"/>
                <a:ea typeface="Arial" pitchFamily="34" charset="-122"/>
                <a:cs typeface="Arial" pitchFamily="34" charset="-120"/>
              </a:rPr>
              <a:t>WHAT YOU DO INSTEAD
</a:t>
            </a:r>
            <a:pPr indent="0" marL="0">
              <a:lnSpc>
                <a:spcPct val="116000"/>
              </a:lnSpc>
              <a:buNone/>
            </a:pPr>
            <a:r>
              <a:rPr lang="en-US" sz="1200" i="1" dirty="0">
                <a:solidFill>
                  <a:srgbClr val="5E6A78"/>
                </a:solidFill>
                <a:latin typeface="Arial" pitchFamily="34" charset="0"/>
                <a:ea typeface="Arial" pitchFamily="34" charset="-122"/>
                <a:cs typeface="Arial" pitchFamily="34" charset="-120"/>
              </a:rPr>
              <a:t>[photo of the whiteboard, attached]
</a:t>
            </a:r>
            <a:pPr indent="0" marL="0">
              <a:lnSpc>
                <a:spcPct val="116000"/>
              </a:lnSpc>
              <a:buNone/>
            </a:pPr>
            <a:r>
              <a:rPr lang="en-US" sz="1200" dirty="0">
                <a:solidFill>
                  <a:srgbClr val="1F2733"/>
                </a:solidFill>
                <a:latin typeface="Arial" pitchFamily="34" charset="0"/>
                <a:ea typeface="Arial" pitchFamily="34" charset="-122"/>
                <a:cs typeface="Arial" pitchFamily="34" charset="-120"/>
              </a:rPr>
              <a:t>Turn this into an action list with owners</a:t>
            </a:r>
            <a:endParaRPr lang="en-US" sz="95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and dates.</a:t>
            </a:r>
            <a:endParaRPr lang="en-US" sz="950" dirty="0"/>
          </a:p>
        </p:txBody>
      </p:sp>
      <p:sp>
        <p:nvSpPr>
          <p:cNvPr id="13" name="Shape 10"/>
          <p:cNvSpPr/>
          <p:nvPr/>
        </p:nvSpPr>
        <p:spPr>
          <a:xfrm>
            <a:off x="6355080" y="1874520"/>
            <a:ext cx="5166360" cy="1600200"/>
          </a:xfrm>
          <a:prstGeom prst="roundRect">
            <a:avLst>
              <a:gd name="adj" fmla="val 5143"/>
            </a:avLst>
          </a:prstGeom>
          <a:solidFill>
            <a:srgbClr val="FEE2E2"/>
          </a:solidFill>
          <a:ln/>
          <a:effectLst>
            <a:outerShdw sx="100000" sy="100000" kx="0" ky="0" algn="bl" rotWithShape="0" blurRad="88900" dist="38100" dir="5400000">
              <a:srgbClr val="1F2733">
                <a:alpha val="10000"/>
              </a:srgbClr>
            </a:outerShdw>
          </a:effectLst>
        </p:spPr>
      </p:sp>
      <p:sp>
        <p:nvSpPr>
          <p:cNvPr id="14" name="Shape 11"/>
          <p:cNvSpPr/>
          <p:nvPr/>
        </p:nvSpPr>
        <p:spPr>
          <a:xfrm>
            <a:off x="6455664" y="2029968"/>
            <a:ext cx="50292" cy="1298448"/>
          </a:xfrm>
          <a:prstGeom prst="roundRect">
            <a:avLst>
              <a:gd name="adj" fmla="val 36364"/>
            </a:avLst>
          </a:prstGeom>
          <a:solidFill>
            <a:srgbClr val="B91C1C"/>
          </a:solidFill>
          <a:ln/>
        </p:spPr>
      </p:sp>
      <p:sp>
        <p:nvSpPr>
          <p:cNvPr id="15" name="Text 12"/>
          <p:cNvSpPr/>
          <p:nvPr/>
        </p:nvSpPr>
        <p:spPr>
          <a:xfrm>
            <a:off x="6629400" y="2048256"/>
            <a:ext cx="4617720" cy="237744"/>
          </a:xfrm>
          <a:prstGeom prst="rect">
            <a:avLst/>
          </a:prstGeom>
          <a:noFill/>
          <a:ln/>
        </p:spPr>
        <p:txBody>
          <a:bodyPr wrap="square" lIns="0" tIns="0" rIns="0" bIns="0" rtlCol="0" anchor="ctr"/>
          <a:lstStyle/>
          <a:p>
            <a:pPr indent="0" marL="0">
              <a:buNone/>
            </a:pPr>
            <a:r>
              <a:rPr lang="en-US" sz="1000" b="1" spc="120" kern="0" dirty="0">
                <a:solidFill>
                  <a:srgbClr val="B91C1C"/>
                </a:solidFill>
                <a:latin typeface="Arial" pitchFamily="34" charset="0"/>
                <a:ea typeface="Arial" pitchFamily="34" charset="-122"/>
                <a:cs typeface="Arial" pitchFamily="34" charset="-120"/>
              </a:rPr>
              <a:t>FROM THE TYPED VERSION</a:t>
            </a:r>
            <a:endParaRPr lang="en-US" sz="1000" dirty="0"/>
          </a:p>
        </p:txBody>
      </p:sp>
      <p:sp>
        <p:nvSpPr>
          <p:cNvPr id="16" name="Text 13"/>
          <p:cNvSpPr/>
          <p:nvPr/>
        </p:nvSpPr>
        <p:spPr>
          <a:xfrm>
            <a:off x="6629400" y="2340864"/>
            <a:ext cx="4617720" cy="1042416"/>
          </a:xfrm>
          <a:prstGeom prst="rect">
            <a:avLst/>
          </a:prstGeom>
          <a:noFill/>
          <a:ln/>
        </p:spPr>
        <p:txBody>
          <a:bodyPr wrap="square" lIns="0" tIns="0" rIns="0" bIns="0" rtlCol="0" anchor="t"/>
          <a:lstStyle/>
          <a:p>
            <a:pPr indent="0" marL="0">
              <a:lnSpc>
                <a:spcPct val="114000"/>
              </a:lnSpc>
              <a:buNone/>
            </a:pPr>
            <a:r>
              <a:rPr lang="en-US" sz="1150" dirty="0">
                <a:solidFill>
                  <a:srgbClr val="1F2733"/>
                </a:solidFill>
                <a:latin typeface="Arial" pitchFamily="34" charset="0"/>
                <a:ea typeface="Arial" pitchFamily="34" charset="-122"/>
                <a:cs typeface="Arial" pitchFamily="34" charset="-120"/>
              </a:rPr>
              <a:t>1. Order totes for 219, Mike</a:t>
            </a:r>
            <a:endParaRPr lang="en-US" sz="1150" dirty="0"/>
          </a:p>
          <a:p>
            <a:pPr indent="0" marL="0">
              <a:lnSpc>
                <a:spcPct val="114000"/>
              </a:lnSpc>
              <a:buNone/>
            </a:pPr>
            <a:r>
              <a:rPr lang="en-US" sz="1150" dirty="0">
                <a:solidFill>
                  <a:srgbClr val="1F2733"/>
                </a:solidFill>
                <a:latin typeface="Arial" pitchFamily="34" charset="0"/>
                <a:ea typeface="Arial" pitchFamily="34" charset="-122"/>
                <a:cs typeface="Arial" pitchFamily="34" charset="-120"/>
              </a:rPr>
              <a:t>2. Fix self-checkout, Dana, Wednesday</a:t>
            </a:r>
            <a:endParaRPr lang="en-US" sz="1150" dirty="0"/>
          </a:p>
          <a:p>
            <a:pPr indent="0" marL="0">
              <a:lnSpc>
                <a:spcPct val="114000"/>
              </a:lnSpc>
              <a:buNone/>
            </a:pPr>
            <a:r>
              <a:rPr lang="en-US" sz="1150" dirty="0">
                <a:solidFill>
                  <a:srgbClr val="1F2733"/>
                </a:solidFill>
                <a:latin typeface="Arial" pitchFamily="34" charset="0"/>
                <a:ea typeface="Arial" pitchFamily="34" charset="-122"/>
                <a:cs typeface="Arial" pitchFamily="34" charset="-120"/>
              </a:rPr>
              <a:t>3. Bakery rolls problem, Operations</a:t>
            </a:r>
            <a:endParaRPr lang="en-US" sz="1150" dirty="0"/>
          </a:p>
        </p:txBody>
      </p:sp>
      <p:sp>
        <p:nvSpPr>
          <p:cNvPr id="17" name="Shape 14"/>
          <p:cNvSpPr/>
          <p:nvPr/>
        </p:nvSpPr>
        <p:spPr>
          <a:xfrm>
            <a:off x="6355080" y="3611880"/>
            <a:ext cx="5166360" cy="1828800"/>
          </a:xfrm>
          <a:prstGeom prst="roundRect">
            <a:avLst>
              <a:gd name="adj" fmla="val 4500"/>
            </a:avLst>
          </a:prstGeom>
          <a:solidFill>
            <a:srgbClr val="DCFCE7"/>
          </a:solidFill>
          <a:ln/>
          <a:effectLst>
            <a:outerShdw sx="100000" sy="100000" kx="0" ky="0" algn="bl" rotWithShape="0" blurRad="88900" dist="38100" dir="5400000">
              <a:srgbClr val="1F2733">
                <a:alpha val="10000"/>
              </a:srgbClr>
            </a:outerShdw>
          </a:effectLst>
        </p:spPr>
      </p:sp>
      <p:sp>
        <p:nvSpPr>
          <p:cNvPr id="18" name="Shape 15"/>
          <p:cNvSpPr/>
          <p:nvPr/>
        </p:nvSpPr>
        <p:spPr>
          <a:xfrm>
            <a:off x="6455664" y="3767328"/>
            <a:ext cx="50292" cy="1536192"/>
          </a:xfrm>
          <a:prstGeom prst="roundRect">
            <a:avLst>
              <a:gd name="adj" fmla="val 36364"/>
            </a:avLst>
          </a:prstGeom>
          <a:solidFill>
            <a:srgbClr val="15803D"/>
          </a:solidFill>
          <a:ln/>
        </p:spPr>
      </p:sp>
      <p:sp>
        <p:nvSpPr>
          <p:cNvPr id="19" name="Text 16"/>
          <p:cNvSpPr/>
          <p:nvPr/>
        </p:nvSpPr>
        <p:spPr>
          <a:xfrm>
            <a:off x="6629400" y="3776472"/>
            <a:ext cx="4617720" cy="237744"/>
          </a:xfrm>
          <a:prstGeom prst="rect">
            <a:avLst/>
          </a:prstGeom>
          <a:noFill/>
          <a:ln/>
        </p:spPr>
        <p:txBody>
          <a:bodyPr wrap="square" lIns="0" tIns="0" rIns="0" bIns="0" rtlCol="0" anchor="ctr"/>
          <a:lstStyle/>
          <a:p>
            <a:pPr indent="0" marL="0">
              <a:buNone/>
            </a:pPr>
            <a:r>
              <a:rPr lang="en-US" sz="1000" b="1" spc="120" kern="0" dirty="0">
                <a:solidFill>
                  <a:srgbClr val="15803D"/>
                </a:solidFill>
                <a:latin typeface="Arial" pitchFamily="34" charset="0"/>
                <a:ea typeface="Arial" pitchFamily="34" charset="-122"/>
                <a:cs typeface="Arial" pitchFamily="34" charset="-120"/>
              </a:rPr>
              <a:t>FROM THE PHOTO</a:t>
            </a:r>
            <a:endParaRPr lang="en-US" sz="1000" dirty="0"/>
          </a:p>
        </p:txBody>
      </p:sp>
      <p:sp>
        <p:nvSpPr>
          <p:cNvPr id="20" name="Text 17"/>
          <p:cNvSpPr/>
          <p:nvPr/>
        </p:nvSpPr>
        <p:spPr>
          <a:xfrm>
            <a:off x="6629400" y="4069080"/>
            <a:ext cx="4617720" cy="1298448"/>
          </a:xfrm>
          <a:prstGeom prst="rect">
            <a:avLst/>
          </a:prstGeom>
          <a:noFill/>
          <a:ln/>
        </p:spPr>
        <p:txBody>
          <a:bodyPr wrap="square" lIns="0" tIns="0" rIns="0" bIns="0" rtlCol="0" anchor="t"/>
          <a:lstStyle/>
          <a:p>
            <a:pPr indent="0" marL="0">
              <a:lnSpc>
                <a:spcPct val="114000"/>
              </a:lnSpc>
              <a:buNone/>
            </a:pPr>
            <a:r>
              <a:rPr lang="en-US" sz="1100" dirty="0">
                <a:solidFill>
                  <a:srgbClr val="1F2733"/>
                </a:solidFill>
                <a:latin typeface="Arial" pitchFamily="34" charset="0"/>
                <a:ea typeface="Arial" pitchFamily="34" charset="-122"/>
                <a:cs typeface="Arial" pitchFamily="34" charset="-120"/>
              </a:rPr>
              <a:t>1. Order totes for 219, Mike, Friday</a:t>
            </a:r>
            <a:endParaRPr lang="en-US" sz="1100" dirty="0"/>
          </a:p>
          <a:p>
            <a:pPr indent="0" marL="0">
              <a:lnSpc>
                <a:spcPct val="114000"/>
              </a:lnSpc>
              <a:buNone/>
            </a:pPr>
            <a:r>
              <a:rPr lang="en-US" sz="1100" dirty="0">
                <a:solidFill>
                  <a:srgbClr val="1F2733"/>
                </a:solidFill>
                <a:latin typeface="Arial" pitchFamily="34" charset="0"/>
                <a:ea typeface="Arial" pitchFamily="34" charset="-122"/>
                <a:cs typeface="Arial" pitchFamily="34" charset="-120"/>
              </a:rPr>
              <a:t>2. Fix self-checkout, Dana, Wednesday</a:t>
            </a:r>
            <a:endParaRPr lang="en-US" sz="1100" dirty="0"/>
          </a:p>
          <a:p>
            <a:pPr indent="0" marL="0">
              <a:lnSpc>
                <a:spcPct val="114000"/>
              </a:lnSpc>
              <a:buNone/>
            </a:pPr>
            <a:r>
              <a:rPr lang="en-US" sz="1100" dirty="0">
                <a:solidFill>
                  <a:srgbClr val="1F2733"/>
                </a:solidFill>
                <a:latin typeface="Arial" pitchFamily="34" charset="0"/>
                <a:ea typeface="Arial" pitchFamily="34" charset="-122"/>
                <a:cs typeface="Arial" pitchFamily="34" charset="-120"/>
              </a:rPr>
              <a:t>3. Bakery rolls fix, Operations, month end</a:t>
            </a:r>
            <a:endParaRPr lang="en-US" sz="1100" dirty="0"/>
          </a:p>
          <a:p>
            <a:pPr indent="0" marL="0">
              <a:lnSpc>
                <a:spcPct val="114000"/>
              </a:lnSpc>
              <a:buNone/>
            </a:pPr>
            <a:r>
              <a:rPr lang="en-US" sz="1100" dirty="0">
                <a:solidFill>
                  <a:srgbClr val="1F2733"/>
                </a:solidFill>
                <a:latin typeface="Arial" pitchFamily="34" charset="0"/>
                <a:ea typeface="Arial" pitchFamily="34" charset="-122"/>
                <a:cs typeface="Arial" pitchFamily="34" charset="-120"/>
              </a:rPr>
              <a:t>4. Confirm holiday staffing, Priya, Friday</a:t>
            </a:r>
            <a:endParaRPr lang="en-US" sz="1100" dirty="0"/>
          </a:p>
          <a:p>
            <a:pPr indent="0" marL="0">
              <a:lnSpc>
                <a:spcPct val="114000"/>
              </a:lnSpc>
              <a:buNone/>
            </a:pPr>
            <a:r>
              <a:rPr lang="en-US" sz="1100" dirty="0">
                <a:solidFill>
                  <a:srgbClr val="1F2733"/>
                </a:solidFill>
                <a:latin typeface="Arial" pitchFamily="34" charset="0"/>
                <a:ea typeface="Arial" pitchFamily="34" charset="-122"/>
                <a:cs typeface="Arial" pitchFamily="34" charset="-120"/>
              </a:rPr>
              <a:t>5. Send reset photos to region, Sam, Monday</a:t>
            </a:r>
            <a:endParaRPr lang="en-US" sz="1100" dirty="0"/>
          </a:p>
        </p:txBody>
      </p:sp>
      <p:sp>
        <p:nvSpPr>
          <p:cNvPr id="21" name="Text 18"/>
          <p:cNvSpPr/>
          <p:nvPr/>
        </p:nvSpPr>
        <p:spPr>
          <a:xfrm>
            <a:off x="640080" y="5870448"/>
            <a:ext cx="10881360" cy="41148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The whiteboard had five actions. Three survived the retyping. The photo carried all five.</a:t>
            </a:r>
            <a:endParaRPr lang="en-US" sz="1500" dirty="0"/>
          </a:p>
        </p:txBody>
      </p:sp>
      <p:sp>
        <p:nvSpPr>
          <p:cNvPr id="22" name="Text 19"/>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3 OF 6 · SHOW IT, DON'T TYPE IT</a:t>
            </a:r>
            <a:endParaRPr lang="en-US" sz="850" dirty="0"/>
          </a:p>
        </p:txBody>
      </p:sp>
      <p:sp>
        <p:nvSpPr>
          <p:cNvPr id="23" name="Shape 20"/>
          <p:cNvSpPr/>
          <p:nvPr/>
        </p:nvSpPr>
        <p:spPr>
          <a:xfrm>
            <a:off x="6583680" y="6483096"/>
            <a:ext cx="118872" cy="118872"/>
          </a:xfrm>
          <a:prstGeom prst="ellipse">
            <a:avLst/>
          </a:prstGeom>
          <a:solidFill>
            <a:srgbClr val="D9DDE3"/>
          </a:solidFill>
          <a:ln/>
        </p:spPr>
      </p:sp>
      <p:sp>
        <p:nvSpPr>
          <p:cNvPr id="24" name="Shape 21"/>
          <p:cNvSpPr/>
          <p:nvPr/>
        </p:nvSpPr>
        <p:spPr>
          <a:xfrm>
            <a:off x="6803136" y="6483096"/>
            <a:ext cx="118872" cy="118872"/>
          </a:xfrm>
          <a:prstGeom prst="ellipse">
            <a:avLst/>
          </a:prstGeom>
          <a:solidFill>
            <a:srgbClr val="D9DDE3"/>
          </a:solidFill>
          <a:ln/>
        </p:spPr>
      </p:sp>
      <p:sp>
        <p:nvSpPr>
          <p:cNvPr id="25" name="Shape 22"/>
          <p:cNvSpPr/>
          <p:nvPr/>
        </p:nvSpPr>
        <p:spPr>
          <a:xfrm>
            <a:off x="6990588" y="6451092"/>
            <a:ext cx="182880" cy="182880"/>
          </a:xfrm>
          <a:prstGeom prst="ellipse">
            <a:avLst/>
          </a:prstGeom>
          <a:ln w="9525">
            <a:solidFill>
              <a:srgbClr val="D31242"/>
            </a:solidFill>
            <a:prstDash val="solid"/>
          </a:ln>
        </p:spPr>
      </p:sp>
      <p:sp>
        <p:nvSpPr>
          <p:cNvPr id="26" name="Shape 23"/>
          <p:cNvSpPr/>
          <p:nvPr/>
        </p:nvSpPr>
        <p:spPr>
          <a:xfrm>
            <a:off x="7022592" y="6483096"/>
            <a:ext cx="118872" cy="118872"/>
          </a:xfrm>
          <a:prstGeom prst="ellipse">
            <a:avLst/>
          </a:prstGeom>
          <a:solidFill>
            <a:srgbClr val="D31242"/>
          </a:solidFill>
          <a:ln/>
        </p:spPr>
      </p:sp>
      <p:sp>
        <p:nvSpPr>
          <p:cNvPr id="27" name="Shape 24"/>
          <p:cNvSpPr/>
          <p:nvPr/>
        </p:nvSpPr>
        <p:spPr>
          <a:xfrm>
            <a:off x="7370064" y="6483096"/>
            <a:ext cx="118872" cy="118872"/>
          </a:xfrm>
          <a:prstGeom prst="ellipse">
            <a:avLst/>
          </a:prstGeom>
          <a:solidFill>
            <a:srgbClr val="D9DDE3"/>
          </a:solidFill>
          <a:ln/>
        </p:spPr>
      </p:sp>
      <p:sp>
        <p:nvSpPr>
          <p:cNvPr id="28" name="Shape 25"/>
          <p:cNvSpPr/>
          <p:nvPr/>
        </p:nvSpPr>
        <p:spPr>
          <a:xfrm>
            <a:off x="7717536" y="6483096"/>
            <a:ext cx="118872" cy="118872"/>
          </a:xfrm>
          <a:prstGeom prst="ellipse">
            <a:avLst/>
          </a:prstGeom>
          <a:solidFill>
            <a:srgbClr val="D9DDE3"/>
          </a:solidFill>
          <a:ln/>
        </p:spPr>
      </p:sp>
      <p:sp>
        <p:nvSpPr>
          <p:cNvPr id="29" name="Shape 26"/>
          <p:cNvSpPr/>
          <p:nvPr/>
        </p:nvSpPr>
        <p:spPr>
          <a:xfrm>
            <a:off x="7936992" y="6483096"/>
            <a:ext cx="118872" cy="118872"/>
          </a:xfrm>
          <a:prstGeom prst="ellipse">
            <a:avLst/>
          </a:prstGeom>
          <a:solidFill>
            <a:srgbClr val="D9DDE3"/>
          </a:solidFill>
          <a:ln/>
        </p:spPr>
      </p:sp>
      <p:sp>
        <p:nvSpPr>
          <p:cNvPr id="30" name="Text 27"/>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SHOW IT, DON'T TYPE IT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Your turn</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GIVE THE AI CLEAR DIRECTION</a:t>
            </a:r>
            <a:endParaRPr lang="en-US" sz="900" dirty="0"/>
          </a:p>
        </p:txBody>
      </p:sp>
      <p:sp>
        <p:nvSpPr>
          <p:cNvPr id="7" name="Shape 4"/>
          <p:cNvSpPr/>
          <p:nvPr/>
        </p:nvSpPr>
        <p:spPr>
          <a:xfrm>
            <a:off x="640080" y="1874520"/>
            <a:ext cx="5074920" cy="3566160"/>
          </a:xfrm>
          <a:prstGeom prst="roundRect">
            <a:avLst>
              <a:gd name="adj" fmla="val 230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84832"/>
            <a:ext cx="4526280" cy="256032"/>
          </a:xfrm>
          <a:prstGeom prst="rect">
            <a:avLst/>
          </a:prstGeom>
          <a:noFill/>
          <a:ln/>
        </p:spPr>
        <p:txBody>
          <a:bodyPr wrap="square" lIns="0" tIns="0" rIns="0" bIns="0" rtlCol="0" anchor="ctr"/>
          <a:lstStyle/>
          <a:p>
            <a:pPr indent="0" marL="0">
              <a:buNone/>
            </a:pPr>
            <a:r>
              <a:rPr lang="en-US" sz="1050" b="1" spc="150" kern="0" dirty="0">
                <a:solidFill>
                  <a:srgbClr val="5E6A78"/>
                </a:solidFill>
                <a:latin typeface="Arial" pitchFamily="34" charset="0"/>
                <a:ea typeface="Arial" pitchFamily="34" charset="-122"/>
                <a:cs typeface="Arial" pitchFamily="34" charset="-120"/>
              </a:rPr>
              <a:t>SCREENSHOT THIS PANEL</a:t>
            </a:r>
            <a:endParaRPr lang="en-US" sz="1050" dirty="0"/>
          </a:p>
        </p:txBody>
      </p:sp>
      <p:sp>
        <p:nvSpPr>
          <p:cNvPr id="9" name="Text 6"/>
          <p:cNvSpPr/>
          <p:nvPr/>
        </p:nvSpPr>
        <p:spPr>
          <a:xfrm>
            <a:off x="914400" y="2450592"/>
            <a:ext cx="4526280" cy="2880360"/>
          </a:xfrm>
          <a:prstGeom prst="rect">
            <a:avLst/>
          </a:prstGeom>
          <a:noFill/>
          <a:ln/>
        </p:spPr>
        <p:txBody>
          <a:bodyPr wrap="square" lIns="0" tIns="0" rIns="0" bIns="0" rtlCol="0" anchor="t"/>
          <a:lstStyle/>
          <a:p>
            <a:pPr indent="0" marL="0">
              <a:lnSpc>
                <a:spcPct val="122000"/>
              </a:lnSpc>
              <a:buNone/>
            </a:pPr>
            <a:r>
              <a:rPr lang="en-US" sz="1200" dirty="0">
                <a:solidFill>
                  <a:srgbClr val="1F2733"/>
                </a:solidFill>
                <a:latin typeface="Arial" pitchFamily="34" charset="0"/>
                <a:ea typeface="Arial" pitchFamily="34" charset="-122"/>
                <a:cs typeface="Arial" pitchFamily="34" charset="-120"/>
              </a:rPr>
              <a:t>WEEK 34 HUDDLE</a:t>
            </a:r>
            <a:endParaRPr lang="en-US" sz="1200" dirty="0"/>
          </a:p>
          <a:p>
            <a:pPr indent="0" marL="0">
              <a:lnSpc>
                <a:spcPct val="122000"/>
              </a:lnSpc>
              <a:buNone/>
            </a:pP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 totes for 219, Mike, Fri</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 self-checkout fix, Dana, Wed</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 bakery rolls, ops, month end</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 holiday staffing, Priya</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 reset photos to region, Sam</a:t>
            </a:r>
            <a:endParaRPr lang="en-US" sz="1200" dirty="0"/>
          </a:p>
        </p:txBody>
      </p:sp>
      <p:sp>
        <p:nvSpPr>
          <p:cNvPr id="10" name="Text 7"/>
          <p:cNvSpPr/>
          <p:nvPr/>
        </p:nvSpPr>
        <p:spPr>
          <a:xfrm>
            <a:off x="640080" y="5532120"/>
            <a:ext cx="5074920" cy="274320"/>
          </a:xfrm>
          <a:prstGeom prst="rect">
            <a:avLst/>
          </a:prstGeom>
          <a:noFill/>
          <a:ln/>
        </p:spPr>
        <p:txBody>
          <a:bodyPr wrap="square" lIns="0" tIns="0" rIns="0" bIns="0" rtlCol="0" anchor="ctr"/>
          <a:lstStyle/>
          <a:p>
            <a:pPr indent="0" marL="0">
              <a:buNone/>
            </a:pPr>
            <a:r>
              <a:rPr lang="en-US" sz="1100" dirty="0">
                <a:solidFill>
                  <a:srgbClr val="5E6A78"/>
                </a:solidFill>
                <a:latin typeface="Arial" pitchFamily="34" charset="0"/>
                <a:ea typeface="Arial" pitchFamily="34" charset="-122"/>
                <a:cs typeface="Arial" pitchFamily="34" charset="-120"/>
              </a:rPr>
              <a:t>Also posted in the chat, ready to copy.</a:t>
            </a:r>
            <a:endParaRPr lang="en-US" sz="1100" dirty="0"/>
          </a:p>
        </p:txBody>
      </p:sp>
      <p:sp>
        <p:nvSpPr>
          <p:cNvPr id="11" name="Text 8"/>
          <p:cNvSpPr/>
          <p:nvPr/>
        </p:nvSpPr>
        <p:spPr>
          <a:xfrm>
            <a:off x="6355080" y="2084832"/>
            <a:ext cx="4617720" cy="256032"/>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TO DO</a:t>
            </a:r>
            <a:endParaRPr lang="en-US" sz="1050" dirty="0"/>
          </a:p>
        </p:txBody>
      </p:sp>
      <p:sp>
        <p:nvSpPr>
          <p:cNvPr id="12" name="Shape 9"/>
          <p:cNvSpPr/>
          <p:nvPr/>
        </p:nvSpPr>
        <p:spPr>
          <a:xfrm>
            <a:off x="6355080" y="2450592"/>
            <a:ext cx="384048" cy="384048"/>
          </a:xfrm>
          <a:prstGeom prst="ellipse">
            <a:avLst/>
          </a:prstGeom>
          <a:solidFill>
            <a:srgbClr val="D31242"/>
          </a:solidFill>
          <a:ln/>
        </p:spPr>
      </p:sp>
      <p:sp>
        <p:nvSpPr>
          <p:cNvPr id="13" name="Text 10"/>
          <p:cNvSpPr/>
          <p:nvPr/>
        </p:nvSpPr>
        <p:spPr>
          <a:xfrm>
            <a:off x="6355080" y="24505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4" name="Text 11"/>
          <p:cNvSpPr/>
          <p:nvPr/>
        </p:nvSpPr>
        <p:spPr>
          <a:xfrm>
            <a:off x="6903720" y="243230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Screenshot the panel on the left. Snipping Tool works.</a:t>
            </a:r>
            <a:endParaRPr lang="en-US" sz="1350" dirty="0"/>
          </a:p>
        </p:txBody>
      </p:sp>
      <p:sp>
        <p:nvSpPr>
          <p:cNvPr id="15" name="Shape 12"/>
          <p:cNvSpPr/>
          <p:nvPr/>
        </p:nvSpPr>
        <p:spPr>
          <a:xfrm>
            <a:off x="6355080" y="3319272"/>
            <a:ext cx="384048" cy="384048"/>
          </a:xfrm>
          <a:prstGeom prst="ellipse">
            <a:avLst/>
          </a:prstGeom>
          <a:solidFill>
            <a:srgbClr val="D31242"/>
          </a:solidFill>
          <a:ln/>
        </p:spPr>
      </p:sp>
      <p:sp>
        <p:nvSpPr>
          <p:cNvPr id="16" name="Text 13"/>
          <p:cNvSpPr/>
          <p:nvPr/>
        </p:nvSpPr>
        <p:spPr>
          <a:xfrm>
            <a:off x="6355080" y="3319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7" name="Text 14"/>
          <p:cNvSpPr/>
          <p:nvPr/>
        </p:nvSpPr>
        <p:spPr>
          <a:xfrm>
            <a:off x="6903720" y="330098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Paste the screenshot into Claude or ChatGPT with: “Turn this into a table with columns Action, Owner, Due.”</a:t>
            </a:r>
            <a:endParaRPr lang="en-US" sz="1350" dirty="0"/>
          </a:p>
        </p:txBody>
      </p:sp>
      <p:sp>
        <p:nvSpPr>
          <p:cNvPr id="18" name="Shape 15"/>
          <p:cNvSpPr/>
          <p:nvPr/>
        </p:nvSpPr>
        <p:spPr>
          <a:xfrm>
            <a:off x="6355080" y="4187952"/>
            <a:ext cx="384048" cy="384048"/>
          </a:xfrm>
          <a:prstGeom prst="ellipse">
            <a:avLst/>
          </a:prstGeom>
          <a:solidFill>
            <a:srgbClr val="D31242"/>
          </a:solidFill>
          <a:ln/>
        </p:spPr>
      </p:sp>
      <p:sp>
        <p:nvSpPr>
          <p:cNvPr id="19" name="Text 16"/>
          <p:cNvSpPr/>
          <p:nvPr/>
        </p:nvSpPr>
        <p:spPr>
          <a:xfrm>
            <a:off x="6355080" y="41879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0" name="Text 17"/>
          <p:cNvSpPr/>
          <p:nvPr/>
        </p:nvSpPr>
        <p:spPr>
          <a:xfrm>
            <a:off x="6903720" y="416966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Check the table against the panel. Count the rows.</a:t>
            </a:r>
            <a:endParaRPr lang="en-US" sz="1350" dirty="0"/>
          </a:p>
        </p:txBody>
      </p:sp>
      <p:sp>
        <p:nvSpPr>
          <p:cNvPr id="21" name="Shape 18"/>
          <p:cNvSpPr/>
          <p:nvPr/>
        </p:nvSpPr>
        <p:spPr>
          <a:xfrm>
            <a:off x="6355080" y="5084064"/>
            <a:ext cx="5166360" cy="914400"/>
          </a:xfrm>
          <a:prstGeom prst="roundRect">
            <a:avLst>
              <a:gd name="adj" fmla="val 9000"/>
            </a:avLst>
          </a:prstGeom>
          <a:solidFill>
            <a:srgbClr val="DCFCE7"/>
          </a:solidFill>
          <a:ln/>
          <a:effectLst>
            <a:outerShdw sx="100000" sy="100000" kx="0" ky="0" algn="bl" rotWithShape="0" blurRad="88900" dist="38100" dir="5400000">
              <a:srgbClr val="1F2733">
                <a:alpha val="10000"/>
              </a:srgbClr>
            </a:outerShdw>
          </a:effectLst>
        </p:spPr>
      </p:sp>
      <p:sp>
        <p:nvSpPr>
          <p:cNvPr id="22" name="Text 19"/>
          <p:cNvSpPr/>
          <p:nvPr/>
        </p:nvSpPr>
        <p:spPr>
          <a:xfrm>
            <a:off x="6629400" y="5184648"/>
            <a:ext cx="3657600" cy="237744"/>
          </a:xfrm>
          <a:prstGeom prst="rect">
            <a:avLst/>
          </a:prstGeom>
          <a:noFill/>
          <a:ln/>
        </p:spPr>
        <p:txBody>
          <a:bodyPr wrap="square" lIns="0" tIns="0" rIns="0" bIns="0" rtlCol="0" anchor="ctr"/>
          <a:lstStyle/>
          <a:p>
            <a:pPr indent="0" marL="0">
              <a:buNone/>
            </a:pPr>
            <a:r>
              <a:rPr lang="en-US" sz="950" b="1" spc="120" kern="0" dirty="0">
                <a:solidFill>
                  <a:srgbClr val="15803D"/>
                </a:solidFill>
                <a:latin typeface="Arial" pitchFamily="34" charset="0"/>
                <a:ea typeface="Arial" pitchFamily="34" charset="-122"/>
                <a:cs typeface="Arial" pitchFamily="34" charset="-120"/>
              </a:rPr>
              <a:t>CHECK</a:t>
            </a:r>
            <a:endParaRPr lang="en-US" sz="950" dirty="0"/>
          </a:p>
        </p:txBody>
      </p:sp>
      <p:sp>
        <p:nvSpPr>
          <p:cNvPr id="23" name="Text 20"/>
          <p:cNvSpPr/>
          <p:nvPr/>
        </p:nvSpPr>
        <p:spPr>
          <a:xfrm>
            <a:off x="6629400" y="5440680"/>
            <a:ext cx="4617720" cy="475488"/>
          </a:xfrm>
          <a:prstGeom prst="rect">
            <a:avLst/>
          </a:prstGeom>
          <a:noFill/>
          <a:ln/>
        </p:spPr>
        <p:txBody>
          <a:bodyPr wrap="square" lIns="0" tIns="0" rIns="0" bIns="0" rtlCol="0" anchor="t"/>
          <a:lstStyle/>
          <a:p>
            <a:pPr indent="0" marL="0">
              <a:lnSpc>
                <a:spcPct val="112000"/>
              </a:lnSpc>
              <a:buNone/>
            </a:pPr>
            <a:r>
              <a:rPr lang="en-US" sz="1250" dirty="0">
                <a:solidFill>
                  <a:srgbClr val="1F2733"/>
                </a:solidFill>
                <a:latin typeface="Arial" pitchFamily="34" charset="0"/>
                <a:ea typeface="Arial" pitchFamily="34" charset="-122"/>
                <a:cs typeface="Arial" pitchFamily="34" charset="-120"/>
              </a:rPr>
              <a:t>Five rows, with owners and dates read straight off the image?</a:t>
            </a:r>
            <a:endParaRPr lang="en-US" sz="1250" dirty="0"/>
          </a:p>
        </p:txBody>
      </p:sp>
      <p:sp>
        <p:nvSpPr>
          <p:cNvPr id="24" name="Text 21"/>
          <p:cNvSpPr/>
          <p:nvPr/>
        </p:nvSpPr>
        <p:spPr>
          <a:xfrm>
            <a:off x="640080" y="5943600"/>
            <a:ext cx="10881360" cy="365760"/>
          </a:xfrm>
          <a:prstGeom prst="rect">
            <a:avLst/>
          </a:prstGeom>
          <a:noFill/>
          <a:ln/>
        </p:spPr>
        <p:txBody>
          <a:bodyPr wrap="square" lIns="0" tIns="0" rIns="0" bIns="0" rtlCol="0" anchor="ctr"/>
          <a:lstStyle/>
          <a:p>
            <a:pPr indent="0" marL="0">
              <a:buNone/>
            </a:pPr>
            <a:r>
              <a:rPr lang="en-US" sz="1550" b="1" dirty="0">
                <a:solidFill>
                  <a:srgbClr val="D31242"/>
                </a:solidFill>
                <a:latin typeface="Arial" pitchFamily="34" charset="0"/>
                <a:ea typeface="Arial" pitchFamily="34" charset="-122"/>
                <a:cs typeface="Arial" pitchFamily="34" charset="-120"/>
              </a:rPr>
              <a:t>Four minutes. Then post one row into the chat.</a:t>
            </a:r>
            <a:endParaRPr lang="en-US" sz="1550" dirty="0"/>
          </a:p>
        </p:txBody>
      </p:sp>
      <p:sp>
        <p:nvSpPr>
          <p:cNvPr id="25" name="Text 22"/>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3 OF 6 · SHOW IT, DON'T TYPE IT</a:t>
            </a:r>
            <a:endParaRPr lang="en-US" sz="850" dirty="0"/>
          </a:p>
        </p:txBody>
      </p:sp>
      <p:sp>
        <p:nvSpPr>
          <p:cNvPr id="26" name="Shape 23"/>
          <p:cNvSpPr/>
          <p:nvPr/>
        </p:nvSpPr>
        <p:spPr>
          <a:xfrm>
            <a:off x="6583680" y="6483096"/>
            <a:ext cx="118872" cy="118872"/>
          </a:xfrm>
          <a:prstGeom prst="ellipse">
            <a:avLst/>
          </a:prstGeom>
          <a:solidFill>
            <a:srgbClr val="D9DDE3"/>
          </a:solidFill>
          <a:ln/>
        </p:spPr>
      </p:sp>
      <p:sp>
        <p:nvSpPr>
          <p:cNvPr id="27" name="Shape 24"/>
          <p:cNvSpPr/>
          <p:nvPr/>
        </p:nvSpPr>
        <p:spPr>
          <a:xfrm>
            <a:off x="6803136" y="6483096"/>
            <a:ext cx="118872" cy="118872"/>
          </a:xfrm>
          <a:prstGeom prst="ellipse">
            <a:avLst/>
          </a:prstGeom>
          <a:solidFill>
            <a:srgbClr val="D9DDE3"/>
          </a:solidFill>
          <a:ln/>
        </p:spPr>
      </p:sp>
      <p:sp>
        <p:nvSpPr>
          <p:cNvPr id="28" name="Shape 25"/>
          <p:cNvSpPr/>
          <p:nvPr/>
        </p:nvSpPr>
        <p:spPr>
          <a:xfrm>
            <a:off x="6990588" y="6451092"/>
            <a:ext cx="182880" cy="182880"/>
          </a:xfrm>
          <a:prstGeom prst="ellipse">
            <a:avLst/>
          </a:prstGeom>
          <a:ln w="9525">
            <a:solidFill>
              <a:srgbClr val="D31242"/>
            </a:solidFill>
            <a:prstDash val="solid"/>
          </a:ln>
        </p:spPr>
      </p:sp>
      <p:sp>
        <p:nvSpPr>
          <p:cNvPr id="29" name="Shape 26"/>
          <p:cNvSpPr/>
          <p:nvPr/>
        </p:nvSpPr>
        <p:spPr>
          <a:xfrm>
            <a:off x="7022592" y="6483096"/>
            <a:ext cx="118872" cy="118872"/>
          </a:xfrm>
          <a:prstGeom prst="ellipse">
            <a:avLst/>
          </a:prstGeom>
          <a:solidFill>
            <a:srgbClr val="D31242"/>
          </a:solidFill>
          <a:ln/>
        </p:spPr>
      </p:sp>
      <p:sp>
        <p:nvSpPr>
          <p:cNvPr id="30" name="Shape 27"/>
          <p:cNvSpPr/>
          <p:nvPr/>
        </p:nvSpPr>
        <p:spPr>
          <a:xfrm>
            <a:off x="7370064" y="6483096"/>
            <a:ext cx="118872" cy="118872"/>
          </a:xfrm>
          <a:prstGeom prst="ellipse">
            <a:avLst/>
          </a:prstGeom>
          <a:solidFill>
            <a:srgbClr val="D9DDE3"/>
          </a:solidFill>
          <a:ln/>
        </p:spPr>
      </p:sp>
      <p:sp>
        <p:nvSpPr>
          <p:cNvPr id="31" name="Shape 28"/>
          <p:cNvSpPr/>
          <p:nvPr/>
        </p:nvSpPr>
        <p:spPr>
          <a:xfrm>
            <a:off x="7717536" y="6483096"/>
            <a:ext cx="118872" cy="118872"/>
          </a:xfrm>
          <a:prstGeom prst="ellipse">
            <a:avLst/>
          </a:prstGeom>
          <a:solidFill>
            <a:srgbClr val="D9DDE3"/>
          </a:solidFill>
          <a:ln/>
        </p:spPr>
      </p:sp>
      <p:sp>
        <p:nvSpPr>
          <p:cNvPr id="32" name="Shape 29"/>
          <p:cNvSpPr/>
          <p:nvPr/>
        </p:nvSpPr>
        <p:spPr>
          <a:xfrm>
            <a:off x="7936992" y="6483096"/>
            <a:ext cx="118872" cy="118872"/>
          </a:xfrm>
          <a:prstGeom prst="ellipse">
            <a:avLst/>
          </a:prstGeom>
          <a:solidFill>
            <a:srgbClr val="D9DDE3"/>
          </a:solidFill>
          <a:ln/>
        </p:spPr>
      </p:sp>
      <p:sp>
        <p:nvSpPr>
          <p:cNvPr id="33" name="Text 30"/>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PART 2 OF 3</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Get the AI's help writing your prompt</a:t>
            </a:r>
            <a:endParaRPr lang="en-US" sz="4400" dirty="0"/>
          </a:p>
        </p:txBody>
      </p:sp>
      <p:sp>
        <p:nvSpPr>
          <p:cNvPr id="7" name="Text 5"/>
          <p:cNvSpPr/>
          <p:nvPr/>
        </p:nvSpPr>
        <p:spPr>
          <a:xfrm>
            <a:off x="9509760" y="777240"/>
            <a:ext cx="2103120" cy="2286000"/>
          </a:xfrm>
          <a:prstGeom prst="rect">
            <a:avLst/>
          </a:prstGeom>
          <a:noFill/>
          <a:ln/>
        </p:spPr>
        <p:txBody>
          <a:bodyPr wrap="square" lIns="0" tIns="0" rIns="0" bIns="0" rtlCol="0" anchor="ctr"/>
          <a:lstStyle/>
          <a:p>
            <a:pPr algn="r" indent="0" marL="0">
              <a:buNone/>
            </a:pPr>
            <a:r>
              <a:rPr lang="en-US" sz="15000" b="1" dirty="0">
                <a:solidFill>
                  <a:srgbClr val="A60E34"/>
                </a:solidFill>
                <a:latin typeface="Arial" pitchFamily="34" charset="0"/>
                <a:ea typeface="Arial" pitchFamily="34" charset="-122"/>
                <a:cs typeface="Arial" pitchFamily="34" charset="-120"/>
              </a:rPr>
              <a:t>2</a:t>
            </a:r>
            <a:endParaRPr lang="en-US" sz="15000" dirty="0"/>
          </a:p>
        </p:txBody>
      </p:sp>
      <p:sp>
        <p:nvSpPr>
          <p:cNvPr id="8" name="Shape 6"/>
          <p:cNvSpPr/>
          <p:nvPr/>
        </p:nvSpPr>
        <p:spPr>
          <a:xfrm>
            <a:off x="658368" y="4800600"/>
            <a:ext cx="3520440" cy="457200"/>
          </a:xfrm>
          <a:prstGeom prst="roundRect">
            <a:avLst>
              <a:gd name="adj" fmla="val 24000"/>
            </a:avLst>
          </a:prstGeom>
          <a:solidFill>
            <a:srgbClr val="A60E34"/>
          </a:solidFill>
          <a:ln/>
        </p:spPr>
      </p:sp>
      <p:sp>
        <p:nvSpPr>
          <p:cNvPr id="9" name="Text 7"/>
          <p:cNvSpPr/>
          <p:nvPr/>
        </p:nvSpPr>
        <p:spPr>
          <a:xfrm>
            <a:off x="658368" y="4800600"/>
            <a:ext cx="3520440" cy="457200"/>
          </a:xfrm>
          <a:prstGeom prst="rect">
            <a:avLst/>
          </a:prstGeom>
          <a:noFill/>
          <a:ln/>
        </p:spPr>
        <p:txBody>
          <a:bodyPr wrap="square" lIns="0" tIns="0" rIns="0" bIns="0" rtlCol="0" anchor="ctr"/>
          <a:lstStyle/>
          <a:p>
            <a:pPr algn="ctr" indent="0" marL="0">
              <a:buNone/>
            </a:pPr>
            <a:r>
              <a:rPr lang="en-US" sz="1150" dirty="0">
                <a:solidFill>
                  <a:srgbClr val="FCE4EA"/>
                </a:solidFill>
                <a:latin typeface="Arial" pitchFamily="34" charset="0"/>
                <a:ea typeface="Arial" pitchFamily="34" charset="-122"/>
                <a:cs typeface="Arial" pitchFamily="34" charset="-120"/>
              </a:rPr>
              <a:t>1 · Give the AI clear direction</a:t>
            </a:r>
            <a:endParaRPr lang="en-US" sz="1150" dirty="0"/>
          </a:p>
        </p:txBody>
      </p:sp>
      <p:sp>
        <p:nvSpPr>
          <p:cNvPr id="10" name="Shape 8"/>
          <p:cNvSpPr/>
          <p:nvPr/>
        </p:nvSpPr>
        <p:spPr>
          <a:xfrm>
            <a:off x="4315968" y="4800600"/>
            <a:ext cx="3520440" cy="457200"/>
          </a:xfrm>
          <a:prstGeom prst="roundRect">
            <a:avLst>
              <a:gd name="adj" fmla="val 24000"/>
            </a:avLst>
          </a:prstGeom>
          <a:solidFill>
            <a:srgbClr val="FFFFFF"/>
          </a:solidFill>
          <a:ln/>
        </p:spPr>
      </p:sp>
      <p:sp>
        <p:nvSpPr>
          <p:cNvPr id="11" name="Text 9"/>
          <p:cNvSpPr/>
          <p:nvPr/>
        </p:nvSpPr>
        <p:spPr>
          <a:xfrm>
            <a:off x="4315968" y="4800600"/>
            <a:ext cx="3520440" cy="457200"/>
          </a:xfrm>
          <a:prstGeom prst="rect">
            <a:avLst/>
          </a:prstGeom>
          <a:noFill/>
          <a:ln/>
        </p:spPr>
        <p:txBody>
          <a:bodyPr wrap="square" lIns="0" tIns="0" rIns="0" bIns="0" rtlCol="0" anchor="ctr"/>
          <a:lstStyle/>
          <a:p>
            <a:pPr algn="ctr" indent="0" marL="0">
              <a:buNone/>
            </a:pPr>
            <a:r>
              <a:rPr lang="en-US" sz="1150" b="1" dirty="0">
                <a:solidFill>
                  <a:srgbClr val="D31242"/>
                </a:solidFill>
                <a:latin typeface="Arial" pitchFamily="34" charset="0"/>
                <a:ea typeface="Arial" pitchFamily="34" charset="-122"/>
                <a:cs typeface="Arial" pitchFamily="34" charset="-120"/>
              </a:rPr>
              <a:t>2 · Get the AI's help writing your prompt</a:t>
            </a:r>
            <a:endParaRPr lang="en-US" sz="1150" dirty="0"/>
          </a:p>
        </p:txBody>
      </p:sp>
      <p:sp>
        <p:nvSpPr>
          <p:cNvPr id="12" name="Shape 10"/>
          <p:cNvSpPr/>
          <p:nvPr/>
        </p:nvSpPr>
        <p:spPr>
          <a:xfrm>
            <a:off x="7973568" y="4800600"/>
            <a:ext cx="3520440" cy="457200"/>
          </a:xfrm>
          <a:prstGeom prst="roundRect">
            <a:avLst>
              <a:gd name="adj" fmla="val 24000"/>
            </a:avLst>
          </a:prstGeom>
          <a:solidFill>
            <a:srgbClr val="A60E34"/>
          </a:solidFill>
          <a:ln/>
        </p:spPr>
      </p:sp>
      <p:sp>
        <p:nvSpPr>
          <p:cNvPr id="13" name="Text 11"/>
          <p:cNvSpPr/>
          <p:nvPr/>
        </p:nvSpPr>
        <p:spPr>
          <a:xfrm>
            <a:off x="7973568" y="4800600"/>
            <a:ext cx="3520440" cy="457200"/>
          </a:xfrm>
          <a:prstGeom prst="rect">
            <a:avLst/>
          </a:prstGeom>
          <a:noFill/>
          <a:ln/>
        </p:spPr>
        <p:txBody>
          <a:bodyPr wrap="square" lIns="0" tIns="0" rIns="0" bIns="0" rtlCol="0" anchor="ctr"/>
          <a:lstStyle/>
          <a:p>
            <a:pPr algn="ctr" indent="0" marL="0">
              <a:buNone/>
            </a:pPr>
            <a:r>
              <a:rPr lang="en-US" sz="1150" dirty="0">
                <a:solidFill>
                  <a:srgbClr val="FCE4EA"/>
                </a:solidFill>
                <a:latin typeface="Arial" pitchFamily="34" charset="0"/>
                <a:ea typeface="Arial" pitchFamily="34" charset="-122"/>
                <a:cs typeface="Arial" pitchFamily="34" charset="-120"/>
              </a:rPr>
              <a:t>3 · Improve the AI's first draft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3" name="Text 1"/>
          <p:cNvSpPr/>
          <p:nvPr/>
        </p:nvSpPr>
        <p:spPr>
          <a:xfrm>
            <a:off x="640080" y="566928"/>
            <a:ext cx="841248" cy="841248"/>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4" name="Text 2"/>
          <p:cNvSpPr/>
          <p:nvPr/>
        </p:nvSpPr>
        <p:spPr>
          <a:xfrm>
            <a:off x="1664208" y="548640"/>
            <a:ext cx="640080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TECHNIQUE 4 OF 6</a:t>
            </a:r>
            <a:endParaRPr lang="en-US" sz="1200" dirty="0"/>
          </a:p>
        </p:txBody>
      </p:sp>
      <p:sp>
        <p:nvSpPr>
          <p:cNvPr id="5" name="Text 3"/>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Have the AI ask you first</a:t>
            </a:r>
            <a:endParaRPr lang="en-US" sz="3000" dirty="0"/>
          </a:p>
        </p:txBody>
      </p:sp>
      <p:sp>
        <p:nvSpPr>
          <p:cNvPr id="6" name="Text 4"/>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GET THE AI'S HELP WRITING YOUR PROMPT</a:t>
            </a:r>
            <a:endParaRPr lang="en-US" sz="900" dirty="0"/>
          </a:p>
        </p:txBody>
      </p:sp>
      <p:sp>
        <p:nvSpPr>
          <p:cNvPr id="7" name="Text 5"/>
          <p:cNvSpPr/>
          <p:nvPr/>
        </p:nvSpPr>
        <p:spPr>
          <a:xfrm>
            <a:off x="1664208" y="1517904"/>
            <a:ext cx="7315200" cy="274320"/>
          </a:xfrm>
          <a:prstGeom prst="rect">
            <a:avLst/>
          </a:prstGeom>
          <a:noFill/>
          <a:ln/>
        </p:spPr>
        <p:txBody>
          <a:bodyPr wrap="square" lIns="0" tIns="0" rIns="0" bIns="0" rtlCol="0" anchor="ctr"/>
          <a:lstStyle/>
          <a:p>
            <a:pPr indent="0" marL="0">
              <a:buNone/>
            </a:pPr>
            <a:r>
              <a:rPr lang="en-US" sz="1150" i="1" dirty="0">
                <a:solidFill>
                  <a:srgbClr val="5E6A78"/>
                </a:solidFill>
                <a:latin typeface="Arial" pitchFamily="34" charset="0"/>
                <a:ea typeface="Arial" pitchFamily="34" charset="-122"/>
                <a:cs typeface="Arial" pitchFamily="34" charset="-120"/>
              </a:rPr>
              <a:t>Also called: meta-prompting</a:t>
            </a:r>
            <a:endParaRPr lang="en-US" sz="1150" dirty="0"/>
          </a:p>
        </p:txBody>
      </p:sp>
      <p:sp>
        <p:nvSpPr>
          <p:cNvPr id="8" name="Shape 6"/>
          <p:cNvSpPr/>
          <p:nvPr/>
        </p:nvSpPr>
        <p:spPr>
          <a:xfrm>
            <a:off x="640080" y="1874520"/>
            <a:ext cx="10881360" cy="1005840"/>
          </a:xfrm>
          <a:prstGeom prst="roundRect">
            <a:avLst>
              <a:gd name="adj" fmla="val 8182"/>
            </a:avLst>
          </a:prstGeom>
          <a:solidFill>
            <a:srgbClr val="FCE4EA"/>
          </a:solidFill>
          <a:ln/>
          <a:effectLst>
            <a:outerShdw sx="100000" sy="100000" kx="0" ky="0" algn="bl" rotWithShape="0" blurRad="88900" dist="38100" dir="5400000">
              <a:srgbClr val="1F2733">
                <a:alpha val="10000"/>
              </a:srgbClr>
            </a:outerShdw>
          </a:effectLst>
        </p:spPr>
      </p:sp>
      <p:sp>
        <p:nvSpPr>
          <p:cNvPr id="9" name="Text 7"/>
          <p:cNvSpPr/>
          <p:nvPr/>
        </p:nvSpPr>
        <p:spPr>
          <a:xfrm>
            <a:off x="960120" y="2057400"/>
            <a:ext cx="10241280" cy="640080"/>
          </a:xfrm>
          <a:prstGeom prst="rect">
            <a:avLst/>
          </a:prstGeom>
          <a:noFill/>
          <a:ln/>
        </p:spPr>
        <p:txBody>
          <a:bodyPr wrap="square" lIns="0" tIns="0" rIns="0" bIns="0" rtlCol="0" anchor="ctr"/>
          <a:lstStyle/>
          <a:p>
            <a:pPr indent="0" marL="0">
              <a:lnSpc>
                <a:spcPct val="110000"/>
              </a:lnSpc>
              <a:buNone/>
            </a:pPr>
            <a:r>
              <a:rPr lang="en-US" sz="1850" b="1" dirty="0">
                <a:solidFill>
                  <a:srgbClr val="1F2733"/>
                </a:solidFill>
                <a:latin typeface="Arial" pitchFamily="34" charset="0"/>
                <a:ea typeface="Arial" pitchFamily="34" charset="-122"/>
                <a:cs typeface="Arial" pitchFamily="34" charset="-120"/>
              </a:rPr>
              <a:t>Ask the AI to put questions to you, or to improve your prompt, before it writes anything.</a:t>
            </a:r>
            <a:endParaRPr lang="en-US" sz="1850" dirty="0"/>
          </a:p>
        </p:txBody>
      </p:sp>
      <p:sp>
        <p:nvSpPr>
          <p:cNvPr id="10" name="Shape 8"/>
          <p:cNvSpPr/>
          <p:nvPr/>
        </p:nvSpPr>
        <p:spPr>
          <a:xfrm>
            <a:off x="640080" y="3246120"/>
            <a:ext cx="5074920" cy="1783080"/>
          </a:xfrm>
          <a:prstGeom prst="roundRect">
            <a:avLst>
              <a:gd name="adj" fmla="val 4615"/>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1" name="Text 9"/>
          <p:cNvSpPr/>
          <p:nvPr/>
        </p:nvSpPr>
        <p:spPr>
          <a:xfrm>
            <a:off x="914400" y="3456432"/>
            <a:ext cx="4526280" cy="274320"/>
          </a:xfrm>
          <a:prstGeom prst="rect">
            <a:avLst/>
          </a:prstGeom>
          <a:noFill/>
          <a:ln/>
        </p:spPr>
        <p:txBody>
          <a:bodyPr wrap="square" lIns="0" tIns="0" rIns="0" bIns="0" rtlCol="0" anchor="ctr"/>
          <a:lstStyle/>
          <a:p>
            <a:pPr indent="0" marL="0">
              <a:buNone/>
            </a:pPr>
            <a:r>
              <a:rPr lang="en-US" sz="1050" b="1" spc="150" kern="0" dirty="0">
                <a:solidFill>
                  <a:srgbClr val="5E6A78"/>
                </a:solidFill>
                <a:latin typeface="Arial" pitchFamily="34" charset="0"/>
                <a:ea typeface="Arial" pitchFamily="34" charset="-122"/>
                <a:cs typeface="Arial" pitchFamily="34" charset="-120"/>
              </a:rPr>
              <a:t>IF YOU ASK STRAIGHT AWAY</a:t>
            </a:r>
            <a:endParaRPr lang="en-US" sz="1050" dirty="0"/>
          </a:p>
        </p:txBody>
      </p:sp>
      <p:sp>
        <p:nvSpPr>
          <p:cNvPr id="12" name="Text 10"/>
          <p:cNvSpPr/>
          <p:nvPr/>
        </p:nvSpPr>
        <p:spPr>
          <a:xfrm>
            <a:off x="914400" y="3785616"/>
            <a:ext cx="4526280" cy="1097280"/>
          </a:xfrm>
          <a:prstGeom prst="rect">
            <a:avLst/>
          </a:prstGeom>
          <a:noFill/>
          <a:ln/>
        </p:spPr>
        <p:txBody>
          <a:bodyPr wrap="square" lIns="0" tIns="0" rIns="0" bIns="0" rtlCol="0" anchor="t"/>
          <a:lstStyle/>
          <a:p>
            <a:pPr indent="0" marL="0">
              <a:lnSpc>
                <a:spcPct val="120000"/>
              </a:lnSpc>
              <a:buNone/>
            </a:pPr>
            <a:r>
              <a:rPr lang="en-US" sz="1450" dirty="0">
                <a:solidFill>
                  <a:srgbClr val="3A4452"/>
                </a:solidFill>
                <a:latin typeface="Arial" pitchFamily="34" charset="0"/>
                <a:ea typeface="Arial" pitchFamily="34" charset="-122"/>
                <a:cs typeface="Arial" pitchFamily="34" charset="-120"/>
              </a:rPr>
              <a:t>The AI writes around the details it does not have.</a:t>
            </a:r>
            <a:endParaRPr lang="en-US" sz="1450" dirty="0"/>
          </a:p>
        </p:txBody>
      </p:sp>
      <p:sp>
        <p:nvSpPr>
          <p:cNvPr id="13" name="Shape 11"/>
          <p:cNvSpPr/>
          <p:nvPr/>
        </p:nvSpPr>
        <p:spPr>
          <a:xfrm>
            <a:off x="5824728" y="3931920"/>
            <a:ext cx="420624" cy="420624"/>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14" name="Text 12"/>
          <p:cNvSpPr/>
          <p:nvPr/>
        </p:nvSpPr>
        <p:spPr>
          <a:xfrm>
            <a:off x="5824728" y="3931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Shape 13"/>
          <p:cNvSpPr/>
          <p:nvPr/>
        </p:nvSpPr>
        <p:spPr>
          <a:xfrm>
            <a:off x="6355080" y="3246120"/>
            <a:ext cx="5166360" cy="1783080"/>
          </a:xfrm>
          <a:prstGeom prst="roundRect">
            <a:avLst>
              <a:gd name="adj" fmla="val 4615"/>
            </a:avLst>
          </a:prstGeom>
          <a:solidFill>
            <a:srgbClr val="DCFCE7"/>
          </a:solidFill>
          <a:ln/>
          <a:effectLst>
            <a:outerShdw sx="100000" sy="100000" kx="0" ky="0" algn="bl" rotWithShape="0" blurRad="88900" dist="38100" dir="5400000">
              <a:srgbClr val="1F2733">
                <a:alpha val="10000"/>
              </a:srgbClr>
            </a:outerShdw>
          </a:effectLst>
        </p:spPr>
      </p:sp>
      <p:sp>
        <p:nvSpPr>
          <p:cNvPr id="16" name="Text 14"/>
          <p:cNvSpPr/>
          <p:nvPr/>
        </p:nvSpPr>
        <p:spPr>
          <a:xfrm>
            <a:off x="6629400" y="3456432"/>
            <a:ext cx="4617720" cy="274320"/>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IF THE AI ASKS YOU FIRST</a:t>
            </a:r>
            <a:endParaRPr lang="en-US" sz="1050" dirty="0"/>
          </a:p>
        </p:txBody>
      </p:sp>
      <p:sp>
        <p:nvSpPr>
          <p:cNvPr id="17" name="Text 15"/>
          <p:cNvSpPr/>
          <p:nvPr/>
        </p:nvSpPr>
        <p:spPr>
          <a:xfrm>
            <a:off x="6629400" y="3785616"/>
            <a:ext cx="4617720" cy="1097280"/>
          </a:xfrm>
          <a:prstGeom prst="rect">
            <a:avLst/>
          </a:prstGeom>
          <a:noFill/>
          <a:ln/>
        </p:spPr>
        <p:txBody>
          <a:bodyPr wrap="square" lIns="0" tIns="0" rIns="0" bIns="0" rtlCol="0" anchor="t"/>
          <a:lstStyle/>
          <a:p>
            <a:pPr indent="0" marL="0">
              <a:lnSpc>
                <a:spcPct val="120000"/>
              </a:lnSpc>
              <a:buNone/>
            </a:pPr>
            <a:r>
              <a:rPr lang="en-US" sz="1450" dirty="0">
                <a:solidFill>
                  <a:srgbClr val="1F2733"/>
                </a:solidFill>
                <a:latin typeface="Arial" pitchFamily="34" charset="0"/>
                <a:ea typeface="Arial" pitchFamily="34" charset="-122"/>
                <a:cs typeface="Arial" pitchFamily="34" charset="-120"/>
              </a:rPr>
              <a:t>You supply those details, and the answer is built on them.</a:t>
            </a:r>
            <a:endParaRPr lang="en-US" sz="1450" dirty="0"/>
          </a:p>
        </p:txBody>
      </p:sp>
      <p:sp>
        <p:nvSpPr>
          <p:cNvPr id="18" name="Text 16"/>
          <p:cNvSpPr/>
          <p:nvPr/>
        </p:nvSpPr>
        <p:spPr>
          <a:xfrm>
            <a:off x="640080" y="5440680"/>
            <a:ext cx="10881360" cy="36576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Use this when the task depends on details only you know.</a:t>
            </a:r>
            <a:endParaRPr lang="en-US" sz="1500" dirty="0"/>
          </a:p>
        </p:txBody>
      </p:sp>
      <p:sp>
        <p:nvSpPr>
          <p:cNvPr id="19" name="Text 17"/>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4 OF 6 · HAVE IT ASK YOU FIRST</a:t>
            </a:r>
            <a:endParaRPr lang="en-US" sz="850" dirty="0"/>
          </a:p>
        </p:txBody>
      </p:sp>
      <p:sp>
        <p:nvSpPr>
          <p:cNvPr id="20" name="Shape 18"/>
          <p:cNvSpPr/>
          <p:nvPr/>
        </p:nvSpPr>
        <p:spPr>
          <a:xfrm>
            <a:off x="6583680" y="6483096"/>
            <a:ext cx="118872" cy="118872"/>
          </a:xfrm>
          <a:prstGeom prst="ellipse">
            <a:avLst/>
          </a:prstGeom>
          <a:solidFill>
            <a:srgbClr val="D9DDE3"/>
          </a:solidFill>
          <a:ln/>
        </p:spPr>
      </p:sp>
      <p:sp>
        <p:nvSpPr>
          <p:cNvPr id="21" name="Shape 19"/>
          <p:cNvSpPr/>
          <p:nvPr/>
        </p:nvSpPr>
        <p:spPr>
          <a:xfrm>
            <a:off x="6803136" y="6483096"/>
            <a:ext cx="118872" cy="118872"/>
          </a:xfrm>
          <a:prstGeom prst="ellipse">
            <a:avLst/>
          </a:prstGeom>
          <a:solidFill>
            <a:srgbClr val="D9DDE3"/>
          </a:solidFill>
          <a:ln/>
        </p:spPr>
      </p:sp>
      <p:sp>
        <p:nvSpPr>
          <p:cNvPr id="22" name="Shape 20"/>
          <p:cNvSpPr/>
          <p:nvPr/>
        </p:nvSpPr>
        <p:spPr>
          <a:xfrm>
            <a:off x="7022592" y="6483096"/>
            <a:ext cx="118872" cy="118872"/>
          </a:xfrm>
          <a:prstGeom prst="ellipse">
            <a:avLst/>
          </a:prstGeom>
          <a:solidFill>
            <a:srgbClr val="D9DDE3"/>
          </a:solidFill>
          <a:ln/>
        </p:spPr>
      </p:sp>
      <p:sp>
        <p:nvSpPr>
          <p:cNvPr id="23" name="Shape 21"/>
          <p:cNvSpPr/>
          <p:nvPr/>
        </p:nvSpPr>
        <p:spPr>
          <a:xfrm>
            <a:off x="7338060" y="6451092"/>
            <a:ext cx="182880" cy="182880"/>
          </a:xfrm>
          <a:prstGeom prst="ellipse">
            <a:avLst/>
          </a:prstGeom>
          <a:ln w="9525">
            <a:solidFill>
              <a:srgbClr val="D31242"/>
            </a:solidFill>
            <a:prstDash val="solid"/>
          </a:ln>
        </p:spPr>
      </p:sp>
      <p:sp>
        <p:nvSpPr>
          <p:cNvPr id="24" name="Shape 22"/>
          <p:cNvSpPr/>
          <p:nvPr/>
        </p:nvSpPr>
        <p:spPr>
          <a:xfrm>
            <a:off x="7370064" y="6483096"/>
            <a:ext cx="118872" cy="118872"/>
          </a:xfrm>
          <a:prstGeom prst="ellipse">
            <a:avLst/>
          </a:prstGeom>
          <a:solidFill>
            <a:srgbClr val="D31242"/>
          </a:solidFill>
          <a:ln/>
        </p:spPr>
      </p:sp>
      <p:sp>
        <p:nvSpPr>
          <p:cNvPr id="25" name="Shape 23"/>
          <p:cNvSpPr/>
          <p:nvPr/>
        </p:nvSpPr>
        <p:spPr>
          <a:xfrm>
            <a:off x="7717536" y="6483096"/>
            <a:ext cx="118872" cy="118872"/>
          </a:xfrm>
          <a:prstGeom prst="ellipse">
            <a:avLst/>
          </a:prstGeom>
          <a:solidFill>
            <a:srgbClr val="D9DDE3"/>
          </a:solidFill>
          <a:ln/>
        </p:spPr>
      </p:sp>
      <p:sp>
        <p:nvSpPr>
          <p:cNvPr id="26" name="Shape 24"/>
          <p:cNvSpPr/>
          <p:nvPr/>
        </p:nvSpPr>
        <p:spPr>
          <a:xfrm>
            <a:off x="7936992" y="6483096"/>
            <a:ext cx="118872" cy="118872"/>
          </a:xfrm>
          <a:prstGeom prst="ellipse">
            <a:avLst/>
          </a:prstGeom>
          <a:solidFill>
            <a:srgbClr val="D9DDE3"/>
          </a:solidFill>
          <a:ln/>
        </p:spPr>
      </p:sp>
      <p:sp>
        <p:nvSpPr>
          <p:cNvPr id="27" name="Text 25"/>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HAVE IT ASK YOU FIRST · BEFORE AND AFTER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sentence turns it into an interview</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GET THE AI'S HELP WRITING YOUR PROMPT</a:t>
            </a:r>
            <a:endParaRPr lang="en-US" sz="900" dirty="0"/>
          </a:p>
        </p:txBody>
      </p:sp>
      <p:sp>
        <p:nvSpPr>
          <p:cNvPr id="7" name="Shape 4"/>
          <p:cNvSpPr/>
          <p:nvPr/>
        </p:nvSpPr>
        <p:spPr>
          <a:xfrm>
            <a:off x="640080" y="1874520"/>
            <a:ext cx="5074920" cy="3566160"/>
          </a:xfrm>
          <a:prstGeom prst="roundRect">
            <a:avLst>
              <a:gd name="adj" fmla="val 230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66544"/>
            <a:ext cx="4526280" cy="256032"/>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PROMPT</a:t>
            </a:r>
            <a:endParaRPr lang="en-US" sz="1100" dirty="0"/>
          </a:p>
        </p:txBody>
      </p:sp>
      <p:sp>
        <p:nvSpPr>
          <p:cNvPr id="9" name="Text 6"/>
          <p:cNvSpPr/>
          <p:nvPr/>
        </p:nvSpPr>
        <p:spPr>
          <a:xfrm>
            <a:off x="960120" y="2414016"/>
            <a:ext cx="4480560" cy="502920"/>
          </a:xfrm>
          <a:prstGeom prst="rect">
            <a:avLst/>
          </a:prstGeom>
          <a:noFill/>
          <a:ln/>
        </p:spPr>
        <p:txBody>
          <a:bodyPr wrap="square" lIns="0" tIns="0" rIns="0" bIns="0" rtlCol="0" anchor="t"/>
          <a:lstStyle/>
          <a:p>
            <a:pPr indent="0" marL="0">
              <a:lnSpc>
                <a:spcPct val="116000"/>
              </a:lnSpc>
              <a:buNone/>
            </a:pPr>
            <a:r>
              <a:rPr lang="en-US" sz="1250" dirty="0">
                <a:solidFill>
                  <a:srgbClr val="1F2733"/>
                </a:solidFill>
                <a:latin typeface="Arial" pitchFamily="34" charset="0"/>
                <a:ea typeface="Arial" pitchFamily="34" charset="-122"/>
                <a:cs typeface="Arial" pitchFamily="34" charset="-120"/>
              </a:rPr>
              <a:t>Draft an email to my team about the new</a:t>
            </a:r>
            <a:endParaRPr lang="en-US" sz="1250" dirty="0"/>
          </a:p>
          <a:p>
            <a:pPr indent="0" marL="0">
              <a:lnSpc>
                <a:spcPct val="116000"/>
              </a:lnSpc>
              <a:buNone/>
            </a:pPr>
            <a:r>
              <a:rPr lang="en-US" sz="1250" dirty="0">
                <a:solidFill>
                  <a:srgbClr val="1F2733"/>
                </a:solidFill>
                <a:latin typeface="Arial" pitchFamily="34" charset="0"/>
                <a:ea typeface="Arial" pitchFamily="34" charset="-122"/>
                <a:cs typeface="Arial" pitchFamily="34" charset="-120"/>
              </a:rPr>
              <a:t>inventory count schedule starting in September.</a:t>
            </a:r>
            <a:endParaRPr lang="en-US" sz="1250" dirty="0"/>
          </a:p>
        </p:txBody>
      </p:sp>
      <p:sp>
        <p:nvSpPr>
          <p:cNvPr id="10" name="Shape 7"/>
          <p:cNvSpPr/>
          <p:nvPr/>
        </p:nvSpPr>
        <p:spPr>
          <a:xfrm>
            <a:off x="841248" y="3008376"/>
            <a:ext cx="4681728" cy="804672"/>
          </a:xfrm>
          <a:prstGeom prst="roundRect">
            <a:avLst>
              <a:gd name="adj" fmla="val 7955"/>
            </a:avLst>
          </a:prstGeom>
          <a:solidFill>
            <a:srgbClr val="DCFCE7"/>
          </a:solidFill>
          <a:ln/>
        </p:spPr>
      </p:sp>
      <p:sp>
        <p:nvSpPr>
          <p:cNvPr id="11" name="Text 8"/>
          <p:cNvSpPr/>
          <p:nvPr/>
        </p:nvSpPr>
        <p:spPr>
          <a:xfrm>
            <a:off x="960120" y="3054096"/>
            <a:ext cx="4480560" cy="694944"/>
          </a:xfrm>
          <a:prstGeom prst="rect">
            <a:avLst/>
          </a:prstGeom>
          <a:noFill/>
          <a:ln/>
        </p:spPr>
        <p:txBody>
          <a:bodyPr wrap="square" lIns="0" tIns="0" rIns="0" bIns="0" rtlCol="0" anchor="t"/>
          <a:lstStyle/>
          <a:p>
            <a:pPr indent="0" marL="0">
              <a:lnSpc>
                <a:spcPct val="116000"/>
              </a:lnSpc>
              <a:buNone/>
            </a:pPr>
            <a:r>
              <a:rPr lang="en-US" sz="950" b="1" spc="150" kern="0" dirty="0">
                <a:solidFill>
                  <a:srgbClr val="15803D"/>
                </a:solidFill>
                <a:latin typeface="Arial" pitchFamily="34" charset="0"/>
                <a:ea typeface="Arial" pitchFamily="34" charset="-122"/>
                <a:cs typeface="Arial" pitchFamily="34" charset="-120"/>
              </a:rPr>
              <a:t>WHAT YOU ADD: ONE SENTENCE
</a:t>
            </a:r>
            <a:pPr indent="0" marL="0">
              <a:lnSpc>
                <a:spcPct val="116000"/>
              </a:lnSpc>
              <a:buNone/>
            </a:pPr>
            <a:r>
              <a:rPr lang="en-US" sz="1200" dirty="0">
                <a:solidFill>
                  <a:srgbClr val="1F2733"/>
                </a:solidFill>
                <a:latin typeface="Arial" pitchFamily="34" charset="0"/>
                <a:ea typeface="Arial" pitchFamily="34" charset="-122"/>
                <a:cs typeface="Arial" pitchFamily="34" charset="-120"/>
              </a:rPr>
              <a:t>Before you write, ask me the five questions</a:t>
            </a:r>
            <a:endParaRPr lang="en-US" sz="95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you need answered.</a:t>
            </a:r>
            <a:endParaRPr lang="en-US" sz="950" dirty="0"/>
          </a:p>
        </p:txBody>
      </p:sp>
      <p:sp>
        <p:nvSpPr>
          <p:cNvPr id="12" name="Shape 9"/>
          <p:cNvSpPr/>
          <p:nvPr/>
        </p:nvSpPr>
        <p:spPr>
          <a:xfrm>
            <a:off x="6355080" y="1874520"/>
            <a:ext cx="5166360" cy="1600200"/>
          </a:xfrm>
          <a:prstGeom prst="roundRect">
            <a:avLst>
              <a:gd name="adj" fmla="val 5143"/>
            </a:avLst>
          </a:prstGeom>
          <a:solidFill>
            <a:srgbClr val="FEE2E2"/>
          </a:solidFill>
          <a:ln/>
          <a:effectLst>
            <a:outerShdw sx="100000" sy="100000" kx="0" ky="0" algn="bl" rotWithShape="0" blurRad="88900" dist="38100" dir="5400000">
              <a:srgbClr val="1F2733">
                <a:alpha val="10000"/>
              </a:srgbClr>
            </a:outerShdw>
          </a:effectLst>
        </p:spPr>
      </p:sp>
      <p:sp>
        <p:nvSpPr>
          <p:cNvPr id="13" name="Shape 10"/>
          <p:cNvSpPr/>
          <p:nvPr/>
        </p:nvSpPr>
        <p:spPr>
          <a:xfrm>
            <a:off x="6455664" y="2029968"/>
            <a:ext cx="50292" cy="1298448"/>
          </a:xfrm>
          <a:prstGeom prst="roundRect">
            <a:avLst>
              <a:gd name="adj" fmla="val 36364"/>
            </a:avLst>
          </a:prstGeom>
          <a:solidFill>
            <a:srgbClr val="B91C1C"/>
          </a:solidFill>
          <a:ln/>
        </p:spPr>
      </p:sp>
      <p:sp>
        <p:nvSpPr>
          <p:cNvPr id="14" name="Text 11"/>
          <p:cNvSpPr/>
          <p:nvPr/>
        </p:nvSpPr>
        <p:spPr>
          <a:xfrm>
            <a:off x="6629400" y="2048256"/>
            <a:ext cx="4617720" cy="237744"/>
          </a:xfrm>
          <a:prstGeom prst="rect">
            <a:avLst/>
          </a:prstGeom>
          <a:noFill/>
          <a:ln/>
        </p:spPr>
        <p:txBody>
          <a:bodyPr wrap="square" lIns="0" tIns="0" rIns="0" bIns="0" rtlCol="0" anchor="ctr"/>
          <a:lstStyle/>
          <a:p>
            <a:pPr indent="0" marL="0">
              <a:buNone/>
            </a:pPr>
            <a:r>
              <a:rPr lang="en-US" sz="1000" b="1" spc="120" kern="0" dirty="0">
                <a:solidFill>
                  <a:srgbClr val="B91C1C"/>
                </a:solidFill>
                <a:latin typeface="Arial" pitchFamily="34" charset="0"/>
                <a:ea typeface="Arial" pitchFamily="34" charset="-122"/>
                <a:cs typeface="Arial" pitchFamily="34" charset="-120"/>
              </a:rPr>
              <a:t>RESPONSE, WITHOUT THE ADDITION</a:t>
            </a:r>
            <a:endParaRPr lang="en-US" sz="1000" dirty="0"/>
          </a:p>
        </p:txBody>
      </p:sp>
      <p:sp>
        <p:nvSpPr>
          <p:cNvPr id="15" name="Text 12"/>
          <p:cNvSpPr/>
          <p:nvPr/>
        </p:nvSpPr>
        <p:spPr>
          <a:xfrm>
            <a:off x="6629400" y="2340864"/>
            <a:ext cx="4617720" cy="1042416"/>
          </a:xfrm>
          <a:prstGeom prst="rect">
            <a:avLst/>
          </a:prstGeom>
          <a:noFill/>
          <a:ln/>
        </p:spPr>
        <p:txBody>
          <a:bodyPr wrap="square" lIns="0" tIns="0" rIns="0" bIns="0" rtlCol="0" anchor="t"/>
          <a:lstStyle/>
          <a:p>
            <a:pPr indent="0" marL="0">
              <a:lnSpc>
                <a:spcPct val="114000"/>
              </a:lnSpc>
              <a:buNone/>
            </a:pPr>
            <a:r>
              <a:rPr lang="en-US" sz="1100" dirty="0">
                <a:solidFill>
                  <a:srgbClr val="1F2733"/>
                </a:solidFill>
                <a:latin typeface="Arial" pitchFamily="34" charset="0"/>
                <a:ea typeface="Arial" pitchFamily="34" charset="-122"/>
                <a:cs typeface="Arial" pitchFamily="34" charset="-120"/>
              </a:rPr>
              <a:t>“Team, starting in September we will move to the new inventory count schedule. Please review the updated calendar and plan coverage for your area. More details to follow.”</a:t>
            </a:r>
            <a:endParaRPr lang="en-US" sz="1100" dirty="0"/>
          </a:p>
        </p:txBody>
      </p:sp>
      <p:sp>
        <p:nvSpPr>
          <p:cNvPr id="16" name="Shape 13"/>
          <p:cNvSpPr/>
          <p:nvPr/>
        </p:nvSpPr>
        <p:spPr>
          <a:xfrm>
            <a:off x="6355080" y="3611880"/>
            <a:ext cx="5166360" cy="1828800"/>
          </a:xfrm>
          <a:prstGeom prst="roundRect">
            <a:avLst>
              <a:gd name="adj" fmla="val 4500"/>
            </a:avLst>
          </a:prstGeom>
          <a:solidFill>
            <a:srgbClr val="DCFCE7"/>
          </a:solidFill>
          <a:ln/>
          <a:effectLst>
            <a:outerShdw sx="100000" sy="100000" kx="0" ky="0" algn="bl" rotWithShape="0" blurRad="88900" dist="38100" dir="5400000">
              <a:srgbClr val="1F2733">
                <a:alpha val="10000"/>
              </a:srgbClr>
            </a:outerShdw>
          </a:effectLst>
        </p:spPr>
      </p:sp>
      <p:sp>
        <p:nvSpPr>
          <p:cNvPr id="17" name="Shape 14"/>
          <p:cNvSpPr/>
          <p:nvPr/>
        </p:nvSpPr>
        <p:spPr>
          <a:xfrm>
            <a:off x="6455664" y="3767328"/>
            <a:ext cx="50292" cy="1536192"/>
          </a:xfrm>
          <a:prstGeom prst="roundRect">
            <a:avLst>
              <a:gd name="adj" fmla="val 36364"/>
            </a:avLst>
          </a:prstGeom>
          <a:solidFill>
            <a:srgbClr val="15803D"/>
          </a:solidFill>
          <a:ln/>
        </p:spPr>
      </p:sp>
      <p:sp>
        <p:nvSpPr>
          <p:cNvPr id="18" name="Text 15"/>
          <p:cNvSpPr/>
          <p:nvPr/>
        </p:nvSpPr>
        <p:spPr>
          <a:xfrm>
            <a:off x="6629400" y="3776472"/>
            <a:ext cx="4617720" cy="237744"/>
          </a:xfrm>
          <a:prstGeom prst="rect">
            <a:avLst/>
          </a:prstGeom>
          <a:noFill/>
          <a:ln/>
        </p:spPr>
        <p:txBody>
          <a:bodyPr wrap="square" lIns="0" tIns="0" rIns="0" bIns="0" rtlCol="0" anchor="ctr"/>
          <a:lstStyle/>
          <a:p>
            <a:pPr indent="0" marL="0">
              <a:buNone/>
            </a:pPr>
            <a:r>
              <a:rPr lang="en-US" sz="1000" b="1" spc="120" kern="0" dirty="0">
                <a:solidFill>
                  <a:srgbClr val="15803D"/>
                </a:solidFill>
                <a:latin typeface="Arial" pitchFamily="34" charset="0"/>
                <a:ea typeface="Arial" pitchFamily="34" charset="-122"/>
                <a:cs typeface="Arial" pitchFamily="34" charset="-120"/>
              </a:rPr>
              <a:t>RESPONSE, WITH THE ADDITION</a:t>
            </a:r>
            <a:endParaRPr lang="en-US" sz="1000" dirty="0"/>
          </a:p>
        </p:txBody>
      </p:sp>
      <p:sp>
        <p:nvSpPr>
          <p:cNvPr id="19" name="Text 16"/>
          <p:cNvSpPr/>
          <p:nvPr/>
        </p:nvSpPr>
        <p:spPr>
          <a:xfrm>
            <a:off x="6629400" y="4069080"/>
            <a:ext cx="4617720" cy="1298448"/>
          </a:xfrm>
          <a:prstGeom prst="rect">
            <a:avLst/>
          </a:prstGeom>
          <a:noFill/>
          <a:ln/>
        </p:spPr>
        <p:txBody>
          <a:bodyPr wrap="square" lIns="0" tIns="0" rIns="0" bIns="0" rtlCol="0" anchor="t"/>
          <a:lstStyle/>
          <a:p>
            <a:pPr indent="0" marL="0">
              <a:lnSpc>
                <a:spcPct val="114000"/>
              </a:lnSpc>
              <a:buNone/>
            </a:pPr>
            <a:r>
              <a:rPr lang="en-US" sz="1100" dirty="0">
                <a:solidFill>
                  <a:srgbClr val="1F2733"/>
                </a:solidFill>
                <a:latin typeface="Arial" pitchFamily="34" charset="0"/>
                <a:ea typeface="Arial" pitchFamily="34" charset="-122"/>
                <a:cs typeface="Arial" pitchFamily="34" charset="-120"/>
              </a:rPr>
              <a:t>1. Which departments does this affect?</a:t>
            </a:r>
            <a:endParaRPr lang="en-US" sz="1100" dirty="0"/>
          </a:p>
          <a:p>
            <a:pPr indent="0" marL="0">
              <a:lnSpc>
                <a:spcPct val="114000"/>
              </a:lnSpc>
              <a:buNone/>
            </a:pPr>
            <a:r>
              <a:rPr lang="en-US" sz="1100" dirty="0">
                <a:solidFill>
                  <a:srgbClr val="1F2733"/>
                </a:solidFill>
                <a:latin typeface="Arial" pitchFamily="34" charset="0"/>
                <a:ea typeface="Arial" pitchFamily="34" charset="-122"/>
                <a:cs typeface="Arial" pitchFamily="34" charset="-120"/>
              </a:rPr>
              <a:t>2. What changes from the current schedule?</a:t>
            </a:r>
            <a:endParaRPr lang="en-US" sz="1100" dirty="0"/>
          </a:p>
          <a:p>
            <a:pPr indent="0" marL="0">
              <a:lnSpc>
                <a:spcPct val="114000"/>
              </a:lnSpc>
              <a:buNone/>
            </a:pPr>
            <a:r>
              <a:rPr lang="en-US" sz="1100" dirty="0">
                <a:solidFill>
                  <a:srgbClr val="1F2733"/>
                </a:solidFill>
                <a:latin typeface="Arial" pitchFamily="34" charset="0"/>
                <a:ea typeface="Arial" pitchFamily="34" charset="-122"/>
                <a:cs typeface="Arial" pitchFamily="34" charset="-120"/>
              </a:rPr>
              <a:t>3. What are the key dates?</a:t>
            </a:r>
            <a:endParaRPr lang="en-US" sz="1100" dirty="0"/>
          </a:p>
          <a:p>
            <a:pPr indent="0" marL="0">
              <a:lnSpc>
                <a:spcPct val="114000"/>
              </a:lnSpc>
              <a:buNone/>
            </a:pPr>
            <a:r>
              <a:rPr lang="en-US" sz="1100" dirty="0">
                <a:solidFill>
                  <a:srgbClr val="1F2733"/>
                </a:solidFill>
                <a:latin typeface="Arial" pitchFamily="34" charset="0"/>
                <a:ea typeface="Arial" pitchFamily="34" charset="-122"/>
                <a:cs typeface="Arial" pitchFamily="34" charset="-120"/>
              </a:rPr>
              <a:t>4. What must people do first?</a:t>
            </a:r>
            <a:endParaRPr lang="en-US" sz="1100" dirty="0"/>
          </a:p>
          <a:p>
            <a:pPr indent="0" marL="0">
              <a:lnSpc>
                <a:spcPct val="114000"/>
              </a:lnSpc>
              <a:buNone/>
            </a:pPr>
            <a:r>
              <a:rPr lang="en-US" sz="1100" dirty="0">
                <a:solidFill>
                  <a:srgbClr val="1F2733"/>
                </a:solidFill>
                <a:latin typeface="Arial" pitchFamily="34" charset="0"/>
                <a:ea typeface="Arial" pitchFamily="34" charset="-122"/>
                <a:cs typeface="Arial" pitchFamily="34" charset="-120"/>
              </a:rPr>
              <a:t>5. How formal should the email be?</a:t>
            </a:r>
            <a:endParaRPr lang="en-US" sz="1100" dirty="0"/>
          </a:p>
        </p:txBody>
      </p:sp>
      <p:sp>
        <p:nvSpPr>
          <p:cNvPr id="20" name="Text 17"/>
          <p:cNvSpPr/>
          <p:nvPr/>
        </p:nvSpPr>
        <p:spPr>
          <a:xfrm>
            <a:off x="640080" y="5870448"/>
            <a:ext cx="10881360" cy="41148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Without it, fine wording around guessed details. With it, five questions, and the email is built on your answers.</a:t>
            </a:r>
            <a:endParaRPr lang="en-US" sz="1500" dirty="0"/>
          </a:p>
        </p:txBody>
      </p:sp>
      <p:sp>
        <p:nvSpPr>
          <p:cNvPr id="21" name="Text 18"/>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4 OF 6 · HAVE IT ASK YOU FIRST</a:t>
            </a:r>
            <a:endParaRPr lang="en-US" sz="850" dirty="0"/>
          </a:p>
        </p:txBody>
      </p:sp>
      <p:sp>
        <p:nvSpPr>
          <p:cNvPr id="22" name="Shape 19"/>
          <p:cNvSpPr/>
          <p:nvPr/>
        </p:nvSpPr>
        <p:spPr>
          <a:xfrm>
            <a:off x="6583680" y="6483096"/>
            <a:ext cx="118872" cy="118872"/>
          </a:xfrm>
          <a:prstGeom prst="ellipse">
            <a:avLst/>
          </a:prstGeom>
          <a:solidFill>
            <a:srgbClr val="D9DDE3"/>
          </a:solidFill>
          <a:ln/>
        </p:spPr>
      </p:sp>
      <p:sp>
        <p:nvSpPr>
          <p:cNvPr id="23" name="Shape 20"/>
          <p:cNvSpPr/>
          <p:nvPr/>
        </p:nvSpPr>
        <p:spPr>
          <a:xfrm>
            <a:off x="6803136" y="6483096"/>
            <a:ext cx="118872" cy="118872"/>
          </a:xfrm>
          <a:prstGeom prst="ellipse">
            <a:avLst/>
          </a:prstGeom>
          <a:solidFill>
            <a:srgbClr val="D9DDE3"/>
          </a:solidFill>
          <a:ln/>
        </p:spPr>
      </p:sp>
      <p:sp>
        <p:nvSpPr>
          <p:cNvPr id="24" name="Shape 21"/>
          <p:cNvSpPr/>
          <p:nvPr/>
        </p:nvSpPr>
        <p:spPr>
          <a:xfrm>
            <a:off x="7022592" y="6483096"/>
            <a:ext cx="118872" cy="118872"/>
          </a:xfrm>
          <a:prstGeom prst="ellipse">
            <a:avLst/>
          </a:prstGeom>
          <a:solidFill>
            <a:srgbClr val="D9DDE3"/>
          </a:solidFill>
          <a:ln/>
        </p:spPr>
      </p:sp>
      <p:sp>
        <p:nvSpPr>
          <p:cNvPr id="25" name="Shape 22"/>
          <p:cNvSpPr/>
          <p:nvPr/>
        </p:nvSpPr>
        <p:spPr>
          <a:xfrm>
            <a:off x="7338060" y="6451092"/>
            <a:ext cx="182880" cy="182880"/>
          </a:xfrm>
          <a:prstGeom prst="ellipse">
            <a:avLst/>
          </a:prstGeom>
          <a:ln w="9525">
            <a:solidFill>
              <a:srgbClr val="D31242"/>
            </a:solidFill>
            <a:prstDash val="solid"/>
          </a:ln>
        </p:spPr>
      </p:sp>
      <p:sp>
        <p:nvSpPr>
          <p:cNvPr id="26" name="Shape 23"/>
          <p:cNvSpPr/>
          <p:nvPr/>
        </p:nvSpPr>
        <p:spPr>
          <a:xfrm>
            <a:off x="7370064" y="6483096"/>
            <a:ext cx="118872" cy="118872"/>
          </a:xfrm>
          <a:prstGeom prst="ellipse">
            <a:avLst/>
          </a:prstGeom>
          <a:solidFill>
            <a:srgbClr val="D31242"/>
          </a:solidFill>
          <a:ln/>
        </p:spPr>
      </p:sp>
      <p:sp>
        <p:nvSpPr>
          <p:cNvPr id="27" name="Shape 24"/>
          <p:cNvSpPr/>
          <p:nvPr/>
        </p:nvSpPr>
        <p:spPr>
          <a:xfrm>
            <a:off x="7717536" y="6483096"/>
            <a:ext cx="118872" cy="118872"/>
          </a:xfrm>
          <a:prstGeom prst="ellipse">
            <a:avLst/>
          </a:prstGeom>
          <a:solidFill>
            <a:srgbClr val="D9DDE3"/>
          </a:solidFill>
          <a:ln/>
        </p:spPr>
      </p:sp>
      <p:sp>
        <p:nvSpPr>
          <p:cNvPr id="28" name="Shape 25"/>
          <p:cNvSpPr/>
          <p:nvPr/>
        </p:nvSpPr>
        <p:spPr>
          <a:xfrm>
            <a:off x="7936992" y="6483096"/>
            <a:ext cx="118872" cy="118872"/>
          </a:xfrm>
          <a:prstGeom prst="ellipse">
            <a:avLst/>
          </a:prstGeom>
          <a:solidFill>
            <a:srgbClr val="D9DDE3"/>
          </a:solidFill>
          <a:ln/>
        </p:spPr>
      </p:sp>
      <p:sp>
        <p:nvSpPr>
          <p:cNvPr id="29" name="Text 26"/>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HAVE IT ASK YOU FIRST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Your turn</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GET THE AI'S HELP WRITING YOUR PROMPT</a:t>
            </a:r>
            <a:endParaRPr lang="en-US" sz="900" dirty="0"/>
          </a:p>
        </p:txBody>
      </p:sp>
      <p:sp>
        <p:nvSpPr>
          <p:cNvPr id="7" name="Shape 4"/>
          <p:cNvSpPr/>
          <p:nvPr/>
        </p:nvSpPr>
        <p:spPr>
          <a:xfrm>
            <a:off x="640080" y="1874520"/>
            <a:ext cx="5074920" cy="3566160"/>
          </a:xfrm>
          <a:prstGeom prst="roundRect">
            <a:avLst>
              <a:gd name="adj" fmla="val 230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84832"/>
            <a:ext cx="4526280" cy="256032"/>
          </a:xfrm>
          <a:prstGeom prst="rect">
            <a:avLst/>
          </a:prstGeom>
          <a:noFill/>
          <a:ln/>
        </p:spPr>
        <p:txBody>
          <a:bodyPr wrap="square" lIns="0" tIns="0" rIns="0" bIns="0" rtlCol="0" anchor="ctr"/>
          <a:lstStyle/>
          <a:p>
            <a:pPr indent="0" marL="0">
              <a:buNone/>
            </a:pPr>
            <a:r>
              <a:rPr lang="en-US" sz="1050" b="1" spc="150" kern="0" dirty="0">
                <a:solidFill>
                  <a:srgbClr val="5E6A78"/>
                </a:solidFill>
                <a:latin typeface="Arial" pitchFamily="34" charset="0"/>
                <a:ea typeface="Arial" pitchFamily="34" charset="-122"/>
                <a:cs typeface="Arial" pitchFamily="34" charset="-120"/>
              </a:rPr>
              <a:t>A REQUEST WITH THE DETAILS MISSING</a:t>
            </a:r>
            <a:endParaRPr lang="en-US" sz="1050" dirty="0"/>
          </a:p>
        </p:txBody>
      </p:sp>
      <p:sp>
        <p:nvSpPr>
          <p:cNvPr id="9" name="Text 6"/>
          <p:cNvSpPr/>
          <p:nvPr/>
        </p:nvSpPr>
        <p:spPr>
          <a:xfrm>
            <a:off x="914400" y="2450592"/>
            <a:ext cx="4526280" cy="2880360"/>
          </a:xfrm>
          <a:prstGeom prst="rect">
            <a:avLst/>
          </a:prstGeom>
          <a:noFill/>
          <a:ln/>
        </p:spPr>
        <p:txBody>
          <a:bodyPr wrap="square" lIns="0" tIns="0" rIns="0" bIns="0" rtlCol="0" anchor="t"/>
          <a:lstStyle/>
          <a:p>
            <a:pPr indent="0" marL="0">
              <a:lnSpc>
                <a:spcPct val="122000"/>
              </a:lnSpc>
              <a:buNone/>
            </a:pPr>
            <a:r>
              <a:rPr lang="en-US" sz="1200" dirty="0">
                <a:solidFill>
                  <a:srgbClr val="1F2733"/>
                </a:solidFill>
                <a:latin typeface="Arial" pitchFamily="34" charset="0"/>
                <a:ea typeface="Arial" pitchFamily="34" charset="-122"/>
                <a:cs typeface="Arial" pitchFamily="34" charset="-120"/>
              </a:rPr>
              <a:t>“Write a short note to my team explaining</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that we are changing how we handle a</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recurring request, starting next month.”</a:t>
            </a:r>
            <a:endParaRPr lang="en-US" sz="1200" dirty="0"/>
          </a:p>
          <a:p>
            <a:pPr indent="0" marL="0">
              <a:lnSpc>
                <a:spcPct val="122000"/>
              </a:lnSpc>
              <a:buNone/>
            </a:pP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The change, the team, the timing and the</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reason are all missing. Only you can supply</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them, so pick a real one from your own work.</a:t>
            </a:r>
            <a:endParaRPr lang="en-US" sz="1200" dirty="0"/>
          </a:p>
        </p:txBody>
      </p:sp>
      <p:sp>
        <p:nvSpPr>
          <p:cNvPr id="10" name="Text 7"/>
          <p:cNvSpPr/>
          <p:nvPr/>
        </p:nvSpPr>
        <p:spPr>
          <a:xfrm>
            <a:off x="640080" y="5532120"/>
            <a:ext cx="5074920" cy="274320"/>
          </a:xfrm>
          <a:prstGeom prst="rect">
            <a:avLst/>
          </a:prstGeom>
          <a:noFill/>
          <a:ln/>
        </p:spPr>
        <p:txBody>
          <a:bodyPr wrap="square" lIns="0" tIns="0" rIns="0" bIns="0" rtlCol="0" anchor="ctr"/>
          <a:lstStyle/>
          <a:p>
            <a:pPr indent="0" marL="0">
              <a:buNone/>
            </a:pPr>
            <a:r>
              <a:rPr lang="en-US" sz="1100" dirty="0">
                <a:solidFill>
                  <a:srgbClr val="5E6A78"/>
                </a:solidFill>
                <a:latin typeface="Arial" pitchFamily="34" charset="0"/>
                <a:ea typeface="Arial" pitchFamily="34" charset="-122"/>
                <a:cs typeface="Arial" pitchFamily="34" charset="-120"/>
              </a:rPr>
              <a:t>Also posted in the chat, ready to copy.</a:t>
            </a:r>
            <a:endParaRPr lang="en-US" sz="1100" dirty="0"/>
          </a:p>
        </p:txBody>
      </p:sp>
      <p:sp>
        <p:nvSpPr>
          <p:cNvPr id="11" name="Text 8"/>
          <p:cNvSpPr/>
          <p:nvPr/>
        </p:nvSpPr>
        <p:spPr>
          <a:xfrm>
            <a:off x="6355080" y="2084832"/>
            <a:ext cx="4617720" cy="256032"/>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TO DO</a:t>
            </a:r>
            <a:endParaRPr lang="en-US" sz="1050" dirty="0"/>
          </a:p>
        </p:txBody>
      </p:sp>
      <p:sp>
        <p:nvSpPr>
          <p:cNvPr id="12" name="Shape 9"/>
          <p:cNvSpPr/>
          <p:nvPr/>
        </p:nvSpPr>
        <p:spPr>
          <a:xfrm>
            <a:off x="6355080" y="2450592"/>
            <a:ext cx="384048" cy="384048"/>
          </a:xfrm>
          <a:prstGeom prst="ellipse">
            <a:avLst/>
          </a:prstGeom>
          <a:solidFill>
            <a:srgbClr val="D31242"/>
          </a:solidFill>
          <a:ln/>
        </p:spPr>
      </p:sp>
      <p:sp>
        <p:nvSpPr>
          <p:cNvPr id="13" name="Text 10"/>
          <p:cNvSpPr/>
          <p:nvPr/>
        </p:nvSpPr>
        <p:spPr>
          <a:xfrm>
            <a:off x="6355080" y="24505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4" name="Text 11"/>
          <p:cNvSpPr/>
          <p:nvPr/>
        </p:nvSpPr>
        <p:spPr>
          <a:xfrm>
            <a:off x="6903720" y="243230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Type the request as it stands. Read what comes back.</a:t>
            </a:r>
            <a:endParaRPr lang="en-US" sz="1350" dirty="0"/>
          </a:p>
        </p:txBody>
      </p:sp>
      <p:sp>
        <p:nvSpPr>
          <p:cNvPr id="15" name="Shape 12"/>
          <p:cNvSpPr/>
          <p:nvPr/>
        </p:nvSpPr>
        <p:spPr>
          <a:xfrm>
            <a:off x="6355080" y="3319272"/>
            <a:ext cx="384048" cy="384048"/>
          </a:xfrm>
          <a:prstGeom prst="ellipse">
            <a:avLst/>
          </a:prstGeom>
          <a:solidFill>
            <a:srgbClr val="D31242"/>
          </a:solidFill>
          <a:ln/>
        </p:spPr>
      </p:sp>
      <p:sp>
        <p:nvSpPr>
          <p:cNvPr id="16" name="Text 13"/>
          <p:cNvSpPr/>
          <p:nvPr/>
        </p:nvSpPr>
        <p:spPr>
          <a:xfrm>
            <a:off x="6355080" y="3319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7" name="Text 14"/>
          <p:cNvSpPr/>
          <p:nvPr/>
        </p:nvSpPr>
        <p:spPr>
          <a:xfrm>
            <a:off x="6903720" y="330098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Type it again, adding: “Before you write, ask me the five questions you need answered.”</a:t>
            </a:r>
            <a:endParaRPr lang="en-US" sz="1350" dirty="0"/>
          </a:p>
        </p:txBody>
      </p:sp>
      <p:sp>
        <p:nvSpPr>
          <p:cNvPr id="18" name="Shape 15"/>
          <p:cNvSpPr/>
          <p:nvPr/>
        </p:nvSpPr>
        <p:spPr>
          <a:xfrm>
            <a:off x="6355080" y="4187952"/>
            <a:ext cx="384048" cy="384048"/>
          </a:xfrm>
          <a:prstGeom prst="ellipse">
            <a:avLst/>
          </a:prstGeom>
          <a:solidFill>
            <a:srgbClr val="D31242"/>
          </a:solidFill>
          <a:ln/>
        </p:spPr>
      </p:sp>
      <p:sp>
        <p:nvSpPr>
          <p:cNvPr id="19" name="Text 16"/>
          <p:cNvSpPr/>
          <p:nvPr/>
        </p:nvSpPr>
        <p:spPr>
          <a:xfrm>
            <a:off x="6355080" y="41879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0" name="Text 17"/>
          <p:cNvSpPr/>
          <p:nvPr/>
        </p:nvSpPr>
        <p:spPr>
          <a:xfrm>
            <a:off x="6903720" y="416966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Answer its questions, then let it write the note.</a:t>
            </a:r>
            <a:endParaRPr lang="en-US" sz="1350" dirty="0"/>
          </a:p>
        </p:txBody>
      </p:sp>
      <p:sp>
        <p:nvSpPr>
          <p:cNvPr id="21" name="Shape 18"/>
          <p:cNvSpPr/>
          <p:nvPr/>
        </p:nvSpPr>
        <p:spPr>
          <a:xfrm>
            <a:off x="6355080" y="5084064"/>
            <a:ext cx="5166360" cy="914400"/>
          </a:xfrm>
          <a:prstGeom prst="roundRect">
            <a:avLst>
              <a:gd name="adj" fmla="val 9000"/>
            </a:avLst>
          </a:prstGeom>
          <a:solidFill>
            <a:srgbClr val="DCFCE7"/>
          </a:solidFill>
          <a:ln/>
          <a:effectLst>
            <a:outerShdw sx="100000" sy="100000" kx="0" ky="0" algn="bl" rotWithShape="0" blurRad="88900" dist="38100" dir="5400000">
              <a:srgbClr val="1F2733">
                <a:alpha val="10000"/>
              </a:srgbClr>
            </a:outerShdw>
          </a:effectLst>
        </p:spPr>
      </p:sp>
      <p:sp>
        <p:nvSpPr>
          <p:cNvPr id="22" name="Text 19"/>
          <p:cNvSpPr/>
          <p:nvPr/>
        </p:nvSpPr>
        <p:spPr>
          <a:xfrm>
            <a:off x="6629400" y="5184648"/>
            <a:ext cx="3657600" cy="237744"/>
          </a:xfrm>
          <a:prstGeom prst="rect">
            <a:avLst/>
          </a:prstGeom>
          <a:noFill/>
          <a:ln/>
        </p:spPr>
        <p:txBody>
          <a:bodyPr wrap="square" lIns="0" tIns="0" rIns="0" bIns="0" rtlCol="0" anchor="ctr"/>
          <a:lstStyle/>
          <a:p>
            <a:pPr indent="0" marL="0">
              <a:buNone/>
            </a:pPr>
            <a:r>
              <a:rPr lang="en-US" sz="950" b="1" spc="120" kern="0" dirty="0">
                <a:solidFill>
                  <a:srgbClr val="15803D"/>
                </a:solidFill>
                <a:latin typeface="Arial" pitchFamily="34" charset="0"/>
                <a:ea typeface="Arial" pitchFamily="34" charset="-122"/>
                <a:cs typeface="Arial" pitchFamily="34" charset="-120"/>
              </a:rPr>
              <a:t>CHECK</a:t>
            </a:r>
            <a:endParaRPr lang="en-US" sz="950" dirty="0"/>
          </a:p>
        </p:txBody>
      </p:sp>
      <p:sp>
        <p:nvSpPr>
          <p:cNvPr id="23" name="Text 20"/>
          <p:cNvSpPr/>
          <p:nvPr/>
        </p:nvSpPr>
        <p:spPr>
          <a:xfrm>
            <a:off x="6629400" y="5440680"/>
            <a:ext cx="4617720" cy="475488"/>
          </a:xfrm>
          <a:prstGeom prst="rect">
            <a:avLst/>
          </a:prstGeom>
          <a:noFill/>
          <a:ln/>
        </p:spPr>
        <p:txBody>
          <a:bodyPr wrap="square" lIns="0" tIns="0" rIns="0" bIns="0" rtlCol="0" anchor="t"/>
          <a:lstStyle/>
          <a:p>
            <a:pPr indent="0" marL="0">
              <a:lnSpc>
                <a:spcPct val="112000"/>
              </a:lnSpc>
              <a:buNone/>
            </a:pPr>
            <a:r>
              <a:rPr lang="en-US" sz="1250" dirty="0">
                <a:solidFill>
                  <a:srgbClr val="1F2733"/>
                </a:solidFill>
                <a:latin typeface="Arial" pitchFamily="34" charset="0"/>
                <a:ea typeface="Arial" pitchFamily="34" charset="-122"/>
                <a:cs typeface="Arial" pitchFamily="34" charset="-120"/>
              </a:rPr>
              <a:t>Is the second version something you could actually send?</a:t>
            </a:r>
            <a:endParaRPr lang="en-US" sz="1250" dirty="0"/>
          </a:p>
        </p:txBody>
      </p:sp>
      <p:sp>
        <p:nvSpPr>
          <p:cNvPr id="24" name="Text 21"/>
          <p:cNvSpPr/>
          <p:nvPr/>
        </p:nvSpPr>
        <p:spPr>
          <a:xfrm>
            <a:off x="640080" y="5943600"/>
            <a:ext cx="10881360" cy="365760"/>
          </a:xfrm>
          <a:prstGeom prst="rect">
            <a:avLst/>
          </a:prstGeom>
          <a:noFill/>
          <a:ln/>
        </p:spPr>
        <p:txBody>
          <a:bodyPr wrap="square" lIns="0" tIns="0" rIns="0" bIns="0" rtlCol="0" anchor="ctr"/>
          <a:lstStyle/>
          <a:p>
            <a:pPr indent="0" marL="0">
              <a:buNone/>
            </a:pPr>
            <a:r>
              <a:rPr lang="en-US" sz="1550" b="1" dirty="0">
                <a:solidFill>
                  <a:srgbClr val="D31242"/>
                </a:solidFill>
                <a:latin typeface="Arial" pitchFamily="34" charset="0"/>
                <a:ea typeface="Arial" pitchFamily="34" charset="-122"/>
                <a:cs typeface="Arial" pitchFamily="34" charset="-120"/>
              </a:rPr>
              <a:t>Five minutes. Then share in the chat one question it asked that you had not thought of.</a:t>
            </a:r>
            <a:endParaRPr lang="en-US" sz="1550" dirty="0"/>
          </a:p>
        </p:txBody>
      </p:sp>
      <p:sp>
        <p:nvSpPr>
          <p:cNvPr id="25" name="Text 22"/>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4 OF 6 · HAVE IT ASK YOU FIRST</a:t>
            </a:r>
            <a:endParaRPr lang="en-US" sz="850" dirty="0"/>
          </a:p>
        </p:txBody>
      </p:sp>
      <p:sp>
        <p:nvSpPr>
          <p:cNvPr id="26" name="Shape 23"/>
          <p:cNvSpPr/>
          <p:nvPr/>
        </p:nvSpPr>
        <p:spPr>
          <a:xfrm>
            <a:off x="6583680" y="6483096"/>
            <a:ext cx="118872" cy="118872"/>
          </a:xfrm>
          <a:prstGeom prst="ellipse">
            <a:avLst/>
          </a:prstGeom>
          <a:solidFill>
            <a:srgbClr val="D9DDE3"/>
          </a:solidFill>
          <a:ln/>
        </p:spPr>
      </p:sp>
      <p:sp>
        <p:nvSpPr>
          <p:cNvPr id="27" name="Shape 24"/>
          <p:cNvSpPr/>
          <p:nvPr/>
        </p:nvSpPr>
        <p:spPr>
          <a:xfrm>
            <a:off x="6803136" y="6483096"/>
            <a:ext cx="118872" cy="118872"/>
          </a:xfrm>
          <a:prstGeom prst="ellipse">
            <a:avLst/>
          </a:prstGeom>
          <a:solidFill>
            <a:srgbClr val="D9DDE3"/>
          </a:solidFill>
          <a:ln/>
        </p:spPr>
      </p:sp>
      <p:sp>
        <p:nvSpPr>
          <p:cNvPr id="28" name="Shape 25"/>
          <p:cNvSpPr/>
          <p:nvPr/>
        </p:nvSpPr>
        <p:spPr>
          <a:xfrm>
            <a:off x="7022592" y="6483096"/>
            <a:ext cx="118872" cy="118872"/>
          </a:xfrm>
          <a:prstGeom prst="ellipse">
            <a:avLst/>
          </a:prstGeom>
          <a:solidFill>
            <a:srgbClr val="D9DDE3"/>
          </a:solidFill>
          <a:ln/>
        </p:spPr>
      </p:sp>
      <p:sp>
        <p:nvSpPr>
          <p:cNvPr id="29" name="Shape 26"/>
          <p:cNvSpPr/>
          <p:nvPr/>
        </p:nvSpPr>
        <p:spPr>
          <a:xfrm>
            <a:off x="7338060" y="6451092"/>
            <a:ext cx="182880" cy="182880"/>
          </a:xfrm>
          <a:prstGeom prst="ellipse">
            <a:avLst/>
          </a:prstGeom>
          <a:ln w="9525">
            <a:solidFill>
              <a:srgbClr val="D31242"/>
            </a:solidFill>
            <a:prstDash val="solid"/>
          </a:ln>
        </p:spPr>
      </p:sp>
      <p:sp>
        <p:nvSpPr>
          <p:cNvPr id="30" name="Shape 27"/>
          <p:cNvSpPr/>
          <p:nvPr/>
        </p:nvSpPr>
        <p:spPr>
          <a:xfrm>
            <a:off x="7370064" y="6483096"/>
            <a:ext cx="118872" cy="118872"/>
          </a:xfrm>
          <a:prstGeom prst="ellipse">
            <a:avLst/>
          </a:prstGeom>
          <a:solidFill>
            <a:srgbClr val="D31242"/>
          </a:solidFill>
          <a:ln/>
        </p:spPr>
      </p:sp>
      <p:sp>
        <p:nvSpPr>
          <p:cNvPr id="31" name="Shape 28"/>
          <p:cNvSpPr/>
          <p:nvPr/>
        </p:nvSpPr>
        <p:spPr>
          <a:xfrm>
            <a:off x="7717536" y="6483096"/>
            <a:ext cx="118872" cy="118872"/>
          </a:xfrm>
          <a:prstGeom prst="ellipse">
            <a:avLst/>
          </a:prstGeom>
          <a:solidFill>
            <a:srgbClr val="D9DDE3"/>
          </a:solidFill>
          <a:ln/>
        </p:spPr>
      </p:sp>
      <p:sp>
        <p:nvSpPr>
          <p:cNvPr id="32" name="Shape 29"/>
          <p:cNvSpPr/>
          <p:nvPr/>
        </p:nvSpPr>
        <p:spPr>
          <a:xfrm>
            <a:off x="7936992" y="6483096"/>
            <a:ext cx="118872" cy="118872"/>
          </a:xfrm>
          <a:prstGeom prst="ellipse">
            <a:avLst/>
          </a:prstGeom>
          <a:solidFill>
            <a:srgbClr val="D9DDE3"/>
          </a:solidFill>
          <a:ln/>
        </p:spPr>
      </p:sp>
      <p:sp>
        <p:nvSpPr>
          <p:cNvPr id="33" name="Text 30"/>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PART 3 OF 3</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Improve the AI's first draft</a:t>
            </a:r>
            <a:endParaRPr lang="en-US" sz="4400" dirty="0"/>
          </a:p>
        </p:txBody>
      </p:sp>
      <p:sp>
        <p:nvSpPr>
          <p:cNvPr id="7" name="Text 5"/>
          <p:cNvSpPr/>
          <p:nvPr/>
        </p:nvSpPr>
        <p:spPr>
          <a:xfrm>
            <a:off x="9509760" y="777240"/>
            <a:ext cx="2103120" cy="2286000"/>
          </a:xfrm>
          <a:prstGeom prst="rect">
            <a:avLst/>
          </a:prstGeom>
          <a:noFill/>
          <a:ln/>
        </p:spPr>
        <p:txBody>
          <a:bodyPr wrap="square" lIns="0" tIns="0" rIns="0" bIns="0" rtlCol="0" anchor="ctr"/>
          <a:lstStyle/>
          <a:p>
            <a:pPr algn="r" indent="0" marL="0">
              <a:buNone/>
            </a:pPr>
            <a:r>
              <a:rPr lang="en-US" sz="15000" b="1" dirty="0">
                <a:solidFill>
                  <a:srgbClr val="A60E34"/>
                </a:solidFill>
                <a:latin typeface="Arial" pitchFamily="34" charset="0"/>
                <a:ea typeface="Arial" pitchFamily="34" charset="-122"/>
                <a:cs typeface="Arial" pitchFamily="34" charset="-120"/>
              </a:rPr>
              <a:t>3</a:t>
            </a:r>
            <a:endParaRPr lang="en-US" sz="15000" dirty="0"/>
          </a:p>
        </p:txBody>
      </p:sp>
      <p:sp>
        <p:nvSpPr>
          <p:cNvPr id="8" name="Shape 6"/>
          <p:cNvSpPr/>
          <p:nvPr/>
        </p:nvSpPr>
        <p:spPr>
          <a:xfrm>
            <a:off x="658368" y="4800600"/>
            <a:ext cx="3520440" cy="457200"/>
          </a:xfrm>
          <a:prstGeom prst="roundRect">
            <a:avLst>
              <a:gd name="adj" fmla="val 24000"/>
            </a:avLst>
          </a:prstGeom>
          <a:solidFill>
            <a:srgbClr val="A60E34"/>
          </a:solidFill>
          <a:ln/>
        </p:spPr>
      </p:sp>
      <p:sp>
        <p:nvSpPr>
          <p:cNvPr id="9" name="Text 7"/>
          <p:cNvSpPr/>
          <p:nvPr/>
        </p:nvSpPr>
        <p:spPr>
          <a:xfrm>
            <a:off x="658368" y="4800600"/>
            <a:ext cx="3520440" cy="457200"/>
          </a:xfrm>
          <a:prstGeom prst="rect">
            <a:avLst/>
          </a:prstGeom>
          <a:noFill/>
          <a:ln/>
        </p:spPr>
        <p:txBody>
          <a:bodyPr wrap="square" lIns="0" tIns="0" rIns="0" bIns="0" rtlCol="0" anchor="ctr"/>
          <a:lstStyle/>
          <a:p>
            <a:pPr algn="ctr" indent="0" marL="0">
              <a:buNone/>
            </a:pPr>
            <a:r>
              <a:rPr lang="en-US" sz="1150" dirty="0">
                <a:solidFill>
                  <a:srgbClr val="FCE4EA"/>
                </a:solidFill>
                <a:latin typeface="Arial" pitchFamily="34" charset="0"/>
                <a:ea typeface="Arial" pitchFamily="34" charset="-122"/>
                <a:cs typeface="Arial" pitchFamily="34" charset="-120"/>
              </a:rPr>
              <a:t>1 · Give the AI clear direction</a:t>
            </a:r>
            <a:endParaRPr lang="en-US" sz="1150" dirty="0"/>
          </a:p>
        </p:txBody>
      </p:sp>
      <p:sp>
        <p:nvSpPr>
          <p:cNvPr id="10" name="Shape 8"/>
          <p:cNvSpPr/>
          <p:nvPr/>
        </p:nvSpPr>
        <p:spPr>
          <a:xfrm>
            <a:off x="4315968" y="4800600"/>
            <a:ext cx="3520440" cy="457200"/>
          </a:xfrm>
          <a:prstGeom prst="roundRect">
            <a:avLst>
              <a:gd name="adj" fmla="val 24000"/>
            </a:avLst>
          </a:prstGeom>
          <a:solidFill>
            <a:srgbClr val="A60E34"/>
          </a:solidFill>
          <a:ln/>
        </p:spPr>
      </p:sp>
      <p:sp>
        <p:nvSpPr>
          <p:cNvPr id="11" name="Text 9"/>
          <p:cNvSpPr/>
          <p:nvPr/>
        </p:nvSpPr>
        <p:spPr>
          <a:xfrm>
            <a:off x="4315968" y="4800600"/>
            <a:ext cx="3520440" cy="457200"/>
          </a:xfrm>
          <a:prstGeom prst="rect">
            <a:avLst/>
          </a:prstGeom>
          <a:noFill/>
          <a:ln/>
        </p:spPr>
        <p:txBody>
          <a:bodyPr wrap="square" lIns="0" tIns="0" rIns="0" bIns="0" rtlCol="0" anchor="ctr"/>
          <a:lstStyle/>
          <a:p>
            <a:pPr algn="ctr" indent="0" marL="0">
              <a:buNone/>
            </a:pPr>
            <a:r>
              <a:rPr lang="en-US" sz="1150" dirty="0">
                <a:solidFill>
                  <a:srgbClr val="FCE4EA"/>
                </a:solidFill>
                <a:latin typeface="Arial" pitchFamily="34" charset="0"/>
                <a:ea typeface="Arial" pitchFamily="34" charset="-122"/>
                <a:cs typeface="Arial" pitchFamily="34" charset="-120"/>
              </a:rPr>
              <a:t>2 · Get the AI's help writing your prompt</a:t>
            </a:r>
            <a:endParaRPr lang="en-US" sz="1150" dirty="0"/>
          </a:p>
        </p:txBody>
      </p:sp>
      <p:sp>
        <p:nvSpPr>
          <p:cNvPr id="12" name="Shape 10"/>
          <p:cNvSpPr/>
          <p:nvPr/>
        </p:nvSpPr>
        <p:spPr>
          <a:xfrm>
            <a:off x="7973568" y="4800600"/>
            <a:ext cx="3520440" cy="457200"/>
          </a:xfrm>
          <a:prstGeom prst="roundRect">
            <a:avLst>
              <a:gd name="adj" fmla="val 24000"/>
            </a:avLst>
          </a:prstGeom>
          <a:solidFill>
            <a:srgbClr val="FFFFFF"/>
          </a:solidFill>
          <a:ln/>
        </p:spPr>
      </p:sp>
      <p:sp>
        <p:nvSpPr>
          <p:cNvPr id="13" name="Text 11"/>
          <p:cNvSpPr/>
          <p:nvPr/>
        </p:nvSpPr>
        <p:spPr>
          <a:xfrm>
            <a:off x="7973568" y="4800600"/>
            <a:ext cx="3520440" cy="457200"/>
          </a:xfrm>
          <a:prstGeom prst="rect">
            <a:avLst/>
          </a:prstGeom>
          <a:noFill/>
          <a:ln/>
        </p:spPr>
        <p:txBody>
          <a:bodyPr wrap="square" lIns="0" tIns="0" rIns="0" bIns="0" rtlCol="0" anchor="ctr"/>
          <a:lstStyle/>
          <a:p>
            <a:pPr algn="ctr" indent="0" marL="0">
              <a:buNone/>
            </a:pPr>
            <a:r>
              <a:rPr lang="en-US" sz="1150" b="1" dirty="0">
                <a:solidFill>
                  <a:srgbClr val="D31242"/>
                </a:solidFill>
                <a:latin typeface="Arial" pitchFamily="34" charset="0"/>
                <a:ea typeface="Arial" pitchFamily="34" charset="-122"/>
                <a:cs typeface="Arial" pitchFamily="34" charset="-120"/>
              </a:rPr>
              <a:t>3 · Improve the AI's first draft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3" name="Text 1"/>
          <p:cNvSpPr/>
          <p:nvPr/>
        </p:nvSpPr>
        <p:spPr>
          <a:xfrm>
            <a:off x="640080" y="566928"/>
            <a:ext cx="841248" cy="841248"/>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4" name="Text 2"/>
          <p:cNvSpPr/>
          <p:nvPr/>
        </p:nvSpPr>
        <p:spPr>
          <a:xfrm>
            <a:off x="1664208" y="548640"/>
            <a:ext cx="640080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TECHNIQUE 5 OF 6</a:t>
            </a:r>
            <a:endParaRPr lang="en-US" sz="1200" dirty="0"/>
          </a:p>
        </p:txBody>
      </p:sp>
      <p:sp>
        <p:nvSpPr>
          <p:cNvPr id="5" name="Text 3"/>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Have the AI review its own draft</a:t>
            </a:r>
            <a:endParaRPr lang="en-US" sz="3000" dirty="0"/>
          </a:p>
        </p:txBody>
      </p:sp>
      <p:sp>
        <p:nvSpPr>
          <p:cNvPr id="6" name="Text 4"/>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IMPROVE THE AI'S FIRST DRAFT</a:t>
            </a:r>
            <a:endParaRPr lang="en-US" sz="900" dirty="0"/>
          </a:p>
        </p:txBody>
      </p:sp>
      <p:sp>
        <p:nvSpPr>
          <p:cNvPr id="7" name="Text 5"/>
          <p:cNvSpPr/>
          <p:nvPr/>
        </p:nvSpPr>
        <p:spPr>
          <a:xfrm>
            <a:off x="1664208" y="1517904"/>
            <a:ext cx="7315200" cy="274320"/>
          </a:xfrm>
          <a:prstGeom prst="rect">
            <a:avLst/>
          </a:prstGeom>
          <a:noFill/>
          <a:ln/>
        </p:spPr>
        <p:txBody>
          <a:bodyPr wrap="square" lIns="0" tIns="0" rIns="0" bIns="0" rtlCol="0" anchor="ctr"/>
          <a:lstStyle/>
          <a:p>
            <a:pPr indent="0" marL="0">
              <a:buNone/>
            </a:pPr>
            <a:r>
              <a:rPr lang="en-US" sz="1150" i="1" dirty="0">
                <a:solidFill>
                  <a:srgbClr val="5E6A78"/>
                </a:solidFill>
                <a:latin typeface="Arial" pitchFamily="34" charset="0"/>
                <a:ea typeface="Arial" pitchFamily="34" charset="-122"/>
                <a:cs typeface="Arial" pitchFamily="34" charset="-120"/>
              </a:rPr>
              <a:t>Also called: self-refine</a:t>
            </a:r>
            <a:endParaRPr lang="en-US" sz="1150" dirty="0"/>
          </a:p>
        </p:txBody>
      </p:sp>
      <p:sp>
        <p:nvSpPr>
          <p:cNvPr id="8" name="Shape 6"/>
          <p:cNvSpPr/>
          <p:nvPr/>
        </p:nvSpPr>
        <p:spPr>
          <a:xfrm>
            <a:off x="640080" y="1874520"/>
            <a:ext cx="10881360" cy="1005840"/>
          </a:xfrm>
          <a:prstGeom prst="roundRect">
            <a:avLst>
              <a:gd name="adj" fmla="val 8182"/>
            </a:avLst>
          </a:prstGeom>
          <a:solidFill>
            <a:srgbClr val="FCE4EA"/>
          </a:solidFill>
          <a:ln/>
          <a:effectLst>
            <a:outerShdw sx="100000" sy="100000" kx="0" ky="0" algn="bl" rotWithShape="0" blurRad="88900" dist="38100" dir="5400000">
              <a:srgbClr val="1F2733">
                <a:alpha val="10000"/>
              </a:srgbClr>
            </a:outerShdw>
          </a:effectLst>
        </p:spPr>
      </p:sp>
      <p:sp>
        <p:nvSpPr>
          <p:cNvPr id="9" name="Text 7"/>
          <p:cNvSpPr/>
          <p:nvPr/>
        </p:nvSpPr>
        <p:spPr>
          <a:xfrm>
            <a:off x="960120" y="2057400"/>
            <a:ext cx="10241280" cy="640080"/>
          </a:xfrm>
          <a:prstGeom prst="rect">
            <a:avLst/>
          </a:prstGeom>
          <a:noFill/>
          <a:ln/>
        </p:spPr>
        <p:txBody>
          <a:bodyPr wrap="square" lIns="0" tIns="0" rIns="0" bIns="0" rtlCol="0" anchor="ctr"/>
          <a:lstStyle/>
          <a:p>
            <a:pPr indent="0" marL="0">
              <a:lnSpc>
                <a:spcPct val="110000"/>
              </a:lnSpc>
              <a:buNone/>
            </a:pPr>
            <a:r>
              <a:rPr lang="en-US" sz="1850" b="1" dirty="0">
                <a:solidFill>
                  <a:srgbClr val="1F2733"/>
                </a:solidFill>
                <a:latin typeface="Arial" pitchFamily="34" charset="0"/>
                <a:ea typeface="Arial" pitchFamily="34" charset="-122"/>
                <a:cs typeface="Arial" pitchFamily="34" charset="-120"/>
              </a:rPr>
              <a:t>Ask the AI to read what it just wrote as your reader will, and name what that reader would still ask.</a:t>
            </a:r>
            <a:endParaRPr lang="en-US" sz="1850" dirty="0"/>
          </a:p>
        </p:txBody>
      </p:sp>
      <p:sp>
        <p:nvSpPr>
          <p:cNvPr id="10" name="Shape 8"/>
          <p:cNvSpPr/>
          <p:nvPr/>
        </p:nvSpPr>
        <p:spPr>
          <a:xfrm>
            <a:off x="640080" y="3246120"/>
            <a:ext cx="5074920" cy="1783080"/>
          </a:xfrm>
          <a:prstGeom prst="roundRect">
            <a:avLst>
              <a:gd name="adj" fmla="val 4615"/>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1" name="Text 9"/>
          <p:cNvSpPr/>
          <p:nvPr/>
        </p:nvSpPr>
        <p:spPr>
          <a:xfrm>
            <a:off x="914400" y="3456432"/>
            <a:ext cx="4526280" cy="274320"/>
          </a:xfrm>
          <a:prstGeom prst="rect">
            <a:avLst/>
          </a:prstGeom>
          <a:noFill/>
          <a:ln/>
        </p:spPr>
        <p:txBody>
          <a:bodyPr wrap="square" lIns="0" tIns="0" rIns="0" bIns="0" rtlCol="0" anchor="ctr"/>
          <a:lstStyle/>
          <a:p>
            <a:pPr indent="0" marL="0">
              <a:buNone/>
            </a:pPr>
            <a:r>
              <a:rPr lang="en-US" sz="1050" b="1" spc="150" kern="0" dirty="0">
                <a:solidFill>
                  <a:srgbClr val="5E6A78"/>
                </a:solidFill>
                <a:latin typeface="Arial" pitchFamily="34" charset="0"/>
                <a:ea typeface="Arial" pitchFamily="34" charset="-122"/>
                <a:cs typeface="Arial" pitchFamily="34" charset="-120"/>
              </a:rPr>
              <a:t>THE FIRST DRAFT</a:t>
            </a:r>
            <a:endParaRPr lang="en-US" sz="1050" dirty="0"/>
          </a:p>
        </p:txBody>
      </p:sp>
      <p:sp>
        <p:nvSpPr>
          <p:cNvPr id="12" name="Text 10"/>
          <p:cNvSpPr/>
          <p:nvPr/>
        </p:nvSpPr>
        <p:spPr>
          <a:xfrm>
            <a:off x="914400" y="3785616"/>
            <a:ext cx="4526280" cy="1097280"/>
          </a:xfrm>
          <a:prstGeom prst="rect">
            <a:avLst/>
          </a:prstGeom>
          <a:noFill/>
          <a:ln/>
        </p:spPr>
        <p:txBody>
          <a:bodyPr wrap="square" lIns="0" tIns="0" rIns="0" bIns="0" rtlCol="0" anchor="t"/>
          <a:lstStyle/>
          <a:p>
            <a:pPr indent="0" marL="0">
              <a:lnSpc>
                <a:spcPct val="120000"/>
              </a:lnSpc>
              <a:buNone/>
            </a:pPr>
            <a:r>
              <a:rPr lang="en-US" sz="1450" dirty="0">
                <a:solidFill>
                  <a:srgbClr val="3A4452"/>
                </a:solidFill>
                <a:latin typeface="Arial" pitchFamily="34" charset="0"/>
                <a:ea typeface="Arial" pitchFamily="34" charset="-122"/>
                <a:cs typeface="Arial" pitchFamily="34" charset="-120"/>
              </a:rPr>
              <a:t>Usually accurate and well written. It covers what you gave it.</a:t>
            </a:r>
            <a:endParaRPr lang="en-US" sz="1450" dirty="0"/>
          </a:p>
        </p:txBody>
      </p:sp>
      <p:sp>
        <p:nvSpPr>
          <p:cNvPr id="13" name="Shape 11"/>
          <p:cNvSpPr/>
          <p:nvPr/>
        </p:nvSpPr>
        <p:spPr>
          <a:xfrm>
            <a:off x="5824728" y="3931920"/>
            <a:ext cx="420624" cy="420624"/>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14" name="Text 12"/>
          <p:cNvSpPr/>
          <p:nvPr/>
        </p:nvSpPr>
        <p:spPr>
          <a:xfrm>
            <a:off x="5824728" y="3931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Shape 13"/>
          <p:cNvSpPr/>
          <p:nvPr/>
        </p:nvSpPr>
        <p:spPr>
          <a:xfrm>
            <a:off x="6355080" y="3246120"/>
            <a:ext cx="5166360" cy="1783080"/>
          </a:xfrm>
          <a:prstGeom prst="roundRect">
            <a:avLst>
              <a:gd name="adj" fmla="val 4615"/>
            </a:avLst>
          </a:prstGeom>
          <a:solidFill>
            <a:srgbClr val="DCFCE7"/>
          </a:solidFill>
          <a:ln/>
          <a:effectLst>
            <a:outerShdw sx="100000" sy="100000" kx="0" ky="0" algn="bl" rotWithShape="0" blurRad="88900" dist="38100" dir="5400000">
              <a:srgbClr val="1F2733">
                <a:alpha val="10000"/>
              </a:srgbClr>
            </a:outerShdw>
          </a:effectLst>
        </p:spPr>
      </p:sp>
      <p:sp>
        <p:nvSpPr>
          <p:cNvPr id="16" name="Text 14"/>
          <p:cNvSpPr/>
          <p:nvPr/>
        </p:nvSpPr>
        <p:spPr>
          <a:xfrm>
            <a:off x="6629400" y="3456432"/>
            <a:ext cx="4617720" cy="274320"/>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AFTER THE REVIEW</a:t>
            </a:r>
            <a:endParaRPr lang="en-US" sz="1050" dirty="0"/>
          </a:p>
        </p:txBody>
      </p:sp>
      <p:sp>
        <p:nvSpPr>
          <p:cNvPr id="17" name="Text 15"/>
          <p:cNvSpPr/>
          <p:nvPr/>
        </p:nvSpPr>
        <p:spPr>
          <a:xfrm>
            <a:off x="6629400" y="3785616"/>
            <a:ext cx="4617720" cy="1097280"/>
          </a:xfrm>
          <a:prstGeom prst="rect">
            <a:avLst/>
          </a:prstGeom>
          <a:noFill/>
          <a:ln/>
        </p:spPr>
        <p:txBody>
          <a:bodyPr wrap="square" lIns="0" tIns="0" rIns="0" bIns="0" rtlCol="0" anchor="t"/>
          <a:lstStyle/>
          <a:p>
            <a:pPr indent="0" marL="0">
              <a:lnSpc>
                <a:spcPct val="120000"/>
              </a:lnSpc>
              <a:buNone/>
            </a:pPr>
            <a:r>
              <a:rPr lang="en-US" sz="1450" dirty="0">
                <a:solidFill>
                  <a:srgbClr val="1F2733"/>
                </a:solidFill>
                <a:latin typeface="Arial" pitchFamily="34" charset="0"/>
                <a:ea typeface="Arial" pitchFamily="34" charset="-122"/>
                <a:cs typeface="Arial" pitchFamily="34" charset="-120"/>
              </a:rPr>
              <a:t>It also covers what you did not give it, and what your reader will ask next.</a:t>
            </a:r>
            <a:endParaRPr lang="en-US" sz="1450" dirty="0"/>
          </a:p>
        </p:txBody>
      </p:sp>
      <p:sp>
        <p:nvSpPr>
          <p:cNvPr id="18" name="Text 16"/>
          <p:cNvSpPr/>
          <p:nvPr/>
        </p:nvSpPr>
        <p:spPr>
          <a:xfrm>
            <a:off x="640080" y="5440680"/>
            <a:ext cx="10881360" cy="36576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Use this before your work goes to a wider audience.</a:t>
            </a:r>
            <a:endParaRPr lang="en-US" sz="1500" dirty="0"/>
          </a:p>
        </p:txBody>
      </p:sp>
      <p:sp>
        <p:nvSpPr>
          <p:cNvPr id="19" name="Text 17"/>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5 OF 6 · HAVE IT REVIEW ITS DRAFT</a:t>
            </a:r>
            <a:endParaRPr lang="en-US" sz="850" dirty="0"/>
          </a:p>
        </p:txBody>
      </p:sp>
      <p:sp>
        <p:nvSpPr>
          <p:cNvPr id="20" name="Shape 18"/>
          <p:cNvSpPr/>
          <p:nvPr/>
        </p:nvSpPr>
        <p:spPr>
          <a:xfrm>
            <a:off x="6583680" y="6483096"/>
            <a:ext cx="118872" cy="118872"/>
          </a:xfrm>
          <a:prstGeom prst="ellipse">
            <a:avLst/>
          </a:prstGeom>
          <a:solidFill>
            <a:srgbClr val="D9DDE3"/>
          </a:solidFill>
          <a:ln/>
        </p:spPr>
      </p:sp>
      <p:sp>
        <p:nvSpPr>
          <p:cNvPr id="21" name="Shape 19"/>
          <p:cNvSpPr/>
          <p:nvPr/>
        </p:nvSpPr>
        <p:spPr>
          <a:xfrm>
            <a:off x="6803136" y="6483096"/>
            <a:ext cx="118872" cy="118872"/>
          </a:xfrm>
          <a:prstGeom prst="ellipse">
            <a:avLst/>
          </a:prstGeom>
          <a:solidFill>
            <a:srgbClr val="D9DDE3"/>
          </a:solidFill>
          <a:ln/>
        </p:spPr>
      </p:sp>
      <p:sp>
        <p:nvSpPr>
          <p:cNvPr id="22" name="Shape 20"/>
          <p:cNvSpPr/>
          <p:nvPr/>
        </p:nvSpPr>
        <p:spPr>
          <a:xfrm>
            <a:off x="7022592" y="6483096"/>
            <a:ext cx="118872" cy="118872"/>
          </a:xfrm>
          <a:prstGeom prst="ellipse">
            <a:avLst/>
          </a:prstGeom>
          <a:solidFill>
            <a:srgbClr val="D9DDE3"/>
          </a:solidFill>
          <a:ln/>
        </p:spPr>
      </p:sp>
      <p:sp>
        <p:nvSpPr>
          <p:cNvPr id="23" name="Shape 21"/>
          <p:cNvSpPr/>
          <p:nvPr/>
        </p:nvSpPr>
        <p:spPr>
          <a:xfrm>
            <a:off x="7370064" y="6483096"/>
            <a:ext cx="118872" cy="118872"/>
          </a:xfrm>
          <a:prstGeom prst="ellipse">
            <a:avLst/>
          </a:prstGeom>
          <a:solidFill>
            <a:srgbClr val="D9DDE3"/>
          </a:solidFill>
          <a:ln/>
        </p:spPr>
      </p:sp>
      <p:sp>
        <p:nvSpPr>
          <p:cNvPr id="24" name="Shape 22"/>
          <p:cNvSpPr/>
          <p:nvPr/>
        </p:nvSpPr>
        <p:spPr>
          <a:xfrm>
            <a:off x="7685532" y="6451092"/>
            <a:ext cx="182880" cy="182880"/>
          </a:xfrm>
          <a:prstGeom prst="ellipse">
            <a:avLst/>
          </a:prstGeom>
          <a:ln w="9525">
            <a:solidFill>
              <a:srgbClr val="D31242"/>
            </a:solidFill>
            <a:prstDash val="solid"/>
          </a:ln>
        </p:spPr>
      </p:sp>
      <p:sp>
        <p:nvSpPr>
          <p:cNvPr id="25" name="Shape 23"/>
          <p:cNvSpPr/>
          <p:nvPr/>
        </p:nvSpPr>
        <p:spPr>
          <a:xfrm>
            <a:off x="7717536" y="6483096"/>
            <a:ext cx="118872" cy="118872"/>
          </a:xfrm>
          <a:prstGeom prst="ellipse">
            <a:avLst/>
          </a:prstGeom>
          <a:solidFill>
            <a:srgbClr val="D31242"/>
          </a:solidFill>
          <a:ln/>
        </p:spPr>
      </p:sp>
      <p:sp>
        <p:nvSpPr>
          <p:cNvPr id="26" name="Shape 24"/>
          <p:cNvSpPr/>
          <p:nvPr/>
        </p:nvSpPr>
        <p:spPr>
          <a:xfrm>
            <a:off x="7936992" y="6483096"/>
            <a:ext cx="118872" cy="118872"/>
          </a:xfrm>
          <a:prstGeom prst="ellipse">
            <a:avLst/>
          </a:prstGeom>
          <a:solidFill>
            <a:srgbClr val="D9DDE3"/>
          </a:solidFill>
          <a:ln/>
        </p:spPr>
      </p:sp>
      <p:sp>
        <p:nvSpPr>
          <p:cNvPr id="27" name="Text 25"/>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HAVE IT REVIEW ITS DRAFT · BEFORE AND AFTER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reader's questions, before the reader asks them</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IMPROVE THE AI'S FIRST DRAFT</a:t>
            </a:r>
            <a:endParaRPr lang="en-US" sz="900" dirty="0"/>
          </a:p>
        </p:txBody>
      </p:sp>
      <p:sp>
        <p:nvSpPr>
          <p:cNvPr id="7" name="Shape 4"/>
          <p:cNvSpPr/>
          <p:nvPr/>
        </p:nvSpPr>
        <p:spPr>
          <a:xfrm>
            <a:off x="640080" y="1874520"/>
            <a:ext cx="5074920" cy="3566160"/>
          </a:xfrm>
          <a:prstGeom prst="roundRect">
            <a:avLst>
              <a:gd name="adj" fmla="val 230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66544"/>
            <a:ext cx="4526280" cy="256032"/>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PROMPT</a:t>
            </a:r>
            <a:endParaRPr lang="en-US" sz="1100" dirty="0"/>
          </a:p>
        </p:txBody>
      </p:sp>
      <p:sp>
        <p:nvSpPr>
          <p:cNvPr id="9" name="Text 6"/>
          <p:cNvSpPr/>
          <p:nvPr/>
        </p:nvSpPr>
        <p:spPr>
          <a:xfrm>
            <a:off x="960120" y="2414016"/>
            <a:ext cx="4480560" cy="457200"/>
          </a:xfrm>
          <a:prstGeom prst="rect">
            <a:avLst/>
          </a:prstGeom>
          <a:noFill/>
          <a:ln/>
        </p:spPr>
        <p:txBody>
          <a:bodyPr wrap="square" lIns="0" tIns="0" rIns="0" bIns="0" rtlCol="0" anchor="t"/>
          <a:lstStyle/>
          <a:p>
            <a:pPr indent="0" marL="0">
              <a:lnSpc>
                <a:spcPct val="116000"/>
              </a:lnSpc>
              <a:buNone/>
            </a:pPr>
            <a:r>
              <a:rPr lang="en-US" sz="1250" dirty="0">
                <a:solidFill>
                  <a:srgbClr val="1F2733"/>
                </a:solidFill>
                <a:latin typeface="Arial" pitchFamily="34" charset="0"/>
                <a:ea typeface="Arial" pitchFamily="34" charset="-122"/>
                <a:cs typeface="Arial" pitchFamily="34" charset="-120"/>
              </a:rPr>
              <a:t>Write a short update for leadership from</a:t>
            </a:r>
            <a:endParaRPr lang="en-US" sz="1250" dirty="0"/>
          </a:p>
          <a:p>
            <a:pPr indent="0" marL="0">
              <a:lnSpc>
                <a:spcPct val="116000"/>
              </a:lnSpc>
              <a:buNone/>
            </a:pPr>
            <a:r>
              <a:rPr lang="en-US" sz="1250" dirty="0">
                <a:solidFill>
                  <a:srgbClr val="1F2733"/>
                </a:solidFill>
                <a:latin typeface="Arial" pitchFamily="34" charset="0"/>
                <a:ea typeface="Arial" pitchFamily="34" charset="-122"/>
                <a:cs typeface="Arial" pitchFamily="34" charset="-120"/>
              </a:rPr>
              <a:t>these notes.</a:t>
            </a:r>
            <a:endParaRPr lang="en-US" sz="1250" dirty="0"/>
          </a:p>
        </p:txBody>
      </p:sp>
      <p:sp>
        <p:nvSpPr>
          <p:cNvPr id="10" name="Text 7"/>
          <p:cNvSpPr/>
          <p:nvPr/>
        </p:nvSpPr>
        <p:spPr>
          <a:xfrm>
            <a:off x="960120" y="3008376"/>
            <a:ext cx="4480560" cy="694944"/>
          </a:xfrm>
          <a:prstGeom prst="rect">
            <a:avLst/>
          </a:prstGeom>
          <a:noFill/>
          <a:ln/>
        </p:spPr>
        <p:txBody>
          <a:bodyPr wrap="square" lIns="0" tIns="0" rIns="0" bIns="0" rtlCol="0" anchor="t"/>
          <a:lstStyle/>
          <a:p>
            <a:pPr indent="0" marL="0">
              <a:lnSpc>
                <a:spcPct val="116000"/>
              </a:lnSpc>
              <a:buNone/>
            </a:pPr>
            <a:r>
              <a:rPr lang="en-US" sz="1250" dirty="0">
                <a:solidFill>
                  <a:srgbClr val="1F2733"/>
                </a:solidFill>
                <a:latin typeface="Arial" pitchFamily="34" charset="0"/>
                <a:ea typeface="Arial" pitchFamily="34" charset="-122"/>
                <a:cs typeface="Arial" pitchFamily="34" charset="-120"/>
              </a:rPr>
              <a:t>“10 of 12 clubs trained. 331 not scheduled.</a:t>
            </a:r>
            <a:endParaRPr lang="en-US" sz="1250" dirty="0"/>
          </a:p>
          <a:p>
            <a:pPr indent="0" marL="0">
              <a:lnSpc>
                <a:spcPct val="116000"/>
              </a:lnSpc>
              <a:buNone/>
            </a:pPr>
            <a:r>
              <a:rPr lang="en-US" sz="1250" dirty="0">
                <a:solidFill>
                  <a:srgbClr val="1F2733"/>
                </a:solidFill>
                <a:latin typeface="Arial" pitchFamily="34" charset="0"/>
                <a:ea typeface="Arial" pitchFamily="34" charset="-122"/>
                <a:cs typeface="Arial" pitchFamily="34" charset="-120"/>
              </a:rPr>
              <a:t>Login issue fixed 8 August. Need a decision</a:t>
            </a:r>
            <a:endParaRPr lang="en-US" sz="1250" dirty="0"/>
          </a:p>
          <a:p>
            <a:pPr indent="0" marL="0">
              <a:lnSpc>
                <a:spcPct val="116000"/>
              </a:lnSpc>
              <a:buNone/>
            </a:pPr>
            <a:r>
              <a:rPr lang="en-US" sz="1250" dirty="0">
                <a:solidFill>
                  <a:srgbClr val="1F2733"/>
                </a:solidFill>
                <a:latin typeface="Arial" pitchFamily="34" charset="0"/>
                <a:ea typeface="Arial" pitchFamily="34" charset="-122"/>
                <a:cs typeface="Arial" pitchFamily="34" charset="-120"/>
              </a:rPr>
              <a:t>on September clubs.”</a:t>
            </a:r>
            <a:endParaRPr lang="en-US" sz="1250" dirty="0"/>
          </a:p>
        </p:txBody>
      </p:sp>
      <p:sp>
        <p:nvSpPr>
          <p:cNvPr id="11" name="Shape 8"/>
          <p:cNvSpPr/>
          <p:nvPr/>
        </p:nvSpPr>
        <p:spPr>
          <a:xfrm>
            <a:off x="841248" y="3794760"/>
            <a:ext cx="4681728" cy="1024128"/>
          </a:xfrm>
          <a:prstGeom prst="roundRect">
            <a:avLst>
              <a:gd name="adj" fmla="val 6250"/>
            </a:avLst>
          </a:prstGeom>
          <a:solidFill>
            <a:srgbClr val="DCFCE7"/>
          </a:solidFill>
          <a:ln/>
        </p:spPr>
      </p:sp>
      <p:sp>
        <p:nvSpPr>
          <p:cNvPr id="12" name="Text 9"/>
          <p:cNvSpPr/>
          <p:nvPr/>
        </p:nvSpPr>
        <p:spPr>
          <a:xfrm>
            <a:off x="960120" y="3840480"/>
            <a:ext cx="4480560" cy="914400"/>
          </a:xfrm>
          <a:prstGeom prst="rect">
            <a:avLst/>
          </a:prstGeom>
          <a:noFill/>
          <a:ln/>
        </p:spPr>
        <p:txBody>
          <a:bodyPr wrap="square" lIns="0" tIns="0" rIns="0" bIns="0" rtlCol="0" anchor="t"/>
          <a:lstStyle/>
          <a:p>
            <a:pPr indent="0" marL="0">
              <a:lnSpc>
                <a:spcPct val="116000"/>
              </a:lnSpc>
              <a:buNone/>
            </a:pPr>
            <a:r>
              <a:rPr lang="en-US" sz="950" b="1" spc="150" kern="0" dirty="0">
                <a:solidFill>
                  <a:srgbClr val="15803D"/>
                </a:solidFill>
                <a:latin typeface="Arial" pitchFamily="34" charset="0"/>
                <a:ea typeface="Arial" pitchFamily="34" charset="-122"/>
                <a:cs typeface="Arial" pitchFamily="34" charset="-120"/>
              </a:rPr>
              <a:t>THE FOLLOW-UP YOU TYPE
</a:t>
            </a:r>
            <a:pPr indent="0" marL="0">
              <a:lnSpc>
                <a:spcPct val="116000"/>
              </a:lnSpc>
              <a:buNone/>
            </a:pPr>
            <a:r>
              <a:rPr lang="en-US" sz="1200" dirty="0">
                <a:solidFill>
                  <a:srgbClr val="1F2733"/>
                </a:solidFill>
                <a:latin typeface="Arial" pitchFamily="34" charset="0"/>
                <a:ea typeface="Arial" pitchFamily="34" charset="-122"/>
                <a:cs typeface="Arial" pitchFamily="34" charset="-120"/>
              </a:rPr>
              <a:t>Review this as a director with two minutes.</a:t>
            </a:r>
            <a:endParaRPr lang="en-US" sz="95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What would they ask that this does not</a:t>
            </a:r>
            <a:endParaRPr lang="en-US" sz="95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answer? Then rewrite it.</a:t>
            </a:r>
            <a:endParaRPr lang="en-US" sz="950" dirty="0"/>
          </a:p>
        </p:txBody>
      </p:sp>
      <p:sp>
        <p:nvSpPr>
          <p:cNvPr id="13" name="Shape 10"/>
          <p:cNvSpPr/>
          <p:nvPr/>
        </p:nvSpPr>
        <p:spPr>
          <a:xfrm>
            <a:off x="6355080" y="1874520"/>
            <a:ext cx="5166360" cy="1600200"/>
          </a:xfrm>
          <a:prstGeom prst="roundRect">
            <a:avLst>
              <a:gd name="adj" fmla="val 5143"/>
            </a:avLst>
          </a:prstGeom>
          <a:solidFill>
            <a:srgbClr val="FEE2E2"/>
          </a:solidFill>
          <a:ln/>
          <a:effectLst>
            <a:outerShdw sx="100000" sy="100000" kx="0" ky="0" algn="bl" rotWithShape="0" blurRad="88900" dist="38100" dir="5400000">
              <a:srgbClr val="1F2733">
                <a:alpha val="10000"/>
              </a:srgbClr>
            </a:outerShdw>
          </a:effectLst>
        </p:spPr>
      </p:sp>
      <p:sp>
        <p:nvSpPr>
          <p:cNvPr id="14" name="Shape 11"/>
          <p:cNvSpPr/>
          <p:nvPr/>
        </p:nvSpPr>
        <p:spPr>
          <a:xfrm>
            <a:off x="6455664" y="2029968"/>
            <a:ext cx="50292" cy="1298448"/>
          </a:xfrm>
          <a:prstGeom prst="roundRect">
            <a:avLst>
              <a:gd name="adj" fmla="val 36364"/>
            </a:avLst>
          </a:prstGeom>
          <a:solidFill>
            <a:srgbClr val="B91C1C"/>
          </a:solidFill>
          <a:ln/>
        </p:spPr>
      </p:sp>
      <p:sp>
        <p:nvSpPr>
          <p:cNvPr id="15" name="Text 12"/>
          <p:cNvSpPr/>
          <p:nvPr/>
        </p:nvSpPr>
        <p:spPr>
          <a:xfrm>
            <a:off x="6629400" y="2048256"/>
            <a:ext cx="4617720" cy="237744"/>
          </a:xfrm>
          <a:prstGeom prst="rect">
            <a:avLst/>
          </a:prstGeom>
          <a:noFill/>
          <a:ln/>
        </p:spPr>
        <p:txBody>
          <a:bodyPr wrap="square" lIns="0" tIns="0" rIns="0" bIns="0" rtlCol="0" anchor="ctr"/>
          <a:lstStyle/>
          <a:p>
            <a:pPr indent="0" marL="0">
              <a:buNone/>
            </a:pPr>
            <a:r>
              <a:rPr lang="en-US" sz="1000" b="1" spc="120" kern="0" dirty="0">
                <a:solidFill>
                  <a:srgbClr val="B91C1C"/>
                </a:solidFill>
                <a:latin typeface="Arial" pitchFamily="34" charset="0"/>
                <a:ea typeface="Arial" pitchFamily="34" charset="-122"/>
                <a:cs typeface="Arial" pitchFamily="34" charset="-120"/>
              </a:rPr>
              <a:t>THE FIRST DRAFT</a:t>
            </a:r>
            <a:endParaRPr lang="en-US" sz="1000" dirty="0"/>
          </a:p>
        </p:txBody>
      </p:sp>
      <p:sp>
        <p:nvSpPr>
          <p:cNvPr id="16" name="Text 13"/>
          <p:cNvSpPr/>
          <p:nvPr/>
        </p:nvSpPr>
        <p:spPr>
          <a:xfrm>
            <a:off x="6629400" y="2340864"/>
            <a:ext cx="4617720" cy="1042416"/>
          </a:xfrm>
          <a:prstGeom prst="rect">
            <a:avLst/>
          </a:prstGeom>
          <a:noFill/>
          <a:ln/>
        </p:spPr>
        <p:txBody>
          <a:bodyPr wrap="square" lIns="0" tIns="0" rIns="0" bIns="0" rtlCol="0" anchor="t"/>
          <a:lstStyle/>
          <a:p>
            <a:pPr indent="0" marL="0">
              <a:lnSpc>
                <a:spcPct val="114000"/>
              </a:lnSpc>
              <a:buNone/>
            </a:pPr>
            <a:r>
              <a:rPr lang="en-US" sz="1100" dirty="0">
                <a:solidFill>
                  <a:srgbClr val="1F2733"/>
                </a:solidFill>
                <a:latin typeface="Arial" pitchFamily="34" charset="0"/>
                <a:ea typeface="Arial" pitchFamily="34" charset="-122"/>
                <a:cs typeface="Arial" pitchFamily="34" charset="-120"/>
              </a:rPr>
              <a:t>“Pilot update: 10 of 12 clubs have completed training. Club 331 remains unscheduled. The login issue was resolved on 8 August. A decision is needed on September clubs.”</a:t>
            </a:r>
            <a:endParaRPr lang="en-US" sz="1100" dirty="0"/>
          </a:p>
        </p:txBody>
      </p:sp>
      <p:sp>
        <p:nvSpPr>
          <p:cNvPr id="17" name="Shape 14"/>
          <p:cNvSpPr/>
          <p:nvPr/>
        </p:nvSpPr>
        <p:spPr>
          <a:xfrm>
            <a:off x="6355080" y="3611880"/>
            <a:ext cx="5166360" cy="1828800"/>
          </a:xfrm>
          <a:prstGeom prst="roundRect">
            <a:avLst>
              <a:gd name="adj" fmla="val 4500"/>
            </a:avLst>
          </a:prstGeom>
          <a:solidFill>
            <a:srgbClr val="DCFCE7"/>
          </a:solidFill>
          <a:ln/>
          <a:effectLst>
            <a:outerShdw sx="100000" sy="100000" kx="0" ky="0" algn="bl" rotWithShape="0" blurRad="88900" dist="38100" dir="5400000">
              <a:srgbClr val="1F2733">
                <a:alpha val="10000"/>
              </a:srgbClr>
            </a:outerShdw>
          </a:effectLst>
        </p:spPr>
      </p:sp>
      <p:sp>
        <p:nvSpPr>
          <p:cNvPr id="18" name="Shape 15"/>
          <p:cNvSpPr/>
          <p:nvPr/>
        </p:nvSpPr>
        <p:spPr>
          <a:xfrm>
            <a:off x="6455664" y="3767328"/>
            <a:ext cx="50292" cy="1536192"/>
          </a:xfrm>
          <a:prstGeom prst="roundRect">
            <a:avLst>
              <a:gd name="adj" fmla="val 36364"/>
            </a:avLst>
          </a:prstGeom>
          <a:solidFill>
            <a:srgbClr val="15803D"/>
          </a:solidFill>
          <a:ln/>
        </p:spPr>
      </p:sp>
      <p:sp>
        <p:nvSpPr>
          <p:cNvPr id="19" name="Text 16"/>
          <p:cNvSpPr/>
          <p:nvPr/>
        </p:nvSpPr>
        <p:spPr>
          <a:xfrm>
            <a:off x="6629400" y="3776472"/>
            <a:ext cx="4617720" cy="237744"/>
          </a:xfrm>
          <a:prstGeom prst="rect">
            <a:avLst/>
          </a:prstGeom>
          <a:noFill/>
          <a:ln/>
        </p:spPr>
        <p:txBody>
          <a:bodyPr wrap="square" lIns="0" tIns="0" rIns="0" bIns="0" rtlCol="0" anchor="ctr"/>
          <a:lstStyle/>
          <a:p>
            <a:pPr indent="0" marL="0">
              <a:buNone/>
            </a:pPr>
            <a:r>
              <a:rPr lang="en-US" sz="1000" b="1" spc="120" kern="0" dirty="0">
                <a:solidFill>
                  <a:srgbClr val="15803D"/>
                </a:solidFill>
                <a:latin typeface="Arial" pitchFamily="34" charset="0"/>
                <a:ea typeface="Arial" pitchFamily="34" charset="-122"/>
                <a:cs typeface="Arial" pitchFamily="34" charset="-120"/>
              </a:rPr>
              <a:t>AFTER THE FOLLOW-UP</a:t>
            </a:r>
            <a:endParaRPr lang="en-US" sz="1000" dirty="0"/>
          </a:p>
        </p:txBody>
      </p:sp>
      <p:sp>
        <p:nvSpPr>
          <p:cNvPr id="20" name="Text 17"/>
          <p:cNvSpPr/>
          <p:nvPr/>
        </p:nvSpPr>
        <p:spPr>
          <a:xfrm>
            <a:off x="6629400" y="4069080"/>
            <a:ext cx="4617720" cy="1298448"/>
          </a:xfrm>
          <a:prstGeom prst="rect">
            <a:avLst/>
          </a:prstGeom>
          <a:noFill/>
          <a:ln/>
        </p:spPr>
        <p:txBody>
          <a:bodyPr wrap="square" lIns="0" tIns="0" rIns="0" bIns="0" rtlCol="0" anchor="t"/>
          <a:lstStyle/>
          <a:p>
            <a:pPr indent="0" marL="0">
              <a:lnSpc>
                <a:spcPct val="114000"/>
              </a:lnSpc>
              <a:buNone/>
            </a:pPr>
            <a:r>
              <a:rPr lang="en-US" sz="1100" dirty="0">
                <a:solidFill>
                  <a:srgbClr val="1F2733"/>
                </a:solidFill>
                <a:latin typeface="Arial" pitchFamily="34" charset="0"/>
                <a:ea typeface="Arial" pitchFamily="34" charset="-122"/>
                <a:cs typeface="Arial" pitchFamily="34" charset="-120"/>
              </a:rPr>
              <a:t>A director would ask: when is the decision
needed by? Why is 331 unscheduled, and who
owns it? What slips if we wait?
</a:t>
            </a:r>
            <a:pPr indent="0" marL="0">
              <a:lnSpc>
                <a:spcPct val="114000"/>
              </a:lnSpc>
              <a:buNone/>
            </a:pPr>
            <a:r>
              <a:rPr lang="en-US" sz="1100" i="1" dirty="0">
                <a:solidFill>
                  <a:srgbClr val="3A4452"/>
                </a:solidFill>
                <a:latin typeface="Arial" pitchFamily="34" charset="0"/>
                <a:ea typeface="Arial" pitchFamily="34" charset="-122"/>
                <a:cs typeface="Arial" pitchFamily="34" charset="-120"/>
              </a:rPr>
              <a:t>None of that is in the notes. Add it, or say it is being confirmed.</a:t>
            </a:r>
            <a:endParaRPr lang="en-US" sz="1100" dirty="0"/>
          </a:p>
        </p:txBody>
      </p:sp>
      <p:sp>
        <p:nvSpPr>
          <p:cNvPr id="21" name="Text 18"/>
          <p:cNvSpPr/>
          <p:nvPr/>
        </p:nvSpPr>
        <p:spPr>
          <a:xfrm>
            <a:off x="640080" y="5870448"/>
            <a:ext cx="10881360" cy="41148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The draft was accurate. The review found what the notes never contained.</a:t>
            </a:r>
            <a:endParaRPr lang="en-US" sz="1500" dirty="0"/>
          </a:p>
        </p:txBody>
      </p:sp>
      <p:sp>
        <p:nvSpPr>
          <p:cNvPr id="22" name="Text 19"/>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5 OF 6 · HAVE IT REVIEW ITS DRAFT</a:t>
            </a:r>
            <a:endParaRPr lang="en-US" sz="850" dirty="0"/>
          </a:p>
        </p:txBody>
      </p:sp>
      <p:sp>
        <p:nvSpPr>
          <p:cNvPr id="23" name="Shape 20"/>
          <p:cNvSpPr/>
          <p:nvPr/>
        </p:nvSpPr>
        <p:spPr>
          <a:xfrm>
            <a:off x="6583680" y="6483096"/>
            <a:ext cx="118872" cy="118872"/>
          </a:xfrm>
          <a:prstGeom prst="ellipse">
            <a:avLst/>
          </a:prstGeom>
          <a:solidFill>
            <a:srgbClr val="D9DDE3"/>
          </a:solidFill>
          <a:ln/>
        </p:spPr>
      </p:sp>
      <p:sp>
        <p:nvSpPr>
          <p:cNvPr id="24" name="Shape 21"/>
          <p:cNvSpPr/>
          <p:nvPr/>
        </p:nvSpPr>
        <p:spPr>
          <a:xfrm>
            <a:off x="6803136" y="6483096"/>
            <a:ext cx="118872" cy="118872"/>
          </a:xfrm>
          <a:prstGeom prst="ellipse">
            <a:avLst/>
          </a:prstGeom>
          <a:solidFill>
            <a:srgbClr val="D9DDE3"/>
          </a:solidFill>
          <a:ln/>
        </p:spPr>
      </p:sp>
      <p:sp>
        <p:nvSpPr>
          <p:cNvPr id="25" name="Shape 22"/>
          <p:cNvSpPr/>
          <p:nvPr/>
        </p:nvSpPr>
        <p:spPr>
          <a:xfrm>
            <a:off x="7022592" y="6483096"/>
            <a:ext cx="118872" cy="118872"/>
          </a:xfrm>
          <a:prstGeom prst="ellipse">
            <a:avLst/>
          </a:prstGeom>
          <a:solidFill>
            <a:srgbClr val="D9DDE3"/>
          </a:solidFill>
          <a:ln/>
        </p:spPr>
      </p:sp>
      <p:sp>
        <p:nvSpPr>
          <p:cNvPr id="26" name="Shape 23"/>
          <p:cNvSpPr/>
          <p:nvPr/>
        </p:nvSpPr>
        <p:spPr>
          <a:xfrm>
            <a:off x="7370064" y="6483096"/>
            <a:ext cx="118872" cy="118872"/>
          </a:xfrm>
          <a:prstGeom prst="ellipse">
            <a:avLst/>
          </a:prstGeom>
          <a:solidFill>
            <a:srgbClr val="D9DDE3"/>
          </a:solidFill>
          <a:ln/>
        </p:spPr>
      </p:sp>
      <p:sp>
        <p:nvSpPr>
          <p:cNvPr id="27" name="Shape 24"/>
          <p:cNvSpPr/>
          <p:nvPr/>
        </p:nvSpPr>
        <p:spPr>
          <a:xfrm>
            <a:off x="7685532" y="6451092"/>
            <a:ext cx="182880" cy="182880"/>
          </a:xfrm>
          <a:prstGeom prst="ellipse">
            <a:avLst/>
          </a:prstGeom>
          <a:ln w="9525">
            <a:solidFill>
              <a:srgbClr val="D31242"/>
            </a:solidFill>
            <a:prstDash val="solid"/>
          </a:ln>
        </p:spPr>
      </p:sp>
      <p:sp>
        <p:nvSpPr>
          <p:cNvPr id="28" name="Shape 25"/>
          <p:cNvSpPr/>
          <p:nvPr/>
        </p:nvSpPr>
        <p:spPr>
          <a:xfrm>
            <a:off x="7717536" y="6483096"/>
            <a:ext cx="118872" cy="118872"/>
          </a:xfrm>
          <a:prstGeom prst="ellipse">
            <a:avLst/>
          </a:prstGeom>
          <a:solidFill>
            <a:srgbClr val="D31242"/>
          </a:solidFill>
          <a:ln/>
        </p:spPr>
      </p:sp>
      <p:sp>
        <p:nvSpPr>
          <p:cNvPr id="29" name="Shape 26"/>
          <p:cNvSpPr/>
          <p:nvPr/>
        </p:nvSpPr>
        <p:spPr>
          <a:xfrm>
            <a:off x="7936992" y="6483096"/>
            <a:ext cx="118872" cy="118872"/>
          </a:xfrm>
          <a:prstGeom prst="ellipse">
            <a:avLst/>
          </a:prstGeom>
          <a:solidFill>
            <a:srgbClr val="D9DDE3"/>
          </a:solidFill>
          <a:ln/>
        </p:spPr>
      </p:sp>
      <p:sp>
        <p:nvSpPr>
          <p:cNvPr id="30" name="Text 27"/>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HAVE IT REVIEW ITS DRAFT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Your turn</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IMPROVE THE AI'S FIRST DRAFT</a:t>
            </a:r>
            <a:endParaRPr lang="en-US" sz="900" dirty="0"/>
          </a:p>
        </p:txBody>
      </p:sp>
      <p:sp>
        <p:nvSpPr>
          <p:cNvPr id="7" name="Shape 4"/>
          <p:cNvSpPr/>
          <p:nvPr/>
        </p:nvSpPr>
        <p:spPr>
          <a:xfrm>
            <a:off x="640080" y="1874520"/>
            <a:ext cx="5074920" cy="3566160"/>
          </a:xfrm>
          <a:prstGeom prst="roundRect">
            <a:avLst>
              <a:gd name="adj" fmla="val 230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84832"/>
            <a:ext cx="4526280" cy="256032"/>
          </a:xfrm>
          <a:prstGeom prst="rect">
            <a:avLst/>
          </a:prstGeom>
          <a:noFill/>
          <a:ln/>
        </p:spPr>
        <p:txBody>
          <a:bodyPr wrap="square" lIns="0" tIns="0" rIns="0" bIns="0" rtlCol="0" anchor="ctr"/>
          <a:lstStyle/>
          <a:p>
            <a:pPr indent="0" marL="0">
              <a:buNone/>
            </a:pPr>
            <a:r>
              <a:rPr lang="en-US" sz="1050" b="1" spc="150" kern="0" dirty="0">
                <a:solidFill>
                  <a:srgbClr val="5E6A78"/>
                </a:solidFill>
                <a:latin typeface="Arial" pitchFamily="34" charset="0"/>
                <a:ea typeface="Arial" pitchFamily="34" charset="-122"/>
                <a:cs typeface="Arial" pitchFamily="34" charset="-120"/>
              </a:rPr>
              <a:t>NOTES TO WRITE UP</a:t>
            </a:r>
            <a:endParaRPr lang="en-US" sz="1050" dirty="0"/>
          </a:p>
        </p:txBody>
      </p:sp>
      <p:sp>
        <p:nvSpPr>
          <p:cNvPr id="9" name="Text 6"/>
          <p:cNvSpPr/>
          <p:nvPr/>
        </p:nvSpPr>
        <p:spPr>
          <a:xfrm>
            <a:off x="914400" y="2450592"/>
            <a:ext cx="4526280" cy="2880360"/>
          </a:xfrm>
          <a:prstGeom prst="rect">
            <a:avLst/>
          </a:prstGeom>
          <a:noFill/>
          <a:ln/>
        </p:spPr>
        <p:txBody>
          <a:bodyPr wrap="square" lIns="0" tIns="0" rIns="0" bIns="0" rtlCol="0" anchor="t"/>
          <a:lstStyle/>
          <a:p>
            <a:pPr indent="0" marL="0">
              <a:lnSpc>
                <a:spcPct val="122000"/>
              </a:lnSpc>
              <a:buNone/>
            </a:pPr>
            <a:r>
              <a:rPr lang="en-US" sz="1200" dirty="0">
                <a:solidFill>
                  <a:srgbClr val="1F2733"/>
                </a:solidFill>
                <a:latin typeface="Arial" pitchFamily="34" charset="0"/>
                <a:ea typeface="Arial" pitchFamily="34" charset="-122"/>
                <a:cs typeface="Arial" pitchFamily="34" charset="-120"/>
              </a:rPr>
              <a:t>“Two of the four pilot clubs finished the new</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receiving process this week. One is waiting on</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equipment. The fourth has not started because</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the manager is on leave. Costs are tracking to</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plan. We need a call on whether to add clubs</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in October.”</a:t>
            </a:r>
            <a:endParaRPr lang="en-US" sz="1200" dirty="0"/>
          </a:p>
        </p:txBody>
      </p:sp>
      <p:sp>
        <p:nvSpPr>
          <p:cNvPr id="10" name="Text 7"/>
          <p:cNvSpPr/>
          <p:nvPr/>
        </p:nvSpPr>
        <p:spPr>
          <a:xfrm>
            <a:off x="640080" y="5532120"/>
            <a:ext cx="5074920" cy="274320"/>
          </a:xfrm>
          <a:prstGeom prst="rect">
            <a:avLst/>
          </a:prstGeom>
          <a:noFill/>
          <a:ln/>
        </p:spPr>
        <p:txBody>
          <a:bodyPr wrap="square" lIns="0" tIns="0" rIns="0" bIns="0" rtlCol="0" anchor="ctr"/>
          <a:lstStyle/>
          <a:p>
            <a:pPr indent="0" marL="0">
              <a:buNone/>
            </a:pPr>
            <a:r>
              <a:rPr lang="en-US" sz="1100" dirty="0">
                <a:solidFill>
                  <a:srgbClr val="5E6A78"/>
                </a:solidFill>
                <a:latin typeface="Arial" pitchFamily="34" charset="0"/>
                <a:ea typeface="Arial" pitchFamily="34" charset="-122"/>
                <a:cs typeface="Arial" pitchFamily="34" charset="-120"/>
              </a:rPr>
              <a:t>Also posted in the chat, ready to copy.</a:t>
            </a:r>
            <a:endParaRPr lang="en-US" sz="1100" dirty="0"/>
          </a:p>
        </p:txBody>
      </p:sp>
      <p:sp>
        <p:nvSpPr>
          <p:cNvPr id="11" name="Text 8"/>
          <p:cNvSpPr/>
          <p:nvPr/>
        </p:nvSpPr>
        <p:spPr>
          <a:xfrm>
            <a:off x="6355080" y="2084832"/>
            <a:ext cx="4617720" cy="256032"/>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TO DO</a:t>
            </a:r>
            <a:endParaRPr lang="en-US" sz="1050" dirty="0"/>
          </a:p>
        </p:txBody>
      </p:sp>
      <p:sp>
        <p:nvSpPr>
          <p:cNvPr id="12" name="Shape 9"/>
          <p:cNvSpPr/>
          <p:nvPr/>
        </p:nvSpPr>
        <p:spPr>
          <a:xfrm>
            <a:off x="6355080" y="2450592"/>
            <a:ext cx="384048" cy="384048"/>
          </a:xfrm>
          <a:prstGeom prst="ellipse">
            <a:avLst/>
          </a:prstGeom>
          <a:solidFill>
            <a:srgbClr val="D31242"/>
          </a:solidFill>
          <a:ln/>
        </p:spPr>
      </p:sp>
      <p:sp>
        <p:nvSpPr>
          <p:cNvPr id="13" name="Text 10"/>
          <p:cNvSpPr/>
          <p:nvPr/>
        </p:nvSpPr>
        <p:spPr>
          <a:xfrm>
            <a:off x="6355080" y="24505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4" name="Text 11"/>
          <p:cNvSpPr/>
          <p:nvPr/>
        </p:nvSpPr>
        <p:spPr>
          <a:xfrm>
            <a:off x="6903720" y="243230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Ask for a short update for leadership from these notes.</a:t>
            </a:r>
            <a:endParaRPr lang="en-US" sz="1350" dirty="0"/>
          </a:p>
        </p:txBody>
      </p:sp>
      <p:sp>
        <p:nvSpPr>
          <p:cNvPr id="15" name="Shape 12"/>
          <p:cNvSpPr/>
          <p:nvPr/>
        </p:nvSpPr>
        <p:spPr>
          <a:xfrm>
            <a:off x="6355080" y="3319272"/>
            <a:ext cx="384048" cy="384048"/>
          </a:xfrm>
          <a:prstGeom prst="ellipse">
            <a:avLst/>
          </a:prstGeom>
          <a:solidFill>
            <a:srgbClr val="D31242"/>
          </a:solidFill>
          <a:ln/>
        </p:spPr>
      </p:sp>
      <p:sp>
        <p:nvSpPr>
          <p:cNvPr id="16" name="Text 13"/>
          <p:cNvSpPr/>
          <p:nvPr/>
        </p:nvSpPr>
        <p:spPr>
          <a:xfrm>
            <a:off x="6355080" y="3319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7" name="Text 14"/>
          <p:cNvSpPr/>
          <p:nvPr/>
        </p:nvSpPr>
        <p:spPr>
          <a:xfrm>
            <a:off x="6903720" y="330098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Then type: “Review this as a director with two minutes. What would they ask that this does not answer? Then rewrite it.”</a:t>
            </a:r>
            <a:endParaRPr lang="en-US" sz="1350" dirty="0"/>
          </a:p>
        </p:txBody>
      </p:sp>
      <p:sp>
        <p:nvSpPr>
          <p:cNvPr id="18" name="Shape 15"/>
          <p:cNvSpPr/>
          <p:nvPr/>
        </p:nvSpPr>
        <p:spPr>
          <a:xfrm>
            <a:off x="6355080" y="4187952"/>
            <a:ext cx="384048" cy="384048"/>
          </a:xfrm>
          <a:prstGeom prst="ellipse">
            <a:avLst/>
          </a:prstGeom>
          <a:solidFill>
            <a:srgbClr val="D31242"/>
          </a:solidFill>
          <a:ln/>
        </p:spPr>
      </p:sp>
      <p:sp>
        <p:nvSpPr>
          <p:cNvPr id="19" name="Text 16"/>
          <p:cNvSpPr/>
          <p:nvPr/>
        </p:nvSpPr>
        <p:spPr>
          <a:xfrm>
            <a:off x="6355080" y="41879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0" name="Text 17"/>
          <p:cNvSpPr/>
          <p:nvPr/>
        </p:nvSpPr>
        <p:spPr>
          <a:xfrm>
            <a:off x="6903720" y="416966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Compare the two versions.</a:t>
            </a:r>
            <a:endParaRPr lang="en-US" sz="1350" dirty="0"/>
          </a:p>
        </p:txBody>
      </p:sp>
      <p:sp>
        <p:nvSpPr>
          <p:cNvPr id="21" name="Shape 18"/>
          <p:cNvSpPr/>
          <p:nvPr/>
        </p:nvSpPr>
        <p:spPr>
          <a:xfrm>
            <a:off x="6355080" y="5084064"/>
            <a:ext cx="5166360" cy="914400"/>
          </a:xfrm>
          <a:prstGeom prst="roundRect">
            <a:avLst>
              <a:gd name="adj" fmla="val 9000"/>
            </a:avLst>
          </a:prstGeom>
          <a:solidFill>
            <a:srgbClr val="DCFCE7"/>
          </a:solidFill>
          <a:ln/>
          <a:effectLst>
            <a:outerShdw sx="100000" sy="100000" kx="0" ky="0" algn="bl" rotWithShape="0" blurRad="88900" dist="38100" dir="5400000">
              <a:srgbClr val="1F2733">
                <a:alpha val="10000"/>
              </a:srgbClr>
            </a:outerShdw>
          </a:effectLst>
        </p:spPr>
      </p:sp>
      <p:sp>
        <p:nvSpPr>
          <p:cNvPr id="22" name="Text 19"/>
          <p:cNvSpPr/>
          <p:nvPr/>
        </p:nvSpPr>
        <p:spPr>
          <a:xfrm>
            <a:off x="6629400" y="5184648"/>
            <a:ext cx="3657600" cy="237744"/>
          </a:xfrm>
          <a:prstGeom prst="rect">
            <a:avLst/>
          </a:prstGeom>
          <a:noFill/>
          <a:ln/>
        </p:spPr>
        <p:txBody>
          <a:bodyPr wrap="square" lIns="0" tIns="0" rIns="0" bIns="0" rtlCol="0" anchor="ctr"/>
          <a:lstStyle/>
          <a:p>
            <a:pPr indent="0" marL="0">
              <a:buNone/>
            </a:pPr>
            <a:r>
              <a:rPr lang="en-US" sz="950" b="1" spc="120" kern="0" dirty="0">
                <a:solidFill>
                  <a:srgbClr val="15803D"/>
                </a:solidFill>
                <a:latin typeface="Arial" pitchFamily="34" charset="0"/>
                <a:ea typeface="Arial" pitchFamily="34" charset="-122"/>
                <a:cs typeface="Arial" pitchFamily="34" charset="-120"/>
              </a:rPr>
              <a:t>CHECK</a:t>
            </a:r>
            <a:endParaRPr lang="en-US" sz="950" dirty="0"/>
          </a:p>
        </p:txBody>
      </p:sp>
      <p:sp>
        <p:nvSpPr>
          <p:cNvPr id="23" name="Text 20"/>
          <p:cNvSpPr/>
          <p:nvPr/>
        </p:nvSpPr>
        <p:spPr>
          <a:xfrm>
            <a:off x="6629400" y="5440680"/>
            <a:ext cx="4617720" cy="475488"/>
          </a:xfrm>
          <a:prstGeom prst="rect">
            <a:avLst/>
          </a:prstGeom>
          <a:noFill/>
          <a:ln/>
        </p:spPr>
        <p:txBody>
          <a:bodyPr wrap="square" lIns="0" tIns="0" rIns="0" bIns="0" rtlCol="0" anchor="t"/>
          <a:lstStyle/>
          <a:p>
            <a:pPr indent="0" marL="0">
              <a:lnSpc>
                <a:spcPct val="112000"/>
              </a:lnSpc>
              <a:buNone/>
            </a:pPr>
            <a:r>
              <a:rPr lang="en-US" sz="1250" dirty="0">
                <a:solidFill>
                  <a:srgbClr val="1F2733"/>
                </a:solidFill>
                <a:latin typeface="Arial" pitchFamily="34" charset="0"/>
                <a:ea typeface="Arial" pitchFamily="34" charset="-122"/>
                <a:cs typeface="Arial" pitchFamily="34" charset="-120"/>
              </a:rPr>
              <a:t>Which of its questions could you not answer from the notes?</a:t>
            </a:r>
            <a:endParaRPr lang="en-US" sz="1250" dirty="0"/>
          </a:p>
        </p:txBody>
      </p:sp>
      <p:sp>
        <p:nvSpPr>
          <p:cNvPr id="24" name="Text 21"/>
          <p:cNvSpPr/>
          <p:nvPr/>
        </p:nvSpPr>
        <p:spPr>
          <a:xfrm>
            <a:off x="640080" y="5943600"/>
            <a:ext cx="10881360" cy="365760"/>
          </a:xfrm>
          <a:prstGeom prst="rect">
            <a:avLst/>
          </a:prstGeom>
          <a:noFill/>
          <a:ln/>
        </p:spPr>
        <p:txBody>
          <a:bodyPr wrap="square" lIns="0" tIns="0" rIns="0" bIns="0" rtlCol="0" anchor="ctr"/>
          <a:lstStyle/>
          <a:p>
            <a:pPr indent="0" marL="0">
              <a:buNone/>
            </a:pPr>
            <a:r>
              <a:rPr lang="en-US" sz="1550" b="1" dirty="0">
                <a:solidFill>
                  <a:srgbClr val="D31242"/>
                </a:solidFill>
                <a:latin typeface="Arial" pitchFamily="34" charset="0"/>
                <a:ea typeface="Arial" pitchFamily="34" charset="-122"/>
                <a:cs typeface="Arial" pitchFamily="34" charset="-120"/>
              </a:rPr>
              <a:t>Four minutes. Then post one of those questions into the chat.</a:t>
            </a:r>
            <a:endParaRPr lang="en-US" sz="1550" dirty="0"/>
          </a:p>
        </p:txBody>
      </p:sp>
      <p:sp>
        <p:nvSpPr>
          <p:cNvPr id="25" name="Text 22"/>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5 OF 6 · HAVE IT REVIEW ITS DRAFT</a:t>
            </a:r>
            <a:endParaRPr lang="en-US" sz="850" dirty="0"/>
          </a:p>
        </p:txBody>
      </p:sp>
      <p:sp>
        <p:nvSpPr>
          <p:cNvPr id="26" name="Shape 23"/>
          <p:cNvSpPr/>
          <p:nvPr/>
        </p:nvSpPr>
        <p:spPr>
          <a:xfrm>
            <a:off x="6583680" y="6483096"/>
            <a:ext cx="118872" cy="118872"/>
          </a:xfrm>
          <a:prstGeom prst="ellipse">
            <a:avLst/>
          </a:prstGeom>
          <a:solidFill>
            <a:srgbClr val="D9DDE3"/>
          </a:solidFill>
          <a:ln/>
        </p:spPr>
      </p:sp>
      <p:sp>
        <p:nvSpPr>
          <p:cNvPr id="27" name="Shape 24"/>
          <p:cNvSpPr/>
          <p:nvPr/>
        </p:nvSpPr>
        <p:spPr>
          <a:xfrm>
            <a:off x="6803136" y="6483096"/>
            <a:ext cx="118872" cy="118872"/>
          </a:xfrm>
          <a:prstGeom prst="ellipse">
            <a:avLst/>
          </a:prstGeom>
          <a:solidFill>
            <a:srgbClr val="D9DDE3"/>
          </a:solidFill>
          <a:ln/>
        </p:spPr>
      </p:sp>
      <p:sp>
        <p:nvSpPr>
          <p:cNvPr id="28" name="Shape 25"/>
          <p:cNvSpPr/>
          <p:nvPr/>
        </p:nvSpPr>
        <p:spPr>
          <a:xfrm>
            <a:off x="7022592" y="6483096"/>
            <a:ext cx="118872" cy="118872"/>
          </a:xfrm>
          <a:prstGeom prst="ellipse">
            <a:avLst/>
          </a:prstGeom>
          <a:solidFill>
            <a:srgbClr val="D9DDE3"/>
          </a:solidFill>
          <a:ln/>
        </p:spPr>
      </p:sp>
      <p:sp>
        <p:nvSpPr>
          <p:cNvPr id="29" name="Shape 26"/>
          <p:cNvSpPr/>
          <p:nvPr/>
        </p:nvSpPr>
        <p:spPr>
          <a:xfrm>
            <a:off x="7370064" y="6483096"/>
            <a:ext cx="118872" cy="118872"/>
          </a:xfrm>
          <a:prstGeom prst="ellipse">
            <a:avLst/>
          </a:prstGeom>
          <a:solidFill>
            <a:srgbClr val="D9DDE3"/>
          </a:solidFill>
          <a:ln/>
        </p:spPr>
      </p:sp>
      <p:sp>
        <p:nvSpPr>
          <p:cNvPr id="30" name="Shape 27"/>
          <p:cNvSpPr/>
          <p:nvPr/>
        </p:nvSpPr>
        <p:spPr>
          <a:xfrm>
            <a:off x="7685532" y="6451092"/>
            <a:ext cx="182880" cy="182880"/>
          </a:xfrm>
          <a:prstGeom prst="ellipse">
            <a:avLst/>
          </a:prstGeom>
          <a:ln w="9525">
            <a:solidFill>
              <a:srgbClr val="D31242"/>
            </a:solidFill>
            <a:prstDash val="solid"/>
          </a:ln>
        </p:spPr>
      </p:sp>
      <p:sp>
        <p:nvSpPr>
          <p:cNvPr id="31" name="Shape 28"/>
          <p:cNvSpPr/>
          <p:nvPr/>
        </p:nvSpPr>
        <p:spPr>
          <a:xfrm>
            <a:off x="7717536" y="6483096"/>
            <a:ext cx="118872" cy="118872"/>
          </a:xfrm>
          <a:prstGeom prst="ellipse">
            <a:avLst/>
          </a:prstGeom>
          <a:solidFill>
            <a:srgbClr val="D31242"/>
          </a:solidFill>
          <a:ln/>
        </p:spPr>
      </p:sp>
      <p:sp>
        <p:nvSpPr>
          <p:cNvPr id="32" name="Shape 29"/>
          <p:cNvSpPr/>
          <p:nvPr/>
        </p:nvSpPr>
        <p:spPr>
          <a:xfrm>
            <a:off x="7936992" y="6483096"/>
            <a:ext cx="118872" cy="118872"/>
          </a:xfrm>
          <a:prstGeom prst="ellipse">
            <a:avLst/>
          </a:prstGeom>
          <a:solidFill>
            <a:srgbClr val="D9DDE3"/>
          </a:solidFill>
          <a:ln/>
        </p:spPr>
      </p:sp>
      <p:sp>
        <p:nvSpPr>
          <p:cNvPr id="33" name="Text 30"/>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3" name="Text 1"/>
          <p:cNvSpPr/>
          <p:nvPr/>
        </p:nvSpPr>
        <p:spPr>
          <a:xfrm>
            <a:off x="640080" y="566928"/>
            <a:ext cx="841248" cy="841248"/>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4" name="Text 2"/>
          <p:cNvSpPr/>
          <p:nvPr/>
        </p:nvSpPr>
        <p:spPr>
          <a:xfrm>
            <a:off x="1664208" y="548640"/>
            <a:ext cx="640080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TECHNIQUE 6 OF 6</a:t>
            </a:r>
            <a:endParaRPr lang="en-US" sz="1200" dirty="0"/>
          </a:p>
        </p:txBody>
      </p:sp>
      <p:sp>
        <p:nvSpPr>
          <p:cNvPr id="5" name="Text 3"/>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Split one job into a few prompts</a:t>
            </a:r>
            <a:endParaRPr lang="en-US" sz="3000" dirty="0"/>
          </a:p>
        </p:txBody>
      </p:sp>
      <p:sp>
        <p:nvSpPr>
          <p:cNvPr id="6" name="Text 4"/>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IMPROVE THE AI'S FIRST DRAFT</a:t>
            </a:r>
            <a:endParaRPr lang="en-US" sz="900" dirty="0"/>
          </a:p>
        </p:txBody>
      </p:sp>
      <p:sp>
        <p:nvSpPr>
          <p:cNvPr id="7" name="Text 5"/>
          <p:cNvSpPr/>
          <p:nvPr/>
        </p:nvSpPr>
        <p:spPr>
          <a:xfrm>
            <a:off x="1664208" y="1517904"/>
            <a:ext cx="7315200" cy="274320"/>
          </a:xfrm>
          <a:prstGeom prst="rect">
            <a:avLst/>
          </a:prstGeom>
          <a:noFill/>
          <a:ln/>
        </p:spPr>
        <p:txBody>
          <a:bodyPr wrap="square" lIns="0" tIns="0" rIns="0" bIns="0" rtlCol="0" anchor="ctr"/>
          <a:lstStyle/>
          <a:p>
            <a:pPr indent="0" marL="0">
              <a:buNone/>
            </a:pPr>
            <a:r>
              <a:rPr lang="en-US" sz="1150" i="1" dirty="0">
                <a:solidFill>
                  <a:srgbClr val="5E6A78"/>
                </a:solidFill>
                <a:latin typeface="Arial" pitchFamily="34" charset="0"/>
                <a:ea typeface="Arial" pitchFamily="34" charset="-122"/>
                <a:cs typeface="Arial" pitchFamily="34" charset="-120"/>
              </a:rPr>
              <a:t>Also called: prompt chaining</a:t>
            </a:r>
            <a:endParaRPr lang="en-US" sz="1150" dirty="0"/>
          </a:p>
        </p:txBody>
      </p:sp>
      <p:sp>
        <p:nvSpPr>
          <p:cNvPr id="8" name="Shape 6"/>
          <p:cNvSpPr/>
          <p:nvPr/>
        </p:nvSpPr>
        <p:spPr>
          <a:xfrm>
            <a:off x="640080" y="1874520"/>
            <a:ext cx="10881360" cy="1005840"/>
          </a:xfrm>
          <a:prstGeom prst="roundRect">
            <a:avLst>
              <a:gd name="adj" fmla="val 8182"/>
            </a:avLst>
          </a:prstGeom>
          <a:solidFill>
            <a:srgbClr val="FCE4EA"/>
          </a:solidFill>
          <a:ln/>
          <a:effectLst>
            <a:outerShdw sx="100000" sy="100000" kx="0" ky="0" algn="bl" rotWithShape="0" blurRad="88900" dist="38100" dir="5400000">
              <a:srgbClr val="1F2733">
                <a:alpha val="10000"/>
              </a:srgbClr>
            </a:outerShdw>
          </a:effectLst>
        </p:spPr>
      </p:sp>
      <p:sp>
        <p:nvSpPr>
          <p:cNvPr id="9" name="Text 7"/>
          <p:cNvSpPr/>
          <p:nvPr/>
        </p:nvSpPr>
        <p:spPr>
          <a:xfrm>
            <a:off x="960120" y="2057400"/>
            <a:ext cx="10241280" cy="640080"/>
          </a:xfrm>
          <a:prstGeom prst="rect">
            <a:avLst/>
          </a:prstGeom>
          <a:noFill/>
          <a:ln/>
        </p:spPr>
        <p:txBody>
          <a:bodyPr wrap="square" lIns="0" tIns="0" rIns="0" bIns="0" rtlCol="0" anchor="ctr"/>
          <a:lstStyle/>
          <a:p>
            <a:pPr indent="0" marL="0">
              <a:lnSpc>
                <a:spcPct val="110000"/>
              </a:lnSpc>
              <a:buNone/>
            </a:pPr>
            <a:r>
              <a:rPr lang="en-US" sz="1850" b="1" dirty="0">
                <a:solidFill>
                  <a:srgbClr val="1F2733"/>
                </a:solidFill>
                <a:latin typeface="Arial" pitchFamily="34" charset="0"/>
                <a:ea typeface="Arial" pitchFamily="34" charset="-122"/>
                <a:cs typeface="Arial" pitchFamily="34" charset="-120"/>
              </a:rPr>
              <a:t>Work through a large task one prompt at a time, so you can see and correct the middle of it.</a:t>
            </a:r>
            <a:endParaRPr lang="en-US" sz="1850" dirty="0"/>
          </a:p>
        </p:txBody>
      </p:sp>
      <p:sp>
        <p:nvSpPr>
          <p:cNvPr id="10" name="Shape 8"/>
          <p:cNvSpPr/>
          <p:nvPr/>
        </p:nvSpPr>
        <p:spPr>
          <a:xfrm>
            <a:off x="640080" y="3246120"/>
            <a:ext cx="5074920" cy="1783080"/>
          </a:xfrm>
          <a:prstGeom prst="roundRect">
            <a:avLst>
              <a:gd name="adj" fmla="val 4615"/>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1" name="Text 9"/>
          <p:cNvSpPr/>
          <p:nvPr/>
        </p:nvSpPr>
        <p:spPr>
          <a:xfrm>
            <a:off x="914400" y="3456432"/>
            <a:ext cx="4526280" cy="274320"/>
          </a:xfrm>
          <a:prstGeom prst="rect">
            <a:avLst/>
          </a:prstGeom>
          <a:noFill/>
          <a:ln/>
        </p:spPr>
        <p:txBody>
          <a:bodyPr wrap="square" lIns="0" tIns="0" rIns="0" bIns="0" rtlCol="0" anchor="ctr"/>
          <a:lstStyle/>
          <a:p>
            <a:pPr indent="0" marL="0">
              <a:buNone/>
            </a:pPr>
            <a:r>
              <a:rPr lang="en-US" sz="1050" b="1" spc="150" kern="0" dirty="0">
                <a:solidFill>
                  <a:srgbClr val="5E6A78"/>
                </a:solidFill>
                <a:latin typeface="Arial" pitchFamily="34" charset="0"/>
                <a:ea typeface="Arial" pitchFamily="34" charset="-122"/>
                <a:cs typeface="Arial" pitchFamily="34" charset="-120"/>
              </a:rPr>
              <a:t>IF YOU ASK FOR EVERYTHING AT ONCE</a:t>
            </a:r>
            <a:endParaRPr lang="en-US" sz="1050" dirty="0"/>
          </a:p>
        </p:txBody>
      </p:sp>
      <p:sp>
        <p:nvSpPr>
          <p:cNvPr id="12" name="Text 10"/>
          <p:cNvSpPr/>
          <p:nvPr/>
        </p:nvSpPr>
        <p:spPr>
          <a:xfrm>
            <a:off x="914400" y="3785616"/>
            <a:ext cx="4526280" cy="1097280"/>
          </a:xfrm>
          <a:prstGeom prst="rect">
            <a:avLst/>
          </a:prstGeom>
          <a:noFill/>
          <a:ln/>
        </p:spPr>
        <p:txBody>
          <a:bodyPr wrap="square" lIns="0" tIns="0" rIns="0" bIns="0" rtlCol="0" anchor="t"/>
          <a:lstStyle/>
          <a:p>
            <a:pPr indent="0" marL="0">
              <a:lnSpc>
                <a:spcPct val="120000"/>
              </a:lnSpc>
              <a:buNone/>
            </a:pPr>
            <a:r>
              <a:rPr lang="en-US" sz="1450" dirty="0">
                <a:solidFill>
                  <a:srgbClr val="3A4452"/>
                </a:solidFill>
                <a:latin typeface="Arial" pitchFamily="34" charset="0"/>
                <a:ea typeface="Arial" pitchFamily="34" charset="-122"/>
                <a:cs typeface="Arial" pitchFamily="34" charset="-120"/>
              </a:rPr>
              <a:t>You get a finished answer with no way to see what was left out on the way.</a:t>
            </a:r>
            <a:endParaRPr lang="en-US" sz="1450" dirty="0"/>
          </a:p>
        </p:txBody>
      </p:sp>
      <p:sp>
        <p:nvSpPr>
          <p:cNvPr id="13" name="Shape 11"/>
          <p:cNvSpPr/>
          <p:nvPr/>
        </p:nvSpPr>
        <p:spPr>
          <a:xfrm>
            <a:off x="5824728" y="3931920"/>
            <a:ext cx="420624" cy="420624"/>
          </a:xfrm>
          <a:prstGeom prst="ellipse">
            <a:avLst/>
          </a:prstGeom>
          <a:solidFill>
            <a:srgbClr val="D31242"/>
          </a:solidFill>
          <a:ln/>
          <a:effectLst>
            <a:outerShdw sx="100000" sy="100000" kx="0" ky="0" algn="bl" rotWithShape="0" blurRad="76200" dist="25400" dir="5400000">
              <a:srgbClr val="1F2733">
                <a:alpha val="12000"/>
              </a:srgbClr>
            </a:outerShdw>
          </a:effectLst>
        </p:spPr>
      </p:sp>
      <p:sp>
        <p:nvSpPr>
          <p:cNvPr id="14" name="Text 12"/>
          <p:cNvSpPr/>
          <p:nvPr/>
        </p:nvSpPr>
        <p:spPr>
          <a:xfrm>
            <a:off x="5824728" y="3931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Shape 13"/>
          <p:cNvSpPr/>
          <p:nvPr/>
        </p:nvSpPr>
        <p:spPr>
          <a:xfrm>
            <a:off x="6355080" y="3246120"/>
            <a:ext cx="5166360" cy="1783080"/>
          </a:xfrm>
          <a:prstGeom prst="roundRect">
            <a:avLst>
              <a:gd name="adj" fmla="val 4615"/>
            </a:avLst>
          </a:prstGeom>
          <a:solidFill>
            <a:srgbClr val="DCFCE7"/>
          </a:solidFill>
          <a:ln/>
          <a:effectLst>
            <a:outerShdw sx="100000" sy="100000" kx="0" ky="0" algn="bl" rotWithShape="0" blurRad="88900" dist="38100" dir="5400000">
              <a:srgbClr val="1F2733">
                <a:alpha val="10000"/>
              </a:srgbClr>
            </a:outerShdw>
          </a:effectLst>
        </p:spPr>
      </p:sp>
      <p:sp>
        <p:nvSpPr>
          <p:cNvPr id="16" name="Text 14"/>
          <p:cNvSpPr/>
          <p:nvPr/>
        </p:nvSpPr>
        <p:spPr>
          <a:xfrm>
            <a:off x="6629400" y="3456432"/>
            <a:ext cx="4617720" cy="274320"/>
          </a:xfrm>
          <a:prstGeom prst="rect">
            <a:avLst/>
          </a:prstGeom>
          <a:noFill/>
          <a:ln/>
        </p:spPr>
        <p:txBody>
          <a:bodyPr wrap="square" lIns="0" tIns="0" rIns="0" bIns="0" rtlCol="0" anchor="ctr"/>
          <a:lstStyle/>
          <a:p>
            <a:pPr indent="0" marL="0">
              <a:buNone/>
            </a:pPr>
            <a:r>
              <a:rPr lang="en-US" sz="1050" b="1" spc="150" kern="0" dirty="0">
                <a:solidFill>
                  <a:srgbClr val="15803D"/>
                </a:solidFill>
                <a:latin typeface="Arial" pitchFamily="34" charset="0"/>
                <a:ea typeface="Arial" pitchFamily="34" charset="-122"/>
                <a:cs typeface="Arial" pitchFamily="34" charset="-120"/>
              </a:rPr>
              <a:t>IF YOU WORK IN STEPS</a:t>
            </a:r>
            <a:endParaRPr lang="en-US" sz="1050" dirty="0"/>
          </a:p>
        </p:txBody>
      </p:sp>
      <p:sp>
        <p:nvSpPr>
          <p:cNvPr id="17" name="Text 15"/>
          <p:cNvSpPr/>
          <p:nvPr/>
        </p:nvSpPr>
        <p:spPr>
          <a:xfrm>
            <a:off x="6629400" y="3785616"/>
            <a:ext cx="4617720" cy="1097280"/>
          </a:xfrm>
          <a:prstGeom prst="rect">
            <a:avLst/>
          </a:prstGeom>
          <a:noFill/>
          <a:ln/>
        </p:spPr>
        <p:txBody>
          <a:bodyPr wrap="square" lIns="0" tIns="0" rIns="0" bIns="0" rtlCol="0" anchor="t"/>
          <a:lstStyle/>
          <a:p>
            <a:pPr indent="0" marL="0">
              <a:lnSpc>
                <a:spcPct val="120000"/>
              </a:lnSpc>
              <a:buNone/>
            </a:pPr>
            <a:r>
              <a:rPr lang="en-US" sz="1450" dirty="0">
                <a:solidFill>
                  <a:srgbClr val="1F2733"/>
                </a:solidFill>
                <a:latin typeface="Arial" pitchFamily="34" charset="0"/>
                <a:ea typeface="Arial" pitchFamily="34" charset="-122"/>
                <a:cs typeface="Arial" pitchFamily="34" charset="-120"/>
              </a:rPr>
              <a:t>You see every item before it is grouped, and can correct a step instead of the whole job.</a:t>
            </a:r>
            <a:endParaRPr lang="en-US" sz="1450" dirty="0"/>
          </a:p>
        </p:txBody>
      </p:sp>
      <p:sp>
        <p:nvSpPr>
          <p:cNvPr id="18" name="Text 16"/>
          <p:cNvSpPr/>
          <p:nvPr/>
        </p:nvSpPr>
        <p:spPr>
          <a:xfrm>
            <a:off x="640080" y="5440680"/>
            <a:ext cx="10881360" cy="36576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Use this when it matters that nothing was quietly dropped.</a:t>
            </a:r>
            <a:endParaRPr lang="en-US" sz="1500" dirty="0"/>
          </a:p>
        </p:txBody>
      </p:sp>
      <p:sp>
        <p:nvSpPr>
          <p:cNvPr id="19" name="Text 17"/>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6 OF 6 · SPLIT THE JOB INTO STEPS</a:t>
            </a:r>
            <a:endParaRPr lang="en-US" sz="850" dirty="0"/>
          </a:p>
        </p:txBody>
      </p:sp>
      <p:sp>
        <p:nvSpPr>
          <p:cNvPr id="20" name="Shape 18"/>
          <p:cNvSpPr/>
          <p:nvPr/>
        </p:nvSpPr>
        <p:spPr>
          <a:xfrm>
            <a:off x="6583680" y="6483096"/>
            <a:ext cx="118872" cy="118872"/>
          </a:xfrm>
          <a:prstGeom prst="ellipse">
            <a:avLst/>
          </a:prstGeom>
          <a:solidFill>
            <a:srgbClr val="D9DDE3"/>
          </a:solidFill>
          <a:ln/>
        </p:spPr>
      </p:sp>
      <p:sp>
        <p:nvSpPr>
          <p:cNvPr id="21" name="Shape 19"/>
          <p:cNvSpPr/>
          <p:nvPr/>
        </p:nvSpPr>
        <p:spPr>
          <a:xfrm>
            <a:off x="6803136" y="6483096"/>
            <a:ext cx="118872" cy="118872"/>
          </a:xfrm>
          <a:prstGeom prst="ellipse">
            <a:avLst/>
          </a:prstGeom>
          <a:solidFill>
            <a:srgbClr val="D9DDE3"/>
          </a:solidFill>
          <a:ln/>
        </p:spPr>
      </p:sp>
      <p:sp>
        <p:nvSpPr>
          <p:cNvPr id="22" name="Shape 20"/>
          <p:cNvSpPr/>
          <p:nvPr/>
        </p:nvSpPr>
        <p:spPr>
          <a:xfrm>
            <a:off x="7022592" y="6483096"/>
            <a:ext cx="118872" cy="118872"/>
          </a:xfrm>
          <a:prstGeom prst="ellipse">
            <a:avLst/>
          </a:prstGeom>
          <a:solidFill>
            <a:srgbClr val="D9DDE3"/>
          </a:solidFill>
          <a:ln/>
        </p:spPr>
      </p:sp>
      <p:sp>
        <p:nvSpPr>
          <p:cNvPr id="23" name="Shape 21"/>
          <p:cNvSpPr/>
          <p:nvPr/>
        </p:nvSpPr>
        <p:spPr>
          <a:xfrm>
            <a:off x="7370064" y="6483096"/>
            <a:ext cx="118872" cy="118872"/>
          </a:xfrm>
          <a:prstGeom prst="ellipse">
            <a:avLst/>
          </a:prstGeom>
          <a:solidFill>
            <a:srgbClr val="D9DDE3"/>
          </a:solidFill>
          <a:ln/>
        </p:spPr>
      </p:sp>
      <p:sp>
        <p:nvSpPr>
          <p:cNvPr id="24" name="Shape 22"/>
          <p:cNvSpPr/>
          <p:nvPr/>
        </p:nvSpPr>
        <p:spPr>
          <a:xfrm>
            <a:off x="7717536" y="6483096"/>
            <a:ext cx="118872" cy="118872"/>
          </a:xfrm>
          <a:prstGeom prst="ellipse">
            <a:avLst/>
          </a:prstGeom>
          <a:solidFill>
            <a:srgbClr val="D9DDE3"/>
          </a:solidFill>
          <a:ln/>
        </p:spPr>
      </p:sp>
      <p:sp>
        <p:nvSpPr>
          <p:cNvPr id="25" name="Shape 23"/>
          <p:cNvSpPr/>
          <p:nvPr/>
        </p:nvSpPr>
        <p:spPr>
          <a:xfrm>
            <a:off x="7904988" y="6451092"/>
            <a:ext cx="182880" cy="182880"/>
          </a:xfrm>
          <a:prstGeom prst="ellipse">
            <a:avLst/>
          </a:prstGeom>
          <a:ln w="9525">
            <a:solidFill>
              <a:srgbClr val="D31242"/>
            </a:solidFill>
            <a:prstDash val="solid"/>
          </a:ln>
        </p:spPr>
      </p:sp>
      <p:sp>
        <p:nvSpPr>
          <p:cNvPr id="26" name="Shape 24"/>
          <p:cNvSpPr/>
          <p:nvPr/>
        </p:nvSpPr>
        <p:spPr>
          <a:xfrm>
            <a:off x="7936992" y="6483096"/>
            <a:ext cx="118872" cy="118872"/>
          </a:xfrm>
          <a:prstGeom prst="ellipse">
            <a:avLst/>
          </a:prstGeom>
          <a:solidFill>
            <a:srgbClr val="D31242"/>
          </a:solidFill>
          <a:ln/>
        </p:spPr>
      </p:sp>
      <p:sp>
        <p:nvSpPr>
          <p:cNvPr id="27" name="Text 25"/>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SPLIT THE JOB INTO STEPS · BEFORE AND AFTER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Steps make the middle visible</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IMPROVE THE AI'S FIRST DRAFT</a:t>
            </a:r>
            <a:endParaRPr lang="en-US" sz="900" dirty="0"/>
          </a:p>
        </p:txBody>
      </p:sp>
      <p:sp>
        <p:nvSpPr>
          <p:cNvPr id="7" name="Shape 4"/>
          <p:cNvSpPr/>
          <p:nvPr/>
        </p:nvSpPr>
        <p:spPr>
          <a:xfrm>
            <a:off x="640080" y="1874520"/>
            <a:ext cx="5074920" cy="3566160"/>
          </a:xfrm>
          <a:prstGeom prst="roundRect">
            <a:avLst>
              <a:gd name="adj" fmla="val 230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66544"/>
            <a:ext cx="4526280" cy="256032"/>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PROMPT</a:t>
            </a:r>
            <a:endParaRPr lang="en-US" sz="1100" dirty="0"/>
          </a:p>
        </p:txBody>
      </p:sp>
      <p:sp>
        <p:nvSpPr>
          <p:cNvPr id="9" name="Text 6"/>
          <p:cNvSpPr/>
          <p:nvPr/>
        </p:nvSpPr>
        <p:spPr>
          <a:xfrm>
            <a:off x="960120" y="2414016"/>
            <a:ext cx="4480560" cy="548640"/>
          </a:xfrm>
          <a:prstGeom prst="rect">
            <a:avLst/>
          </a:prstGeom>
          <a:noFill/>
          <a:ln/>
        </p:spPr>
        <p:txBody>
          <a:bodyPr wrap="square" lIns="0" tIns="0" rIns="0" bIns="0" rtlCol="0" anchor="t"/>
          <a:lstStyle/>
          <a:p>
            <a:pPr indent="0" marL="0">
              <a:lnSpc>
                <a:spcPct val="116000"/>
              </a:lnSpc>
              <a:buNone/>
            </a:pPr>
            <a:r>
              <a:rPr lang="en-US" sz="1200" dirty="0">
                <a:solidFill>
                  <a:srgbClr val="1F2733"/>
                </a:solidFill>
                <a:latin typeface="Arial" pitchFamily="34" charset="0"/>
                <a:ea typeface="Arial" pitchFamily="34" charset="-122"/>
                <a:cs typeface="Arial" pitchFamily="34" charset="-120"/>
              </a:rPr>
              <a:t>1.  “List every issue in these notes.</a:t>
            </a:r>
            <a:endParaRPr lang="en-US" sz="120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     One line each.”</a:t>
            </a:r>
            <a:endParaRPr lang="en-US" sz="1200" dirty="0"/>
          </a:p>
        </p:txBody>
      </p:sp>
      <p:sp>
        <p:nvSpPr>
          <p:cNvPr id="10" name="Text 7"/>
          <p:cNvSpPr/>
          <p:nvPr/>
        </p:nvSpPr>
        <p:spPr>
          <a:xfrm>
            <a:off x="960120" y="3099816"/>
            <a:ext cx="4480560" cy="548640"/>
          </a:xfrm>
          <a:prstGeom prst="rect">
            <a:avLst/>
          </a:prstGeom>
          <a:noFill/>
          <a:ln/>
        </p:spPr>
        <p:txBody>
          <a:bodyPr wrap="square" lIns="0" tIns="0" rIns="0" bIns="0" rtlCol="0" anchor="t"/>
          <a:lstStyle/>
          <a:p>
            <a:pPr indent="0" marL="0">
              <a:lnSpc>
                <a:spcPct val="116000"/>
              </a:lnSpc>
              <a:buNone/>
            </a:pPr>
            <a:r>
              <a:rPr lang="en-US" sz="1200" dirty="0">
                <a:solidFill>
                  <a:srgbClr val="1F2733"/>
                </a:solidFill>
                <a:latin typeface="Arial" pitchFamily="34" charset="0"/>
                <a:ea typeface="Arial" pitchFamily="34" charset="-122"/>
                <a:cs typeface="Arial" pitchFamily="34" charset="-120"/>
              </a:rPr>
              <a:t>2.  “Group those issues into three themes.</a:t>
            </a:r>
            <a:endParaRPr lang="en-US" sz="120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     Name each theme.”</a:t>
            </a:r>
            <a:endParaRPr lang="en-US" sz="1200" dirty="0"/>
          </a:p>
        </p:txBody>
      </p:sp>
      <p:sp>
        <p:nvSpPr>
          <p:cNvPr id="11" name="Text 8"/>
          <p:cNvSpPr/>
          <p:nvPr/>
        </p:nvSpPr>
        <p:spPr>
          <a:xfrm>
            <a:off x="960120" y="3785616"/>
            <a:ext cx="4480560" cy="548640"/>
          </a:xfrm>
          <a:prstGeom prst="rect">
            <a:avLst/>
          </a:prstGeom>
          <a:noFill/>
          <a:ln/>
        </p:spPr>
        <p:txBody>
          <a:bodyPr wrap="square" lIns="0" tIns="0" rIns="0" bIns="0" rtlCol="0" anchor="t"/>
          <a:lstStyle/>
          <a:p>
            <a:pPr indent="0" marL="0">
              <a:lnSpc>
                <a:spcPct val="116000"/>
              </a:lnSpc>
              <a:buNone/>
            </a:pPr>
            <a:r>
              <a:rPr lang="en-US" sz="1200" dirty="0">
                <a:solidFill>
                  <a:srgbClr val="1F2733"/>
                </a:solidFill>
                <a:latin typeface="Arial" pitchFamily="34" charset="0"/>
                <a:ea typeface="Arial" pitchFamily="34" charset="-122"/>
                <a:cs typeface="Arial" pitchFamily="34" charset="-120"/>
              </a:rPr>
              <a:t>3.  “Write a leadership summary using those</a:t>
            </a:r>
            <a:endParaRPr lang="en-US" sz="1200" dirty="0"/>
          </a:p>
          <a:p>
            <a:pPr indent="0" marL="0">
              <a:lnSpc>
                <a:spcPct val="116000"/>
              </a:lnSpc>
              <a:buNone/>
            </a:pPr>
            <a:r>
              <a:rPr lang="en-US" sz="1200" dirty="0">
                <a:solidFill>
                  <a:srgbClr val="1F2733"/>
                </a:solidFill>
                <a:latin typeface="Arial" pitchFamily="34" charset="0"/>
                <a:ea typeface="Arial" pitchFamily="34" charset="-122"/>
                <a:cs typeface="Arial" pitchFamily="34" charset="-120"/>
              </a:rPr>
              <a:t>     themes. Under 150 words.”</a:t>
            </a:r>
            <a:endParaRPr lang="en-US" sz="1200" dirty="0"/>
          </a:p>
        </p:txBody>
      </p:sp>
      <p:sp>
        <p:nvSpPr>
          <p:cNvPr id="12" name="Text 9"/>
          <p:cNvSpPr/>
          <p:nvPr/>
        </p:nvSpPr>
        <p:spPr>
          <a:xfrm>
            <a:off x="640080" y="5486400"/>
            <a:ext cx="5074920" cy="292608"/>
          </a:xfrm>
          <a:prstGeom prst="rect">
            <a:avLst/>
          </a:prstGeom>
          <a:noFill/>
          <a:ln/>
        </p:spPr>
        <p:txBody>
          <a:bodyPr wrap="square" lIns="0" tIns="0" rIns="0" bIns="0" rtlCol="0" anchor="t"/>
          <a:lstStyle/>
          <a:p>
            <a:pPr indent="0" marL="0">
              <a:buNone/>
            </a:pPr>
            <a:r>
              <a:rPr lang="en-US" sz="1050" dirty="0">
                <a:solidFill>
                  <a:srgbClr val="5E6A78"/>
                </a:solidFill>
                <a:latin typeface="Arial" pitchFamily="34" charset="0"/>
                <a:ea typeface="Arial" pitchFamily="34" charset="-122"/>
                <a:cs typeface="Arial" pitchFamily="34" charset="-120"/>
              </a:rPr>
              <a:t>Three prompts, run one after another in the same conversation.</a:t>
            </a:r>
            <a:endParaRPr lang="en-US" sz="1050" dirty="0"/>
          </a:p>
        </p:txBody>
      </p:sp>
      <p:sp>
        <p:nvSpPr>
          <p:cNvPr id="13" name="Shape 10"/>
          <p:cNvSpPr/>
          <p:nvPr/>
        </p:nvSpPr>
        <p:spPr>
          <a:xfrm>
            <a:off x="6355080" y="1874520"/>
            <a:ext cx="5166360" cy="1600200"/>
          </a:xfrm>
          <a:prstGeom prst="roundRect">
            <a:avLst>
              <a:gd name="adj" fmla="val 5143"/>
            </a:avLst>
          </a:prstGeom>
          <a:solidFill>
            <a:srgbClr val="FEE2E2"/>
          </a:solidFill>
          <a:ln/>
          <a:effectLst>
            <a:outerShdw sx="100000" sy="100000" kx="0" ky="0" algn="bl" rotWithShape="0" blurRad="88900" dist="38100" dir="5400000">
              <a:srgbClr val="1F2733">
                <a:alpha val="10000"/>
              </a:srgbClr>
            </a:outerShdw>
          </a:effectLst>
        </p:spPr>
      </p:sp>
      <p:sp>
        <p:nvSpPr>
          <p:cNvPr id="14" name="Shape 11"/>
          <p:cNvSpPr/>
          <p:nvPr/>
        </p:nvSpPr>
        <p:spPr>
          <a:xfrm>
            <a:off x="6455664" y="2029968"/>
            <a:ext cx="50292" cy="1298448"/>
          </a:xfrm>
          <a:prstGeom prst="roundRect">
            <a:avLst>
              <a:gd name="adj" fmla="val 36364"/>
            </a:avLst>
          </a:prstGeom>
          <a:solidFill>
            <a:srgbClr val="B91C1C"/>
          </a:solidFill>
          <a:ln/>
        </p:spPr>
      </p:sp>
      <p:sp>
        <p:nvSpPr>
          <p:cNvPr id="15" name="Text 12"/>
          <p:cNvSpPr/>
          <p:nvPr/>
        </p:nvSpPr>
        <p:spPr>
          <a:xfrm>
            <a:off x="6629400" y="2048256"/>
            <a:ext cx="4617720" cy="237744"/>
          </a:xfrm>
          <a:prstGeom prst="rect">
            <a:avLst/>
          </a:prstGeom>
          <a:noFill/>
          <a:ln/>
        </p:spPr>
        <p:txBody>
          <a:bodyPr wrap="square" lIns="0" tIns="0" rIns="0" bIns="0" rtlCol="0" anchor="ctr"/>
          <a:lstStyle/>
          <a:p>
            <a:pPr indent="0" marL="0">
              <a:buNone/>
            </a:pPr>
            <a:r>
              <a:rPr lang="en-US" sz="1000" b="1" spc="120" kern="0" dirty="0">
                <a:solidFill>
                  <a:srgbClr val="B91C1C"/>
                </a:solidFill>
                <a:latin typeface="Arial" pitchFamily="34" charset="0"/>
                <a:ea typeface="Arial" pitchFamily="34" charset="-122"/>
                <a:cs typeface="Arial" pitchFamily="34" charset="-120"/>
              </a:rPr>
              <a:t>THE SAME JOB AS ONE GIANT PROMPT</a:t>
            </a:r>
            <a:endParaRPr lang="en-US" sz="1000" dirty="0"/>
          </a:p>
        </p:txBody>
      </p:sp>
      <p:sp>
        <p:nvSpPr>
          <p:cNvPr id="16" name="Text 13"/>
          <p:cNvSpPr/>
          <p:nvPr/>
        </p:nvSpPr>
        <p:spPr>
          <a:xfrm>
            <a:off x="6629400" y="2340864"/>
            <a:ext cx="4617720" cy="1042416"/>
          </a:xfrm>
          <a:prstGeom prst="rect">
            <a:avLst/>
          </a:prstGeom>
          <a:noFill/>
          <a:ln/>
        </p:spPr>
        <p:txBody>
          <a:bodyPr wrap="square" lIns="0" tIns="0" rIns="0" bIns="0" rtlCol="0" anchor="t"/>
          <a:lstStyle/>
          <a:p>
            <a:pPr indent="0" marL="0">
              <a:lnSpc>
                <a:spcPct val="114000"/>
              </a:lnSpc>
              <a:buNone/>
            </a:pPr>
            <a:r>
              <a:rPr lang="en-US" sz="1100" dirty="0">
                <a:solidFill>
                  <a:srgbClr val="1F2733"/>
                </a:solidFill>
                <a:latin typeface="Arial" pitchFamily="34" charset="0"/>
                <a:ea typeface="Arial" pitchFamily="34" charset="-122"/>
                <a:cs typeface="Arial" pitchFamily="34" charset="-120"/>
              </a:rPr>
              <a:t>“Three themes across the six clubs: staffing at peak, equipment reliability, and signage. Recommend prioritizing tire bay waits at 331 and the freezer seal at 587.”</a:t>
            </a:r>
            <a:endParaRPr lang="en-US" sz="1100" dirty="0"/>
          </a:p>
        </p:txBody>
      </p:sp>
      <p:sp>
        <p:nvSpPr>
          <p:cNvPr id="17" name="Shape 14"/>
          <p:cNvSpPr/>
          <p:nvPr/>
        </p:nvSpPr>
        <p:spPr>
          <a:xfrm>
            <a:off x="6355080" y="3611880"/>
            <a:ext cx="5166360" cy="1828800"/>
          </a:xfrm>
          <a:prstGeom prst="roundRect">
            <a:avLst>
              <a:gd name="adj" fmla="val 4500"/>
            </a:avLst>
          </a:prstGeom>
          <a:solidFill>
            <a:srgbClr val="DCFCE7"/>
          </a:solidFill>
          <a:ln/>
          <a:effectLst>
            <a:outerShdw sx="100000" sy="100000" kx="0" ky="0" algn="bl" rotWithShape="0" blurRad="88900" dist="38100" dir="5400000">
              <a:srgbClr val="1F2733">
                <a:alpha val="10000"/>
              </a:srgbClr>
            </a:outerShdw>
          </a:effectLst>
        </p:spPr>
      </p:sp>
      <p:sp>
        <p:nvSpPr>
          <p:cNvPr id="18" name="Shape 15"/>
          <p:cNvSpPr/>
          <p:nvPr/>
        </p:nvSpPr>
        <p:spPr>
          <a:xfrm>
            <a:off x="6455664" y="3767328"/>
            <a:ext cx="50292" cy="1536192"/>
          </a:xfrm>
          <a:prstGeom prst="roundRect">
            <a:avLst>
              <a:gd name="adj" fmla="val 36364"/>
            </a:avLst>
          </a:prstGeom>
          <a:solidFill>
            <a:srgbClr val="15803D"/>
          </a:solidFill>
          <a:ln/>
        </p:spPr>
      </p:sp>
      <p:sp>
        <p:nvSpPr>
          <p:cNvPr id="19" name="Text 16"/>
          <p:cNvSpPr/>
          <p:nvPr/>
        </p:nvSpPr>
        <p:spPr>
          <a:xfrm>
            <a:off x="6629400" y="3776472"/>
            <a:ext cx="4617720" cy="237744"/>
          </a:xfrm>
          <a:prstGeom prst="rect">
            <a:avLst/>
          </a:prstGeom>
          <a:noFill/>
          <a:ln/>
        </p:spPr>
        <p:txBody>
          <a:bodyPr wrap="square" lIns="0" tIns="0" rIns="0" bIns="0" rtlCol="0" anchor="ctr"/>
          <a:lstStyle/>
          <a:p>
            <a:pPr indent="0" marL="0">
              <a:buNone/>
            </a:pPr>
            <a:r>
              <a:rPr lang="en-US" sz="1000" b="1" spc="120" kern="0" dirty="0">
                <a:solidFill>
                  <a:srgbClr val="15803D"/>
                </a:solidFill>
                <a:latin typeface="Arial" pitchFamily="34" charset="0"/>
                <a:ea typeface="Arial" pitchFamily="34" charset="-122"/>
                <a:cs typeface="Arial" pitchFamily="34" charset="-120"/>
              </a:rPr>
              <a:t>WHAT YOU SEE AT EACH STEP</a:t>
            </a:r>
            <a:endParaRPr lang="en-US" sz="1000" dirty="0"/>
          </a:p>
        </p:txBody>
      </p:sp>
      <p:sp>
        <p:nvSpPr>
          <p:cNvPr id="20" name="Text 17"/>
          <p:cNvSpPr/>
          <p:nvPr/>
        </p:nvSpPr>
        <p:spPr>
          <a:xfrm>
            <a:off x="6629400" y="4069080"/>
            <a:ext cx="4617720" cy="1298448"/>
          </a:xfrm>
          <a:prstGeom prst="rect">
            <a:avLst/>
          </a:prstGeom>
          <a:noFill/>
          <a:ln/>
        </p:spPr>
        <p:txBody>
          <a:bodyPr wrap="square" lIns="0" tIns="0" rIns="0" bIns="0" rtlCol="0" anchor="t"/>
          <a:lstStyle/>
          <a:p>
            <a:pPr indent="0" marL="0">
              <a:lnSpc>
                <a:spcPct val="114000"/>
              </a:lnSpc>
              <a:buNone/>
            </a:pPr>
            <a:r>
              <a:rPr lang="en-US" sz="950" b="1" spc="150" kern="0" dirty="0">
                <a:solidFill>
                  <a:srgbClr val="D31242"/>
                </a:solidFill>
                <a:latin typeface="Arial" pitchFamily="34" charset="0"/>
                <a:ea typeface="Arial" pitchFamily="34" charset="-122"/>
                <a:cs typeface="Arial" pitchFamily="34" charset="-120"/>
              </a:rPr>
              <a:t>AFTER STEP 1
</a:t>
            </a:r>
            <a:pPr indent="0" marL="0">
              <a:lnSpc>
                <a:spcPct val="114000"/>
              </a:lnSpc>
              <a:buNone/>
            </a:pPr>
            <a:r>
              <a:rPr lang="en-US" sz="1050" dirty="0">
                <a:solidFill>
                  <a:srgbClr val="1F2733"/>
                </a:solidFill>
                <a:latin typeface="Arial" pitchFamily="34" charset="0"/>
                <a:ea typeface="Arial" pitchFamily="34" charset="-122"/>
                <a:cs typeface="Arial" pitchFamily="34" charset="-120"/>
              </a:rPr>
              <a:t>Nineteen issues, one line each. You add two that were missed.
</a:t>
            </a:r>
            <a:pPr indent="0" marL="0">
              <a:lnSpc>
                <a:spcPct val="114000"/>
              </a:lnSpc>
              <a:buNone/>
            </a:pPr>
            <a:r>
              <a:rPr lang="en-US" sz="950" b="1" spc="150" kern="0" dirty="0">
                <a:solidFill>
                  <a:srgbClr val="D31242"/>
                </a:solidFill>
                <a:latin typeface="Arial" pitchFamily="34" charset="0"/>
                <a:ea typeface="Arial" pitchFamily="34" charset="-122"/>
                <a:cs typeface="Arial" pitchFamily="34" charset="-120"/>
              </a:rPr>
              <a:t>AFTER STEP 2
</a:t>
            </a:r>
            <a:pPr indent="0" marL="0">
              <a:lnSpc>
                <a:spcPct val="114000"/>
              </a:lnSpc>
              <a:buNone/>
            </a:pPr>
            <a:r>
              <a:rPr lang="en-US" sz="1050" dirty="0">
                <a:solidFill>
                  <a:srgbClr val="1F2733"/>
                </a:solidFill>
                <a:latin typeface="Arial" pitchFamily="34" charset="0"/>
                <a:ea typeface="Arial" pitchFamily="34" charset="-122"/>
                <a:cs typeface="Arial" pitchFamily="34" charset="-120"/>
              </a:rPr>
              <a:t>Three themes. You move two wrongly grouped issues.
</a:t>
            </a:r>
            <a:pPr indent="0" marL="0">
              <a:lnSpc>
                <a:spcPct val="114000"/>
              </a:lnSpc>
              <a:buNone/>
            </a:pPr>
            <a:r>
              <a:rPr lang="en-US" sz="950" b="1" spc="150" kern="0" dirty="0">
                <a:solidFill>
                  <a:srgbClr val="D31242"/>
                </a:solidFill>
                <a:latin typeface="Arial" pitchFamily="34" charset="0"/>
                <a:ea typeface="Arial" pitchFamily="34" charset="-122"/>
                <a:cs typeface="Arial" pitchFamily="34" charset="-120"/>
              </a:rPr>
              <a:t>AFTER STEP 3
</a:t>
            </a:r>
            <a:pPr indent="0" marL="0">
              <a:lnSpc>
                <a:spcPct val="114000"/>
              </a:lnSpc>
              <a:buNone/>
            </a:pPr>
            <a:r>
              <a:rPr lang="en-US" sz="1050" dirty="0">
                <a:solidFill>
                  <a:srgbClr val="1F2733"/>
                </a:solidFill>
                <a:latin typeface="Arial" pitchFamily="34" charset="0"/>
                <a:ea typeface="Arial" pitchFamily="34" charset="-122"/>
                <a:cs typeface="Arial" pitchFamily="34" charset="-120"/>
              </a:rPr>
              <a:t>The same summary, built on nineteen issues, not eleven.</a:t>
            </a:r>
            <a:endParaRPr lang="en-US" sz="950" dirty="0"/>
          </a:p>
        </p:txBody>
      </p:sp>
      <p:sp>
        <p:nvSpPr>
          <p:cNvPr id="21" name="Text 18"/>
          <p:cNvSpPr/>
          <p:nvPr/>
        </p:nvSpPr>
        <p:spPr>
          <a:xfrm>
            <a:off x="640080" y="5870448"/>
            <a:ext cx="10881360" cy="41148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The one-prompt summary used eleven of nineteen issues, and nothing showed which eight were missing.</a:t>
            </a:r>
            <a:endParaRPr lang="en-US" sz="1500" dirty="0"/>
          </a:p>
        </p:txBody>
      </p:sp>
      <p:sp>
        <p:nvSpPr>
          <p:cNvPr id="22" name="Text 19"/>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6 OF 6 · SPLIT THE JOB INTO STEPS</a:t>
            </a:r>
            <a:endParaRPr lang="en-US" sz="850" dirty="0"/>
          </a:p>
        </p:txBody>
      </p:sp>
      <p:sp>
        <p:nvSpPr>
          <p:cNvPr id="23" name="Shape 20"/>
          <p:cNvSpPr/>
          <p:nvPr/>
        </p:nvSpPr>
        <p:spPr>
          <a:xfrm>
            <a:off x="6583680" y="6483096"/>
            <a:ext cx="118872" cy="118872"/>
          </a:xfrm>
          <a:prstGeom prst="ellipse">
            <a:avLst/>
          </a:prstGeom>
          <a:solidFill>
            <a:srgbClr val="D9DDE3"/>
          </a:solidFill>
          <a:ln/>
        </p:spPr>
      </p:sp>
      <p:sp>
        <p:nvSpPr>
          <p:cNvPr id="24" name="Shape 21"/>
          <p:cNvSpPr/>
          <p:nvPr/>
        </p:nvSpPr>
        <p:spPr>
          <a:xfrm>
            <a:off x="6803136" y="6483096"/>
            <a:ext cx="118872" cy="118872"/>
          </a:xfrm>
          <a:prstGeom prst="ellipse">
            <a:avLst/>
          </a:prstGeom>
          <a:solidFill>
            <a:srgbClr val="D9DDE3"/>
          </a:solidFill>
          <a:ln/>
        </p:spPr>
      </p:sp>
      <p:sp>
        <p:nvSpPr>
          <p:cNvPr id="25" name="Shape 22"/>
          <p:cNvSpPr/>
          <p:nvPr/>
        </p:nvSpPr>
        <p:spPr>
          <a:xfrm>
            <a:off x="7022592" y="6483096"/>
            <a:ext cx="118872" cy="118872"/>
          </a:xfrm>
          <a:prstGeom prst="ellipse">
            <a:avLst/>
          </a:prstGeom>
          <a:solidFill>
            <a:srgbClr val="D9DDE3"/>
          </a:solidFill>
          <a:ln/>
        </p:spPr>
      </p:sp>
      <p:sp>
        <p:nvSpPr>
          <p:cNvPr id="26" name="Shape 23"/>
          <p:cNvSpPr/>
          <p:nvPr/>
        </p:nvSpPr>
        <p:spPr>
          <a:xfrm>
            <a:off x="7370064" y="6483096"/>
            <a:ext cx="118872" cy="118872"/>
          </a:xfrm>
          <a:prstGeom prst="ellipse">
            <a:avLst/>
          </a:prstGeom>
          <a:solidFill>
            <a:srgbClr val="D9DDE3"/>
          </a:solidFill>
          <a:ln/>
        </p:spPr>
      </p:sp>
      <p:sp>
        <p:nvSpPr>
          <p:cNvPr id="27" name="Shape 24"/>
          <p:cNvSpPr/>
          <p:nvPr/>
        </p:nvSpPr>
        <p:spPr>
          <a:xfrm>
            <a:off x="7717536" y="6483096"/>
            <a:ext cx="118872" cy="118872"/>
          </a:xfrm>
          <a:prstGeom prst="ellipse">
            <a:avLst/>
          </a:prstGeom>
          <a:solidFill>
            <a:srgbClr val="D9DDE3"/>
          </a:solidFill>
          <a:ln/>
        </p:spPr>
      </p:sp>
      <p:sp>
        <p:nvSpPr>
          <p:cNvPr id="28" name="Shape 25"/>
          <p:cNvSpPr/>
          <p:nvPr/>
        </p:nvSpPr>
        <p:spPr>
          <a:xfrm>
            <a:off x="7904988" y="6451092"/>
            <a:ext cx="182880" cy="182880"/>
          </a:xfrm>
          <a:prstGeom prst="ellipse">
            <a:avLst/>
          </a:prstGeom>
          <a:ln w="9525">
            <a:solidFill>
              <a:srgbClr val="D31242"/>
            </a:solidFill>
            <a:prstDash val="solid"/>
          </a:ln>
        </p:spPr>
      </p:sp>
      <p:sp>
        <p:nvSpPr>
          <p:cNvPr id="29" name="Shape 26"/>
          <p:cNvSpPr/>
          <p:nvPr/>
        </p:nvSpPr>
        <p:spPr>
          <a:xfrm>
            <a:off x="7936992" y="6483096"/>
            <a:ext cx="118872" cy="118872"/>
          </a:xfrm>
          <a:prstGeom prst="ellipse">
            <a:avLst/>
          </a:prstGeom>
          <a:solidFill>
            <a:srgbClr val="D31242"/>
          </a:solidFill>
          <a:ln/>
        </p:spPr>
      </p:sp>
      <p:sp>
        <p:nvSpPr>
          <p:cNvPr id="30" name="Text 27"/>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SPLIT THE JOB INTO STEPS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Your turn</a:t>
            </a:r>
            <a:endParaRPr lang="en-US" sz="3000" dirty="0"/>
          </a:p>
        </p:txBody>
      </p:sp>
      <p:sp>
        <p:nvSpPr>
          <p:cNvPr id="6" name="Text 3"/>
          <p:cNvSpPr/>
          <p:nvPr/>
        </p:nvSpPr>
        <p:spPr>
          <a:xfrm>
            <a:off x="6949440" y="566928"/>
            <a:ext cx="4572000" cy="256032"/>
          </a:xfrm>
          <a:prstGeom prst="rect">
            <a:avLst/>
          </a:prstGeom>
          <a:noFill/>
          <a:ln/>
        </p:spPr>
        <p:txBody>
          <a:bodyPr wrap="square" lIns="0" tIns="0" rIns="0" bIns="0" rtlCol="0" anchor="ctr"/>
          <a:lstStyle/>
          <a:p>
            <a:pPr algn="r" indent="0" marL="0">
              <a:buNone/>
            </a:pPr>
            <a:r>
              <a:rPr lang="en-US" sz="900" b="1" spc="120" kern="0" dirty="0">
                <a:solidFill>
                  <a:srgbClr val="8A93A0"/>
                </a:solidFill>
                <a:latin typeface="Arial" pitchFamily="34" charset="0"/>
                <a:ea typeface="Arial" pitchFamily="34" charset="-122"/>
                <a:cs typeface="Arial" pitchFamily="34" charset="-120"/>
              </a:rPr>
              <a:t>IMPROVE THE AI'S FIRST DRAFT</a:t>
            </a:r>
            <a:endParaRPr lang="en-US" sz="900" dirty="0"/>
          </a:p>
        </p:txBody>
      </p:sp>
      <p:sp>
        <p:nvSpPr>
          <p:cNvPr id="7" name="Shape 4"/>
          <p:cNvSpPr/>
          <p:nvPr/>
        </p:nvSpPr>
        <p:spPr>
          <a:xfrm>
            <a:off x="640080" y="1874520"/>
            <a:ext cx="5074920" cy="3566160"/>
          </a:xfrm>
          <a:prstGeom prst="roundRect">
            <a:avLst>
              <a:gd name="adj" fmla="val 2308"/>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Text 5"/>
          <p:cNvSpPr/>
          <p:nvPr/>
        </p:nvSpPr>
        <p:spPr>
          <a:xfrm>
            <a:off x="914400" y="2084832"/>
            <a:ext cx="4526280" cy="256032"/>
          </a:xfrm>
          <a:prstGeom prst="rect">
            <a:avLst/>
          </a:prstGeom>
          <a:noFill/>
          <a:ln/>
        </p:spPr>
        <p:txBody>
          <a:bodyPr wrap="square" lIns="0" tIns="0" rIns="0" bIns="0" rtlCol="0" anchor="ctr"/>
          <a:lstStyle/>
          <a:p>
            <a:pPr indent="0" marL="0">
              <a:buNone/>
            </a:pPr>
            <a:r>
              <a:rPr lang="en-US" sz="1050" b="1" spc="150" kern="0" dirty="0">
                <a:solidFill>
                  <a:srgbClr val="5E6A78"/>
                </a:solidFill>
                <a:latin typeface="Arial" pitchFamily="34" charset="0"/>
                <a:ea typeface="Arial" pitchFamily="34" charset="-122"/>
                <a:cs typeface="Arial" pitchFamily="34" charset="-120"/>
              </a:rPr>
              <a:t>NOTES FROM FOUR CLUB VISITS</a:t>
            </a:r>
            <a:endParaRPr lang="en-US" sz="1050" dirty="0"/>
          </a:p>
        </p:txBody>
      </p:sp>
      <p:sp>
        <p:nvSpPr>
          <p:cNvPr id="9" name="Text 6"/>
          <p:cNvSpPr/>
          <p:nvPr/>
        </p:nvSpPr>
        <p:spPr>
          <a:xfrm>
            <a:off x="914400" y="2450592"/>
            <a:ext cx="4526280" cy="2880360"/>
          </a:xfrm>
          <a:prstGeom prst="rect">
            <a:avLst/>
          </a:prstGeom>
          <a:noFill/>
          <a:ln/>
        </p:spPr>
        <p:txBody>
          <a:bodyPr wrap="square" lIns="0" tIns="0" rIns="0" bIns="0" rtlCol="0" anchor="t"/>
          <a:lstStyle/>
          <a:p>
            <a:pPr indent="0" marL="0">
              <a:lnSpc>
                <a:spcPct val="122000"/>
              </a:lnSpc>
              <a:buNone/>
            </a:pPr>
            <a:r>
              <a:rPr lang="en-US" sz="1200" dirty="0">
                <a:solidFill>
                  <a:srgbClr val="1F2733"/>
                </a:solidFill>
                <a:latin typeface="Arial" pitchFamily="34" charset="0"/>
                <a:ea typeface="Arial" pitchFamily="34" charset="-122"/>
                <a:cs typeface="Arial" pitchFamily="34" charset="-120"/>
              </a:rPr>
              <a:t>“219: self-checkout freezing Saturdays, deli</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short staffed at lunch, produce reset looks good.</a:t>
            </a:r>
            <a:endParaRPr lang="en-US" sz="1200" dirty="0"/>
          </a:p>
          <a:p>
            <a:pPr indent="0" marL="0">
              <a:lnSpc>
                <a:spcPct val="122000"/>
              </a:lnSpc>
              <a:buNone/>
            </a:pP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331: tire bay waits over an hour, no online</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booking, signage for the new layout unclear.</a:t>
            </a:r>
            <a:endParaRPr lang="en-US" sz="1200" dirty="0"/>
          </a:p>
          <a:p>
            <a:pPr indent="0" marL="0">
              <a:lnSpc>
                <a:spcPct val="122000"/>
              </a:lnSpc>
              <a:buNone/>
            </a:pP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104: parking lot lighting out in two rows, bakery</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out of rolls Sunday, staff praised by members.</a:t>
            </a:r>
            <a:endParaRPr lang="en-US" sz="1200" dirty="0"/>
          </a:p>
          <a:p>
            <a:pPr indent="0" marL="0">
              <a:lnSpc>
                <a:spcPct val="122000"/>
              </a:lnSpc>
              <a:buNone/>
            </a:pP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587: freezer door seal failing, checkout queues</a:t>
            </a:r>
            <a:endParaRPr lang="en-US" sz="1200" dirty="0"/>
          </a:p>
          <a:p>
            <a:pPr indent="0" marL="0">
              <a:lnSpc>
                <a:spcPct val="122000"/>
              </a:lnSpc>
              <a:buNone/>
            </a:pPr>
            <a:r>
              <a:rPr lang="en-US" sz="1200" dirty="0">
                <a:solidFill>
                  <a:srgbClr val="1F2733"/>
                </a:solidFill>
                <a:latin typeface="Arial" pitchFamily="34" charset="0"/>
                <a:ea typeface="Arial" pitchFamily="34" charset="-122"/>
                <a:cs typeface="Arial" pitchFamily="34" charset="-120"/>
              </a:rPr>
              <a:t>long at 5pm, new signage working well.”</a:t>
            </a:r>
            <a:endParaRPr lang="en-US" sz="1200" dirty="0"/>
          </a:p>
        </p:txBody>
      </p:sp>
      <p:sp>
        <p:nvSpPr>
          <p:cNvPr id="10" name="Text 7"/>
          <p:cNvSpPr/>
          <p:nvPr/>
        </p:nvSpPr>
        <p:spPr>
          <a:xfrm>
            <a:off x="640080" y="5532120"/>
            <a:ext cx="5074920" cy="274320"/>
          </a:xfrm>
          <a:prstGeom prst="rect">
            <a:avLst/>
          </a:prstGeom>
          <a:noFill/>
          <a:ln/>
        </p:spPr>
        <p:txBody>
          <a:bodyPr wrap="square" lIns="0" tIns="0" rIns="0" bIns="0" rtlCol="0" anchor="ctr"/>
          <a:lstStyle/>
          <a:p>
            <a:pPr indent="0" marL="0">
              <a:buNone/>
            </a:pPr>
            <a:r>
              <a:rPr lang="en-US" sz="1100" dirty="0">
                <a:solidFill>
                  <a:srgbClr val="5E6A78"/>
                </a:solidFill>
                <a:latin typeface="Arial" pitchFamily="34" charset="0"/>
                <a:ea typeface="Arial" pitchFamily="34" charset="-122"/>
                <a:cs typeface="Arial" pitchFamily="34" charset="-120"/>
              </a:rPr>
              <a:t>Also posted in the chat, ready to copy.</a:t>
            </a:r>
            <a:endParaRPr lang="en-US" sz="1100" dirty="0"/>
          </a:p>
        </p:txBody>
      </p:sp>
      <p:sp>
        <p:nvSpPr>
          <p:cNvPr id="11" name="Text 8"/>
          <p:cNvSpPr/>
          <p:nvPr/>
        </p:nvSpPr>
        <p:spPr>
          <a:xfrm>
            <a:off x="6355080" y="2084832"/>
            <a:ext cx="4617720" cy="256032"/>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WHAT TO DO</a:t>
            </a:r>
            <a:endParaRPr lang="en-US" sz="1050" dirty="0"/>
          </a:p>
        </p:txBody>
      </p:sp>
      <p:sp>
        <p:nvSpPr>
          <p:cNvPr id="12" name="Shape 9"/>
          <p:cNvSpPr/>
          <p:nvPr/>
        </p:nvSpPr>
        <p:spPr>
          <a:xfrm>
            <a:off x="6355080" y="2450592"/>
            <a:ext cx="384048" cy="384048"/>
          </a:xfrm>
          <a:prstGeom prst="ellipse">
            <a:avLst/>
          </a:prstGeom>
          <a:solidFill>
            <a:srgbClr val="D31242"/>
          </a:solidFill>
          <a:ln/>
        </p:spPr>
      </p:sp>
      <p:sp>
        <p:nvSpPr>
          <p:cNvPr id="13" name="Text 10"/>
          <p:cNvSpPr/>
          <p:nvPr/>
        </p:nvSpPr>
        <p:spPr>
          <a:xfrm>
            <a:off x="6355080" y="24505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4" name="Text 11"/>
          <p:cNvSpPr/>
          <p:nvPr/>
        </p:nvSpPr>
        <p:spPr>
          <a:xfrm>
            <a:off x="6903720" y="243230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Paste the notes and ask: “List every issue in these notes, one line each.” Read the list.</a:t>
            </a:r>
            <a:endParaRPr lang="en-US" sz="1350" dirty="0"/>
          </a:p>
        </p:txBody>
      </p:sp>
      <p:sp>
        <p:nvSpPr>
          <p:cNvPr id="15" name="Shape 12"/>
          <p:cNvSpPr/>
          <p:nvPr/>
        </p:nvSpPr>
        <p:spPr>
          <a:xfrm>
            <a:off x="6355080" y="3319272"/>
            <a:ext cx="384048" cy="384048"/>
          </a:xfrm>
          <a:prstGeom prst="ellipse">
            <a:avLst/>
          </a:prstGeom>
          <a:solidFill>
            <a:srgbClr val="D31242"/>
          </a:solidFill>
          <a:ln/>
        </p:spPr>
      </p:sp>
      <p:sp>
        <p:nvSpPr>
          <p:cNvPr id="16" name="Text 13"/>
          <p:cNvSpPr/>
          <p:nvPr/>
        </p:nvSpPr>
        <p:spPr>
          <a:xfrm>
            <a:off x="6355080" y="3319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7" name="Text 14"/>
          <p:cNvSpPr/>
          <p:nvPr/>
        </p:nvSpPr>
        <p:spPr>
          <a:xfrm>
            <a:off x="6903720" y="330098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Then: “Group those issues into three themes and name each theme.” Check the themes.</a:t>
            </a:r>
            <a:endParaRPr lang="en-US" sz="1350" dirty="0"/>
          </a:p>
        </p:txBody>
      </p:sp>
      <p:sp>
        <p:nvSpPr>
          <p:cNvPr id="18" name="Shape 15"/>
          <p:cNvSpPr/>
          <p:nvPr/>
        </p:nvSpPr>
        <p:spPr>
          <a:xfrm>
            <a:off x="6355080" y="4187952"/>
            <a:ext cx="384048" cy="384048"/>
          </a:xfrm>
          <a:prstGeom prst="ellipse">
            <a:avLst/>
          </a:prstGeom>
          <a:solidFill>
            <a:srgbClr val="D31242"/>
          </a:solidFill>
          <a:ln/>
        </p:spPr>
      </p:sp>
      <p:sp>
        <p:nvSpPr>
          <p:cNvPr id="19" name="Text 16"/>
          <p:cNvSpPr/>
          <p:nvPr/>
        </p:nvSpPr>
        <p:spPr>
          <a:xfrm>
            <a:off x="6355080" y="41879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0" name="Text 17"/>
          <p:cNvSpPr/>
          <p:nvPr/>
        </p:nvSpPr>
        <p:spPr>
          <a:xfrm>
            <a:off x="6903720" y="4169664"/>
            <a:ext cx="4617720" cy="777240"/>
          </a:xfrm>
          <a:prstGeom prst="rect">
            <a:avLst/>
          </a:prstGeom>
          <a:noFill/>
          <a:ln/>
        </p:spPr>
        <p:txBody>
          <a:bodyPr wrap="square" lIns="0" tIns="0" rIns="0" bIns="0" rtlCol="0" anchor="t"/>
          <a:lstStyle/>
          <a:p>
            <a:pPr indent="0" marL="0">
              <a:lnSpc>
                <a:spcPct val="118000"/>
              </a:lnSpc>
              <a:buNone/>
            </a:pPr>
            <a:r>
              <a:rPr lang="en-US" sz="1350" dirty="0">
                <a:solidFill>
                  <a:srgbClr val="1F2733"/>
                </a:solidFill>
                <a:latin typeface="Arial" pitchFamily="34" charset="0"/>
                <a:ea typeface="Arial" pitchFamily="34" charset="-122"/>
                <a:cs typeface="Arial" pitchFamily="34" charset="-120"/>
              </a:rPr>
              <a:t>Then: “Write a summary using those themes, under 150 words.”</a:t>
            </a:r>
            <a:endParaRPr lang="en-US" sz="1350" dirty="0"/>
          </a:p>
        </p:txBody>
      </p:sp>
      <p:sp>
        <p:nvSpPr>
          <p:cNvPr id="21" name="Shape 18"/>
          <p:cNvSpPr/>
          <p:nvPr/>
        </p:nvSpPr>
        <p:spPr>
          <a:xfrm>
            <a:off x="6355080" y="5084064"/>
            <a:ext cx="5166360" cy="914400"/>
          </a:xfrm>
          <a:prstGeom prst="roundRect">
            <a:avLst>
              <a:gd name="adj" fmla="val 9000"/>
            </a:avLst>
          </a:prstGeom>
          <a:solidFill>
            <a:srgbClr val="DCFCE7"/>
          </a:solidFill>
          <a:ln/>
          <a:effectLst>
            <a:outerShdw sx="100000" sy="100000" kx="0" ky="0" algn="bl" rotWithShape="0" blurRad="88900" dist="38100" dir="5400000">
              <a:srgbClr val="1F2733">
                <a:alpha val="10000"/>
              </a:srgbClr>
            </a:outerShdw>
          </a:effectLst>
        </p:spPr>
      </p:sp>
      <p:sp>
        <p:nvSpPr>
          <p:cNvPr id="22" name="Text 19"/>
          <p:cNvSpPr/>
          <p:nvPr/>
        </p:nvSpPr>
        <p:spPr>
          <a:xfrm>
            <a:off x="6629400" y="5184648"/>
            <a:ext cx="3657600" cy="237744"/>
          </a:xfrm>
          <a:prstGeom prst="rect">
            <a:avLst/>
          </a:prstGeom>
          <a:noFill/>
          <a:ln/>
        </p:spPr>
        <p:txBody>
          <a:bodyPr wrap="square" lIns="0" tIns="0" rIns="0" bIns="0" rtlCol="0" anchor="ctr"/>
          <a:lstStyle/>
          <a:p>
            <a:pPr indent="0" marL="0">
              <a:buNone/>
            </a:pPr>
            <a:r>
              <a:rPr lang="en-US" sz="950" b="1" spc="120" kern="0" dirty="0">
                <a:solidFill>
                  <a:srgbClr val="15803D"/>
                </a:solidFill>
                <a:latin typeface="Arial" pitchFamily="34" charset="0"/>
                <a:ea typeface="Arial" pitchFamily="34" charset="-122"/>
                <a:cs typeface="Arial" pitchFamily="34" charset="-120"/>
              </a:rPr>
              <a:t>CHECK</a:t>
            </a:r>
            <a:endParaRPr lang="en-US" sz="950" dirty="0"/>
          </a:p>
        </p:txBody>
      </p:sp>
      <p:sp>
        <p:nvSpPr>
          <p:cNvPr id="23" name="Text 20"/>
          <p:cNvSpPr/>
          <p:nvPr/>
        </p:nvSpPr>
        <p:spPr>
          <a:xfrm>
            <a:off x="6629400" y="5440680"/>
            <a:ext cx="4617720" cy="475488"/>
          </a:xfrm>
          <a:prstGeom prst="rect">
            <a:avLst/>
          </a:prstGeom>
          <a:noFill/>
          <a:ln/>
        </p:spPr>
        <p:txBody>
          <a:bodyPr wrap="square" lIns="0" tIns="0" rIns="0" bIns="0" rtlCol="0" anchor="t"/>
          <a:lstStyle/>
          <a:p>
            <a:pPr indent="0" marL="0">
              <a:lnSpc>
                <a:spcPct val="112000"/>
              </a:lnSpc>
              <a:buNone/>
            </a:pPr>
            <a:r>
              <a:rPr lang="en-US" sz="1250" dirty="0">
                <a:solidFill>
                  <a:srgbClr val="1F2733"/>
                </a:solidFill>
                <a:latin typeface="Arial" pitchFamily="34" charset="0"/>
                <a:ea typeface="Arial" pitchFamily="34" charset="-122"/>
                <a:cs typeface="Arial" pitchFamily="34" charset="-120"/>
              </a:rPr>
              <a:t>Count the issues in step 1. Did anything get lost by step 3?</a:t>
            </a:r>
            <a:endParaRPr lang="en-US" sz="1250" dirty="0"/>
          </a:p>
        </p:txBody>
      </p:sp>
      <p:sp>
        <p:nvSpPr>
          <p:cNvPr id="24" name="Text 21"/>
          <p:cNvSpPr/>
          <p:nvPr/>
        </p:nvSpPr>
        <p:spPr>
          <a:xfrm>
            <a:off x="640080" y="5943600"/>
            <a:ext cx="10881360" cy="365760"/>
          </a:xfrm>
          <a:prstGeom prst="rect">
            <a:avLst/>
          </a:prstGeom>
          <a:noFill/>
          <a:ln/>
        </p:spPr>
        <p:txBody>
          <a:bodyPr wrap="square" lIns="0" tIns="0" rIns="0" bIns="0" rtlCol="0" anchor="ctr"/>
          <a:lstStyle/>
          <a:p>
            <a:pPr indent="0" marL="0">
              <a:buNone/>
            </a:pPr>
            <a:r>
              <a:rPr lang="en-US" sz="1550" b="1" dirty="0">
                <a:solidFill>
                  <a:srgbClr val="D31242"/>
                </a:solidFill>
                <a:latin typeface="Arial" pitchFamily="34" charset="0"/>
                <a:ea typeface="Arial" pitchFamily="34" charset="-122"/>
                <a:cs typeface="Arial" pitchFamily="34" charset="-120"/>
              </a:rPr>
              <a:t>Five minutes. Read each answer before running the next step.</a:t>
            </a:r>
            <a:endParaRPr lang="en-US" sz="1550" dirty="0"/>
          </a:p>
        </p:txBody>
      </p:sp>
      <p:sp>
        <p:nvSpPr>
          <p:cNvPr id="25" name="Text 22"/>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20" kern="0" dirty="0">
                <a:solidFill>
                  <a:srgbClr val="8A93A0"/>
                </a:solidFill>
                <a:latin typeface="Arial" pitchFamily="34" charset="0"/>
                <a:ea typeface="Arial" pitchFamily="34" charset="-122"/>
                <a:cs typeface="Arial" pitchFamily="34" charset="-120"/>
              </a:rPr>
              <a:t>TECHNIQUE 6 OF 6 · SPLIT THE JOB INTO STEPS</a:t>
            </a:r>
            <a:endParaRPr lang="en-US" sz="850" dirty="0"/>
          </a:p>
        </p:txBody>
      </p:sp>
      <p:sp>
        <p:nvSpPr>
          <p:cNvPr id="26" name="Shape 23"/>
          <p:cNvSpPr/>
          <p:nvPr/>
        </p:nvSpPr>
        <p:spPr>
          <a:xfrm>
            <a:off x="6583680" y="6483096"/>
            <a:ext cx="118872" cy="118872"/>
          </a:xfrm>
          <a:prstGeom prst="ellipse">
            <a:avLst/>
          </a:prstGeom>
          <a:solidFill>
            <a:srgbClr val="D9DDE3"/>
          </a:solidFill>
          <a:ln/>
        </p:spPr>
      </p:sp>
      <p:sp>
        <p:nvSpPr>
          <p:cNvPr id="27" name="Shape 24"/>
          <p:cNvSpPr/>
          <p:nvPr/>
        </p:nvSpPr>
        <p:spPr>
          <a:xfrm>
            <a:off x="6803136" y="6483096"/>
            <a:ext cx="118872" cy="118872"/>
          </a:xfrm>
          <a:prstGeom prst="ellipse">
            <a:avLst/>
          </a:prstGeom>
          <a:solidFill>
            <a:srgbClr val="D9DDE3"/>
          </a:solidFill>
          <a:ln/>
        </p:spPr>
      </p:sp>
      <p:sp>
        <p:nvSpPr>
          <p:cNvPr id="28" name="Shape 25"/>
          <p:cNvSpPr/>
          <p:nvPr/>
        </p:nvSpPr>
        <p:spPr>
          <a:xfrm>
            <a:off x="7022592" y="6483096"/>
            <a:ext cx="118872" cy="118872"/>
          </a:xfrm>
          <a:prstGeom prst="ellipse">
            <a:avLst/>
          </a:prstGeom>
          <a:solidFill>
            <a:srgbClr val="D9DDE3"/>
          </a:solidFill>
          <a:ln/>
        </p:spPr>
      </p:sp>
      <p:sp>
        <p:nvSpPr>
          <p:cNvPr id="29" name="Shape 26"/>
          <p:cNvSpPr/>
          <p:nvPr/>
        </p:nvSpPr>
        <p:spPr>
          <a:xfrm>
            <a:off x="7370064" y="6483096"/>
            <a:ext cx="118872" cy="118872"/>
          </a:xfrm>
          <a:prstGeom prst="ellipse">
            <a:avLst/>
          </a:prstGeom>
          <a:solidFill>
            <a:srgbClr val="D9DDE3"/>
          </a:solidFill>
          <a:ln/>
        </p:spPr>
      </p:sp>
      <p:sp>
        <p:nvSpPr>
          <p:cNvPr id="30" name="Shape 27"/>
          <p:cNvSpPr/>
          <p:nvPr/>
        </p:nvSpPr>
        <p:spPr>
          <a:xfrm>
            <a:off x="7717536" y="6483096"/>
            <a:ext cx="118872" cy="118872"/>
          </a:xfrm>
          <a:prstGeom prst="ellipse">
            <a:avLst/>
          </a:prstGeom>
          <a:solidFill>
            <a:srgbClr val="D9DDE3"/>
          </a:solidFill>
          <a:ln/>
        </p:spPr>
      </p:sp>
      <p:sp>
        <p:nvSpPr>
          <p:cNvPr id="31" name="Shape 28"/>
          <p:cNvSpPr/>
          <p:nvPr/>
        </p:nvSpPr>
        <p:spPr>
          <a:xfrm>
            <a:off x="7904988" y="6451092"/>
            <a:ext cx="182880" cy="182880"/>
          </a:xfrm>
          <a:prstGeom prst="ellipse">
            <a:avLst/>
          </a:prstGeom>
          <a:ln w="9525">
            <a:solidFill>
              <a:srgbClr val="D31242"/>
            </a:solidFill>
            <a:prstDash val="solid"/>
          </a:ln>
        </p:spPr>
      </p:sp>
      <p:sp>
        <p:nvSpPr>
          <p:cNvPr id="32" name="Shape 29"/>
          <p:cNvSpPr/>
          <p:nvPr/>
        </p:nvSpPr>
        <p:spPr>
          <a:xfrm>
            <a:off x="7936992" y="6483096"/>
            <a:ext cx="118872" cy="118872"/>
          </a:xfrm>
          <a:prstGeom prst="ellipse">
            <a:avLst/>
          </a:prstGeom>
          <a:solidFill>
            <a:srgbClr val="D31242"/>
          </a:solidFill>
          <a:ln/>
        </p:spPr>
      </p:sp>
      <p:sp>
        <p:nvSpPr>
          <p:cNvPr id="33" name="Text 30"/>
          <p:cNvSpPr/>
          <p:nvPr/>
        </p:nvSpPr>
        <p:spPr>
          <a:xfrm>
            <a:off x="8229600" y="6419088"/>
            <a:ext cx="3319272"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BEFORE YOU GO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Four habits you can retire, and what replaced them</a:t>
            </a:r>
            <a:endParaRPr lang="en-US" sz="3000" dirty="0"/>
          </a:p>
        </p:txBody>
      </p:sp>
      <p:sp>
        <p:nvSpPr>
          <p:cNvPr id="6" name="Shape 3"/>
          <p:cNvSpPr/>
          <p:nvPr/>
        </p:nvSpPr>
        <p:spPr>
          <a:xfrm>
            <a:off x="640080" y="1965960"/>
            <a:ext cx="10881360" cy="822960"/>
          </a:xfrm>
          <a:prstGeom prst="roundRect">
            <a:avLst>
              <a:gd name="adj" fmla="val 10000"/>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7" name="Text 4"/>
          <p:cNvSpPr/>
          <p:nvPr/>
        </p:nvSpPr>
        <p:spPr>
          <a:xfrm>
            <a:off x="960120" y="2039112"/>
            <a:ext cx="10241280" cy="676656"/>
          </a:xfrm>
          <a:prstGeom prst="rect">
            <a:avLst/>
          </a:prstGeom>
          <a:noFill/>
          <a:ln/>
        </p:spPr>
        <p:txBody>
          <a:bodyPr wrap="square" lIns="0" tIns="0" rIns="0" bIns="0" rtlCol="0" anchor="ctr"/>
          <a:lstStyle/>
          <a:p>
            <a:pPr indent="0" marL="0">
              <a:lnSpc>
                <a:spcPct val="115000"/>
              </a:lnSpc>
              <a:buNone/>
            </a:pPr>
            <a:r>
              <a:rPr lang="en-US" sz="1500" b="1" dirty="0">
                <a:solidFill>
                  <a:srgbClr val="1F2733"/>
                </a:solidFill>
                <a:latin typeface="Arial" pitchFamily="34" charset="0"/>
                <a:ea typeface="Arial" pitchFamily="34" charset="-122"/>
                <a:cs typeface="Arial" pitchFamily="34" charset="-120"/>
              </a:rPr>
              <a:t>“You are a world-class expert…”</a:t>
            </a:r>
            <a:pPr indent="0" marL="0">
              <a:lnSpc>
                <a:spcPct val="115000"/>
              </a:lnSpc>
              <a:buNone/>
            </a:pPr>
            <a:r>
              <a:rPr lang="en-US" sz="1500" b="1" dirty="0">
                <a:solidFill>
                  <a:srgbClr val="D31242"/>
                </a:solidFill>
                <a:latin typeface="Arial" pitchFamily="34" charset="0"/>
                <a:ea typeface="Arial" pitchFamily="34" charset="-122"/>
                <a:cs typeface="Arial" pitchFamily="34" charset="-120"/>
              </a:rPr>
              <a:t>   →   </a:t>
            </a:r>
            <a:pPr indent="0" marL="0">
              <a:lnSpc>
                <a:spcPct val="115000"/>
              </a:lnSpc>
              <a:buNone/>
            </a:pPr>
            <a:r>
              <a:rPr lang="en-US" sz="1300" dirty="0">
                <a:solidFill>
                  <a:srgbClr val="3A4452"/>
                </a:solidFill>
                <a:latin typeface="Arial" pitchFamily="34" charset="0"/>
                <a:ea typeface="Arial" pitchFamily="34" charset="-122"/>
                <a:cs typeface="Arial" pitchFamily="34" charset="-120"/>
              </a:rPr>
              <a:t>Name the reader instead, for example a busy club manager.</a:t>
            </a:r>
            <a:endParaRPr lang="en-US" sz="1500" dirty="0"/>
          </a:p>
        </p:txBody>
      </p:sp>
      <p:sp>
        <p:nvSpPr>
          <p:cNvPr id="8" name="Shape 5"/>
          <p:cNvSpPr/>
          <p:nvPr/>
        </p:nvSpPr>
        <p:spPr>
          <a:xfrm>
            <a:off x="640080" y="2907792"/>
            <a:ext cx="10881360" cy="822960"/>
          </a:xfrm>
          <a:prstGeom prst="roundRect">
            <a:avLst>
              <a:gd name="adj" fmla="val 10000"/>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9" name="Text 6"/>
          <p:cNvSpPr/>
          <p:nvPr/>
        </p:nvSpPr>
        <p:spPr>
          <a:xfrm>
            <a:off x="960120" y="2980944"/>
            <a:ext cx="10241280" cy="676656"/>
          </a:xfrm>
          <a:prstGeom prst="rect">
            <a:avLst/>
          </a:prstGeom>
          <a:noFill/>
          <a:ln/>
        </p:spPr>
        <p:txBody>
          <a:bodyPr wrap="square" lIns="0" tIns="0" rIns="0" bIns="0" rtlCol="0" anchor="ctr"/>
          <a:lstStyle/>
          <a:p>
            <a:pPr indent="0" marL="0">
              <a:lnSpc>
                <a:spcPct val="115000"/>
              </a:lnSpc>
              <a:buNone/>
            </a:pPr>
            <a:r>
              <a:rPr lang="en-US" sz="1500" b="1" dirty="0">
                <a:solidFill>
                  <a:srgbClr val="1F2733"/>
                </a:solidFill>
                <a:latin typeface="Arial" pitchFamily="34" charset="0"/>
                <a:ea typeface="Arial" pitchFamily="34" charset="-122"/>
                <a:cs typeface="Arial" pitchFamily="34" charset="-120"/>
              </a:rPr>
              <a:t>“Think step by step”</a:t>
            </a:r>
            <a:pPr indent="0" marL="0">
              <a:lnSpc>
                <a:spcPct val="115000"/>
              </a:lnSpc>
              <a:buNone/>
            </a:pPr>
            <a:r>
              <a:rPr lang="en-US" sz="1500" b="1" dirty="0">
                <a:solidFill>
                  <a:srgbClr val="D31242"/>
                </a:solidFill>
                <a:latin typeface="Arial" pitchFamily="34" charset="0"/>
                <a:ea typeface="Arial" pitchFamily="34" charset="-122"/>
                <a:cs typeface="Arial" pitchFamily="34" charset="-120"/>
              </a:rPr>
              <a:t>   →   </a:t>
            </a:r>
            <a:pPr indent="0" marL="0">
              <a:lnSpc>
                <a:spcPct val="115000"/>
              </a:lnSpc>
              <a:buNone/>
            </a:pPr>
            <a:r>
              <a:rPr lang="en-US" sz="1300" dirty="0">
                <a:solidFill>
                  <a:srgbClr val="3A4452"/>
                </a:solidFill>
                <a:latin typeface="Arial" pitchFamily="34" charset="0"/>
                <a:ea typeface="Arial" pitchFamily="34" charset="-122"/>
                <a:cs typeface="Arial" pitchFamily="34" charset="-120"/>
              </a:rPr>
              <a:t>Current models already reason. Ask to see the plan if you want to check it.</a:t>
            </a:r>
            <a:endParaRPr lang="en-US" sz="1500" dirty="0"/>
          </a:p>
        </p:txBody>
      </p:sp>
      <p:sp>
        <p:nvSpPr>
          <p:cNvPr id="10" name="Shape 7"/>
          <p:cNvSpPr/>
          <p:nvPr/>
        </p:nvSpPr>
        <p:spPr>
          <a:xfrm>
            <a:off x="640080" y="3849624"/>
            <a:ext cx="10881360" cy="822960"/>
          </a:xfrm>
          <a:prstGeom prst="roundRect">
            <a:avLst>
              <a:gd name="adj" fmla="val 10000"/>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1" name="Text 8"/>
          <p:cNvSpPr/>
          <p:nvPr/>
        </p:nvSpPr>
        <p:spPr>
          <a:xfrm>
            <a:off x="960120" y="3922776"/>
            <a:ext cx="10241280" cy="676656"/>
          </a:xfrm>
          <a:prstGeom prst="rect">
            <a:avLst/>
          </a:prstGeom>
          <a:noFill/>
          <a:ln/>
        </p:spPr>
        <p:txBody>
          <a:bodyPr wrap="square" lIns="0" tIns="0" rIns="0" bIns="0" rtlCol="0" anchor="ctr"/>
          <a:lstStyle/>
          <a:p>
            <a:pPr indent="0" marL="0">
              <a:lnSpc>
                <a:spcPct val="115000"/>
              </a:lnSpc>
              <a:buNone/>
            </a:pPr>
            <a:r>
              <a:rPr lang="en-US" sz="1500" b="1" dirty="0">
                <a:solidFill>
                  <a:srgbClr val="1F2733"/>
                </a:solidFill>
                <a:latin typeface="Arial" pitchFamily="34" charset="0"/>
                <a:ea typeface="Arial" pitchFamily="34" charset="-122"/>
                <a:cs typeface="Arial" pitchFamily="34" charset="-120"/>
              </a:rPr>
              <a:t>Unusually polite or forceful wording</a:t>
            </a:r>
            <a:pPr indent="0" marL="0">
              <a:lnSpc>
                <a:spcPct val="115000"/>
              </a:lnSpc>
              <a:buNone/>
            </a:pPr>
            <a:r>
              <a:rPr lang="en-US" sz="1500" b="1" dirty="0">
                <a:solidFill>
                  <a:srgbClr val="D31242"/>
                </a:solidFill>
                <a:latin typeface="Arial" pitchFamily="34" charset="0"/>
                <a:ea typeface="Arial" pitchFamily="34" charset="-122"/>
                <a:cs typeface="Arial" pitchFamily="34" charset="-120"/>
              </a:rPr>
              <a:t>   →   </a:t>
            </a:r>
            <a:pPr indent="0" marL="0">
              <a:lnSpc>
                <a:spcPct val="115000"/>
              </a:lnSpc>
              <a:buNone/>
            </a:pPr>
            <a:r>
              <a:rPr lang="en-US" sz="1300" dirty="0">
                <a:solidFill>
                  <a:srgbClr val="3A4452"/>
                </a:solidFill>
                <a:latin typeface="Arial" pitchFamily="34" charset="0"/>
                <a:ea typeface="Arial" pitchFamily="34" charset="-122"/>
                <a:cs typeface="Arial" pitchFamily="34" charset="-120"/>
              </a:rPr>
              <a:t>Neither changes the answer. State what you want plainly.</a:t>
            </a:r>
            <a:endParaRPr lang="en-US" sz="1500" dirty="0"/>
          </a:p>
        </p:txBody>
      </p:sp>
      <p:sp>
        <p:nvSpPr>
          <p:cNvPr id="12" name="Shape 9"/>
          <p:cNvSpPr/>
          <p:nvPr/>
        </p:nvSpPr>
        <p:spPr>
          <a:xfrm>
            <a:off x="640080" y="4791456"/>
            <a:ext cx="10881360" cy="822960"/>
          </a:xfrm>
          <a:prstGeom prst="roundRect">
            <a:avLst>
              <a:gd name="adj" fmla="val 10000"/>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3" name="Text 10"/>
          <p:cNvSpPr/>
          <p:nvPr/>
        </p:nvSpPr>
        <p:spPr>
          <a:xfrm>
            <a:off x="960120" y="4864608"/>
            <a:ext cx="10241280" cy="676656"/>
          </a:xfrm>
          <a:prstGeom prst="rect">
            <a:avLst/>
          </a:prstGeom>
          <a:noFill/>
          <a:ln/>
        </p:spPr>
        <p:txBody>
          <a:bodyPr wrap="square" lIns="0" tIns="0" rIns="0" bIns="0" rtlCol="0" anchor="ctr"/>
          <a:lstStyle/>
          <a:p>
            <a:pPr indent="0" marL="0">
              <a:lnSpc>
                <a:spcPct val="115000"/>
              </a:lnSpc>
              <a:buNone/>
            </a:pPr>
            <a:r>
              <a:rPr lang="en-US" sz="1500" b="1" dirty="0">
                <a:solidFill>
                  <a:srgbClr val="1F2733"/>
                </a:solidFill>
                <a:latin typeface="Arial" pitchFamily="34" charset="0"/>
                <a:ea typeface="Arial" pitchFamily="34" charset="-122"/>
                <a:cs typeface="Arial" pitchFamily="34" charset="-120"/>
              </a:rPr>
              <a:t>Writing very long prompts</a:t>
            </a:r>
            <a:pPr indent="0" marL="0">
              <a:lnSpc>
                <a:spcPct val="115000"/>
              </a:lnSpc>
              <a:buNone/>
            </a:pPr>
            <a:r>
              <a:rPr lang="en-US" sz="1500" b="1" dirty="0">
                <a:solidFill>
                  <a:srgbClr val="D31242"/>
                </a:solidFill>
                <a:latin typeface="Arial" pitchFamily="34" charset="0"/>
                <a:ea typeface="Arial" pitchFamily="34" charset="-122"/>
                <a:cs typeface="Arial" pitchFamily="34" charset="-120"/>
              </a:rPr>
              <a:t>   →   </a:t>
            </a:r>
            <a:pPr indent="0" marL="0">
              <a:lnSpc>
                <a:spcPct val="115000"/>
              </a:lnSpc>
              <a:buNone/>
            </a:pPr>
            <a:r>
              <a:rPr lang="en-US" sz="1300" dirty="0">
                <a:solidFill>
                  <a:srgbClr val="3A4452"/>
                </a:solidFill>
                <a:latin typeface="Arial" pitchFamily="34" charset="0"/>
                <a:ea typeface="Arial" pitchFamily="34" charset="-122"/>
                <a:cs typeface="Arial" pitchFamily="34" charset="-120"/>
              </a:rPr>
              <a:t>Length is not the same as clarity. A few clear lines are usually enough.</a:t>
            </a:r>
            <a:endParaRPr lang="en-US" sz="1500" dirty="0"/>
          </a:p>
        </p:txBody>
      </p:sp>
      <p:sp>
        <p:nvSpPr>
          <p:cNvPr id="14" name="Text 11"/>
          <p:cNvSpPr/>
          <p:nvPr/>
        </p:nvSpPr>
        <p:spPr>
          <a:xfrm>
            <a:off x="640080" y="5870448"/>
            <a:ext cx="10881360" cy="365760"/>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These were all real techniques. Newer models handle them internally. The six in this session still make a difference.</a:t>
            </a:r>
            <a:endParaRPr lang="en-US" sz="1450" dirty="0"/>
          </a:p>
        </p:txBody>
      </p:sp>
      <p:sp>
        <p:nvSpPr>
          <p:cNvPr id="15" name="Text 12"/>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PROMPT ENGINEERING ESSENTIALS</a:t>
            </a:r>
            <a:endParaRPr lang="en-US" sz="850" dirty="0"/>
          </a:p>
        </p:txBody>
      </p:sp>
      <p:sp>
        <p:nvSpPr>
          <p:cNvPr id="16" name="Text 13"/>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three things we set out to learn</a:t>
            </a:r>
            <a:endParaRPr lang="en-US" sz="3000" dirty="0"/>
          </a:p>
        </p:txBody>
      </p:sp>
      <p:sp>
        <p:nvSpPr>
          <p:cNvPr id="6" name="Shape 3"/>
          <p:cNvSpPr/>
          <p:nvPr/>
        </p:nvSpPr>
        <p:spPr>
          <a:xfrm>
            <a:off x="640080" y="2148840"/>
            <a:ext cx="10881360" cy="1143000"/>
          </a:xfrm>
          <a:prstGeom prst="roundRect">
            <a:avLst>
              <a:gd name="adj" fmla="val 7200"/>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7" name="Shape 4"/>
          <p:cNvSpPr/>
          <p:nvPr/>
        </p:nvSpPr>
        <p:spPr>
          <a:xfrm>
            <a:off x="914400" y="2450592"/>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578608"/>
            <a:ext cx="292608" cy="292608"/>
          </a:xfrm>
          <a:prstGeom prst="rect">
            <a:avLst/>
          </a:prstGeom>
        </p:spPr>
      </p:pic>
      <p:sp>
        <p:nvSpPr>
          <p:cNvPr id="9" name="Text 5"/>
          <p:cNvSpPr/>
          <p:nvPr/>
        </p:nvSpPr>
        <p:spPr>
          <a:xfrm>
            <a:off x="1737360" y="2304288"/>
            <a:ext cx="9509760" cy="868680"/>
          </a:xfrm>
          <a:prstGeom prst="rect">
            <a:avLst/>
          </a:prstGeom>
          <a:noFill/>
          <a:ln/>
        </p:spPr>
        <p:txBody>
          <a:bodyPr wrap="square" lIns="0" tIns="0" rIns="0" bIns="0" rtlCol="0" anchor="ctr"/>
          <a:lstStyle/>
          <a:p>
            <a:pPr indent="0" marL="0">
              <a:lnSpc>
                <a:spcPct val="112000"/>
              </a:lnSpc>
              <a:buNone/>
            </a:pPr>
            <a:r>
              <a:rPr lang="en-US" sz="1700" b="1" dirty="0">
                <a:solidFill>
                  <a:srgbClr val="1F2733"/>
                </a:solidFill>
                <a:latin typeface="Arial" pitchFamily="34" charset="0"/>
                <a:ea typeface="Arial" pitchFamily="34" charset="-122"/>
                <a:cs typeface="Arial" pitchFamily="34" charset="-120"/>
              </a:rPr>
              <a:t>Give the AI clear direction
</a:t>
            </a:r>
            <a:pPr indent="0" marL="0">
              <a:lnSpc>
                <a:spcPct val="112000"/>
              </a:lnSpc>
              <a:buNone/>
            </a:pPr>
            <a:r>
              <a:rPr lang="en-US" sz="1300" dirty="0">
                <a:solidFill>
                  <a:srgbClr val="5E6A78"/>
                </a:solidFill>
                <a:latin typeface="Arial" pitchFamily="34" charset="0"/>
                <a:ea typeface="Arial" pitchFamily="34" charset="-122"/>
                <a:cs typeface="Arial" pitchFamily="34" charset="-120"/>
              </a:rPr>
              <a:t>You showed it a finished example, named your format, and pasted a screenshot instead of typing a description.</a:t>
            </a:r>
            <a:endParaRPr lang="en-US" sz="1700" dirty="0"/>
          </a:p>
        </p:txBody>
      </p:sp>
      <p:sp>
        <p:nvSpPr>
          <p:cNvPr id="10" name="Shape 6"/>
          <p:cNvSpPr/>
          <p:nvPr/>
        </p:nvSpPr>
        <p:spPr>
          <a:xfrm>
            <a:off x="640080" y="3447288"/>
            <a:ext cx="10881360" cy="1143000"/>
          </a:xfrm>
          <a:prstGeom prst="roundRect">
            <a:avLst>
              <a:gd name="adj" fmla="val 7200"/>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1" name="Shape 7"/>
          <p:cNvSpPr/>
          <p:nvPr/>
        </p:nvSpPr>
        <p:spPr>
          <a:xfrm>
            <a:off x="914400" y="374904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1042416" y="3877056"/>
            <a:ext cx="292608" cy="292608"/>
          </a:xfrm>
          <a:prstGeom prst="rect">
            <a:avLst/>
          </a:prstGeom>
        </p:spPr>
      </p:pic>
      <p:sp>
        <p:nvSpPr>
          <p:cNvPr id="13" name="Text 8"/>
          <p:cNvSpPr/>
          <p:nvPr/>
        </p:nvSpPr>
        <p:spPr>
          <a:xfrm>
            <a:off x="1737360" y="3602736"/>
            <a:ext cx="9509760" cy="868680"/>
          </a:xfrm>
          <a:prstGeom prst="rect">
            <a:avLst/>
          </a:prstGeom>
          <a:noFill/>
          <a:ln/>
        </p:spPr>
        <p:txBody>
          <a:bodyPr wrap="square" lIns="0" tIns="0" rIns="0" bIns="0" rtlCol="0" anchor="ctr"/>
          <a:lstStyle/>
          <a:p>
            <a:pPr indent="0" marL="0">
              <a:lnSpc>
                <a:spcPct val="112000"/>
              </a:lnSpc>
              <a:buNone/>
            </a:pPr>
            <a:r>
              <a:rPr lang="en-US" sz="1700" b="1" dirty="0">
                <a:solidFill>
                  <a:srgbClr val="1F2733"/>
                </a:solidFill>
                <a:latin typeface="Arial" pitchFamily="34" charset="0"/>
                <a:ea typeface="Arial" pitchFamily="34" charset="-122"/>
                <a:cs typeface="Arial" pitchFamily="34" charset="-120"/>
              </a:rPr>
              <a:t>Get the AI's help writing your prompt
</a:t>
            </a:r>
            <a:pPr indent="0" marL="0">
              <a:lnSpc>
                <a:spcPct val="112000"/>
              </a:lnSpc>
              <a:buNone/>
            </a:pPr>
            <a:r>
              <a:rPr lang="en-US" sz="1300" dirty="0">
                <a:solidFill>
                  <a:srgbClr val="5E6A78"/>
                </a:solidFill>
                <a:latin typeface="Arial" pitchFamily="34" charset="0"/>
                <a:ea typeface="Arial" pitchFamily="34" charset="-122"/>
                <a:cs typeface="Arial" pitchFamily="34" charset="-120"/>
              </a:rPr>
              <a:t>You had it ask you for the missing details before it answered.</a:t>
            </a:r>
            <a:endParaRPr lang="en-US" sz="1700" dirty="0"/>
          </a:p>
        </p:txBody>
      </p:sp>
      <p:sp>
        <p:nvSpPr>
          <p:cNvPr id="14" name="Shape 9"/>
          <p:cNvSpPr/>
          <p:nvPr/>
        </p:nvSpPr>
        <p:spPr>
          <a:xfrm>
            <a:off x="640080" y="4745736"/>
            <a:ext cx="10881360" cy="1143000"/>
          </a:xfrm>
          <a:prstGeom prst="roundRect">
            <a:avLst>
              <a:gd name="adj" fmla="val 7200"/>
            </a:avLst>
          </a:prstGeom>
          <a:solidFill>
            <a:srgbClr val="F5F6F8"/>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5" name="Shape 10"/>
          <p:cNvSpPr/>
          <p:nvPr/>
        </p:nvSpPr>
        <p:spPr>
          <a:xfrm>
            <a:off x="914400" y="5047488"/>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5175504"/>
            <a:ext cx="292608" cy="292608"/>
          </a:xfrm>
          <a:prstGeom prst="rect">
            <a:avLst/>
          </a:prstGeom>
        </p:spPr>
      </p:pic>
      <p:sp>
        <p:nvSpPr>
          <p:cNvPr id="17" name="Text 11"/>
          <p:cNvSpPr/>
          <p:nvPr/>
        </p:nvSpPr>
        <p:spPr>
          <a:xfrm>
            <a:off x="1737360" y="4901184"/>
            <a:ext cx="9509760" cy="868680"/>
          </a:xfrm>
          <a:prstGeom prst="rect">
            <a:avLst/>
          </a:prstGeom>
          <a:noFill/>
          <a:ln/>
        </p:spPr>
        <p:txBody>
          <a:bodyPr wrap="square" lIns="0" tIns="0" rIns="0" bIns="0" rtlCol="0" anchor="ctr"/>
          <a:lstStyle/>
          <a:p>
            <a:pPr indent="0" marL="0">
              <a:lnSpc>
                <a:spcPct val="112000"/>
              </a:lnSpc>
              <a:buNone/>
            </a:pPr>
            <a:r>
              <a:rPr lang="en-US" sz="1700" b="1" dirty="0">
                <a:solidFill>
                  <a:srgbClr val="1F2733"/>
                </a:solidFill>
                <a:latin typeface="Arial" pitchFamily="34" charset="0"/>
                <a:ea typeface="Arial" pitchFamily="34" charset="-122"/>
                <a:cs typeface="Arial" pitchFamily="34" charset="-120"/>
              </a:rPr>
              <a:t>Improve the AI's first draft
</a:t>
            </a:r>
            <a:pPr indent="0" marL="0">
              <a:lnSpc>
                <a:spcPct val="112000"/>
              </a:lnSpc>
              <a:buNone/>
            </a:pPr>
            <a:r>
              <a:rPr lang="en-US" sz="1300" dirty="0">
                <a:solidFill>
                  <a:srgbClr val="5E6A78"/>
                </a:solidFill>
                <a:latin typeface="Arial" pitchFamily="34" charset="0"/>
                <a:ea typeface="Arial" pitchFamily="34" charset="-122"/>
                <a:cs typeface="Arial" pitchFamily="34" charset="-120"/>
              </a:rPr>
              <a:t>You had it review its own work, and took a large task in checked steps.</a:t>
            </a:r>
            <a:endParaRPr lang="en-US" sz="1700" dirty="0"/>
          </a:p>
        </p:txBody>
      </p:sp>
      <p:sp>
        <p:nvSpPr>
          <p:cNvPr id="18" name="Text 12"/>
          <p:cNvSpPr/>
          <p:nvPr/>
        </p:nvSpPr>
        <p:spPr>
          <a:xfrm>
            <a:off x="640080" y="6419088"/>
            <a:ext cx="576072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PROMPT ENGINEERING ESSENTIALS</a:t>
            </a:r>
            <a:endParaRPr lang="en-US" sz="850" dirty="0"/>
          </a:p>
        </p:txBody>
      </p:sp>
      <p:sp>
        <p:nvSpPr>
          <p:cNvPr id="19" name="Text 13"/>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not an official BJ's publication</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WHAT'S NEXT</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Choose one technique to use this week</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Pick the one that fits a task already on your list. Prompt Engineering Advanced covers reusable prompts, connectors and longer multi-step work.</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Essentials</dc:title>
  <dc:subject>PptxGenJS Presentation</dc:subject>
  <dc:creator>BJ's AI Enablement</dc:creator>
  <cp:lastModifiedBy>BJ's AI Enablement</cp:lastModifiedBy>
  <cp:revision>1</cp:revision>
  <dcterms:created xsi:type="dcterms:W3CDTF">2026-08-13T02:59:33Z</dcterms:created>
  <dcterms:modified xsi:type="dcterms:W3CDTF">2026-08-13T02:59:33Z</dcterms:modified>
</cp:coreProperties>
</file>