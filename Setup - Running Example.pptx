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once. Club 641 opens in six weeks. You walk the site each week, you keep the tracker, and you report readiness upward. Everything you see today comes out of these three files, so nobody has to learn a new situation eight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658368"/>
            <a:ext cx="10515600" cy="566928"/>
          </a:xfrm>
          <a:prstGeom prst="rect">
            <a:avLst/>
          </a:prstGeom>
          <a:noFill/>
          <a:ln/>
        </p:spPr>
        <p:txBody>
          <a:bodyPr wrap="square" lIns="0" tIns="0" rIns="0" bIns="0" rtlCol="0" anchor="ctr"/>
          <a:lstStyle/>
          <a:p>
            <a:pPr indent="0" marL="0">
              <a:buNone/>
            </a:pPr>
            <a:r>
              <a:rPr lang="en-US" sz="3200" b="1" dirty="0">
                <a:solidFill>
                  <a:srgbClr val="1F2733"/>
                </a:solidFill>
                <a:latin typeface="Arial" pitchFamily="34" charset="0"/>
                <a:ea typeface="Arial" pitchFamily="34" charset="-122"/>
                <a:cs typeface="Arial" pitchFamily="34" charset="-120"/>
              </a:rPr>
              <a:t>The example we'll use today</a:t>
            </a:r>
            <a:endParaRPr lang="en-US" sz="3200" dirty="0"/>
          </a:p>
        </p:txBody>
      </p:sp>
      <p:sp>
        <p:nvSpPr>
          <p:cNvPr id="3" name="Text 1"/>
          <p:cNvSpPr/>
          <p:nvPr/>
        </p:nvSpPr>
        <p:spPr>
          <a:xfrm>
            <a:off x="822960" y="1316736"/>
            <a:ext cx="10515600" cy="347472"/>
          </a:xfrm>
          <a:prstGeom prst="rect">
            <a:avLst/>
          </a:prstGeom>
          <a:noFill/>
          <a:ln/>
        </p:spPr>
        <p:txBody>
          <a:bodyPr wrap="square" lIns="0" tIns="0" rIns="0" bIns="0" rtlCol="0" anchor="ctr"/>
          <a:lstStyle/>
          <a:p>
            <a:pPr indent="0" marL="0">
              <a:buNone/>
            </a:pPr>
            <a:r>
              <a:rPr lang="en-US" sz="1700" dirty="0">
                <a:solidFill>
                  <a:srgbClr val="5E6A78"/>
                </a:solidFill>
                <a:latin typeface="Arial" pitchFamily="34" charset="0"/>
                <a:ea typeface="Arial" pitchFamily="34" charset="-122"/>
                <a:cs typeface="Arial" pitchFamily="34" charset="-120"/>
              </a:rPr>
              <a:t>A new club opens in six weeks. You are the one keeping it on track.</a:t>
            </a:r>
            <a:endParaRPr lang="en-US" sz="1700" dirty="0"/>
          </a:p>
        </p:txBody>
      </p:sp>
      <p:sp>
        <p:nvSpPr>
          <p:cNvPr id="4" name="Shape 2"/>
          <p:cNvSpPr/>
          <p:nvPr/>
        </p:nvSpPr>
        <p:spPr>
          <a:xfrm>
            <a:off x="822960" y="2212848"/>
            <a:ext cx="3246120" cy="2103120"/>
          </a:xfrm>
          <a:prstGeom prst="rect">
            <a:avLst/>
          </a:prstGeom>
          <a:solidFill>
            <a:srgbClr val="F5F6F8"/>
          </a:solidFill>
          <a:ln/>
        </p:spPr>
      </p:sp>
      <p:sp>
        <p:nvSpPr>
          <p:cNvPr id="5" name="Shape 3"/>
          <p:cNvSpPr/>
          <p:nvPr/>
        </p:nvSpPr>
        <p:spPr>
          <a:xfrm>
            <a:off x="822960" y="2212848"/>
            <a:ext cx="3246120" cy="45720"/>
          </a:xfrm>
          <a:prstGeom prst="rect">
            <a:avLst/>
          </a:prstGeom>
          <a:solidFill>
            <a:srgbClr val="D31242"/>
          </a:solidFill>
          <a:ln/>
        </p:spPr>
      </p:sp>
      <p:sp>
        <p:nvSpPr>
          <p:cNvPr id="6" name="Text 4"/>
          <p:cNvSpPr/>
          <p:nvPr/>
        </p:nvSpPr>
        <p:spPr>
          <a:xfrm>
            <a:off x="1133856" y="2615184"/>
            <a:ext cx="2624328" cy="31089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The site walk</a:t>
            </a:r>
            <a:endParaRPr lang="en-US" sz="1900" dirty="0"/>
          </a:p>
        </p:txBody>
      </p:sp>
      <p:sp>
        <p:nvSpPr>
          <p:cNvPr id="7" name="Text 5"/>
          <p:cNvSpPr/>
          <p:nvPr/>
        </p:nvSpPr>
        <p:spPr>
          <a:xfrm>
            <a:off x="1133856" y="3017520"/>
            <a:ext cx="2624328" cy="786384"/>
          </a:xfrm>
          <a:prstGeom prst="rect">
            <a:avLst/>
          </a:prstGeom>
          <a:noFill/>
          <a:ln/>
        </p:spPr>
        <p:txBody>
          <a:bodyPr wrap="square" lIns="0" tIns="0" rIns="0" bIns="0" rtlCol="0" anchor="t"/>
          <a:lstStyle/>
          <a:p>
            <a:pPr indent="0" marL="0">
              <a:lnSpc>
                <a:spcPct val="116000"/>
              </a:lnSpc>
              <a:buNone/>
            </a:pPr>
            <a:r>
              <a:rPr lang="en-US" sz="1500" dirty="0">
                <a:solidFill>
                  <a:srgbClr val="3A4452"/>
                </a:solidFill>
                <a:latin typeface="Arial" pitchFamily="34" charset="0"/>
                <a:ea typeface="Arial" pitchFamily="34" charset="-122"/>
                <a:cs typeface="Arial" pitchFamily="34" charset="-120"/>
              </a:rPr>
              <a:t>A photo of the board from Friday</a:t>
            </a:r>
            <a:endParaRPr lang="en-US" sz="1500" dirty="0"/>
          </a:p>
        </p:txBody>
      </p:sp>
      <p:sp>
        <p:nvSpPr>
          <p:cNvPr id="8" name="Shape 6"/>
          <p:cNvSpPr/>
          <p:nvPr/>
        </p:nvSpPr>
        <p:spPr>
          <a:xfrm>
            <a:off x="4389120" y="2212848"/>
            <a:ext cx="3246120" cy="2103120"/>
          </a:xfrm>
          <a:prstGeom prst="rect">
            <a:avLst/>
          </a:prstGeom>
          <a:solidFill>
            <a:srgbClr val="F5F6F8"/>
          </a:solidFill>
          <a:ln/>
        </p:spPr>
      </p:sp>
      <p:sp>
        <p:nvSpPr>
          <p:cNvPr id="9" name="Shape 7"/>
          <p:cNvSpPr/>
          <p:nvPr/>
        </p:nvSpPr>
        <p:spPr>
          <a:xfrm>
            <a:off x="4389120" y="2212848"/>
            <a:ext cx="3246120" cy="45720"/>
          </a:xfrm>
          <a:prstGeom prst="rect">
            <a:avLst/>
          </a:prstGeom>
          <a:solidFill>
            <a:srgbClr val="D31242"/>
          </a:solidFill>
          <a:ln/>
        </p:spPr>
      </p:sp>
      <p:sp>
        <p:nvSpPr>
          <p:cNvPr id="10" name="Text 8"/>
          <p:cNvSpPr/>
          <p:nvPr/>
        </p:nvSpPr>
        <p:spPr>
          <a:xfrm>
            <a:off x="4700016" y="2615184"/>
            <a:ext cx="2624328" cy="31089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The tracker</a:t>
            </a:r>
            <a:endParaRPr lang="en-US" sz="1900" dirty="0"/>
          </a:p>
        </p:txBody>
      </p:sp>
      <p:sp>
        <p:nvSpPr>
          <p:cNvPr id="11" name="Text 9"/>
          <p:cNvSpPr/>
          <p:nvPr/>
        </p:nvSpPr>
        <p:spPr>
          <a:xfrm>
            <a:off x="4700016" y="3017520"/>
            <a:ext cx="2624328" cy="786384"/>
          </a:xfrm>
          <a:prstGeom prst="rect">
            <a:avLst/>
          </a:prstGeom>
          <a:noFill/>
          <a:ln/>
        </p:spPr>
        <p:txBody>
          <a:bodyPr wrap="square" lIns="0" tIns="0" rIns="0" bIns="0" rtlCol="0" anchor="t"/>
          <a:lstStyle/>
          <a:p>
            <a:pPr indent="0" marL="0">
              <a:lnSpc>
                <a:spcPct val="116000"/>
              </a:lnSpc>
              <a:buNone/>
            </a:pPr>
            <a:r>
              <a:rPr lang="en-US" sz="1500" dirty="0">
                <a:solidFill>
                  <a:srgbClr val="3A4452"/>
                </a:solidFill>
                <a:latin typeface="Arial" pitchFamily="34" charset="0"/>
                <a:ea typeface="Arial" pitchFamily="34" charset="-122"/>
                <a:cs typeface="Arial" pitchFamily="34" charset="-120"/>
              </a:rPr>
              <a:t>Twelve open items, owners and dates</a:t>
            </a:r>
            <a:endParaRPr lang="en-US" sz="1500" dirty="0"/>
          </a:p>
        </p:txBody>
      </p:sp>
      <p:sp>
        <p:nvSpPr>
          <p:cNvPr id="12" name="Shape 10"/>
          <p:cNvSpPr/>
          <p:nvPr/>
        </p:nvSpPr>
        <p:spPr>
          <a:xfrm>
            <a:off x="7955280" y="2212848"/>
            <a:ext cx="3246120" cy="2103120"/>
          </a:xfrm>
          <a:prstGeom prst="rect">
            <a:avLst/>
          </a:prstGeom>
          <a:solidFill>
            <a:srgbClr val="F5F6F8"/>
          </a:solidFill>
          <a:ln/>
        </p:spPr>
      </p:sp>
      <p:sp>
        <p:nvSpPr>
          <p:cNvPr id="13" name="Shape 11"/>
          <p:cNvSpPr/>
          <p:nvPr/>
        </p:nvSpPr>
        <p:spPr>
          <a:xfrm>
            <a:off x="7955280" y="2212848"/>
            <a:ext cx="3246120" cy="45720"/>
          </a:xfrm>
          <a:prstGeom prst="rect">
            <a:avLst/>
          </a:prstGeom>
          <a:solidFill>
            <a:srgbClr val="D31242"/>
          </a:solidFill>
          <a:ln/>
        </p:spPr>
      </p:sp>
      <p:sp>
        <p:nvSpPr>
          <p:cNvPr id="14" name="Text 12"/>
          <p:cNvSpPr/>
          <p:nvPr/>
        </p:nvSpPr>
        <p:spPr>
          <a:xfrm>
            <a:off x="8266176" y="2615184"/>
            <a:ext cx="2624328" cy="310896"/>
          </a:xfrm>
          <a:prstGeom prst="rect">
            <a:avLst/>
          </a:prstGeom>
          <a:noFill/>
          <a:ln/>
        </p:spPr>
        <p:txBody>
          <a:bodyPr wrap="square" lIns="0" tIns="0" rIns="0" bIns="0" rtlCol="0" anchor="ctr"/>
          <a:lstStyle/>
          <a:p>
            <a:pPr indent="0" marL="0">
              <a:buNone/>
            </a:pPr>
            <a:r>
              <a:rPr lang="en-US" sz="1900" b="1" dirty="0">
                <a:solidFill>
                  <a:srgbClr val="1F2733"/>
                </a:solidFill>
                <a:latin typeface="Arial" pitchFamily="34" charset="0"/>
                <a:ea typeface="Arial" pitchFamily="34" charset="-122"/>
                <a:cs typeface="Arial" pitchFamily="34" charset="-120"/>
              </a:rPr>
              <a:t>Last week's update</a:t>
            </a:r>
            <a:endParaRPr lang="en-US" sz="1900" dirty="0"/>
          </a:p>
        </p:txBody>
      </p:sp>
      <p:sp>
        <p:nvSpPr>
          <p:cNvPr id="15" name="Text 13"/>
          <p:cNvSpPr/>
          <p:nvPr/>
        </p:nvSpPr>
        <p:spPr>
          <a:xfrm>
            <a:off x="8266176" y="3017520"/>
            <a:ext cx="2624328" cy="786384"/>
          </a:xfrm>
          <a:prstGeom prst="rect">
            <a:avLst/>
          </a:prstGeom>
          <a:noFill/>
          <a:ln/>
        </p:spPr>
        <p:txBody>
          <a:bodyPr wrap="square" lIns="0" tIns="0" rIns="0" bIns="0" rtlCol="0" anchor="t"/>
          <a:lstStyle/>
          <a:p>
            <a:pPr indent="0" marL="0">
              <a:lnSpc>
                <a:spcPct val="116000"/>
              </a:lnSpc>
              <a:buNone/>
            </a:pPr>
            <a:r>
              <a:rPr lang="en-US" sz="1500" dirty="0">
                <a:solidFill>
                  <a:srgbClr val="3A4452"/>
                </a:solidFill>
                <a:latin typeface="Arial" pitchFamily="34" charset="0"/>
                <a:ea typeface="Arial" pitchFamily="34" charset="-122"/>
                <a:cs typeface="Arial" pitchFamily="34" charset="-120"/>
              </a:rPr>
              <a:t>What went to leadership</a:t>
            </a:r>
            <a:endParaRPr lang="en-US" sz="1500" dirty="0"/>
          </a:p>
        </p:txBody>
      </p:sp>
      <p:sp>
        <p:nvSpPr>
          <p:cNvPr id="16" name="Text 14"/>
          <p:cNvSpPr/>
          <p:nvPr/>
        </p:nvSpPr>
        <p:spPr>
          <a:xfrm>
            <a:off x="822960" y="4882896"/>
            <a:ext cx="10515600" cy="365760"/>
          </a:xfrm>
          <a:prstGeom prst="rect">
            <a:avLst/>
          </a:prstGeom>
          <a:noFill/>
          <a:ln/>
        </p:spPr>
        <p:txBody>
          <a:bodyPr wrap="square" lIns="0" tIns="0" rIns="0" bIns="0" rtlCol="0" anchor="ctr"/>
          <a:lstStyle/>
          <a:p>
            <a:pPr indent="0" marL="0">
              <a:buNone/>
            </a:pPr>
            <a:r>
              <a:rPr lang="en-US" sz="1800" b="1" dirty="0">
                <a:solidFill>
                  <a:srgbClr val="D31242"/>
                </a:solidFill>
                <a:latin typeface="Arial" pitchFamily="34" charset="0"/>
                <a:ea typeface="Arial" pitchFamily="34" charset="-122"/>
                <a:cs typeface="Arial" pitchFamily="34" charset="-120"/>
              </a:rPr>
              <a:t>Every technique today uses these same three files.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2026-08-26T13:02:01Z</dcterms:created>
  <dcterms:modified xsi:type="dcterms:W3CDTF">2026-08-26T13:02:01Z</dcterms:modified>
</cp:coreProperties>
</file>