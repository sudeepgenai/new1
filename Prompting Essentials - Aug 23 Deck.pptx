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4454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Sixty minutes, eight techniques, every one demonstrated live.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from Course 1. Essentials covered four steps; this session covers steps 3 and 4 in detail.
Say out loud: in AI Essentials we talked about reducing the guesswork for AI. Everything today is a specific way to do that.
If anyone asks about CO-STAR: CO-STAR remains valid and is one way to write a complete request. Essentials also named six techniques briefly (role, example, approach first, boundaries, steps, format). This session demonstrates each technique live and adds five that were not covered.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parts, two techniques each, in the same one-row layout as the Building on AI Essentials slide. The four questions are the four things most prompts leave to chance. Parts 1 to 3 are what goes into the prompt; part 4 is what happens to the response. Part names are introduced here and repeated on each technique divider.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1 divider. Name the technique, name the part it belongs to, move 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Read the title, then the two boxes, then the closing line. The before and after slide is next, then the live demo.
Related framework: CO-STAR, taught in AI Essentials. CO-STAR is one way to write a complete request; this technique is the same idea reduced to the three elements that matter most. Say this only if someone asks.
Do not mention format or examples here. Format is technique 3, examples are technique 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live. The only difference between the two prompts is the green line: the reader and the purpose. Same task, same feedback.
Run one is not a bad summary. It is a summary written for nobody in particular. Run two leads with what the club manager has to decide.
Do not add a format instruction or an evidence constraint here. Format is technique 3. Evidence limits are technique 6.</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2 divider. Name the technique, name the part it belongs to, move 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test to give them: if you asked a colleague this question, would they need to see the document before answering? If yes, the AI needs it too.
Source material means an attachment, a pasted extract, or a photo. All three count.
Mention the BJ's rule once: only put information into an approved tool that you would be comfortable sharing with the colleague you are asking. Do not turn this into a data policy slide.
Do not frame this as the AI remembering or forgetting. It is about what the AI can see.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live. Run one is correct and useless: it hands back a checklist you already knew. Run two finds the two differences because it can see the numbers.
Check the arithmetic on screen with them: 24 cases at a $1.25 difference is $30.00.
In the room, paste the two lines rather than attaching a file, so the audience can see exactly what the AI was given.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3 divider. This also opens part 2. Say the part name out loud: the first two techniques were about what goes in, the next two are about what comes back.</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Format means shape and length: a table with named columns, five bullets, under 100 words, one paragraph.
The payoff is the reshaping you do not have to do afterwards.
Caveat if it comes up: asking for a table does not make the content more accurate. It makes it usable. Accuracy is techniques 2 and 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live. Same facts in both responses. The only difference is that one is ready to paste into the weekly update and the other is not.
Ask the room how long it would take to turn the left response into the right one by hand. That is the time this technique returns.
The green line is the only change. Do not add a reader or a purpose here, that was technique 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4 divider. This is the escalation from technique 3: when describing the format is not enough, show one.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mechanism is in the two verbs. On the left the AI interprets your words. On the right it infers a pattern from a worked case and applies it.
Why this reaches further than a description: some patterns exist only inside your organisation. No amount of describing will produce them, because the AI has never seen them.
Two points from Anthropic if they come up. Models attend very closely to everything in an example, so anything in it gets copied whether you intended it or not. And start with one example; add a second only if the output still misses.
Related concept: few-shot prompting. Say the term only if asked.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live. Every line changes. The left response is sensible English and useless for the system that has to receive it.
The codes exist only inside BJ's. The AI has never seen them and cannot reason its way to them. Three worked examples are enough.
One to point out: lunch during the district walkthrough could look like travel. The coffee example teaches that food at an internal meeting is 6150 even when travel is involved. That is a judgment call, not a lookup.
If someone asks why not paste the whole code list: do that when you have it, that is technique 2. Examples are for the judgment about which code applies.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5 divider. This opens part 3. Say the part name out loud: the first four techniques were about what you put in and what you want back. These two are about what the AI should do when something is missing.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AI does not stop when something is missing. It fills the gap and keeps going, and the gap is invisible until you read the draft.
Asking for questions first moves that discovery to the start, before any work is done.
The payoff to name explicitly: you answer four questions once instead of rewriting the draft three times.
Related concept: clarification prompting. Anthropic's own phrasing for it is “if you need more information from me, ask me 1-2 key questions right away.” Note that their guide treats this as a fallback rather than a headline technique, and leads instead with being clear upfront. Do not overclaim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live. The left note reads well and is unusable. Every specific in it was invented: next month, overnight, every department. None of that was in the request.
The right response is not a draft. It is four questions, and each one is something you would have had to fix later.
Answer the four questions live in front of them and let it write the note. That second step is what sells the technique.
Caveat if asked: the AI will not always ask enough questions. Read the list and add what it missed.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6 divider. Second half of part 3. Technique 5 had the AI ask before starting; this one gives it a way out when the answer is not there.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The why, from OpenAI research: models are trained and scored like students on an exam. A guess can score points; a blank never does. So the training itself teaches the model to guess confidently.
Anthropic frames the fix the same way: give explicit permission to express uncertainty rather than guessing. Their guidance is that this reduces made-up answers. Reduces, not eliminates — keep the claim honest if asked.
This pairs with technique 2: attaching the document gives the AI the facts. This technique stops it papering over what the document still leaves open.
Source for the appendix: OpenAI, Why Language Models Hallucinate, 2025. Anthropic prompt engineering best practices.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both live. The spec sheet has no warranty line — that is the gap. The left answer invents one, complete with a five year compressor term, and it is specific enough that nobody would question it.
Ask the room: would you have caught it? Then point out where that number would have ended up — in a purchase request, quoted back to a vendor.
The right response names the gap and lists what the sheet actually covers, which tells you exactly what to go and ask for.
The why, if asked: models are trained like exam takers. A guess can score points, a blank never does — OpenAI published this analysis in 2025.</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7 divider. This opens part 4. The first six techniques were about the request. These two are about what you do with what comes back.</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This technique is a conversation, not a longer prompt: you get the draft first, then you reply once.
The left box is straight from AI Essentials, slide 21: do not accept the first answer just because it sounds polished. This technique is that habit, with the AI doing the critique step.
Evidence, if asked. The method is Self-Refine (Madaan et al., NeurIPS 2023): the model gives feedback on its own output and uses it to rewrite. Around 20 percent absolute average improvement across seven tasks.
The limit, say it out loud: Huang et al. (ICLR 2024) found models struggle to self-correct reasoning without outside feedback, and performance sometimes degrades. This improves writing. It does not check facts. That stays your job.</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live as a real conversation: send the request, let the draft come back, then type the reply on the right.
The first draft is good. It is faithful to the notes, and that is exactly why it carries the jargon: your notes were the source. Planogram and end cap are words members do not use.
Point at the two parts of the second response: the AI names the fault in its own words, then rewrites. The critique is the technique.
Nothing new was added. The AI needed no information it did not already have.
The limit: this improved the writing. It did not check whether Tuesday is correct.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Technique 8 divider. Last technique. Technique 7 reviewed the finished draft; this one puts the review inside the work.</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60 seconds. Anthropic's rule for this: each prompt should do one thing well. The output of one step feeds the next.
The trade, if asked: more prompts and more time, in exchange for accuracy and a middle you can inspect. Anthropic's guide says chaining often improves accuracy and reliability on complex tasks. Often, not always — keep it honest.
Also say: a simple request does not need this. This is for work with a middle that matters.
Related concept: prompt chaining (Anthropic), splitting complex tasks into subtasks (OpenAI), the Decomposition family (The Prompt Report).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left side first. The summary is fluent and nobody can tell from it whether every issue made it in.
Then run the steps. Step 1 returns five lines. Check them against the notes on screen with the room — that check takes ten seconds, and it is the whole point: two clubs had freezer alarms, and the list shows both before anything is summarized.
Then send the second prompt. The summary you receive is built from a list you verified.
Say the trade honestly: two prompts instead of one. Worth it when the task is large or feeds a decision; not worth it for a simple request.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slide for anyone asking where the curriculum came from. The honest line: seven of eight techniques are documented by two or more independent sources; technique 5 by one.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whether this is just one company's opinion: two of the five are the vendors of the tools BJ's has approved, one is an independent third vendor, and the rest are academic.</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rigor slide. The point to make: techniques were not only selected on evidence, they were also rejected on evidence. Note the Wharton chain-of-thought finding is quoted in the paper's own words rather than paraphrased into percentages.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31242"/>
        </a:solidFill>
        <a:effectLst/>
      </p:bgPr>
    </p:bg>
    <p:spTree>
      <p:nvGrpSpPr>
        <p:cNvPr id="1" name=""/>
        <p:cNvGrpSpPr/>
        <p:nvPr/>
      </p:nvGrpSpPr>
      <p:grpSpPr>
        <a:xfrm>
          <a:off x="0" y="0"/>
          <a:ext cx="0" cy="0"/>
          <a:chOff x="0" y="0"/>
          <a:chExt cx="0" cy="0"/>
        </a:xfrm>
      </p:grpSpPr>
      <p:sp>
        <p:nvSpPr>
          <p:cNvPr id="2" name="Text 0"/>
          <p:cNvSpPr/>
          <p:nvPr/>
        </p:nvSpPr>
        <p:spPr>
          <a:xfrm>
            <a:off x="822960" y="2011680"/>
            <a:ext cx="10515600" cy="36576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BJ’S WHOLESALE CLUB  ·  AI CONNECT TRAINING SERIES</a:t>
            </a:r>
            <a:endParaRPr lang="en-US" sz="1400" dirty="0"/>
          </a:p>
        </p:txBody>
      </p:sp>
      <p:sp>
        <p:nvSpPr>
          <p:cNvPr id="3" name="Text 1"/>
          <p:cNvSpPr/>
          <p:nvPr/>
        </p:nvSpPr>
        <p:spPr>
          <a:xfrm>
            <a:off x="822960" y="2514600"/>
            <a:ext cx="10515600" cy="1005840"/>
          </a:xfrm>
          <a:prstGeom prst="rect">
            <a:avLst/>
          </a:prstGeom>
          <a:noFill/>
          <a:ln/>
        </p:spPr>
        <p:txBody>
          <a:bodyPr wrap="square" lIns="0" tIns="0" rIns="0" bIns="0" rtlCol="0" anchor="ctr"/>
          <a:lstStyle/>
          <a:p>
            <a:pPr marL="0" indent="0">
              <a:buNone/>
            </a:pPr>
            <a:r>
              <a:rPr lang="en-US" sz="4400" b="1" dirty="0">
                <a:solidFill>
                  <a:srgbClr val="FFFFFF"/>
                </a:solidFill>
                <a:latin typeface="Arial" pitchFamily="34" charset="0"/>
                <a:ea typeface="Arial" pitchFamily="34" charset="-122"/>
                <a:cs typeface="Arial" pitchFamily="34" charset="-120"/>
              </a:rPr>
              <a:t>Prompt Engineering Essentials</a:t>
            </a:r>
            <a:endParaRPr lang="en-US" sz="4400" dirty="0"/>
          </a:p>
        </p:txBody>
      </p:sp>
      <p:sp>
        <p:nvSpPr>
          <p:cNvPr id="4" name="Text 2"/>
          <p:cNvSpPr/>
          <p:nvPr/>
        </p:nvSpPr>
        <p:spPr>
          <a:xfrm>
            <a:off x="822960" y="3611880"/>
            <a:ext cx="10515600" cy="411480"/>
          </a:xfrm>
          <a:prstGeom prst="rect">
            <a:avLst/>
          </a:prstGeom>
          <a:noFill/>
          <a:ln/>
        </p:spPr>
        <p:txBody>
          <a:bodyPr wrap="square" lIns="0" tIns="0" rIns="0" bIns="0" rtlCol="0" anchor="ctr"/>
          <a:lstStyle/>
          <a:p>
            <a:pPr marL="0" indent="0">
              <a:buNone/>
            </a:pPr>
            <a:r>
              <a:rPr lang="en-US" sz="1800" dirty="0">
                <a:solidFill>
                  <a:srgbClr val="FFFFFF"/>
                </a:solidFill>
                <a:latin typeface="Arial" pitchFamily="34" charset="0"/>
                <a:ea typeface="Arial" pitchFamily="34" charset="-122"/>
                <a:cs typeface="Arial" pitchFamily="34" charset="-120"/>
              </a:rPr>
              <a:t>Eight techniques for consistently better results from AI.</a:t>
            </a:r>
            <a:endParaRPr lang="en-US" sz="1800" dirty="0"/>
          </a:p>
        </p:txBody>
      </p:sp>
      <p:sp>
        <p:nvSpPr>
          <p:cNvPr id="5" name="Text 3"/>
          <p:cNvSpPr/>
          <p:nvPr/>
        </p:nvSpPr>
        <p:spPr>
          <a:xfrm>
            <a:off x="822960" y="4160520"/>
            <a:ext cx="10515600" cy="365760"/>
          </a:xfrm>
          <a:prstGeom prst="rect">
            <a:avLst/>
          </a:prstGeom>
          <a:noFill/>
          <a:ln/>
        </p:spPr>
        <p:txBody>
          <a:bodyPr wrap="square" lIns="0" tIns="0" rIns="0" bIns="0" rtlCol="0" anchor="ctr"/>
          <a:lstStyle/>
          <a:p>
            <a:pPr marL="0" indent="0">
              <a:buNone/>
            </a:pPr>
            <a:r>
              <a:rPr lang="en-US" sz="1400" dirty="0">
                <a:solidFill>
                  <a:srgbClr val="FFFFFF"/>
                </a:solidFill>
                <a:latin typeface="Arial" pitchFamily="34" charset="0"/>
                <a:ea typeface="Arial" pitchFamily="34" charset="-122"/>
                <a:cs typeface="Arial" pitchFamily="34" charset="-120"/>
              </a:rPr>
              <a:t>Please have Claude or ChatGPT open: every technique in this session is demonstrated live.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66928"/>
            <a:ext cx="10515600" cy="566928"/>
          </a:xfrm>
          <a:prstGeom prst="rect">
            <a:avLst/>
          </a:prstGeom>
          <a:noFill/>
          <a:ln/>
        </p:spPr>
        <p:txBody>
          <a:bodyPr wrap="square" lIns="0" tIns="0" rIns="0" bIns="0" rtlCol="0" anchor="ctr"/>
          <a:lstStyle/>
          <a:p>
            <a:pPr marL="0" indent="0">
              <a:buNone/>
            </a:pPr>
            <a:r>
              <a:rPr lang="en-US" sz="3000" b="1" dirty="0">
                <a:solidFill>
                  <a:srgbClr val="1F2733"/>
                </a:solidFill>
                <a:latin typeface="Arial" pitchFamily="34" charset="0"/>
                <a:ea typeface="Arial" pitchFamily="34" charset="-122"/>
                <a:cs typeface="Arial" pitchFamily="34" charset="-120"/>
              </a:rPr>
              <a:t>Building on AI Essentials</a:t>
            </a:r>
            <a:endParaRPr lang="en-US" sz="3000" dirty="0"/>
          </a:p>
        </p:txBody>
      </p:sp>
      <p:sp>
        <p:nvSpPr>
          <p:cNvPr id="3" name="Text 1"/>
          <p:cNvSpPr/>
          <p:nvPr/>
        </p:nvSpPr>
        <p:spPr>
          <a:xfrm>
            <a:off x="822960" y="1188720"/>
            <a:ext cx="10515600" cy="292608"/>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AI Essentials covered four steps for working with AI. This session focuses on steps 3 and 4.</a:t>
            </a:r>
            <a:endParaRPr lang="en-US" sz="1300" dirty="0"/>
          </a:p>
        </p:txBody>
      </p:sp>
      <p:sp>
        <p:nvSpPr>
          <p:cNvPr id="4" name="Shape 2"/>
          <p:cNvSpPr/>
          <p:nvPr/>
        </p:nvSpPr>
        <p:spPr>
          <a:xfrm>
            <a:off x="822960" y="2057400"/>
            <a:ext cx="2487168" cy="3017520"/>
          </a:xfrm>
          <a:prstGeom prst="roundRect">
            <a:avLst>
              <a:gd name="adj" fmla="val 1838"/>
            </a:avLst>
          </a:prstGeom>
          <a:solidFill>
            <a:srgbClr val="F5F6F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1060704" y="2304288"/>
            <a:ext cx="420624" cy="420624"/>
          </a:xfrm>
          <a:prstGeom prst="rect">
            <a:avLst/>
          </a:prstGeom>
        </p:spPr>
      </p:pic>
      <p:sp>
        <p:nvSpPr>
          <p:cNvPr id="6" name="Text 3"/>
          <p:cNvSpPr/>
          <p:nvPr/>
        </p:nvSpPr>
        <p:spPr>
          <a:xfrm>
            <a:off x="1060704" y="2852928"/>
            <a:ext cx="2011680" cy="219456"/>
          </a:xfrm>
          <a:prstGeom prst="rect">
            <a:avLst/>
          </a:prstGeom>
          <a:noFill/>
          <a:ln/>
        </p:spPr>
        <p:txBody>
          <a:bodyPr wrap="square" lIns="0" tIns="0" rIns="0" bIns="0" rtlCol="0" anchor="ctr"/>
          <a:lstStyle/>
          <a:p>
            <a:pPr marL="0" indent="0">
              <a:buNone/>
            </a:pPr>
            <a:r>
              <a:rPr lang="en-US" sz="1200" b="1" dirty="0">
                <a:solidFill>
                  <a:srgbClr val="8A93A0"/>
                </a:solidFill>
                <a:latin typeface="Arial" pitchFamily="34" charset="0"/>
                <a:ea typeface="Arial" pitchFamily="34" charset="-122"/>
                <a:cs typeface="Arial" pitchFamily="34" charset="-120"/>
              </a:rPr>
              <a:t>STEP 1</a:t>
            </a:r>
            <a:endParaRPr lang="en-US" sz="1200" dirty="0"/>
          </a:p>
        </p:txBody>
      </p:sp>
      <p:sp>
        <p:nvSpPr>
          <p:cNvPr id="7" name="Text 4"/>
          <p:cNvSpPr/>
          <p:nvPr/>
        </p:nvSpPr>
        <p:spPr>
          <a:xfrm>
            <a:off x="1060704" y="3108960"/>
            <a:ext cx="2048256" cy="731520"/>
          </a:xfrm>
          <a:prstGeom prst="rect">
            <a:avLst/>
          </a:prstGeom>
          <a:noFill/>
          <a:ln/>
        </p:spPr>
        <p:txBody>
          <a:bodyPr wrap="square" lIns="0" tIns="0" rIns="0" bIns="0" rtlCol="0" anchor="t"/>
          <a:lstStyle/>
          <a:p>
            <a:pPr marL="0" indent="0">
              <a:buNone/>
            </a:pPr>
            <a:r>
              <a:rPr lang="en-US" sz="1600" b="1" dirty="0">
                <a:solidFill>
                  <a:srgbClr val="8A93A0"/>
                </a:solidFill>
                <a:latin typeface="Arial" pitchFamily="34" charset="0"/>
                <a:ea typeface="Arial" pitchFamily="34" charset="-122"/>
                <a:cs typeface="Arial" pitchFamily="34" charset="-120"/>
              </a:rPr>
              <a:t>Access and setup the approved tools</a:t>
            </a:r>
            <a:endParaRPr lang="en-US" sz="1600" dirty="0"/>
          </a:p>
        </p:txBody>
      </p:sp>
      <p:sp>
        <p:nvSpPr>
          <p:cNvPr id="8" name="Text 5"/>
          <p:cNvSpPr/>
          <p:nvPr/>
        </p:nvSpPr>
        <p:spPr>
          <a:xfrm>
            <a:off x="1060704" y="3977640"/>
            <a:ext cx="2048256" cy="731520"/>
          </a:xfrm>
          <a:prstGeom prst="rect">
            <a:avLst/>
          </a:prstGeom>
          <a:noFill/>
          <a:ln/>
        </p:spPr>
        <p:txBody>
          <a:bodyPr wrap="square" lIns="0" tIns="0" rIns="0" bIns="0" rtlCol="0" anchor="t"/>
          <a:lstStyle/>
          <a:p>
            <a:pPr marL="0" indent="0">
              <a:buNone/>
            </a:pPr>
            <a:r>
              <a:rPr lang="en-US" sz="1200" dirty="0">
                <a:solidFill>
                  <a:srgbClr val="8A93A0"/>
                </a:solidFill>
                <a:latin typeface="Arial" pitchFamily="34" charset="0"/>
                <a:ea typeface="Arial" pitchFamily="34" charset="-122"/>
                <a:cs typeface="Arial" pitchFamily="34" charset="-120"/>
              </a:rPr>
              <a:t>Signing in, connectors, and settings.</a:t>
            </a:r>
            <a:endParaRPr lang="en-US" sz="1200" dirty="0"/>
          </a:p>
        </p:txBody>
      </p:sp>
      <p:sp>
        <p:nvSpPr>
          <p:cNvPr id="9" name="Shape 6"/>
          <p:cNvSpPr/>
          <p:nvPr/>
        </p:nvSpPr>
        <p:spPr>
          <a:xfrm>
            <a:off x="3502152" y="2057400"/>
            <a:ext cx="2487168" cy="3017520"/>
          </a:xfrm>
          <a:prstGeom prst="roundRect">
            <a:avLst>
              <a:gd name="adj" fmla="val 1838"/>
            </a:avLst>
          </a:prstGeom>
          <a:solidFill>
            <a:srgbClr val="F5F6F8"/>
          </a:solidFill>
          <a:ln/>
        </p:spPr>
        <p:txBody>
          <a:bodyPr/>
          <a:lstStyle/>
          <a:p>
            <a:endParaRPr lang="en-US"/>
          </a:p>
        </p:txBody>
      </p:sp>
      <p:pic>
        <p:nvPicPr>
          <p:cNvPr id="10" name="Image 1" descr="preencoded.png"/>
          <p:cNvPicPr>
            <a:picLocks noChangeAspect="1"/>
          </p:cNvPicPr>
          <p:nvPr/>
        </p:nvPicPr>
        <p:blipFill>
          <a:blip r:embed="rId4"/>
          <a:stretch>
            <a:fillRect/>
          </a:stretch>
        </p:blipFill>
        <p:spPr>
          <a:xfrm>
            <a:off x="3739896" y="2304288"/>
            <a:ext cx="420624" cy="420624"/>
          </a:xfrm>
          <a:prstGeom prst="rect">
            <a:avLst/>
          </a:prstGeom>
        </p:spPr>
      </p:pic>
      <p:sp>
        <p:nvSpPr>
          <p:cNvPr id="11" name="Text 7"/>
          <p:cNvSpPr/>
          <p:nvPr/>
        </p:nvSpPr>
        <p:spPr>
          <a:xfrm>
            <a:off x="3739896" y="2852928"/>
            <a:ext cx="2011680" cy="219456"/>
          </a:xfrm>
          <a:prstGeom prst="rect">
            <a:avLst/>
          </a:prstGeom>
          <a:noFill/>
          <a:ln/>
        </p:spPr>
        <p:txBody>
          <a:bodyPr wrap="square" lIns="0" tIns="0" rIns="0" bIns="0" rtlCol="0" anchor="ctr"/>
          <a:lstStyle/>
          <a:p>
            <a:pPr marL="0" indent="0">
              <a:buNone/>
            </a:pPr>
            <a:r>
              <a:rPr lang="en-US" sz="1200" b="1" dirty="0">
                <a:solidFill>
                  <a:srgbClr val="8A93A0"/>
                </a:solidFill>
                <a:latin typeface="Arial" pitchFamily="34" charset="0"/>
                <a:ea typeface="Arial" pitchFamily="34" charset="-122"/>
                <a:cs typeface="Arial" pitchFamily="34" charset="-120"/>
              </a:rPr>
              <a:t>STEP 2</a:t>
            </a:r>
            <a:endParaRPr lang="en-US" sz="1200" dirty="0"/>
          </a:p>
        </p:txBody>
      </p:sp>
      <p:sp>
        <p:nvSpPr>
          <p:cNvPr id="12" name="Text 8"/>
          <p:cNvSpPr/>
          <p:nvPr/>
        </p:nvSpPr>
        <p:spPr>
          <a:xfrm>
            <a:off x="3739896" y="3108960"/>
            <a:ext cx="2048256" cy="731520"/>
          </a:xfrm>
          <a:prstGeom prst="rect">
            <a:avLst/>
          </a:prstGeom>
          <a:noFill/>
          <a:ln/>
        </p:spPr>
        <p:txBody>
          <a:bodyPr wrap="square" lIns="0" tIns="0" rIns="0" bIns="0" rtlCol="0" anchor="t"/>
          <a:lstStyle/>
          <a:p>
            <a:pPr marL="0" indent="0">
              <a:buNone/>
            </a:pPr>
            <a:r>
              <a:rPr lang="en-US" sz="1600" b="1" dirty="0">
                <a:solidFill>
                  <a:srgbClr val="8A93A0"/>
                </a:solidFill>
                <a:latin typeface="Arial" pitchFamily="34" charset="0"/>
                <a:ea typeface="Arial" pitchFamily="34" charset="-122"/>
                <a:cs typeface="Arial" pitchFamily="34" charset="-120"/>
              </a:rPr>
              <a:t>Select the problem</a:t>
            </a:r>
            <a:endParaRPr lang="en-US" sz="1600" dirty="0"/>
          </a:p>
        </p:txBody>
      </p:sp>
      <p:sp>
        <p:nvSpPr>
          <p:cNvPr id="13" name="Text 9"/>
          <p:cNvSpPr/>
          <p:nvPr/>
        </p:nvSpPr>
        <p:spPr>
          <a:xfrm>
            <a:off x="3739896" y="3977640"/>
            <a:ext cx="2048256" cy="731520"/>
          </a:xfrm>
          <a:prstGeom prst="rect">
            <a:avLst/>
          </a:prstGeom>
          <a:noFill/>
          <a:ln/>
        </p:spPr>
        <p:txBody>
          <a:bodyPr wrap="square" lIns="0" tIns="0" rIns="0" bIns="0" rtlCol="0" anchor="t"/>
          <a:lstStyle/>
          <a:p>
            <a:pPr marL="0" indent="0">
              <a:buNone/>
            </a:pPr>
            <a:r>
              <a:rPr lang="en-US" sz="1200" dirty="0">
                <a:solidFill>
                  <a:srgbClr val="8A93A0"/>
                </a:solidFill>
                <a:latin typeface="Arial" pitchFamily="34" charset="0"/>
                <a:ea typeface="Arial" pitchFamily="34" charset="-122"/>
                <a:cs typeface="Arial" pitchFamily="34" charset="-120"/>
              </a:rPr>
              <a:t>Judging whether a task is a good fit for AI.</a:t>
            </a:r>
            <a:endParaRPr lang="en-US" sz="1200" dirty="0"/>
          </a:p>
        </p:txBody>
      </p:sp>
      <p:sp>
        <p:nvSpPr>
          <p:cNvPr id="14" name="Shape 10"/>
          <p:cNvSpPr/>
          <p:nvPr/>
        </p:nvSpPr>
        <p:spPr>
          <a:xfrm>
            <a:off x="6181344" y="2057400"/>
            <a:ext cx="2487168" cy="3017520"/>
          </a:xfrm>
          <a:prstGeom prst="roundRect">
            <a:avLst>
              <a:gd name="adj" fmla="val 1838"/>
            </a:avLst>
          </a:prstGeom>
          <a:solidFill>
            <a:srgbClr val="FCE4EA"/>
          </a:solidFill>
          <a:ln/>
        </p:spPr>
        <p:txBody>
          <a:bodyPr/>
          <a:lstStyle/>
          <a:p>
            <a:endParaRPr lang="en-US"/>
          </a:p>
        </p:txBody>
      </p:sp>
      <p:pic>
        <p:nvPicPr>
          <p:cNvPr id="15" name="Image 2" descr="preencoded.png"/>
          <p:cNvPicPr>
            <a:picLocks noChangeAspect="1"/>
          </p:cNvPicPr>
          <p:nvPr/>
        </p:nvPicPr>
        <p:blipFill>
          <a:blip r:embed="rId5"/>
          <a:stretch>
            <a:fillRect/>
          </a:stretch>
        </p:blipFill>
        <p:spPr>
          <a:xfrm>
            <a:off x="6419088" y="2304288"/>
            <a:ext cx="420624" cy="420624"/>
          </a:xfrm>
          <a:prstGeom prst="rect">
            <a:avLst/>
          </a:prstGeom>
        </p:spPr>
      </p:pic>
      <p:sp>
        <p:nvSpPr>
          <p:cNvPr id="16" name="Text 11"/>
          <p:cNvSpPr/>
          <p:nvPr/>
        </p:nvSpPr>
        <p:spPr>
          <a:xfrm>
            <a:off x="6419088" y="2852928"/>
            <a:ext cx="2011680" cy="219456"/>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STEP 3</a:t>
            </a:r>
            <a:endParaRPr lang="en-US" sz="1200" dirty="0"/>
          </a:p>
        </p:txBody>
      </p:sp>
      <p:sp>
        <p:nvSpPr>
          <p:cNvPr id="17" name="Text 12"/>
          <p:cNvSpPr/>
          <p:nvPr/>
        </p:nvSpPr>
        <p:spPr>
          <a:xfrm>
            <a:off x="6419088" y="3108960"/>
            <a:ext cx="2048256" cy="731520"/>
          </a:xfrm>
          <a:prstGeom prst="rect">
            <a:avLst/>
          </a:prstGeom>
          <a:noFill/>
          <a:ln/>
        </p:spPr>
        <p:txBody>
          <a:bodyPr wrap="square" lIns="0" tIns="0" rIns="0" bIns="0" rtlCol="0" anchor="t"/>
          <a:lstStyle/>
          <a:p>
            <a:pPr marL="0" indent="0">
              <a:buNone/>
            </a:pPr>
            <a:r>
              <a:rPr lang="en-US" sz="1600" b="1" dirty="0">
                <a:solidFill>
                  <a:srgbClr val="1F2733"/>
                </a:solidFill>
                <a:latin typeface="Arial" pitchFamily="34" charset="0"/>
                <a:ea typeface="Arial" pitchFamily="34" charset="-122"/>
                <a:cs typeface="Arial" pitchFamily="34" charset="-120"/>
              </a:rPr>
              <a:t>Guide the AI</a:t>
            </a:r>
            <a:endParaRPr lang="en-US" sz="1600" dirty="0"/>
          </a:p>
        </p:txBody>
      </p:sp>
      <p:sp>
        <p:nvSpPr>
          <p:cNvPr id="18" name="Text 13"/>
          <p:cNvSpPr/>
          <p:nvPr/>
        </p:nvSpPr>
        <p:spPr>
          <a:xfrm>
            <a:off x="6419088" y="3977640"/>
            <a:ext cx="2048256" cy="731520"/>
          </a:xfrm>
          <a:prstGeom prst="rect">
            <a:avLst/>
          </a:prstGeom>
          <a:noFill/>
          <a:ln/>
        </p:spPr>
        <p:txBody>
          <a:bodyPr wrap="square" lIns="0" tIns="0" rIns="0" bIns="0" rtlCol="0" anchor="t"/>
          <a:lstStyle/>
          <a:p>
            <a:pPr marL="0" indent="0">
              <a:buNone/>
            </a:pPr>
            <a:r>
              <a:rPr lang="en-US" sz="1200" dirty="0">
                <a:solidFill>
                  <a:srgbClr val="3A4452"/>
                </a:solidFill>
                <a:latin typeface="Arial" pitchFamily="34" charset="0"/>
                <a:ea typeface="Arial" pitchFamily="34" charset="-122"/>
                <a:cs typeface="Arial" pitchFamily="34" charset="-120"/>
              </a:rPr>
              <a:t>Giving the AI direction, materials, and rules.</a:t>
            </a:r>
            <a:endParaRPr lang="en-US" sz="1200" dirty="0"/>
          </a:p>
        </p:txBody>
      </p:sp>
      <p:sp>
        <p:nvSpPr>
          <p:cNvPr id="19" name="Shape 14"/>
          <p:cNvSpPr/>
          <p:nvPr/>
        </p:nvSpPr>
        <p:spPr>
          <a:xfrm>
            <a:off x="8860536" y="2057400"/>
            <a:ext cx="2487168" cy="3017520"/>
          </a:xfrm>
          <a:prstGeom prst="roundRect">
            <a:avLst>
              <a:gd name="adj" fmla="val 1838"/>
            </a:avLst>
          </a:prstGeom>
          <a:solidFill>
            <a:srgbClr val="FCE4EA"/>
          </a:solidFill>
          <a:ln/>
        </p:spPr>
        <p:txBody>
          <a:bodyPr/>
          <a:lstStyle/>
          <a:p>
            <a:endParaRPr lang="en-US"/>
          </a:p>
        </p:txBody>
      </p:sp>
      <p:pic>
        <p:nvPicPr>
          <p:cNvPr id="20" name="Image 3" descr="preencoded.png"/>
          <p:cNvPicPr>
            <a:picLocks noChangeAspect="1"/>
          </p:cNvPicPr>
          <p:nvPr/>
        </p:nvPicPr>
        <p:blipFill>
          <a:blip r:embed="rId6"/>
          <a:stretch>
            <a:fillRect/>
          </a:stretch>
        </p:blipFill>
        <p:spPr>
          <a:xfrm>
            <a:off x="9098280" y="2304288"/>
            <a:ext cx="420624" cy="420624"/>
          </a:xfrm>
          <a:prstGeom prst="rect">
            <a:avLst/>
          </a:prstGeom>
        </p:spPr>
      </p:pic>
      <p:sp>
        <p:nvSpPr>
          <p:cNvPr id="21" name="Text 15"/>
          <p:cNvSpPr/>
          <p:nvPr/>
        </p:nvSpPr>
        <p:spPr>
          <a:xfrm>
            <a:off x="9098280" y="2852928"/>
            <a:ext cx="2011680" cy="219456"/>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STEP 4</a:t>
            </a:r>
            <a:endParaRPr lang="en-US" sz="1200" dirty="0"/>
          </a:p>
        </p:txBody>
      </p:sp>
      <p:sp>
        <p:nvSpPr>
          <p:cNvPr id="22" name="Text 16"/>
          <p:cNvSpPr/>
          <p:nvPr/>
        </p:nvSpPr>
        <p:spPr>
          <a:xfrm>
            <a:off x="9098280" y="3108960"/>
            <a:ext cx="2048256" cy="731520"/>
          </a:xfrm>
          <a:prstGeom prst="rect">
            <a:avLst/>
          </a:prstGeom>
          <a:noFill/>
          <a:ln/>
        </p:spPr>
        <p:txBody>
          <a:bodyPr wrap="square" lIns="0" tIns="0" rIns="0" bIns="0" rtlCol="0" anchor="t"/>
          <a:lstStyle/>
          <a:p>
            <a:pPr marL="0" indent="0">
              <a:buNone/>
            </a:pPr>
            <a:r>
              <a:rPr lang="en-US" sz="1600" b="1" dirty="0">
                <a:solidFill>
                  <a:srgbClr val="1F2733"/>
                </a:solidFill>
                <a:latin typeface="Arial" pitchFamily="34" charset="0"/>
                <a:ea typeface="Arial" pitchFamily="34" charset="-122"/>
                <a:cs typeface="Arial" pitchFamily="34" charset="-120"/>
              </a:rPr>
              <a:t>Own the results</a:t>
            </a:r>
            <a:endParaRPr lang="en-US" sz="1600" dirty="0"/>
          </a:p>
        </p:txBody>
      </p:sp>
      <p:sp>
        <p:nvSpPr>
          <p:cNvPr id="23" name="Text 17"/>
          <p:cNvSpPr/>
          <p:nvPr/>
        </p:nvSpPr>
        <p:spPr>
          <a:xfrm>
            <a:off x="9098280" y="3977640"/>
            <a:ext cx="2048256" cy="731520"/>
          </a:xfrm>
          <a:prstGeom prst="rect">
            <a:avLst/>
          </a:prstGeom>
          <a:noFill/>
          <a:ln/>
        </p:spPr>
        <p:txBody>
          <a:bodyPr wrap="square" lIns="0" tIns="0" rIns="0" bIns="0" rtlCol="0" anchor="t"/>
          <a:lstStyle/>
          <a:p>
            <a:pPr marL="0" indent="0">
              <a:buNone/>
            </a:pPr>
            <a:r>
              <a:rPr lang="en-US" sz="1200" dirty="0">
                <a:solidFill>
                  <a:srgbClr val="3A4452"/>
                </a:solidFill>
                <a:latin typeface="Arial" pitchFamily="34" charset="0"/>
                <a:ea typeface="Arial" pitchFamily="34" charset="-122"/>
                <a:cs typeface="Arial" pitchFamily="34" charset="-120"/>
              </a:rPr>
              <a:t>Reviewing, improving, and validating the output.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822960" y="530352"/>
            <a:ext cx="10515600" cy="548640"/>
          </a:xfrm>
          <a:prstGeom prst="rect">
            <a:avLst/>
          </a:prstGeom>
          <a:noFill/>
          <a:ln/>
        </p:spPr>
        <p:txBody>
          <a:bodyPr wrap="square" lIns="0" tIns="0" rIns="0" bIns="0" rtlCol="0" anchor="ctr"/>
          <a:lstStyle/>
          <a:p>
            <a:pPr marL="0" indent="0">
              <a:buNone/>
            </a:pPr>
            <a:r>
              <a:rPr lang="en-US" sz="3000" b="1" dirty="0">
                <a:solidFill>
                  <a:srgbClr val="1F2733"/>
                </a:solidFill>
                <a:latin typeface="Arial" pitchFamily="34" charset="0"/>
                <a:ea typeface="Arial" pitchFamily="34" charset="-122"/>
                <a:cs typeface="Arial" pitchFamily="34" charset="-120"/>
              </a:rPr>
              <a:t>Learning objectives</a:t>
            </a:r>
            <a:endParaRPr lang="en-US" sz="3000" dirty="0"/>
          </a:p>
        </p:txBody>
      </p:sp>
      <p:sp>
        <p:nvSpPr>
          <p:cNvPr id="3" name="Text 1"/>
          <p:cNvSpPr/>
          <p:nvPr/>
        </p:nvSpPr>
        <p:spPr>
          <a:xfrm>
            <a:off x="822960" y="1133856"/>
            <a:ext cx="10515600" cy="292608"/>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By the end of this session, you will be able to guide the AI and own the results by controlling four things that most prompts leave to chance.</a:t>
            </a:r>
            <a:endParaRPr lang="en-US" sz="1300" dirty="0"/>
          </a:p>
        </p:txBody>
      </p:sp>
      <p:sp>
        <p:nvSpPr>
          <p:cNvPr id="4" name="Shape 2"/>
          <p:cNvSpPr/>
          <p:nvPr/>
        </p:nvSpPr>
        <p:spPr>
          <a:xfrm>
            <a:off x="822960" y="1783080"/>
            <a:ext cx="2487168" cy="4206240"/>
          </a:xfrm>
          <a:prstGeom prst="roundRect">
            <a:avLst>
              <a:gd name="adj" fmla="val 1838"/>
            </a:avLst>
          </a:prstGeom>
          <a:solidFill>
            <a:srgbClr val="F5F6F8"/>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2706624" y="1984248"/>
            <a:ext cx="384048" cy="384048"/>
          </a:xfrm>
          <a:prstGeom prst="rect">
            <a:avLst/>
          </a:prstGeom>
        </p:spPr>
      </p:pic>
      <p:sp>
        <p:nvSpPr>
          <p:cNvPr id="6" name="Text 3"/>
          <p:cNvSpPr/>
          <p:nvPr/>
        </p:nvSpPr>
        <p:spPr>
          <a:xfrm>
            <a:off x="1060704" y="2029968"/>
            <a:ext cx="1554480" cy="219456"/>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1</a:t>
            </a:r>
            <a:endParaRPr lang="en-US" sz="1200" dirty="0"/>
          </a:p>
        </p:txBody>
      </p:sp>
      <p:sp>
        <p:nvSpPr>
          <p:cNvPr id="7" name="Text 4"/>
          <p:cNvSpPr/>
          <p:nvPr/>
        </p:nvSpPr>
        <p:spPr>
          <a:xfrm>
            <a:off x="1060704" y="2322576"/>
            <a:ext cx="1591056" cy="603504"/>
          </a:xfrm>
          <a:prstGeom prst="rect">
            <a:avLst/>
          </a:prstGeom>
          <a:noFill/>
          <a:ln/>
        </p:spPr>
        <p:txBody>
          <a:bodyPr wrap="square" lIns="0" tIns="0" rIns="0" bIns="0" rtlCol="0" anchor="t"/>
          <a:lstStyle/>
          <a:p>
            <a:pPr marL="0" indent="0">
              <a:lnSpc>
                <a:spcPct val="108000"/>
              </a:lnSpc>
              <a:buNone/>
            </a:pPr>
            <a:r>
              <a:rPr lang="en-US" sz="1200" b="1" dirty="0">
                <a:solidFill>
                  <a:srgbClr val="5E6A78"/>
                </a:solidFill>
                <a:latin typeface="Arial" pitchFamily="34" charset="0"/>
                <a:ea typeface="Arial" pitchFamily="34" charset="-122"/>
                <a:cs typeface="Arial" pitchFamily="34" charset="-120"/>
              </a:rPr>
              <a:t>PROVIDING CONTEXT AND MATERIALS</a:t>
            </a:r>
            <a:endParaRPr lang="en-US" sz="1200" dirty="0"/>
          </a:p>
        </p:txBody>
      </p:sp>
      <p:sp>
        <p:nvSpPr>
          <p:cNvPr id="8" name="Text 5"/>
          <p:cNvSpPr/>
          <p:nvPr/>
        </p:nvSpPr>
        <p:spPr>
          <a:xfrm>
            <a:off x="1060704" y="3017520"/>
            <a:ext cx="2048256" cy="1005840"/>
          </a:xfrm>
          <a:prstGeom prst="rect">
            <a:avLst/>
          </a:prstGeom>
          <a:noFill/>
          <a:ln/>
        </p:spPr>
        <p:txBody>
          <a:bodyPr wrap="square" lIns="0" tIns="0" rIns="0" bIns="0" rtlCol="0" anchor="t"/>
          <a:lstStyle/>
          <a:p>
            <a:pPr marL="0" indent="0">
              <a:lnSpc>
                <a:spcPct val="108000"/>
              </a:lnSpc>
              <a:buNone/>
            </a:pPr>
            <a:r>
              <a:rPr lang="en-US" sz="1400" b="1" dirty="0">
                <a:solidFill>
                  <a:srgbClr val="1F2733"/>
                </a:solidFill>
                <a:latin typeface="Arial" pitchFamily="34" charset="0"/>
                <a:ea typeface="Arial" pitchFamily="34" charset="-122"/>
                <a:cs typeface="Arial" pitchFamily="34" charset="-120"/>
              </a:rPr>
              <a:t>What is the goal, and what does the AI need to see?</a:t>
            </a:r>
            <a:endParaRPr lang="en-US" sz="1400" dirty="0"/>
          </a:p>
        </p:txBody>
      </p:sp>
      <p:sp>
        <p:nvSpPr>
          <p:cNvPr id="9" name="Text 6"/>
          <p:cNvSpPr/>
          <p:nvPr/>
        </p:nvSpPr>
        <p:spPr>
          <a:xfrm>
            <a:off x="1060704" y="4114800"/>
            <a:ext cx="2048256" cy="1691640"/>
          </a:xfrm>
          <a:prstGeom prst="rect">
            <a:avLst/>
          </a:prstGeom>
          <a:noFill/>
          <a:ln/>
        </p:spPr>
        <p:txBody>
          <a:bodyPr wrap="square" lIns="0" tIns="0" rIns="0" bIns="0" rtlCol="0" anchor="t"/>
          <a:lstStyle/>
          <a:p>
            <a:pPr marL="0" indent="0">
              <a:lnSpc>
                <a:spcPct val="115000"/>
              </a:lnSpc>
              <a:buNone/>
            </a:pPr>
            <a:r>
              <a:rPr lang="en-US" sz="1300" dirty="0">
                <a:solidFill>
                  <a:srgbClr val="3A4452"/>
                </a:solidFill>
                <a:latin typeface="Arial" pitchFamily="34" charset="0"/>
                <a:ea typeface="Arial" pitchFamily="34" charset="-122"/>
                <a:cs typeface="Arial" pitchFamily="34" charset="-120"/>
              </a:rPr>
              <a:t>1.  Define the task, the reader, and the purpose</a:t>
            </a:r>
            <a:endParaRPr lang="en-US" sz="1300" dirty="0"/>
          </a:p>
          <a:p>
            <a:pPr marL="0" indent="0">
              <a:lnSpc>
                <a:spcPct val="115000"/>
              </a:lnSpc>
              <a:buNone/>
            </a:pPr>
            <a:r>
              <a:rPr lang="en-US" sz="1300" dirty="0">
                <a:solidFill>
                  <a:srgbClr val="3A4452"/>
                </a:solidFill>
                <a:latin typeface="Arial" pitchFamily="34" charset="0"/>
                <a:ea typeface="Arial" pitchFamily="34" charset="-122"/>
                <a:cs typeface="Arial" pitchFamily="34" charset="-120"/>
              </a:rPr>
              <a:t>2.  Provide the source material</a:t>
            </a:r>
            <a:endParaRPr lang="en-US" sz="1300" dirty="0"/>
          </a:p>
        </p:txBody>
      </p:sp>
      <p:sp>
        <p:nvSpPr>
          <p:cNvPr id="10" name="Shape 7"/>
          <p:cNvSpPr/>
          <p:nvPr/>
        </p:nvSpPr>
        <p:spPr>
          <a:xfrm>
            <a:off x="3502152" y="1783080"/>
            <a:ext cx="2487168" cy="4206240"/>
          </a:xfrm>
          <a:prstGeom prst="roundRect">
            <a:avLst>
              <a:gd name="adj" fmla="val 1838"/>
            </a:avLst>
          </a:prstGeom>
          <a:solidFill>
            <a:srgbClr val="F5F6F8"/>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385816" y="1984248"/>
            <a:ext cx="384048" cy="384048"/>
          </a:xfrm>
          <a:prstGeom prst="rect">
            <a:avLst/>
          </a:prstGeom>
        </p:spPr>
      </p:pic>
      <p:sp>
        <p:nvSpPr>
          <p:cNvPr id="12" name="Text 8"/>
          <p:cNvSpPr/>
          <p:nvPr/>
        </p:nvSpPr>
        <p:spPr>
          <a:xfrm>
            <a:off x="3739896" y="2029968"/>
            <a:ext cx="1554480" cy="219456"/>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2</a:t>
            </a:r>
            <a:endParaRPr lang="en-US" sz="1200" dirty="0"/>
          </a:p>
        </p:txBody>
      </p:sp>
      <p:sp>
        <p:nvSpPr>
          <p:cNvPr id="13" name="Text 9"/>
          <p:cNvSpPr/>
          <p:nvPr/>
        </p:nvSpPr>
        <p:spPr>
          <a:xfrm>
            <a:off x="3739896" y="2322576"/>
            <a:ext cx="1591056" cy="603504"/>
          </a:xfrm>
          <a:prstGeom prst="rect">
            <a:avLst/>
          </a:prstGeom>
          <a:noFill/>
          <a:ln/>
        </p:spPr>
        <p:txBody>
          <a:bodyPr wrap="square" lIns="0" tIns="0" rIns="0" bIns="0" rtlCol="0" anchor="t"/>
          <a:lstStyle/>
          <a:p>
            <a:pPr marL="0" indent="0">
              <a:lnSpc>
                <a:spcPct val="108000"/>
              </a:lnSpc>
              <a:buNone/>
            </a:pPr>
            <a:r>
              <a:rPr lang="en-US" sz="1200" b="1" dirty="0">
                <a:solidFill>
                  <a:srgbClr val="5E6A78"/>
                </a:solidFill>
                <a:latin typeface="Arial" pitchFamily="34" charset="0"/>
                <a:ea typeface="Arial" pitchFamily="34" charset="-122"/>
                <a:cs typeface="Arial" pitchFamily="34" charset="-120"/>
              </a:rPr>
              <a:t>SPECIFYING THE RESPONSE</a:t>
            </a:r>
            <a:endParaRPr lang="en-US" sz="1200" dirty="0"/>
          </a:p>
        </p:txBody>
      </p:sp>
      <p:sp>
        <p:nvSpPr>
          <p:cNvPr id="14" name="Text 10"/>
          <p:cNvSpPr/>
          <p:nvPr/>
        </p:nvSpPr>
        <p:spPr>
          <a:xfrm>
            <a:off x="3739896" y="3017520"/>
            <a:ext cx="2048256" cy="1005840"/>
          </a:xfrm>
          <a:prstGeom prst="rect">
            <a:avLst/>
          </a:prstGeom>
          <a:noFill/>
          <a:ln/>
        </p:spPr>
        <p:txBody>
          <a:bodyPr wrap="square" lIns="0" tIns="0" rIns="0" bIns="0" rtlCol="0" anchor="t"/>
          <a:lstStyle/>
          <a:p>
            <a:pPr marL="0" indent="0">
              <a:lnSpc>
                <a:spcPct val="108000"/>
              </a:lnSpc>
              <a:buNone/>
            </a:pPr>
            <a:r>
              <a:rPr lang="en-US" sz="1400" b="1" dirty="0">
                <a:solidFill>
                  <a:srgbClr val="1F2733"/>
                </a:solidFill>
                <a:latin typeface="Arial" pitchFamily="34" charset="0"/>
                <a:ea typeface="Arial" pitchFamily="34" charset="-122"/>
                <a:cs typeface="Arial" pitchFamily="34" charset="-120"/>
              </a:rPr>
              <a:t>What should the result look like?</a:t>
            </a:r>
            <a:endParaRPr lang="en-US" sz="1400" dirty="0"/>
          </a:p>
        </p:txBody>
      </p:sp>
      <p:sp>
        <p:nvSpPr>
          <p:cNvPr id="15" name="Text 11"/>
          <p:cNvSpPr/>
          <p:nvPr/>
        </p:nvSpPr>
        <p:spPr>
          <a:xfrm>
            <a:off x="3739896" y="4114800"/>
            <a:ext cx="2048256" cy="1691640"/>
          </a:xfrm>
          <a:prstGeom prst="rect">
            <a:avLst/>
          </a:prstGeom>
          <a:noFill/>
          <a:ln/>
        </p:spPr>
        <p:txBody>
          <a:bodyPr wrap="square" lIns="0" tIns="0" rIns="0" bIns="0" rtlCol="0" anchor="t"/>
          <a:lstStyle/>
          <a:p>
            <a:pPr marL="0" indent="0">
              <a:lnSpc>
                <a:spcPct val="115000"/>
              </a:lnSpc>
              <a:buNone/>
            </a:pPr>
            <a:r>
              <a:rPr lang="en-US" sz="1300" dirty="0">
                <a:solidFill>
                  <a:srgbClr val="3A4452"/>
                </a:solidFill>
                <a:latin typeface="Arial" pitchFamily="34" charset="0"/>
                <a:ea typeface="Arial" pitchFamily="34" charset="-122"/>
                <a:cs typeface="Arial" pitchFamily="34" charset="-120"/>
              </a:rPr>
              <a:t>3.  Specify the response format</a:t>
            </a:r>
            <a:endParaRPr lang="en-US" sz="1300" dirty="0"/>
          </a:p>
          <a:p>
            <a:pPr marL="0" indent="0">
              <a:lnSpc>
                <a:spcPct val="115000"/>
              </a:lnSpc>
              <a:buNone/>
            </a:pPr>
            <a:r>
              <a:rPr lang="en-US" sz="1300" dirty="0">
                <a:solidFill>
                  <a:srgbClr val="3A4452"/>
                </a:solidFill>
                <a:latin typeface="Arial" pitchFamily="34" charset="0"/>
                <a:ea typeface="Arial" pitchFamily="34" charset="-122"/>
                <a:cs typeface="Arial" pitchFamily="34" charset="-120"/>
              </a:rPr>
              <a:t>4.  Show a finished example</a:t>
            </a:r>
            <a:endParaRPr lang="en-US" sz="1300" dirty="0"/>
          </a:p>
        </p:txBody>
      </p:sp>
      <p:sp>
        <p:nvSpPr>
          <p:cNvPr id="16" name="Shape 12"/>
          <p:cNvSpPr/>
          <p:nvPr/>
        </p:nvSpPr>
        <p:spPr>
          <a:xfrm>
            <a:off x="6181344" y="1783080"/>
            <a:ext cx="2487168" cy="4206240"/>
          </a:xfrm>
          <a:prstGeom prst="roundRect">
            <a:avLst>
              <a:gd name="adj" fmla="val 1838"/>
            </a:avLst>
          </a:prstGeom>
          <a:solidFill>
            <a:srgbClr val="F5F6F8"/>
          </a:solidFill>
          <a:ln/>
        </p:spPr>
        <p:txBody>
          <a:bodyPr/>
          <a:lstStyle/>
          <a:p>
            <a:endParaRPr lang="en-US"/>
          </a:p>
        </p:txBody>
      </p:sp>
      <p:pic>
        <p:nvPicPr>
          <p:cNvPr id="17" name="Image 2" descr="preencoded.png"/>
          <p:cNvPicPr>
            <a:picLocks noChangeAspect="1"/>
          </p:cNvPicPr>
          <p:nvPr/>
        </p:nvPicPr>
        <p:blipFill>
          <a:blip r:embed="rId5"/>
          <a:stretch>
            <a:fillRect/>
          </a:stretch>
        </p:blipFill>
        <p:spPr>
          <a:xfrm>
            <a:off x="8065008" y="1984248"/>
            <a:ext cx="384048" cy="384048"/>
          </a:xfrm>
          <a:prstGeom prst="rect">
            <a:avLst/>
          </a:prstGeom>
        </p:spPr>
      </p:pic>
      <p:sp>
        <p:nvSpPr>
          <p:cNvPr id="18" name="Text 13"/>
          <p:cNvSpPr/>
          <p:nvPr/>
        </p:nvSpPr>
        <p:spPr>
          <a:xfrm>
            <a:off x="6419088" y="2029968"/>
            <a:ext cx="1554480" cy="219456"/>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3</a:t>
            </a:r>
            <a:endParaRPr lang="en-US" sz="1200" dirty="0"/>
          </a:p>
        </p:txBody>
      </p:sp>
      <p:sp>
        <p:nvSpPr>
          <p:cNvPr id="19" name="Text 14"/>
          <p:cNvSpPr/>
          <p:nvPr/>
        </p:nvSpPr>
        <p:spPr>
          <a:xfrm>
            <a:off x="6419088" y="2322576"/>
            <a:ext cx="1591056" cy="603504"/>
          </a:xfrm>
          <a:prstGeom prst="rect">
            <a:avLst/>
          </a:prstGeom>
          <a:noFill/>
          <a:ln/>
        </p:spPr>
        <p:txBody>
          <a:bodyPr wrap="square" lIns="0" tIns="0" rIns="0" bIns="0" rtlCol="0" anchor="t"/>
          <a:lstStyle/>
          <a:p>
            <a:pPr marL="0" indent="0">
              <a:lnSpc>
                <a:spcPct val="108000"/>
              </a:lnSpc>
              <a:buNone/>
            </a:pPr>
            <a:r>
              <a:rPr lang="en-US" sz="1200" b="1" dirty="0">
                <a:solidFill>
                  <a:srgbClr val="5E6A78"/>
                </a:solidFill>
                <a:latin typeface="Arial" pitchFamily="34" charset="0"/>
                <a:ea typeface="Arial" pitchFamily="34" charset="-122"/>
                <a:cs typeface="Arial" pitchFamily="34" charset="-120"/>
              </a:rPr>
              <a:t>SETTING RULES FOR THE AI</a:t>
            </a:r>
            <a:endParaRPr lang="en-US" sz="1200" dirty="0"/>
          </a:p>
        </p:txBody>
      </p:sp>
      <p:sp>
        <p:nvSpPr>
          <p:cNvPr id="20" name="Text 15"/>
          <p:cNvSpPr/>
          <p:nvPr/>
        </p:nvSpPr>
        <p:spPr>
          <a:xfrm>
            <a:off x="6419088" y="3017520"/>
            <a:ext cx="2048256" cy="1005840"/>
          </a:xfrm>
          <a:prstGeom prst="rect">
            <a:avLst/>
          </a:prstGeom>
          <a:noFill/>
          <a:ln/>
        </p:spPr>
        <p:txBody>
          <a:bodyPr wrap="square" lIns="0" tIns="0" rIns="0" bIns="0" rtlCol="0" anchor="t"/>
          <a:lstStyle/>
          <a:p>
            <a:pPr marL="0" indent="0">
              <a:lnSpc>
                <a:spcPct val="108000"/>
              </a:lnSpc>
              <a:buNone/>
            </a:pPr>
            <a:r>
              <a:rPr lang="en-US" sz="1400" b="1" dirty="0">
                <a:solidFill>
                  <a:srgbClr val="1F2733"/>
                </a:solidFill>
                <a:latin typeface="Arial" pitchFamily="34" charset="0"/>
                <a:ea typeface="Arial" pitchFamily="34" charset="-122"/>
                <a:cs typeface="Arial" pitchFamily="34" charset="-120"/>
              </a:rPr>
              <a:t>What should the AI do when something is missing?</a:t>
            </a:r>
            <a:endParaRPr lang="en-US" sz="1400" dirty="0"/>
          </a:p>
        </p:txBody>
      </p:sp>
      <p:sp>
        <p:nvSpPr>
          <p:cNvPr id="21" name="Text 16"/>
          <p:cNvSpPr/>
          <p:nvPr/>
        </p:nvSpPr>
        <p:spPr>
          <a:xfrm>
            <a:off x="6419088" y="4114800"/>
            <a:ext cx="2048256" cy="1691640"/>
          </a:xfrm>
          <a:prstGeom prst="rect">
            <a:avLst/>
          </a:prstGeom>
          <a:noFill/>
          <a:ln/>
        </p:spPr>
        <p:txBody>
          <a:bodyPr wrap="square" lIns="0" tIns="0" rIns="0" bIns="0" rtlCol="0" anchor="t"/>
          <a:lstStyle/>
          <a:p>
            <a:pPr marL="0" indent="0">
              <a:lnSpc>
                <a:spcPct val="115000"/>
              </a:lnSpc>
              <a:buNone/>
            </a:pPr>
            <a:r>
              <a:rPr lang="en-US" sz="1300" dirty="0">
                <a:solidFill>
                  <a:srgbClr val="3A4452"/>
                </a:solidFill>
                <a:latin typeface="Arial" pitchFamily="34" charset="0"/>
                <a:ea typeface="Arial" pitchFamily="34" charset="-122"/>
                <a:cs typeface="Arial" pitchFamily="34" charset="-120"/>
              </a:rPr>
              <a:t>5.  Have the AI ask questions first</a:t>
            </a:r>
            <a:endParaRPr lang="en-US" sz="1300" dirty="0"/>
          </a:p>
          <a:p>
            <a:pPr marL="0" indent="0">
              <a:lnSpc>
                <a:spcPct val="115000"/>
              </a:lnSpc>
              <a:buNone/>
            </a:pPr>
            <a:r>
              <a:rPr lang="en-US" sz="1300" dirty="0">
                <a:solidFill>
                  <a:srgbClr val="3A4452"/>
                </a:solidFill>
                <a:latin typeface="Arial" pitchFamily="34" charset="0"/>
                <a:ea typeface="Arial" pitchFamily="34" charset="-122"/>
                <a:cs typeface="Arial" pitchFamily="34" charset="-120"/>
              </a:rPr>
              <a:t>6.  Allow the AI to say “I don’t know”</a:t>
            </a:r>
            <a:endParaRPr lang="en-US" sz="1300" dirty="0"/>
          </a:p>
        </p:txBody>
      </p:sp>
      <p:sp>
        <p:nvSpPr>
          <p:cNvPr id="22" name="Shape 17"/>
          <p:cNvSpPr/>
          <p:nvPr/>
        </p:nvSpPr>
        <p:spPr>
          <a:xfrm>
            <a:off x="8860536" y="1783080"/>
            <a:ext cx="2487168" cy="4206240"/>
          </a:xfrm>
          <a:prstGeom prst="roundRect">
            <a:avLst>
              <a:gd name="adj" fmla="val 1838"/>
            </a:avLst>
          </a:prstGeom>
          <a:solidFill>
            <a:srgbClr val="F5F6F8"/>
          </a:solidFill>
          <a:ln/>
        </p:spPr>
        <p:txBody>
          <a:bodyPr/>
          <a:lstStyle/>
          <a:p>
            <a:endParaRPr lang="en-US"/>
          </a:p>
        </p:txBody>
      </p:sp>
      <p:pic>
        <p:nvPicPr>
          <p:cNvPr id="23" name="Image 3" descr="preencoded.png"/>
          <p:cNvPicPr>
            <a:picLocks noChangeAspect="1"/>
          </p:cNvPicPr>
          <p:nvPr/>
        </p:nvPicPr>
        <p:blipFill>
          <a:blip r:embed="rId6"/>
          <a:stretch>
            <a:fillRect/>
          </a:stretch>
        </p:blipFill>
        <p:spPr>
          <a:xfrm>
            <a:off x="10744200" y="1984248"/>
            <a:ext cx="384048" cy="384048"/>
          </a:xfrm>
          <a:prstGeom prst="rect">
            <a:avLst/>
          </a:prstGeom>
        </p:spPr>
      </p:pic>
      <p:sp>
        <p:nvSpPr>
          <p:cNvPr id="24" name="Text 18"/>
          <p:cNvSpPr/>
          <p:nvPr/>
        </p:nvSpPr>
        <p:spPr>
          <a:xfrm>
            <a:off x="9098280" y="2029968"/>
            <a:ext cx="1554480" cy="219456"/>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4</a:t>
            </a:r>
            <a:endParaRPr lang="en-US" sz="1200" dirty="0"/>
          </a:p>
        </p:txBody>
      </p:sp>
      <p:sp>
        <p:nvSpPr>
          <p:cNvPr id="25" name="Text 19"/>
          <p:cNvSpPr/>
          <p:nvPr/>
        </p:nvSpPr>
        <p:spPr>
          <a:xfrm>
            <a:off x="9098280" y="2322576"/>
            <a:ext cx="1591056" cy="603504"/>
          </a:xfrm>
          <a:prstGeom prst="rect">
            <a:avLst/>
          </a:prstGeom>
          <a:noFill/>
          <a:ln/>
        </p:spPr>
        <p:txBody>
          <a:bodyPr wrap="square" lIns="0" tIns="0" rIns="0" bIns="0" rtlCol="0" anchor="t"/>
          <a:lstStyle/>
          <a:p>
            <a:pPr marL="0" indent="0">
              <a:lnSpc>
                <a:spcPct val="108000"/>
              </a:lnSpc>
              <a:buNone/>
            </a:pPr>
            <a:r>
              <a:rPr lang="en-US" sz="1200" b="1" dirty="0">
                <a:solidFill>
                  <a:srgbClr val="5E6A78"/>
                </a:solidFill>
                <a:latin typeface="Arial" pitchFamily="34" charset="0"/>
                <a:ea typeface="Arial" pitchFamily="34" charset="-122"/>
                <a:cs typeface="Arial" pitchFamily="34" charset="-120"/>
              </a:rPr>
              <a:t>REVIEWING AND REFINING THE WORK</a:t>
            </a:r>
            <a:endParaRPr lang="en-US" sz="1200" dirty="0"/>
          </a:p>
        </p:txBody>
      </p:sp>
      <p:sp>
        <p:nvSpPr>
          <p:cNvPr id="26" name="Text 20"/>
          <p:cNvSpPr/>
          <p:nvPr/>
        </p:nvSpPr>
        <p:spPr>
          <a:xfrm>
            <a:off x="9098280" y="3017520"/>
            <a:ext cx="2048256" cy="1005840"/>
          </a:xfrm>
          <a:prstGeom prst="rect">
            <a:avLst/>
          </a:prstGeom>
          <a:noFill/>
          <a:ln/>
        </p:spPr>
        <p:txBody>
          <a:bodyPr wrap="square" lIns="0" tIns="0" rIns="0" bIns="0" rtlCol="0" anchor="t"/>
          <a:lstStyle/>
          <a:p>
            <a:pPr marL="0" indent="0">
              <a:lnSpc>
                <a:spcPct val="108000"/>
              </a:lnSpc>
              <a:buNone/>
            </a:pPr>
            <a:r>
              <a:rPr lang="en-US" sz="1400" b="1" dirty="0">
                <a:solidFill>
                  <a:srgbClr val="1F2733"/>
                </a:solidFill>
                <a:latin typeface="Arial" pitchFamily="34" charset="0"/>
                <a:ea typeface="Arial" pitchFamily="34" charset="-122"/>
                <a:cs typeface="Arial" pitchFamily="34" charset="-120"/>
              </a:rPr>
              <a:t>How do we make the result better?</a:t>
            </a:r>
            <a:endParaRPr lang="en-US" sz="1400" dirty="0"/>
          </a:p>
        </p:txBody>
      </p:sp>
      <p:sp>
        <p:nvSpPr>
          <p:cNvPr id="27" name="Text 21"/>
          <p:cNvSpPr/>
          <p:nvPr/>
        </p:nvSpPr>
        <p:spPr>
          <a:xfrm>
            <a:off x="9098280" y="4114800"/>
            <a:ext cx="2048256" cy="1691640"/>
          </a:xfrm>
          <a:prstGeom prst="rect">
            <a:avLst/>
          </a:prstGeom>
          <a:noFill/>
          <a:ln/>
        </p:spPr>
        <p:txBody>
          <a:bodyPr wrap="square" lIns="0" tIns="0" rIns="0" bIns="0" rtlCol="0" anchor="t"/>
          <a:lstStyle/>
          <a:p>
            <a:pPr marL="0" indent="0">
              <a:lnSpc>
                <a:spcPct val="115000"/>
              </a:lnSpc>
              <a:buNone/>
            </a:pPr>
            <a:r>
              <a:rPr lang="en-US" sz="1300" dirty="0">
                <a:solidFill>
                  <a:srgbClr val="3A4452"/>
                </a:solidFill>
                <a:latin typeface="Arial" pitchFamily="34" charset="0"/>
                <a:ea typeface="Arial" pitchFamily="34" charset="-122"/>
                <a:cs typeface="Arial" pitchFamily="34" charset="-120"/>
              </a:rPr>
              <a:t>7.  Ask the AI to critique and improve the draft</a:t>
            </a:r>
            <a:endParaRPr lang="en-US" sz="1300" dirty="0"/>
          </a:p>
          <a:p>
            <a:pPr marL="0" indent="0">
              <a:lnSpc>
                <a:spcPct val="115000"/>
              </a:lnSpc>
              <a:buNone/>
            </a:pPr>
            <a:r>
              <a:rPr lang="en-US" sz="1300" dirty="0">
                <a:solidFill>
                  <a:srgbClr val="3A4452"/>
                </a:solidFill>
                <a:latin typeface="Arial" pitchFamily="34" charset="0"/>
                <a:ea typeface="Arial" pitchFamily="34" charset="-122"/>
                <a:cs typeface="Arial" pitchFamily="34" charset="-120"/>
              </a:rPr>
              <a:t>8.  Break the task into steps you can check</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615184"/>
            <a:ext cx="731520" cy="731520"/>
          </a:xfrm>
          <a:prstGeom prst="ellipse">
            <a:avLst/>
          </a:prstGeom>
          <a:solidFill>
            <a:srgbClr val="D31242"/>
          </a:solidFill>
          <a:ln/>
        </p:spPr>
        <p:txBody>
          <a:bodyPr/>
          <a:lstStyle/>
          <a:p>
            <a:endParaRPr lang="en-US"/>
          </a:p>
        </p:txBody>
      </p:sp>
      <p:sp>
        <p:nvSpPr>
          <p:cNvPr id="3" name="Text 1"/>
          <p:cNvSpPr/>
          <p:nvPr/>
        </p:nvSpPr>
        <p:spPr>
          <a:xfrm>
            <a:off x="822960" y="2615184"/>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1</a:t>
            </a:r>
            <a:endParaRPr lang="en-US" sz="2400" dirty="0"/>
          </a:p>
        </p:txBody>
      </p:sp>
      <p:sp>
        <p:nvSpPr>
          <p:cNvPr id="4" name="Text 2"/>
          <p:cNvSpPr/>
          <p:nvPr/>
        </p:nvSpPr>
        <p:spPr>
          <a:xfrm>
            <a:off x="1883664" y="2212848"/>
            <a:ext cx="9326880" cy="256032"/>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1  ·  PROVIDING CONTEXT AND MATERIALS</a:t>
            </a:r>
            <a:endParaRPr lang="en-US" sz="1200" dirty="0"/>
          </a:p>
        </p:txBody>
      </p:sp>
      <p:sp>
        <p:nvSpPr>
          <p:cNvPr id="5" name="Text 3"/>
          <p:cNvSpPr/>
          <p:nvPr/>
        </p:nvSpPr>
        <p:spPr>
          <a:xfrm>
            <a:off x="1883664" y="2542032"/>
            <a:ext cx="9326880" cy="877824"/>
          </a:xfrm>
          <a:prstGeom prst="rect">
            <a:avLst/>
          </a:prstGeom>
          <a:noFill/>
          <a:ln/>
        </p:spPr>
        <p:txBody>
          <a:bodyPr wrap="square" lIns="0" tIns="0" rIns="0" bIns="0" rtlCol="0" anchor="t"/>
          <a:lstStyle/>
          <a:p>
            <a:pPr marL="0" indent="0">
              <a:lnSpc>
                <a:spcPct val="104000"/>
              </a:lnSpc>
              <a:buNone/>
            </a:pPr>
            <a:r>
              <a:rPr lang="en-US" sz="3200" b="1" dirty="0">
                <a:solidFill>
                  <a:srgbClr val="1F2733"/>
                </a:solidFill>
                <a:latin typeface="Arial" pitchFamily="34" charset="0"/>
                <a:ea typeface="Arial" pitchFamily="34" charset="-122"/>
                <a:cs typeface="Arial" pitchFamily="34" charset="-120"/>
              </a:rPr>
              <a:t>Define the task, the reader, and the purpose</a:t>
            </a:r>
            <a:endParaRPr lang="en-US" sz="3200" dirty="0"/>
          </a:p>
        </p:txBody>
      </p:sp>
      <p:sp>
        <p:nvSpPr>
          <p:cNvPr id="6" name="Text 4"/>
          <p:cNvSpPr/>
          <p:nvPr/>
        </p:nvSpPr>
        <p:spPr>
          <a:xfrm>
            <a:off x="1883664" y="3529584"/>
            <a:ext cx="932688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Known as:  </a:t>
            </a:r>
            <a:r>
              <a:rPr lang="en-US" sz="1300" b="1" dirty="0">
                <a:solidFill>
                  <a:srgbClr val="1F2733"/>
                </a:solidFill>
                <a:latin typeface="Arial" pitchFamily="34" charset="0"/>
                <a:ea typeface="Arial" pitchFamily="34" charset="-122"/>
                <a:cs typeface="Arial" pitchFamily="34" charset="-120"/>
              </a:rPr>
              <a:t>CO-STAR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State what you need, who will read it, and what the response has to achieve</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Shape 2"/>
          <p:cNvSpPr/>
          <p:nvPr/>
        </p:nvSpPr>
        <p:spPr>
          <a:xfrm>
            <a:off x="640080" y="2377440"/>
            <a:ext cx="5074920" cy="2103120"/>
          </a:xfrm>
          <a:prstGeom prst="roundRect">
            <a:avLst>
              <a:gd name="adj" fmla="val 1739"/>
            </a:avLst>
          </a:prstGeom>
          <a:solidFill>
            <a:srgbClr val="F5F6F8"/>
          </a:solidFill>
          <a:ln/>
        </p:spPr>
        <p:txBody>
          <a:bodyPr/>
          <a:lstStyle/>
          <a:p>
            <a:endParaRPr lang="en-US"/>
          </a:p>
        </p:txBody>
      </p:sp>
      <p:sp>
        <p:nvSpPr>
          <p:cNvPr id="6" name="Text 3"/>
          <p:cNvSpPr/>
          <p:nvPr/>
        </p:nvSpPr>
        <p:spPr>
          <a:xfrm>
            <a:off x="914400" y="2615184"/>
            <a:ext cx="4526280" cy="274320"/>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TASK ONLY</a:t>
            </a:r>
            <a:endParaRPr lang="en-US" sz="1200" dirty="0"/>
          </a:p>
        </p:txBody>
      </p:sp>
      <p:sp>
        <p:nvSpPr>
          <p:cNvPr id="7" name="Text 4"/>
          <p:cNvSpPr/>
          <p:nvPr/>
        </p:nvSpPr>
        <p:spPr>
          <a:xfrm>
            <a:off x="914400" y="2980944"/>
            <a:ext cx="4526280" cy="1280160"/>
          </a:xfrm>
          <a:prstGeom prst="rect">
            <a:avLst/>
          </a:prstGeom>
          <a:noFill/>
          <a:ln/>
        </p:spPr>
        <p:txBody>
          <a:bodyPr wrap="square" lIns="0" tIns="0" rIns="0" bIns="0" rtlCol="0" anchor="t"/>
          <a:lstStyle/>
          <a:p>
            <a:pPr marL="0" indent="0">
              <a:lnSpc>
                <a:spcPct val="112000"/>
              </a:lnSpc>
              <a:buNone/>
            </a:pPr>
            <a:r>
              <a:rPr lang="en-US" sz="1400" dirty="0">
                <a:solidFill>
                  <a:srgbClr val="3A4452"/>
                </a:solidFill>
                <a:latin typeface="Arial" pitchFamily="34" charset="0"/>
                <a:ea typeface="Arial" pitchFamily="34" charset="-122"/>
                <a:cs typeface="Arial" pitchFamily="34" charset="-120"/>
              </a:rPr>
              <a:t>The AI substitutes its own assumptions and answers a general version of your question.</a:t>
            </a:r>
            <a:endParaRPr lang="en-US" sz="1400" dirty="0"/>
          </a:p>
        </p:txBody>
      </p:sp>
      <p:sp>
        <p:nvSpPr>
          <p:cNvPr id="8" name="Text 5"/>
          <p:cNvSpPr/>
          <p:nvPr/>
        </p:nvSpPr>
        <p:spPr>
          <a:xfrm>
            <a:off x="5760720" y="3218688"/>
            <a:ext cx="548640" cy="420624"/>
          </a:xfrm>
          <a:prstGeom prst="rect">
            <a:avLst/>
          </a:prstGeom>
          <a:noFill/>
          <a:ln/>
        </p:spPr>
        <p:txBody>
          <a:bodyPr wrap="square" lIns="0" tIns="0" rIns="0" bIns="0" rtlCol="0" anchor="ctr"/>
          <a:lstStyle/>
          <a:p>
            <a:pPr marL="0" indent="0" algn="ctr">
              <a:buNone/>
            </a:pPr>
            <a:r>
              <a:rPr lang="en-US" sz="2000" b="1" dirty="0">
                <a:solidFill>
                  <a:srgbClr val="D31242"/>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6355080" y="2377440"/>
            <a:ext cx="5166360" cy="2103120"/>
          </a:xfrm>
          <a:prstGeom prst="roundRect">
            <a:avLst>
              <a:gd name="adj" fmla="val 1739"/>
            </a:avLst>
          </a:prstGeom>
          <a:solidFill>
            <a:srgbClr val="DCFCE7"/>
          </a:solidFill>
          <a:ln/>
        </p:spPr>
        <p:txBody>
          <a:bodyPr/>
          <a:lstStyle/>
          <a:p>
            <a:endParaRPr lang="en-US"/>
          </a:p>
        </p:txBody>
      </p:sp>
      <p:sp>
        <p:nvSpPr>
          <p:cNvPr id="10" name="Text 7"/>
          <p:cNvSpPr/>
          <p:nvPr/>
        </p:nvSpPr>
        <p:spPr>
          <a:xfrm>
            <a:off x="6629400" y="2615184"/>
            <a:ext cx="4617720" cy="274320"/>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TASK, READER, AND PURPOSE STATED</a:t>
            </a:r>
            <a:endParaRPr lang="en-US" sz="1200" dirty="0"/>
          </a:p>
        </p:txBody>
      </p:sp>
      <p:sp>
        <p:nvSpPr>
          <p:cNvPr id="11" name="Text 8"/>
          <p:cNvSpPr/>
          <p:nvPr/>
        </p:nvSpPr>
        <p:spPr>
          <a:xfrm>
            <a:off x="6629400" y="2980944"/>
            <a:ext cx="4617720" cy="1280160"/>
          </a:xfrm>
          <a:prstGeom prst="rect">
            <a:avLst/>
          </a:prstGeom>
          <a:noFill/>
          <a:ln/>
        </p:spPr>
        <p:txBody>
          <a:bodyPr wrap="square" lIns="0" tIns="0" rIns="0" bIns="0" rtlCol="0" anchor="t"/>
          <a:lstStyle/>
          <a:p>
            <a:pPr marL="0" indent="0">
              <a:lnSpc>
                <a:spcPct val="112000"/>
              </a:lnSpc>
              <a:buNone/>
            </a:pPr>
            <a:r>
              <a:rPr lang="en-US" sz="1400" dirty="0">
                <a:solidFill>
                  <a:srgbClr val="1F2733"/>
                </a:solidFill>
                <a:latin typeface="Arial" pitchFamily="34" charset="0"/>
                <a:ea typeface="Arial" pitchFamily="34" charset="-122"/>
                <a:cs typeface="Arial" pitchFamily="34" charset="-120"/>
              </a:rPr>
              <a:t>The response is written for your task, your reader, and the outcome you need.</a:t>
            </a:r>
            <a:endParaRPr lang="en-US" sz="1400" dirty="0"/>
          </a:p>
        </p:txBody>
      </p:sp>
      <p:sp>
        <p:nvSpPr>
          <p:cNvPr id="12" name="Text 9"/>
          <p:cNvSpPr/>
          <p:nvPr/>
        </p:nvSpPr>
        <p:spPr>
          <a:xfrm>
            <a:off x="640080" y="4846320"/>
            <a:ext cx="10881360" cy="384048"/>
          </a:xfrm>
          <a:prstGeom prst="rect">
            <a:avLst/>
          </a:prstGeom>
          <a:noFill/>
          <a:ln/>
        </p:spPr>
        <p:txBody>
          <a:bodyPr wrap="square" lIns="0" tIns="0" rIns="0" bIns="0" rtlCol="0" anchor="ctr"/>
          <a:lstStyle/>
          <a:p>
            <a:pPr marL="0" indent="0">
              <a:buNone/>
            </a:pPr>
            <a:r>
              <a:rPr lang="en-US" sz="1500" b="1" dirty="0">
                <a:solidFill>
                  <a:srgbClr val="D31242"/>
                </a:solidFill>
                <a:latin typeface="Arial" pitchFamily="34" charset="0"/>
                <a:ea typeface="Arial" pitchFamily="34" charset="-122"/>
                <a:cs typeface="Arial" pitchFamily="34" charset="-120"/>
              </a:rPr>
              <a:t>Apply this as the starting point for nearly every task.</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With no direction, the AI answers for a general audience</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Text 2"/>
          <p:cNvSpPr/>
          <p:nvPr/>
        </p:nvSpPr>
        <p:spPr>
          <a:xfrm>
            <a:off x="640080" y="1810512"/>
            <a:ext cx="5074920" cy="256032"/>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TASK ONLY</a:t>
            </a:r>
            <a:endParaRPr lang="en-US" sz="1200" dirty="0"/>
          </a:p>
        </p:txBody>
      </p:sp>
      <p:sp>
        <p:nvSpPr>
          <p:cNvPr id="6" name="Shape 3"/>
          <p:cNvSpPr/>
          <p:nvPr/>
        </p:nvSpPr>
        <p:spPr>
          <a:xfrm>
            <a:off x="640080" y="2121408"/>
            <a:ext cx="5074920" cy="2395728"/>
          </a:xfrm>
          <a:prstGeom prst="roundRect">
            <a:avLst>
              <a:gd name="adj" fmla="val 1527"/>
            </a:avLst>
          </a:prstGeom>
          <a:solidFill>
            <a:srgbClr val="F5F6F8"/>
          </a:solidFill>
          <a:ln/>
        </p:spPr>
        <p:txBody>
          <a:bodyPr/>
          <a:lstStyle/>
          <a:p>
            <a:endParaRPr lang="en-US"/>
          </a:p>
        </p:txBody>
      </p:sp>
      <p:sp>
        <p:nvSpPr>
          <p:cNvPr id="7" name="Text 4"/>
          <p:cNvSpPr/>
          <p:nvPr/>
        </p:nvSpPr>
        <p:spPr>
          <a:xfrm>
            <a:off x="914400" y="2304288"/>
            <a:ext cx="452628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8" name="Text 5"/>
          <p:cNvSpPr/>
          <p:nvPr/>
        </p:nvSpPr>
        <p:spPr>
          <a:xfrm>
            <a:off x="914400" y="2615184"/>
            <a:ext cx="452628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Summarize this member feedback.
</a:t>
            </a:r>
            <a:r>
              <a:rPr lang="en-US" sz="1300" dirty="0">
                <a:solidFill>
                  <a:srgbClr val="3A4452"/>
                </a:solidFill>
                <a:latin typeface="Arial" pitchFamily="34" charset="0"/>
                <a:ea typeface="Arial" pitchFamily="34" charset="-122"/>
                <a:cs typeface="Arial" pitchFamily="34" charset="-120"/>
              </a:rPr>
              <a:t>“long wait at the deli on Saturday”  ·  “produce looked great this week”  ·  “self-checkout froze twice at lunch”  ·  “new bakery layout is easier to shop”</a:t>
            </a:r>
            <a:endParaRPr lang="en-US" sz="1300" dirty="0"/>
          </a:p>
        </p:txBody>
      </p:sp>
      <p:sp>
        <p:nvSpPr>
          <p:cNvPr id="9" name="Shape 6"/>
          <p:cNvSpPr/>
          <p:nvPr/>
        </p:nvSpPr>
        <p:spPr>
          <a:xfrm>
            <a:off x="640080" y="4645152"/>
            <a:ext cx="5074920" cy="1627632"/>
          </a:xfrm>
          <a:prstGeom prst="roundRect">
            <a:avLst>
              <a:gd name="adj" fmla="val 2247"/>
            </a:avLst>
          </a:prstGeom>
          <a:solidFill>
            <a:srgbClr val="FEE2E2"/>
          </a:solidFill>
          <a:ln/>
        </p:spPr>
        <p:txBody>
          <a:bodyPr/>
          <a:lstStyle/>
          <a:p>
            <a:endParaRPr lang="en-US"/>
          </a:p>
        </p:txBody>
      </p:sp>
      <p:sp>
        <p:nvSpPr>
          <p:cNvPr id="10" name="Text 7"/>
          <p:cNvSpPr/>
          <p:nvPr/>
        </p:nvSpPr>
        <p:spPr>
          <a:xfrm>
            <a:off x="914400" y="4828032"/>
            <a:ext cx="4526280" cy="219456"/>
          </a:xfrm>
          <a:prstGeom prst="rect">
            <a:avLst/>
          </a:prstGeom>
          <a:noFill/>
          <a:ln/>
        </p:spPr>
        <p:txBody>
          <a:bodyPr wrap="square" lIns="0" tIns="0" rIns="0" bIns="0" rtlCol="0" anchor="ctr"/>
          <a:lstStyle/>
          <a:p>
            <a:pPr marL="0" indent="0">
              <a:buNone/>
            </a:pPr>
            <a:r>
              <a:rPr lang="en-US" sz="1200" b="1" dirty="0">
                <a:solidFill>
                  <a:srgbClr val="B91C1C"/>
                </a:solidFill>
                <a:latin typeface="Arial" pitchFamily="34" charset="0"/>
                <a:ea typeface="Arial" pitchFamily="34" charset="-122"/>
                <a:cs typeface="Arial" pitchFamily="34" charset="-120"/>
              </a:rPr>
              <a:t>RESPONSE</a:t>
            </a:r>
            <a:endParaRPr lang="en-US" sz="1200" dirty="0"/>
          </a:p>
        </p:txBody>
      </p:sp>
      <p:sp>
        <p:nvSpPr>
          <p:cNvPr id="11" name="Text 8"/>
          <p:cNvSpPr/>
          <p:nvPr/>
        </p:nvSpPr>
        <p:spPr>
          <a:xfrm>
            <a:off x="914400" y="5102352"/>
            <a:ext cx="452628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Members shared mixed feedback this week, mentioning deli waits and self-checkout issues alongside praise for produce and the new bakery layout.</a:t>
            </a:r>
            <a:endParaRPr lang="en-US" sz="1300" dirty="0"/>
          </a:p>
        </p:txBody>
      </p:sp>
      <p:sp>
        <p:nvSpPr>
          <p:cNvPr id="12" name="Text 9"/>
          <p:cNvSpPr/>
          <p:nvPr/>
        </p:nvSpPr>
        <p:spPr>
          <a:xfrm>
            <a:off x="6355080" y="1810512"/>
            <a:ext cx="5166360" cy="256032"/>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TASK, READER, AND PURPOSE STATED</a:t>
            </a:r>
            <a:endParaRPr lang="en-US" sz="1200" dirty="0"/>
          </a:p>
        </p:txBody>
      </p:sp>
      <p:sp>
        <p:nvSpPr>
          <p:cNvPr id="13" name="Shape 10"/>
          <p:cNvSpPr/>
          <p:nvPr/>
        </p:nvSpPr>
        <p:spPr>
          <a:xfrm>
            <a:off x="6355080" y="2121408"/>
            <a:ext cx="5166360" cy="2395728"/>
          </a:xfrm>
          <a:prstGeom prst="roundRect">
            <a:avLst>
              <a:gd name="adj" fmla="val 1527"/>
            </a:avLst>
          </a:prstGeom>
          <a:solidFill>
            <a:srgbClr val="F5F6F8"/>
          </a:solidFill>
          <a:ln/>
        </p:spPr>
        <p:txBody>
          <a:bodyPr/>
          <a:lstStyle/>
          <a:p>
            <a:endParaRPr lang="en-US"/>
          </a:p>
        </p:txBody>
      </p:sp>
      <p:sp>
        <p:nvSpPr>
          <p:cNvPr id="14" name="Text 11"/>
          <p:cNvSpPr/>
          <p:nvPr/>
        </p:nvSpPr>
        <p:spPr>
          <a:xfrm>
            <a:off x="6629400" y="2304288"/>
            <a:ext cx="461772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15" name="Text 12"/>
          <p:cNvSpPr/>
          <p:nvPr/>
        </p:nvSpPr>
        <p:spPr>
          <a:xfrm>
            <a:off x="6629400" y="2615184"/>
            <a:ext cx="461772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Summarize this member feedback.
</a:t>
            </a:r>
            <a:r>
              <a:rPr lang="en-US" sz="1300" b="1" dirty="0">
                <a:solidFill>
                  <a:srgbClr val="15803D"/>
                </a:solidFill>
                <a:latin typeface="Arial" pitchFamily="34" charset="0"/>
                <a:ea typeface="Arial" pitchFamily="34" charset="-122"/>
                <a:cs typeface="Arial" pitchFamily="34" charset="-120"/>
              </a:rPr>
              <a:t>I am preparing an update for the club manager, who needs to decide what to act on this week.
</a:t>
            </a:r>
            <a:r>
              <a:rPr lang="en-US" sz="1300" dirty="0">
                <a:solidFill>
                  <a:srgbClr val="3A4452"/>
                </a:solidFill>
                <a:latin typeface="Arial" pitchFamily="34" charset="0"/>
                <a:ea typeface="Arial" pitchFamily="34" charset="-122"/>
                <a:cs typeface="Arial" pitchFamily="34" charset="-120"/>
              </a:rPr>
              <a:t>“long wait at the deli on Saturday”  ·  “produce looked great this week”  ·  “self-checkout froze twice at lunch”  ·  “new bakery layout is easier to shop”</a:t>
            </a:r>
            <a:endParaRPr lang="en-US" sz="1300" dirty="0"/>
          </a:p>
        </p:txBody>
      </p:sp>
      <p:sp>
        <p:nvSpPr>
          <p:cNvPr id="16" name="Shape 13"/>
          <p:cNvSpPr/>
          <p:nvPr/>
        </p:nvSpPr>
        <p:spPr>
          <a:xfrm>
            <a:off x="6355080" y="4645152"/>
            <a:ext cx="5166360" cy="1627632"/>
          </a:xfrm>
          <a:prstGeom prst="roundRect">
            <a:avLst>
              <a:gd name="adj" fmla="val 2247"/>
            </a:avLst>
          </a:prstGeom>
          <a:solidFill>
            <a:srgbClr val="DCFCE7"/>
          </a:solidFill>
          <a:ln/>
        </p:spPr>
        <p:txBody>
          <a:bodyPr/>
          <a:lstStyle/>
          <a:p>
            <a:endParaRPr lang="en-US"/>
          </a:p>
        </p:txBody>
      </p:sp>
      <p:sp>
        <p:nvSpPr>
          <p:cNvPr id="17" name="Text 14"/>
          <p:cNvSpPr/>
          <p:nvPr/>
        </p:nvSpPr>
        <p:spPr>
          <a:xfrm>
            <a:off x="6629400" y="4828032"/>
            <a:ext cx="4617720" cy="219456"/>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RESPONSE</a:t>
            </a:r>
            <a:endParaRPr lang="en-US" sz="1200" dirty="0"/>
          </a:p>
        </p:txBody>
      </p:sp>
      <p:sp>
        <p:nvSpPr>
          <p:cNvPr id="18" name="Text 15"/>
          <p:cNvSpPr/>
          <p:nvPr/>
        </p:nvSpPr>
        <p:spPr>
          <a:xfrm>
            <a:off x="6629400" y="5102352"/>
            <a:ext cx="461772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Two issues need attention: Saturday deli wait times, and self-checkout freezing twice at lunch.</a:t>
            </a:r>
            <a:endParaRPr lang="en-US" sz="1300" dirty="0"/>
          </a:p>
          <a:p>
            <a:pPr marL="0" indent="0">
              <a:lnSpc>
                <a:spcPct val="115000"/>
              </a:lnSpc>
              <a:buNone/>
            </a:pP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Members praised produce quality and the new bakery layout.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615184"/>
            <a:ext cx="731520" cy="731520"/>
          </a:xfrm>
          <a:prstGeom prst="ellipse">
            <a:avLst/>
          </a:prstGeom>
          <a:solidFill>
            <a:srgbClr val="D31242"/>
          </a:solidFill>
          <a:ln/>
        </p:spPr>
        <p:txBody>
          <a:bodyPr/>
          <a:lstStyle/>
          <a:p>
            <a:endParaRPr lang="en-US"/>
          </a:p>
        </p:txBody>
      </p:sp>
      <p:sp>
        <p:nvSpPr>
          <p:cNvPr id="3" name="Text 1"/>
          <p:cNvSpPr/>
          <p:nvPr/>
        </p:nvSpPr>
        <p:spPr>
          <a:xfrm>
            <a:off x="822960" y="2615184"/>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2</a:t>
            </a:r>
            <a:endParaRPr lang="en-US" sz="2400" dirty="0"/>
          </a:p>
        </p:txBody>
      </p:sp>
      <p:sp>
        <p:nvSpPr>
          <p:cNvPr id="4" name="Text 2"/>
          <p:cNvSpPr/>
          <p:nvPr/>
        </p:nvSpPr>
        <p:spPr>
          <a:xfrm>
            <a:off x="1883664" y="2212848"/>
            <a:ext cx="9326880" cy="256032"/>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1  ·  PROVIDING CONTEXT AND MATERIALS</a:t>
            </a:r>
            <a:endParaRPr lang="en-US" sz="1200" dirty="0"/>
          </a:p>
        </p:txBody>
      </p:sp>
      <p:sp>
        <p:nvSpPr>
          <p:cNvPr id="5" name="Text 3"/>
          <p:cNvSpPr/>
          <p:nvPr/>
        </p:nvSpPr>
        <p:spPr>
          <a:xfrm>
            <a:off x="1883664" y="2542032"/>
            <a:ext cx="9326880" cy="877824"/>
          </a:xfrm>
          <a:prstGeom prst="rect">
            <a:avLst/>
          </a:prstGeom>
          <a:noFill/>
          <a:ln/>
        </p:spPr>
        <p:txBody>
          <a:bodyPr wrap="square" lIns="0" tIns="0" rIns="0" bIns="0" rtlCol="0" anchor="t"/>
          <a:lstStyle/>
          <a:p>
            <a:pPr marL="0" indent="0">
              <a:lnSpc>
                <a:spcPct val="104000"/>
              </a:lnSpc>
              <a:buNone/>
            </a:pPr>
            <a:r>
              <a:rPr lang="en-US" sz="3200" b="1" dirty="0">
                <a:solidFill>
                  <a:srgbClr val="1F2733"/>
                </a:solidFill>
                <a:latin typeface="Arial" pitchFamily="34" charset="0"/>
                <a:ea typeface="Arial" pitchFamily="34" charset="-122"/>
                <a:cs typeface="Arial" pitchFamily="34" charset="-120"/>
              </a:rPr>
              <a:t>Provide the source material</a:t>
            </a:r>
            <a:endParaRPr lang="en-US" sz="3200" dirty="0"/>
          </a:p>
        </p:txBody>
      </p:sp>
      <p:sp>
        <p:nvSpPr>
          <p:cNvPr id="6" name="Text 4"/>
          <p:cNvSpPr/>
          <p:nvPr/>
        </p:nvSpPr>
        <p:spPr>
          <a:xfrm>
            <a:off x="1883664" y="3529584"/>
            <a:ext cx="932688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Known as:  </a:t>
            </a:r>
            <a:r>
              <a:rPr lang="en-US" sz="1300" b="1" dirty="0">
                <a:solidFill>
                  <a:srgbClr val="1F2733"/>
                </a:solidFill>
                <a:latin typeface="Arial" pitchFamily="34" charset="0"/>
                <a:ea typeface="Arial" pitchFamily="34" charset="-122"/>
                <a:cs typeface="Arial" pitchFamily="34" charset="-120"/>
              </a:rPr>
              <a:t>Grounding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Give the AI the actual document, data, or notes the task depends on</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Shape 2"/>
          <p:cNvSpPr/>
          <p:nvPr/>
        </p:nvSpPr>
        <p:spPr>
          <a:xfrm>
            <a:off x="640080" y="2377440"/>
            <a:ext cx="5074920" cy="2103120"/>
          </a:xfrm>
          <a:prstGeom prst="roundRect">
            <a:avLst>
              <a:gd name="adj" fmla="val 1739"/>
            </a:avLst>
          </a:prstGeom>
          <a:solidFill>
            <a:srgbClr val="F5F6F8"/>
          </a:solidFill>
          <a:ln/>
        </p:spPr>
        <p:txBody>
          <a:bodyPr/>
          <a:lstStyle/>
          <a:p>
            <a:endParaRPr lang="en-US"/>
          </a:p>
        </p:txBody>
      </p:sp>
      <p:sp>
        <p:nvSpPr>
          <p:cNvPr id="6" name="Text 3"/>
          <p:cNvSpPr/>
          <p:nvPr/>
        </p:nvSpPr>
        <p:spPr>
          <a:xfrm>
            <a:off x="914400" y="2615184"/>
            <a:ext cx="4526280" cy="274320"/>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NOTHING ATTACHED</a:t>
            </a:r>
            <a:endParaRPr lang="en-US" sz="1200" dirty="0"/>
          </a:p>
        </p:txBody>
      </p:sp>
      <p:sp>
        <p:nvSpPr>
          <p:cNvPr id="7" name="Text 4"/>
          <p:cNvSpPr/>
          <p:nvPr/>
        </p:nvSpPr>
        <p:spPr>
          <a:xfrm>
            <a:off x="914400" y="2980944"/>
            <a:ext cx="4526280" cy="1280160"/>
          </a:xfrm>
          <a:prstGeom prst="rect">
            <a:avLst/>
          </a:prstGeom>
          <a:noFill/>
          <a:ln/>
        </p:spPr>
        <p:txBody>
          <a:bodyPr wrap="square" lIns="0" tIns="0" rIns="0" bIns="0" rtlCol="0" anchor="t"/>
          <a:lstStyle/>
          <a:p>
            <a:pPr marL="0" indent="0">
              <a:lnSpc>
                <a:spcPct val="112000"/>
              </a:lnSpc>
              <a:buNone/>
            </a:pPr>
            <a:r>
              <a:rPr lang="en-US" sz="1400" dirty="0">
                <a:solidFill>
                  <a:srgbClr val="3A4452"/>
                </a:solidFill>
                <a:latin typeface="Arial" pitchFamily="34" charset="0"/>
                <a:ea typeface="Arial" pitchFamily="34" charset="-122"/>
                <a:cs typeface="Arial" pitchFamily="34" charset="-120"/>
              </a:rPr>
              <a:t>The AI answers from general knowledge and from whatever you were able to describe.</a:t>
            </a:r>
            <a:endParaRPr lang="en-US" sz="1400" dirty="0"/>
          </a:p>
        </p:txBody>
      </p:sp>
      <p:sp>
        <p:nvSpPr>
          <p:cNvPr id="8" name="Text 5"/>
          <p:cNvSpPr/>
          <p:nvPr/>
        </p:nvSpPr>
        <p:spPr>
          <a:xfrm>
            <a:off x="5760720" y="3218688"/>
            <a:ext cx="548640" cy="420624"/>
          </a:xfrm>
          <a:prstGeom prst="rect">
            <a:avLst/>
          </a:prstGeom>
          <a:noFill/>
          <a:ln/>
        </p:spPr>
        <p:txBody>
          <a:bodyPr wrap="square" lIns="0" tIns="0" rIns="0" bIns="0" rtlCol="0" anchor="ctr"/>
          <a:lstStyle/>
          <a:p>
            <a:pPr marL="0" indent="0" algn="ctr">
              <a:buNone/>
            </a:pPr>
            <a:r>
              <a:rPr lang="en-US" sz="2000" b="1" dirty="0">
                <a:solidFill>
                  <a:srgbClr val="D31242"/>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6355080" y="2377440"/>
            <a:ext cx="5166360" cy="2103120"/>
          </a:xfrm>
          <a:prstGeom prst="roundRect">
            <a:avLst>
              <a:gd name="adj" fmla="val 1739"/>
            </a:avLst>
          </a:prstGeom>
          <a:solidFill>
            <a:srgbClr val="DCFCE7"/>
          </a:solidFill>
          <a:ln/>
        </p:spPr>
        <p:txBody>
          <a:bodyPr/>
          <a:lstStyle/>
          <a:p>
            <a:endParaRPr lang="en-US"/>
          </a:p>
        </p:txBody>
      </p:sp>
      <p:sp>
        <p:nvSpPr>
          <p:cNvPr id="10" name="Text 7"/>
          <p:cNvSpPr/>
          <p:nvPr/>
        </p:nvSpPr>
        <p:spPr>
          <a:xfrm>
            <a:off x="6629400" y="2615184"/>
            <a:ext cx="4617720" cy="274320"/>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SOURCE MATERIAL ATTACHED</a:t>
            </a:r>
            <a:endParaRPr lang="en-US" sz="1200" dirty="0"/>
          </a:p>
        </p:txBody>
      </p:sp>
      <p:sp>
        <p:nvSpPr>
          <p:cNvPr id="11" name="Text 8"/>
          <p:cNvSpPr/>
          <p:nvPr/>
        </p:nvSpPr>
        <p:spPr>
          <a:xfrm>
            <a:off x="6629400" y="2980944"/>
            <a:ext cx="4617720" cy="1280160"/>
          </a:xfrm>
          <a:prstGeom prst="rect">
            <a:avLst/>
          </a:prstGeom>
          <a:noFill/>
          <a:ln/>
        </p:spPr>
        <p:txBody>
          <a:bodyPr wrap="square" lIns="0" tIns="0" rIns="0" bIns="0" rtlCol="0" anchor="t"/>
          <a:lstStyle/>
          <a:p>
            <a:pPr marL="0" indent="0">
              <a:lnSpc>
                <a:spcPct val="112000"/>
              </a:lnSpc>
              <a:buNone/>
            </a:pPr>
            <a:r>
              <a:rPr lang="en-US" sz="1400" dirty="0">
                <a:solidFill>
                  <a:srgbClr val="1F2733"/>
                </a:solidFill>
                <a:latin typeface="Arial" pitchFamily="34" charset="0"/>
                <a:ea typeface="Arial" pitchFamily="34" charset="-122"/>
                <a:cs typeface="Arial" pitchFamily="34" charset="-120"/>
              </a:rPr>
              <a:t>The AI reads the same document you are looking at and answers from what is in it.</a:t>
            </a:r>
            <a:endParaRPr lang="en-US" sz="1400" dirty="0"/>
          </a:p>
        </p:txBody>
      </p:sp>
      <p:sp>
        <p:nvSpPr>
          <p:cNvPr id="12" name="Text 9"/>
          <p:cNvSpPr/>
          <p:nvPr/>
        </p:nvSpPr>
        <p:spPr>
          <a:xfrm>
            <a:off x="640080" y="4846320"/>
            <a:ext cx="10881360" cy="384048"/>
          </a:xfrm>
          <a:prstGeom prst="rect">
            <a:avLst/>
          </a:prstGeom>
          <a:noFill/>
          <a:ln/>
        </p:spPr>
        <p:txBody>
          <a:bodyPr wrap="square" lIns="0" tIns="0" rIns="0" bIns="0" rtlCol="0" anchor="ctr"/>
          <a:lstStyle/>
          <a:p>
            <a:pPr marL="0" indent="0">
              <a:buNone/>
            </a:pPr>
            <a:r>
              <a:rPr lang="en-US" sz="1500" b="1" dirty="0">
                <a:solidFill>
                  <a:srgbClr val="D31242"/>
                </a:solidFill>
                <a:latin typeface="Arial" pitchFamily="34" charset="0"/>
                <a:ea typeface="Arial" pitchFamily="34" charset="-122"/>
                <a:cs typeface="Arial" pitchFamily="34" charset="-120"/>
              </a:rPr>
              <a:t>Apply this whenever a colleague would need to see the document to answer the question.</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Without the document, the AI can only tell you what to look for</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Text 2"/>
          <p:cNvSpPr/>
          <p:nvPr/>
        </p:nvSpPr>
        <p:spPr>
          <a:xfrm>
            <a:off x="640080" y="1810512"/>
            <a:ext cx="5074920" cy="256032"/>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NOTHING ATTACHED</a:t>
            </a:r>
            <a:endParaRPr lang="en-US" sz="1200" dirty="0"/>
          </a:p>
        </p:txBody>
      </p:sp>
      <p:sp>
        <p:nvSpPr>
          <p:cNvPr id="6" name="Shape 3"/>
          <p:cNvSpPr/>
          <p:nvPr/>
        </p:nvSpPr>
        <p:spPr>
          <a:xfrm>
            <a:off x="640080" y="2121408"/>
            <a:ext cx="5074920" cy="2395728"/>
          </a:xfrm>
          <a:prstGeom prst="roundRect">
            <a:avLst>
              <a:gd name="adj" fmla="val 1527"/>
            </a:avLst>
          </a:prstGeom>
          <a:solidFill>
            <a:srgbClr val="F5F6F8"/>
          </a:solidFill>
          <a:ln/>
        </p:spPr>
        <p:txBody>
          <a:bodyPr/>
          <a:lstStyle/>
          <a:p>
            <a:endParaRPr lang="en-US"/>
          </a:p>
        </p:txBody>
      </p:sp>
      <p:sp>
        <p:nvSpPr>
          <p:cNvPr id="7" name="Text 4"/>
          <p:cNvSpPr/>
          <p:nvPr/>
        </p:nvSpPr>
        <p:spPr>
          <a:xfrm>
            <a:off x="914400" y="2304288"/>
            <a:ext cx="452628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8" name="Text 5"/>
          <p:cNvSpPr/>
          <p:nvPr/>
        </p:nvSpPr>
        <p:spPr>
          <a:xfrm>
            <a:off x="914400" y="2615184"/>
            <a:ext cx="452628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The vendor invoice we received does not match our purchase order. What should I check?</a:t>
            </a:r>
            <a:endParaRPr lang="en-US" sz="1300" dirty="0"/>
          </a:p>
        </p:txBody>
      </p:sp>
      <p:sp>
        <p:nvSpPr>
          <p:cNvPr id="9" name="Shape 6"/>
          <p:cNvSpPr/>
          <p:nvPr/>
        </p:nvSpPr>
        <p:spPr>
          <a:xfrm>
            <a:off x="640080" y="4645152"/>
            <a:ext cx="5074920" cy="1627632"/>
          </a:xfrm>
          <a:prstGeom prst="roundRect">
            <a:avLst>
              <a:gd name="adj" fmla="val 2247"/>
            </a:avLst>
          </a:prstGeom>
          <a:solidFill>
            <a:srgbClr val="FEE2E2"/>
          </a:solidFill>
          <a:ln/>
        </p:spPr>
        <p:txBody>
          <a:bodyPr/>
          <a:lstStyle/>
          <a:p>
            <a:endParaRPr lang="en-US"/>
          </a:p>
        </p:txBody>
      </p:sp>
      <p:sp>
        <p:nvSpPr>
          <p:cNvPr id="10" name="Text 7"/>
          <p:cNvSpPr/>
          <p:nvPr/>
        </p:nvSpPr>
        <p:spPr>
          <a:xfrm>
            <a:off x="914400" y="4828032"/>
            <a:ext cx="4526280" cy="219456"/>
          </a:xfrm>
          <a:prstGeom prst="rect">
            <a:avLst/>
          </a:prstGeom>
          <a:noFill/>
          <a:ln/>
        </p:spPr>
        <p:txBody>
          <a:bodyPr wrap="square" lIns="0" tIns="0" rIns="0" bIns="0" rtlCol="0" anchor="ctr"/>
          <a:lstStyle/>
          <a:p>
            <a:pPr marL="0" indent="0">
              <a:buNone/>
            </a:pPr>
            <a:r>
              <a:rPr lang="en-US" sz="1200" b="1" dirty="0">
                <a:solidFill>
                  <a:srgbClr val="B91C1C"/>
                </a:solidFill>
                <a:latin typeface="Arial" pitchFamily="34" charset="0"/>
                <a:ea typeface="Arial" pitchFamily="34" charset="-122"/>
                <a:cs typeface="Arial" pitchFamily="34" charset="-120"/>
              </a:rPr>
              <a:t>RESPONSE</a:t>
            </a:r>
            <a:endParaRPr lang="en-US" sz="1200" dirty="0"/>
          </a:p>
        </p:txBody>
      </p:sp>
      <p:sp>
        <p:nvSpPr>
          <p:cNvPr id="11" name="Text 8"/>
          <p:cNvSpPr/>
          <p:nvPr/>
        </p:nvSpPr>
        <p:spPr>
          <a:xfrm>
            <a:off x="914400" y="5102352"/>
            <a:ext cx="452628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Compare quantities, unit prices, delivery dates, and any freight or handling charges. Confirm the purchase order number matches and that no items were substituted.</a:t>
            </a:r>
            <a:endParaRPr lang="en-US" sz="1300" dirty="0"/>
          </a:p>
        </p:txBody>
      </p:sp>
      <p:sp>
        <p:nvSpPr>
          <p:cNvPr id="12" name="Text 9"/>
          <p:cNvSpPr/>
          <p:nvPr/>
        </p:nvSpPr>
        <p:spPr>
          <a:xfrm>
            <a:off x="6355080" y="1810512"/>
            <a:ext cx="5166360" cy="256032"/>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INVOICE AND ORDER PASTED IN</a:t>
            </a:r>
            <a:endParaRPr lang="en-US" sz="1200" dirty="0"/>
          </a:p>
        </p:txBody>
      </p:sp>
      <p:sp>
        <p:nvSpPr>
          <p:cNvPr id="13" name="Shape 10"/>
          <p:cNvSpPr/>
          <p:nvPr/>
        </p:nvSpPr>
        <p:spPr>
          <a:xfrm>
            <a:off x="6355080" y="2121408"/>
            <a:ext cx="5166360" cy="2395728"/>
          </a:xfrm>
          <a:prstGeom prst="roundRect">
            <a:avLst>
              <a:gd name="adj" fmla="val 1527"/>
            </a:avLst>
          </a:prstGeom>
          <a:solidFill>
            <a:srgbClr val="F5F6F8"/>
          </a:solidFill>
          <a:ln/>
        </p:spPr>
        <p:txBody>
          <a:bodyPr/>
          <a:lstStyle/>
          <a:p>
            <a:endParaRPr lang="en-US"/>
          </a:p>
        </p:txBody>
      </p:sp>
      <p:sp>
        <p:nvSpPr>
          <p:cNvPr id="14" name="Text 11"/>
          <p:cNvSpPr/>
          <p:nvPr/>
        </p:nvSpPr>
        <p:spPr>
          <a:xfrm>
            <a:off x="6629400" y="2304288"/>
            <a:ext cx="461772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15" name="Text 12"/>
          <p:cNvSpPr/>
          <p:nvPr/>
        </p:nvSpPr>
        <p:spPr>
          <a:xfrm>
            <a:off x="6629400" y="2615184"/>
            <a:ext cx="461772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The vendor invoice we received does not match our purchase order. What should I check?
</a:t>
            </a:r>
            <a:r>
              <a:rPr lang="en-US" sz="1300" b="1" dirty="0">
                <a:solidFill>
                  <a:srgbClr val="15803D"/>
                </a:solidFill>
                <a:latin typeface="Arial" pitchFamily="34" charset="0"/>
                <a:ea typeface="Arial" pitchFamily="34" charset="-122"/>
                <a:cs typeface="Arial" pitchFamily="34" charset="-120"/>
              </a:rPr>
              <a:t>Invoice: paper towels, 24 cases at $19.75  ·  glass cleaner, 12 cases at $8.40</a:t>
            </a:r>
            <a:endParaRPr lang="en-US" sz="1300" dirty="0"/>
          </a:p>
          <a:p>
            <a:pPr marL="0" indent="0">
              <a:lnSpc>
                <a:spcPct val="115000"/>
              </a:lnSpc>
              <a:buNone/>
            </a:pPr>
            <a:r>
              <a:rPr lang="en-US" sz="1300" b="1" dirty="0">
                <a:solidFill>
                  <a:srgbClr val="15803D"/>
                </a:solidFill>
                <a:latin typeface="Arial" pitchFamily="34" charset="0"/>
                <a:ea typeface="Arial" pitchFamily="34" charset="-122"/>
                <a:cs typeface="Arial" pitchFamily="34" charset="-120"/>
              </a:rPr>
              <a:t>Purchase order: paper towels, 24 cases at $18.50  ·  glass cleaner, 10 cases at $8.40</a:t>
            </a:r>
            <a:endParaRPr lang="en-US" sz="1300" dirty="0"/>
          </a:p>
        </p:txBody>
      </p:sp>
      <p:sp>
        <p:nvSpPr>
          <p:cNvPr id="16" name="Shape 13"/>
          <p:cNvSpPr/>
          <p:nvPr/>
        </p:nvSpPr>
        <p:spPr>
          <a:xfrm>
            <a:off x="6355080" y="4645152"/>
            <a:ext cx="5166360" cy="1627632"/>
          </a:xfrm>
          <a:prstGeom prst="roundRect">
            <a:avLst>
              <a:gd name="adj" fmla="val 2247"/>
            </a:avLst>
          </a:prstGeom>
          <a:solidFill>
            <a:srgbClr val="DCFCE7"/>
          </a:solidFill>
          <a:ln/>
        </p:spPr>
        <p:txBody>
          <a:bodyPr/>
          <a:lstStyle/>
          <a:p>
            <a:endParaRPr lang="en-US"/>
          </a:p>
        </p:txBody>
      </p:sp>
      <p:sp>
        <p:nvSpPr>
          <p:cNvPr id="17" name="Text 14"/>
          <p:cNvSpPr/>
          <p:nvPr/>
        </p:nvSpPr>
        <p:spPr>
          <a:xfrm>
            <a:off x="6629400" y="4828032"/>
            <a:ext cx="4617720" cy="219456"/>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RESPONSE</a:t>
            </a:r>
            <a:endParaRPr lang="en-US" sz="1200" dirty="0"/>
          </a:p>
        </p:txBody>
      </p:sp>
      <p:sp>
        <p:nvSpPr>
          <p:cNvPr id="18" name="Text 15"/>
          <p:cNvSpPr/>
          <p:nvPr/>
        </p:nvSpPr>
        <p:spPr>
          <a:xfrm>
            <a:off x="6629400" y="5102352"/>
            <a:ext cx="461772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Two differences. Paper towels are billed at $19.75 a case against $18.50 on the order, which is $30.00 across 24 cases.</a:t>
            </a:r>
            <a:endParaRPr lang="en-US" sz="1300" dirty="0"/>
          </a:p>
          <a:p>
            <a:pPr marL="0" indent="0">
              <a:lnSpc>
                <a:spcPct val="115000"/>
              </a:lnSpc>
              <a:buNone/>
            </a:pP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Glass cleaner shows 12 cases billed against 10 ordered.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615184"/>
            <a:ext cx="731520" cy="731520"/>
          </a:xfrm>
          <a:prstGeom prst="ellipse">
            <a:avLst/>
          </a:prstGeom>
          <a:solidFill>
            <a:srgbClr val="D31242"/>
          </a:solidFill>
          <a:ln/>
        </p:spPr>
        <p:txBody>
          <a:bodyPr/>
          <a:lstStyle/>
          <a:p>
            <a:endParaRPr lang="en-US"/>
          </a:p>
        </p:txBody>
      </p:sp>
      <p:sp>
        <p:nvSpPr>
          <p:cNvPr id="3" name="Text 1"/>
          <p:cNvSpPr/>
          <p:nvPr/>
        </p:nvSpPr>
        <p:spPr>
          <a:xfrm>
            <a:off x="822960" y="2615184"/>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3</a:t>
            </a:r>
            <a:endParaRPr lang="en-US" sz="2400" dirty="0"/>
          </a:p>
        </p:txBody>
      </p:sp>
      <p:sp>
        <p:nvSpPr>
          <p:cNvPr id="4" name="Text 2"/>
          <p:cNvSpPr/>
          <p:nvPr/>
        </p:nvSpPr>
        <p:spPr>
          <a:xfrm>
            <a:off x="1883664" y="2212848"/>
            <a:ext cx="9326880" cy="256032"/>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2  ·  SPECIFYING THE RESPONSE</a:t>
            </a:r>
            <a:endParaRPr lang="en-US" sz="1200" dirty="0"/>
          </a:p>
        </p:txBody>
      </p:sp>
      <p:sp>
        <p:nvSpPr>
          <p:cNvPr id="5" name="Text 3"/>
          <p:cNvSpPr/>
          <p:nvPr/>
        </p:nvSpPr>
        <p:spPr>
          <a:xfrm>
            <a:off x="1883664" y="2542032"/>
            <a:ext cx="9326880" cy="877824"/>
          </a:xfrm>
          <a:prstGeom prst="rect">
            <a:avLst/>
          </a:prstGeom>
          <a:noFill/>
          <a:ln/>
        </p:spPr>
        <p:txBody>
          <a:bodyPr wrap="square" lIns="0" tIns="0" rIns="0" bIns="0" rtlCol="0" anchor="t"/>
          <a:lstStyle/>
          <a:p>
            <a:pPr marL="0" indent="0">
              <a:lnSpc>
                <a:spcPct val="104000"/>
              </a:lnSpc>
              <a:buNone/>
            </a:pPr>
            <a:r>
              <a:rPr lang="en-US" sz="3200" b="1" dirty="0">
                <a:solidFill>
                  <a:srgbClr val="1F2733"/>
                </a:solidFill>
                <a:latin typeface="Arial" pitchFamily="34" charset="0"/>
                <a:ea typeface="Arial" pitchFamily="34" charset="-122"/>
                <a:cs typeface="Arial" pitchFamily="34" charset="-120"/>
              </a:rPr>
              <a:t>Specify the response format</a:t>
            </a:r>
            <a:endParaRPr lang="en-US" sz="3200" dirty="0"/>
          </a:p>
        </p:txBody>
      </p:sp>
      <p:sp>
        <p:nvSpPr>
          <p:cNvPr id="6" name="Text 4"/>
          <p:cNvSpPr/>
          <p:nvPr/>
        </p:nvSpPr>
        <p:spPr>
          <a:xfrm>
            <a:off x="1883664" y="3529584"/>
            <a:ext cx="932688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Known as:  </a:t>
            </a:r>
            <a:r>
              <a:rPr lang="en-US" sz="1300" b="1" dirty="0">
                <a:solidFill>
                  <a:srgbClr val="1F2733"/>
                </a:solidFill>
                <a:latin typeface="Arial" pitchFamily="34" charset="0"/>
                <a:ea typeface="Arial" pitchFamily="34" charset="-122"/>
                <a:cs typeface="Arial" pitchFamily="34" charset="-120"/>
              </a:rPr>
              <a:t>Structured output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Specify the structure of the response and the level of detail required</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Shape 2"/>
          <p:cNvSpPr/>
          <p:nvPr/>
        </p:nvSpPr>
        <p:spPr>
          <a:xfrm>
            <a:off x="640080" y="2377440"/>
            <a:ext cx="5074920" cy="2103120"/>
          </a:xfrm>
          <a:prstGeom prst="roundRect">
            <a:avLst>
              <a:gd name="adj" fmla="val 1739"/>
            </a:avLst>
          </a:prstGeom>
          <a:solidFill>
            <a:srgbClr val="F5F6F8"/>
          </a:solidFill>
          <a:ln/>
        </p:spPr>
        <p:txBody>
          <a:bodyPr/>
          <a:lstStyle/>
          <a:p>
            <a:endParaRPr lang="en-US"/>
          </a:p>
        </p:txBody>
      </p:sp>
      <p:sp>
        <p:nvSpPr>
          <p:cNvPr id="6" name="Text 3"/>
          <p:cNvSpPr/>
          <p:nvPr/>
        </p:nvSpPr>
        <p:spPr>
          <a:xfrm>
            <a:off x="914400" y="2615184"/>
            <a:ext cx="4526280" cy="274320"/>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NO FORMAT GIVEN</a:t>
            </a:r>
            <a:endParaRPr lang="en-US" sz="1200" dirty="0"/>
          </a:p>
        </p:txBody>
      </p:sp>
      <p:sp>
        <p:nvSpPr>
          <p:cNvPr id="7" name="Text 4"/>
          <p:cNvSpPr/>
          <p:nvPr/>
        </p:nvSpPr>
        <p:spPr>
          <a:xfrm>
            <a:off x="914400" y="2980944"/>
            <a:ext cx="4526280" cy="1280160"/>
          </a:xfrm>
          <a:prstGeom prst="rect">
            <a:avLst/>
          </a:prstGeom>
          <a:noFill/>
          <a:ln/>
        </p:spPr>
        <p:txBody>
          <a:bodyPr wrap="square" lIns="0" tIns="0" rIns="0" bIns="0" rtlCol="0" anchor="t"/>
          <a:lstStyle/>
          <a:p>
            <a:pPr marL="0" indent="0">
              <a:lnSpc>
                <a:spcPct val="112000"/>
              </a:lnSpc>
              <a:buNone/>
            </a:pPr>
            <a:r>
              <a:rPr lang="en-US" sz="1400" dirty="0">
                <a:solidFill>
                  <a:srgbClr val="3A4452"/>
                </a:solidFill>
                <a:latin typeface="Arial" pitchFamily="34" charset="0"/>
                <a:ea typeface="Arial" pitchFamily="34" charset="-122"/>
                <a:cs typeface="Arial" pitchFamily="34" charset="-120"/>
              </a:rPr>
              <a:t>The AI selects its own structure, usually paragraphs, and its own level of detail.</a:t>
            </a:r>
            <a:endParaRPr lang="en-US" sz="1400" dirty="0"/>
          </a:p>
        </p:txBody>
      </p:sp>
      <p:sp>
        <p:nvSpPr>
          <p:cNvPr id="8" name="Text 5"/>
          <p:cNvSpPr/>
          <p:nvPr/>
        </p:nvSpPr>
        <p:spPr>
          <a:xfrm>
            <a:off x="5760720" y="3218688"/>
            <a:ext cx="548640" cy="420624"/>
          </a:xfrm>
          <a:prstGeom prst="rect">
            <a:avLst/>
          </a:prstGeom>
          <a:noFill/>
          <a:ln/>
        </p:spPr>
        <p:txBody>
          <a:bodyPr wrap="square" lIns="0" tIns="0" rIns="0" bIns="0" rtlCol="0" anchor="ctr"/>
          <a:lstStyle/>
          <a:p>
            <a:pPr marL="0" indent="0" algn="ctr">
              <a:buNone/>
            </a:pPr>
            <a:r>
              <a:rPr lang="en-US" sz="2000" b="1" dirty="0">
                <a:solidFill>
                  <a:srgbClr val="D31242"/>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6355080" y="2377440"/>
            <a:ext cx="5166360" cy="2103120"/>
          </a:xfrm>
          <a:prstGeom prst="roundRect">
            <a:avLst>
              <a:gd name="adj" fmla="val 1739"/>
            </a:avLst>
          </a:prstGeom>
          <a:solidFill>
            <a:srgbClr val="DCFCE7"/>
          </a:solidFill>
          <a:ln/>
        </p:spPr>
        <p:txBody>
          <a:bodyPr/>
          <a:lstStyle/>
          <a:p>
            <a:endParaRPr lang="en-US"/>
          </a:p>
        </p:txBody>
      </p:sp>
      <p:sp>
        <p:nvSpPr>
          <p:cNvPr id="10" name="Text 7"/>
          <p:cNvSpPr/>
          <p:nvPr/>
        </p:nvSpPr>
        <p:spPr>
          <a:xfrm>
            <a:off x="6629400" y="2615184"/>
            <a:ext cx="4617720" cy="274320"/>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FORMAT SPECIFIED</a:t>
            </a:r>
            <a:endParaRPr lang="en-US" sz="1200" dirty="0"/>
          </a:p>
        </p:txBody>
      </p:sp>
      <p:sp>
        <p:nvSpPr>
          <p:cNvPr id="11" name="Text 8"/>
          <p:cNvSpPr/>
          <p:nvPr/>
        </p:nvSpPr>
        <p:spPr>
          <a:xfrm>
            <a:off x="6629400" y="2980944"/>
            <a:ext cx="4617720" cy="1280160"/>
          </a:xfrm>
          <a:prstGeom prst="rect">
            <a:avLst/>
          </a:prstGeom>
          <a:noFill/>
          <a:ln/>
        </p:spPr>
        <p:txBody>
          <a:bodyPr wrap="square" lIns="0" tIns="0" rIns="0" bIns="0" rtlCol="0" anchor="t"/>
          <a:lstStyle/>
          <a:p>
            <a:pPr marL="0" indent="0">
              <a:lnSpc>
                <a:spcPct val="112000"/>
              </a:lnSpc>
              <a:buNone/>
            </a:pPr>
            <a:r>
              <a:rPr lang="en-US" sz="1400" dirty="0">
                <a:solidFill>
                  <a:srgbClr val="1F2733"/>
                </a:solidFill>
                <a:latin typeface="Arial" pitchFamily="34" charset="0"/>
                <a:ea typeface="Arial" pitchFamily="34" charset="-122"/>
                <a:cs typeface="Arial" pitchFamily="34" charset="-120"/>
              </a:rPr>
              <a:t>The response is returned in the structure you asked for, at the level of detail you set.</a:t>
            </a:r>
            <a:endParaRPr lang="en-US" sz="1400" dirty="0"/>
          </a:p>
        </p:txBody>
      </p:sp>
      <p:sp>
        <p:nvSpPr>
          <p:cNvPr id="12" name="Text 9"/>
          <p:cNvSpPr/>
          <p:nvPr/>
        </p:nvSpPr>
        <p:spPr>
          <a:xfrm>
            <a:off x="640080" y="4846320"/>
            <a:ext cx="10881360" cy="384048"/>
          </a:xfrm>
          <a:prstGeom prst="rect">
            <a:avLst/>
          </a:prstGeom>
          <a:noFill/>
          <a:ln/>
        </p:spPr>
        <p:txBody>
          <a:bodyPr wrap="square" lIns="0" tIns="0" rIns="0" bIns="0" rtlCol="0" anchor="ctr"/>
          <a:lstStyle/>
          <a:p>
            <a:pPr marL="0" indent="0">
              <a:buNone/>
            </a:pPr>
            <a:r>
              <a:rPr lang="en-US" sz="1500" b="1" dirty="0">
                <a:solidFill>
                  <a:srgbClr val="D31242"/>
                </a:solidFill>
                <a:latin typeface="Arial" pitchFamily="34" charset="0"/>
                <a:ea typeface="Arial" pitchFamily="34" charset="-122"/>
                <a:cs typeface="Arial" pitchFamily="34" charset="-120"/>
              </a:rPr>
              <a:t>Apply this when the response will be pasted into a document, an email, or a table.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Unless you name a format, the AI usually defaults to paragraphs</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Text 2"/>
          <p:cNvSpPr/>
          <p:nvPr/>
        </p:nvSpPr>
        <p:spPr>
          <a:xfrm>
            <a:off x="640080" y="1810512"/>
            <a:ext cx="5074920" cy="256032"/>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NO FORMAT GIVEN</a:t>
            </a:r>
            <a:endParaRPr lang="en-US" sz="1200" dirty="0"/>
          </a:p>
        </p:txBody>
      </p:sp>
      <p:sp>
        <p:nvSpPr>
          <p:cNvPr id="6" name="Shape 3"/>
          <p:cNvSpPr/>
          <p:nvPr/>
        </p:nvSpPr>
        <p:spPr>
          <a:xfrm>
            <a:off x="640080" y="2121408"/>
            <a:ext cx="5074920" cy="2395728"/>
          </a:xfrm>
          <a:prstGeom prst="roundRect">
            <a:avLst>
              <a:gd name="adj" fmla="val 1527"/>
            </a:avLst>
          </a:prstGeom>
          <a:solidFill>
            <a:srgbClr val="F5F6F8"/>
          </a:solidFill>
          <a:ln/>
        </p:spPr>
        <p:txBody>
          <a:bodyPr/>
          <a:lstStyle/>
          <a:p>
            <a:endParaRPr lang="en-US"/>
          </a:p>
        </p:txBody>
      </p:sp>
      <p:sp>
        <p:nvSpPr>
          <p:cNvPr id="7" name="Text 4"/>
          <p:cNvSpPr/>
          <p:nvPr/>
        </p:nvSpPr>
        <p:spPr>
          <a:xfrm>
            <a:off x="914400" y="2304288"/>
            <a:ext cx="452628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8" name="Text 5"/>
          <p:cNvSpPr/>
          <p:nvPr/>
        </p:nvSpPr>
        <p:spPr>
          <a:xfrm>
            <a:off x="914400" y="2615184"/>
            <a:ext cx="452628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Summarize where each of the four remodel clubs stands.
</a:t>
            </a:r>
            <a:r>
              <a:rPr lang="en-US" sz="1300" dirty="0">
                <a:solidFill>
                  <a:srgbClr val="3A4452"/>
                </a:solidFill>
                <a:latin typeface="Arial" pitchFamily="34" charset="0"/>
                <a:ea typeface="Arial" pitchFamily="34" charset="-122"/>
                <a:cs typeface="Arial" pitchFamily="34" charset="-120"/>
              </a:rPr>
              <a:t>Club 428 drywall done, fixtures Tuesday  ·  Club 512 permits delayed, no date  ·  Club 133 on schedule, opens 9/14  ·  Club 207 flooring vendor moved to 9/2</a:t>
            </a:r>
            <a:endParaRPr lang="en-US" sz="1300" dirty="0"/>
          </a:p>
        </p:txBody>
      </p:sp>
      <p:sp>
        <p:nvSpPr>
          <p:cNvPr id="9" name="Shape 6"/>
          <p:cNvSpPr/>
          <p:nvPr/>
        </p:nvSpPr>
        <p:spPr>
          <a:xfrm>
            <a:off x="640080" y="4645152"/>
            <a:ext cx="5074920" cy="1627632"/>
          </a:xfrm>
          <a:prstGeom prst="roundRect">
            <a:avLst>
              <a:gd name="adj" fmla="val 2247"/>
            </a:avLst>
          </a:prstGeom>
          <a:solidFill>
            <a:srgbClr val="FEE2E2"/>
          </a:solidFill>
          <a:ln/>
        </p:spPr>
        <p:txBody>
          <a:bodyPr/>
          <a:lstStyle/>
          <a:p>
            <a:endParaRPr lang="en-US"/>
          </a:p>
        </p:txBody>
      </p:sp>
      <p:sp>
        <p:nvSpPr>
          <p:cNvPr id="10" name="Text 7"/>
          <p:cNvSpPr/>
          <p:nvPr/>
        </p:nvSpPr>
        <p:spPr>
          <a:xfrm>
            <a:off x="914400" y="4828032"/>
            <a:ext cx="4526280" cy="219456"/>
          </a:xfrm>
          <a:prstGeom prst="rect">
            <a:avLst/>
          </a:prstGeom>
          <a:noFill/>
          <a:ln/>
        </p:spPr>
        <p:txBody>
          <a:bodyPr wrap="square" lIns="0" tIns="0" rIns="0" bIns="0" rtlCol="0" anchor="ctr"/>
          <a:lstStyle/>
          <a:p>
            <a:pPr marL="0" indent="0">
              <a:buNone/>
            </a:pPr>
            <a:r>
              <a:rPr lang="en-US" sz="1200" b="1" dirty="0">
                <a:solidFill>
                  <a:srgbClr val="B91C1C"/>
                </a:solidFill>
                <a:latin typeface="Arial" pitchFamily="34" charset="0"/>
                <a:ea typeface="Arial" pitchFamily="34" charset="-122"/>
                <a:cs typeface="Arial" pitchFamily="34" charset="-120"/>
              </a:rPr>
              <a:t>RESPONSE</a:t>
            </a:r>
            <a:endParaRPr lang="en-US" sz="1200" dirty="0"/>
          </a:p>
        </p:txBody>
      </p:sp>
      <p:sp>
        <p:nvSpPr>
          <p:cNvPr id="11" name="Text 8"/>
          <p:cNvSpPr/>
          <p:nvPr/>
        </p:nvSpPr>
        <p:spPr>
          <a:xfrm>
            <a:off x="914400" y="5102352"/>
            <a:ext cx="452628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Club 428 has completed drywall with fixtures arriving Tuesday, while Club 512 is held up in permitting with no confirmed date. Club 133 remains on schedule to open 9/14, and Club 207 has had its flooring vendor moved to 9/2.</a:t>
            </a:r>
            <a:endParaRPr lang="en-US" sz="1300" dirty="0"/>
          </a:p>
        </p:txBody>
      </p:sp>
      <p:sp>
        <p:nvSpPr>
          <p:cNvPr id="12" name="Text 9"/>
          <p:cNvSpPr/>
          <p:nvPr/>
        </p:nvSpPr>
        <p:spPr>
          <a:xfrm>
            <a:off x="6355080" y="1810512"/>
            <a:ext cx="5166360" cy="256032"/>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FORMAT SPECIFIED</a:t>
            </a:r>
            <a:endParaRPr lang="en-US" sz="1200" dirty="0"/>
          </a:p>
        </p:txBody>
      </p:sp>
      <p:sp>
        <p:nvSpPr>
          <p:cNvPr id="13" name="Shape 10"/>
          <p:cNvSpPr/>
          <p:nvPr/>
        </p:nvSpPr>
        <p:spPr>
          <a:xfrm>
            <a:off x="6355080" y="2121408"/>
            <a:ext cx="5166360" cy="2395728"/>
          </a:xfrm>
          <a:prstGeom prst="roundRect">
            <a:avLst>
              <a:gd name="adj" fmla="val 1527"/>
            </a:avLst>
          </a:prstGeom>
          <a:solidFill>
            <a:srgbClr val="F5F6F8"/>
          </a:solidFill>
          <a:ln/>
        </p:spPr>
        <p:txBody>
          <a:bodyPr/>
          <a:lstStyle/>
          <a:p>
            <a:endParaRPr lang="en-US"/>
          </a:p>
        </p:txBody>
      </p:sp>
      <p:sp>
        <p:nvSpPr>
          <p:cNvPr id="14" name="Text 11"/>
          <p:cNvSpPr/>
          <p:nvPr/>
        </p:nvSpPr>
        <p:spPr>
          <a:xfrm>
            <a:off x="6629400" y="2304288"/>
            <a:ext cx="461772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15" name="Text 12"/>
          <p:cNvSpPr/>
          <p:nvPr/>
        </p:nvSpPr>
        <p:spPr>
          <a:xfrm>
            <a:off x="6629400" y="2615184"/>
            <a:ext cx="461772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Summarize where each of the four remodel clubs stands.
</a:t>
            </a:r>
            <a:r>
              <a:rPr lang="en-US" sz="1300" b="1" dirty="0">
                <a:solidFill>
                  <a:srgbClr val="15803D"/>
                </a:solidFill>
                <a:latin typeface="Arial" pitchFamily="34" charset="0"/>
                <a:ea typeface="Arial" pitchFamily="34" charset="-122"/>
                <a:cs typeface="Arial" pitchFamily="34" charset="-120"/>
              </a:rPr>
              <a:t>Return this as a table with columns for club, status, and next step. No commentary.
</a:t>
            </a:r>
            <a:r>
              <a:rPr lang="en-US" sz="1300" dirty="0">
                <a:solidFill>
                  <a:srgbClr val="3A4452"/>
                </a:solidFill>
                <a:latin typeface="Arial" pitchFamily="34" charset="0"/>
                <a:ea typeface="Arial" pitchFamily="34" charset="-122"/>
                <a:cs typeface="Arial" pitchFamily="34" charset="-120"/>
              </a:rPr>
              <a:t>Club 428 drywall done, fixtures Tuesday  ·  Club 512 permits delayed, no date  ·  Club 133 on schedule, opens 9/14  ·  Club 207 flooring vendor moved to 9/2</a:t>
            </a:r>
            <a:endParaRPr lang="en-US" sz="1300" dirty="0"/>
          </a:p>
        </p:txBody>
      </p:sp>
      <p:sp>
        <p:nvSpPr>
          <p:cNvPr id="16" name="Shape 13"/>
          <p:cNvSpPr/>
          <p:nvPr/>
        </p:nvSpPr>
        <p:spPr>
          <a:xfrm>
            <a:off x="6355080" y="4645152"/>
            <a:ext cx="5166360" cy="1627632"/>
          </a:xfrm>
          <a:prstGeom prst="roundRect">
            <a:avLst>
              <a:gd name="adj" fmla="val 2247"/>
            </a:avLst>
          </a:prstGeom>
          <a:solidFill>
            <a:srgbClr val="DCFCE7"/>
          </a:solidFill>
          <a:ln/>
        </p:spPr>
        <p:txBody>
          <a:bodyPr/>
          <a:lstStyle/>
          <a:p>
            <a:endParaRPr lang="en-US"/>
          </a:p>
        </p:txBody>
      </p:sp>
      <p:sp>
        <p:nvSpPr>
          <p:cNvPr id="17" name="Text 14"/>
          <p:cNvSpPr/>
          <p:nvPr/>
        </p:nvSpPr>
        <p:spPr>
          <a:xfrm>
            <a:off x="6629400" y="4828032"/>
            <a:ext cx="4617720" cy="219456"/>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RESPONSE</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29400" y="5065776"/>
          <a:ext cx="4617720" cy="914400"/>
        </p:xfrm>
        <a:graphic>
          <a:graphicData uri="http://schemas.openxmlformats.org/drawingml/2006/table">
            <a:tbl>
              <a:tblPr/>
              <a:tblGrid>
                <a:gridCol w="68580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01168">
                <a:tc>
                  <a:txBody>
                    <a:bodyPr/>
                    <a:lstStyle/>
                    <a:p>
                      <a:pPr marL="0" indent="0">
                        <a:buNone/>
                      </a:pPr>
                      <a:r>
                        <a:rPr lang="en-US" sz="1200" b="1" dirty="0">
                          <a:solidFill>
                            <a:srgbClr val="FFFFFF"/>
                          </a:solidFill>
                          <a:latin typeface="Arial" pitchFamily="34" charset="0"/>
                          <a:ea typeface="Arial" pitchFamily="34" charset="-122"/>
                          <a:cs typeface="Arial" pitchFamily="34" charset="-120"/>
                        </a:rPr>
                        <a:t>Club</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15803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15803D"/>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Next step</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15803D"/>
                    </a:solidFill>
                  </a:tcPr>
                </a:tc>
                <a:extLst>
                  <a:ext uri="{0D108BD9-81ED-4DB2-BD59-A6C34878D82A}">
                    <a16:rowId xmlns:a16="http://schemas.microsoft.com/office/drawing/2014/main" val="10000"/>
                  </a:ext>
                </a:extLst>
              </a:tr>
              <a:tr h="201168">
                <a:tc>
                  <a:txBody>
                    <a:bodyPr/>
                    <a:lstStyle/>
                    <a:p>
                      <a:pPr marL="0" indent="0">
                        <a:buNone/>
                      </a:pPr>
                      <a:r>
                        <a:rPr lang="en-US" sz="1200" dirty="0">
                          <a:solidFill>
                            <a:srgbClr val="1F2733"/>
                          </a:solidFill>
                          <a:latin typeface="Arial" pitchFamily="34" charset="0"/>
                          <a:ea typeface="Arial" pitchFamily="34" charset="-122"/>
                          <a:cs typeface="Arial" pitchFamily="34" charset="-120"/>
                        </a:rPr>
                        <a:t>428</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tc>
                  <a:txBody>
                    <a:bodyPr/>
                    <a:lstStyle/>
                    <a:p>
                      <a:pPr marL="0" indent="0">
                        <a:buNone/>
                      </a:pPr>
                      <a:r>
                        <a:rPr lang="en-US" sz="1200" dirty="0">
                          <a:solidFill>
                            <a:srgbClr val="1F2733"/>
                          </a:solidFill>
                          <a:latin typeface="Arial" pitchFamily="34" charset="0"/>
                          <a:ea typeface="Arial" pitchFamily="34" charset="-122"/>
                          <a:cs typeface="Arial" pitchFamily="34" charset="-120"/>
                        </a:rPr>
                        <a:t>Drywall complete</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tc>
                  <a:txBody>
                    <a:bodyPr/>
                    <a:lstStyle/>
                    <a:p>
                      <a:pPr marL="0" indent="0">
                        <a:buNone/>
                      </a:pPr>
                      <a:r>
                        <a:rPr lang="en-US" sz="1200" dirty="0">
                          <a:solidFill>
                            <a:srgbClr val="1F2733"/>
                          </a:solidFill>
                          <a:latin typeface="Arial" pitchFamily="34" charset="0"/>
                          <a:ea typeface="Arial" pitchFamily="34" charset="-122"/>
                          <a:cs typeface="Arial" pitchFamily="34" charset="-120"/>
                        </a:rPr>
                        <a:t>Fixtures Tuesday</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01168">
                <a:tc>
                  <a:txBody>
                    <a:bodyPr/>
                    <a:lstStyle/>
                    <a:p>
                      <a:pPr marL="0" indent="0">
                        <a:buNone/>
                      </a:pPr>
                      <a:r>
                        <a:rPr lang="en-US" sz="1200" dirty="0">
                          <a:solidFill>
                            <a:srgbClr val="1F2733"/>
                          </a:solidFill>
                          <a:latin typeface="Arial" pitchFamily="34" charset="0"/>
                          <a:ea typeface="Arial" pitchFamily="34" charset="-122"/>
                          <a:cs typeface="Arial" pitchFamily="34" charset="-120"/>
                        </a:rPr>
                        <a:t>512</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tc>
                  <a:txBody>
                    <a:bodyPr/>
                    <a:lstStyle/>
                    <a:p>
                      <a:pPr marL="0" indent="0">
                        <a:buNone/>
                      </a:pPr>
                      <a:r>
                        <a:rPr lang="en-US" sz="1200" dirty="0">
                          <a:solidFill>
                            <a:srgbClr val="1F2733"/>
                          </a:solidFill>
                          <a:latin typeface="Arial" pitchFamily="34" charset="0"/>
                          <a:ea typeface="Arial" pitchFamily="34" charset="-122"/>
                          <a:cs typeface="Arial" pitchFamily="34" charset="-120"/>
                        </a:rPr>
                        <a:t>Permits delayed</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tc>
                  <a:txBody>
                    <a:bodyPr/>
                    <a:lstStyle/>
                    <a:p>
                      <a:pPr marL="0" indent="0">
                        <a:buNone/>
                      </a:pPr>
                      <a:r>
                        <a:rPr lang="en-US" sz="1200" dirty="0">
                          <a:solidFill>
                            <a:srgbClr val="1F2733"/>
                          </a:solidFill>
                          <a:latin typeface="Arial" pitchFamily="34" charset="0"/>
                          <a:ea typeface="Arial" pitchFamily="34" charset="-122"/>
                          <a:cs typeface="Arial" pitchFamily="34" charset="-120"/>
                        </a:rPr>
                        <a:t>Awaiting permit</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1168">
                <a:tc>
                  <a:txBody>
                    <a:bodyPr/>
                    <a:lstStyle/>
                    <a:p>
                      <a:pPr marL="0" indent="0">
                        <a:buNone/>
                      </a:pPr>
                      <a:r>
                        <a:rPr lang="en-US" sz="1200" dirty="0">
                          <a:solidFill>
                            <a:srgbClr val="1F2733"/>
                          </a:solidFill>
                          <a:latin typeface="Arial" pitchFamily="34" charset="0"/>
                          <a:ea typeface="Arial" pitchFamily="34" charset="-122"/>
                          <a:cs typeface="Arial" pitchFamily="34" charset="-120"/>
                        </a:rPr>
                        <a:t>133</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tc>
                  <a:txBody>
                    <a:bodyPr/>
                    <a:lstStyle/>
                    <a:p>
                      <a:pPr marL="0" indent="0">
                        <a:buNone/>
                      </a:pPr>
                      <a:r>
                        <a:rPr lang="en-US" sz="1200" dirty="0">
                          <a:solidFill>
                            <a:srgbClr val="1F2733"/>
                          </a:solidFill>
                          <a:latin typeface="Arial" pitchFamily="34" charset="0"/>
                          <a:ea typeface="Arial" pitchFamily="34" charset="-122"/>
                          <a:cs typeface="Arial" pitchFamily="34" charset="-120"/>
                        </a:rPr>
                        <a:t>On schedule</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tc>
                  <a:txBody>
                    <a:bodyPr/>
                    <a:lstStyle/>
                    <a:p>
                      <a:pPr marL="0" indent="0">
                        <a:buNone/>
                      </a:pPr>
                      <a:r>
                        <a:rPr lang="en-US" sz="1200" dirty="0">
                          <a:solidFill>
                            <a:srgbClr val="1F2733"/>
                          </a:solidFill>
                          <a:latin typeface="Arial" pitchFamily="34" charset="0"/>
                          <a:ea typeface="Arial" pitchFamily="34" charset="-122"/>
                          <a:cs typeface="Arial" pitchFamily="34" charset="-120"/>
                        </a:rPr>
                        <a:t>Opening 9/14</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1168">
                <a:tc>
                  <a:txBody>
                    <a:bodyPr/>
                    <a:lstStyle/>
                    <a:p>
                      <a:pPr marL="0" indent="0">
                        <a:buNone/>
                      </a:pPr>
                      <a:r>
                        <a:rPr lang="en-US" sz="1200" dirty="0">
                          <a:solidFill>
                            <a:srgbClr val="1F2733"/>
                          </a:solidFill>
                          <a:latin typeface="Arial" pitchFamily="34" charset="0"/>
                          <a:ea typeface="Arial" pitchFamily="34" charset="-122"/>
                          <a:cs typeface="Arial" pitchFamily="34" charset="-120"/>
                        </a:rPr>
                        <a:t>207</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tc>
                  <a:txBody>
                    <a:bodyPr/>
                    <a:lstStyle/>
                    <a:p>
                      <a:pPr marL="0" indent="0">
                        <a:buNone/>
                      </a:pPr>
                      <a:r>
                        <a:rPr lang="en-US" sz="1200" dirty="0">
                          <a:solidFill>
                            <a:srgbClr val="1F2733"/>
                          </a:solidFill>
                          <a:latin typeface="Arial" pitchFamily="34" charset="0"/>
                          <a:ea typeface="Arial" pitchFamily="34" charset="-122"/>
                          <a:cs typeface="Arial" pitchFamily="34" charset="-120"/>
                        </a:rPr>
                        <a:t>Vendor rescheduled</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tc>
                  <a:txBody>
                    <a:bodyPr/>
                    <a:lstStyle/>
                    <a:p>
                      <a:pPr marL="0" indent="0">
                        <a:buNone/>
                      </a:pPr>
                      <a:r>
                        <a:rPr lang="en-US" sz="1200" dirty="0">
                          <a:solidFill>
                            <a:srgbClr val="1F2733"/>
                          </a:solidFill>
                          <a:latin typeface="Arial" pitchFamily="34" charset="0"/>
                          <a:ea typeface="Arial" pitchFamily="34" charset="-122"/>
                          <a:cs typeface="Arial" pitchFamily="34" charset="-120"/>
                        </a:rPr>
                        <a:t>Flooring 9/2</a:t>
                      </a:r>
                      <a:endParaRPr lang="en-US" sz="1200" dirty="0">
                        <a:latin typeface="Arial" charset="0"/>
                        <a:ea typeface="Arial" charset="0"/>
                        <a:cs typeface="Arial" charset="0"/>
                      </a:endParaRPr>
                    </a:p>
                  </a:txBody>
                  <a:tcPr marL="27432" marR="27432" marT="27432" marB="27432" anchor="ctr">
                    <a:lnL w="6350" cap="flat" cmpd="sng" algn="ctr">
                      <a:solidFill>
                        <a:srgbClr val="C7E9D2"/>
                      </a:solidFill>
                      <a:prstDash val="solid"/>
                      <a:round/>
                      <a:headEnd type="none" w="med" len="med"/>
                      <a:tailEnd type="none" w="med" len="med"/>
                    </a:lnL>
                    <a:lnR w="6350" cap="flat" cmpd="sng" algn="ctr">
                      <a:solidFill>
                        <a:srgbClr val="C7E9D2"/>
                      </a:solidFill>
                      <a:prstDash val="solid"/>
                      <a:round/>
                      <a:headEnd type="none" w="med" len="med"/>
                      <a:tailEnd type="none" w="med" len="med"/>
                    </a:lnR>
                    <a:lnT w="6350" cap="flat" cmpd="sng" algn="ctr">
                      <a:solidFill>
                        <a:srgbClr val="C7E9D2"/>
                      </a:solidFill>
                      <a:prstDash val="solid"/>
                      <a:round/>
                      <a:headEnd type="none" w="med" len="med"/>
                      <a:tailEnd type="none" w="med" len="med"/>
                    </a:lnT>
                    <a:lnB w="6350" cap="flat" cmpd="sng" algn="ctr">
                      <a:solidFill>
                        <a:srgbClr val="C7E9D2"/>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615184"/>
            <a:ext cx="731520" cy="731520"/>
          </a:xfrm>
          <a:prstGeom prst="ellipse">
            <a:avLst/>
          </a:prstGeom>
          <a:solidFill>
            <a:srgbClr val="D31242"/>
          </a:solidFill>
          <a:ln/>
        </p:spPr>
        <p:txBody>
          <a:bodyPr/>
          <a:lstStyle/>
          <a:p>
            <a:endParaRPr lang="en-US"/>
          </a:p>
        </p:txBody>
      </p:sp>
      <p:sp>
        <p:nvSpPr>
          <p:cNvPr id="3" name="Text 1"/>
          <p:cNvSpPr/>
          <p:nvPr/>
        </p:nvSpPr>
        <p:spPr>
          <a:xfrm>
            <a:off x="822960" y="2615184"/>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4</a:t>
            </a:r>
            <a:endParaRPr lang="en-US" sz="2400" dirty="0"/>
          </a:p>
        </p:txBody>
      </p:sp>
      <p:sp>
        <p:nvSpPr>
          <p:cNvPr id="4" name="Text 2"/>
          <p:cNvSpPr/>
          <p:nvPr/>
        </p:nvSpPr>
        <p:spPr>
          <a:xfrm>
            <a:off x="1883664" y="2212848"/>
            <a:ext cx="9326880" cy="256032"/>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2  ·  SPECIFYING THE RESPONSE</a:t>
            </a:r>
            <a:endParaRPr lang="en-US" sz="1200" dirty="0"/>
          </a:p>
        </p:txBody>
      </p:sp>
      <p:sp>
        <p:nvSpPr>
          <p:cNvPr id="5" name="Text 3"/>
          <p:cNvSpPr/>
          <p:nvPr/>
        </p:nvSpPr>
        <p:spPr>
          <a:xfrm>
            <a:off x="1883664" y="2542032"/>
            <a:ext cx="9326880" cy="877824"/>
          </a:xfrm>
          <a:prstGeom prst="rect">
            <a:avLst/>
          </a:prstGeom>
          <a:noFill/>
          <a:ln/>
        </p:spPr>
        <p:txBody>
          <a:bodyPr wrap="square" lIns="0" tIns="0" rIns="0" bIns="0" rtlCol="0" anchor="t"/>
          <a:lstStyle/>
          <a:p>
            <a:pPr marL="0" indent="0">
              <a:lnSpc>
                <a:spcPct val="104000"/>
              </a:lnSpc>
              <a:buNone/>
            </a:pPr>
            <a:r>
              <a:rPr lang="en-US" sz="3200" b="1" dirty="0">
                <a:solidFill>
                  <a:srgbClr val="1F2733"/>
                </a:solidFill>
                <a:latin typeface="Arial" pitchFamily="34" charset="0"/>
                <a:ea typeface="Arial" pitchFamily="34" charset="-122"/>
                <a:cs typeface="Arial" pitchFamily="34" charset="-120"/>
              </a:rPr>
              <a:t>Show a finished example</a:t>
            </a:r>
            <a:endParaRPr lang="en-US" sz="3200" dirty="0"/>
          </a:p>
        </p:txBody>
      </p:sp>
      <p:sp>
        <p:nvSpPr>
          <p:cNvPr id="6" name="Text 4"/>
          <p:cNvSpPr/>
          <p:nvPr/>
        </p:nvSpPr>
        <p:spPr>
          <a:xfrm>
            <a:off x="1883664" y="3529584"/>
            <a:ext cx="932688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Known as:  </a:t>
            </a:r>
            <a:r>
              <a:rPr lang="en-US" sz="1300" b="1" dirty="0">
                <a:solidFill>
                  <a:srgbClr val="1F2733"/>
                </a:solidFill>
                <a:latin typeface="Arial" pitchFamily="34" charset="0"/>
                <a:ea typeface="Arial" pitchFamily="34" charset="-122"/>
                <a:cs typeface="Arial" pitchFamily="34" charset="-120"/>
              </a:rPr>
              <a:t>Few-shot prompting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The AI learns the task from the examples you include</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Shape 2"/>
          <p:cNvSpPr/>
          <p:nvPr/>
        </p:nvSpPr>
        <p:spPr>
          <a:xfrm>
            <a:off x="640080" y="2377440"/>
            <a:ext cx="5074920" cy="2103120"/>
          </a:xfrm>
          <a:prstGeom prst="roundRect">
            <a:avLst>
              <a:gd name="adj" fmla="val 1739"/>
            </a:avLst>
          </a:prstGeom>
          <a:solidFill>
            <a:srgbClr val="F5F6F8"/>
          </a:solidFill>
          <a:ln/>
        </p:spPr>
        <p:txBody>
          <a:bodyPr/>
          <a:lstStyle/>
          <a:p>
            <a:endParaRPr lang="en-US"/>
          </a:p>
        </p:txBody>
      </p:sp>
      <p:sp>
        <p:nvSpPr>
          <p:cNvPr id="6" name="Text 3"/>
          <p:cNvSpPr/>
          <p:nvPr/>
        </p:nvSpPr>
        <p:spPr>
          <a:xfrm>
            <a:off x="914400" y="2615184"/>
            <a:ext cx="4526280" cy="274320"/>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NO EXAMPLE GIVEN</a:t>
            </a:r>
            <a:endParaRPr lang="en-US" sz="1200" dirty="0"/>
          </a:p>
        </p:txBody>
      </p:sp>
      <p:sp>
        <p:nvSpPr>
          <p:cNvPr id="7" name="Text 4"/>
          <p:cNvSpPr/>
          <p:nvPr/>
        </p:nvSpPr>
        <p:spPr>
          <a:xfrm>
            <a:off x="914400" y="2980944"/>
            <a:ext cx="4526280" cy="1280160"/>
          </a:xfrm>
          <a:prstGeom prst="rect">
            <a:avLst/>
          </a:prstGeom>
          <a:noFill/>
          <a:ln/>
        </p:spPr>
        <p:txBody>
          <a:bodyPr wrap="square" lIns="0" tIns="0" rIns="0" bIns="0" rtlCol="0" anchor="t"/>
          <a:lstStyle/>
          <a:p>
            <a:pPr marL="0" indent="0">
              <a:lnSpc>
                <a:spcPct val="112000"/>
              </a:lnSpc>
              <a:buNone/>
            </a:pPr>
            <a:r>
              <a:rPr lang="en-US" sz="1400" dirty="0">
                <a:solidFill>
                  <a:srgbClr val="3A4452"/>
                </a:solidFill>
                <a:latin typeface="Arial" pitchFamily="34" charset="0"/>
                <a:ea typeface="Arial" pitchFamily="34" charset="-122"/>
                <a:cs typeface="Arial" pitchFamily="34" charset="-120"/>
              </a:rPr>
              <a:t>The AI has to guess what a correct answer looks like.</a:t>
            </a:r>
            <a:endParaRPr lang="en-US" sz="1400" dirty="0"/>
          </a:p>
        </p:txBody>
      </p:sp>
      <p:sp>
        <p:nvSpPr>
          <p:cNvPr id="8" name="Text 5"/>
          <p:cNvSpPr/>
          <p:nvPr/>
        </p:nvSpPr>
        <p:spPr>
          <a:xfrm>
            <a:off x="5760720" y="3218688"/>
            <a:ext cx="548640" cy="420624"/>
          </a:xfrm>
          <a:prstGeom prst="rect">
            <a:avLst/>
          </a:prstGeom>
          <a:noFill/>
          <a:ln/>
        </p:spPr>
        <p:txBody>
          <a:bodyPr wrap="square" lIns="0" tIns="0" rIns="0" bIns="0" rtlCol="0" anchor="ctr"/>
          <a:lstStyle/>
          <a:p>
            <a:pPr marL="0" indent="0" algn="ctr">
              <a:buNone/>
            </a:pPr>
            <a:r>
              <a:rPr lang="en-US" sz="2000" b="1" dirty="0">
                <a:solidFill>
                  <a:srgbClr val="D31242"/>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6355080" y="2377440"/>
            <a:ext cx="5166360" cy="2103120"/>
          </a:xfrm>
          <a:prstGeom prst="roundRect">
            <a:avLst>
              <a:gd name="adj" fmla="val 1739"/>
            </a:avLst>
          </a:prstGeom>
          <a:solidFill>
            <a:srgbClr val="DCFCE7"/>
          </a:solidFill>
          <a:ln/>
        </p:spPr>
        <p:txBody>
          <a:bodyPr/>
          <a:lstStyle/>
          <a:p>
            <a:endParaRPr lang="en-US"/>
          </a:p>
        </p:txBody>
      </p:sp>
      <p:sp>
        <p:nvSpPr>
          <p:cNvPr id="10" name="Text 7"/>
          <p:cNvSpPr/>
          <p:nvPr/>
        </p:nvSpPr>
        <p:spPr>
          <a:xfrm>
            <a:off x="6629400" y="2615184"/>
            <a:ext cx="4617720" cy="274320"/>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EXAMPLE GIVEN</a:t>
            </a:r>
            <a:endParaRPr lang="en-US" sz="1200" dirty="0"/>
          </a:p>
        </p:txBody>
      </p:sp>
      <p:sp>
        <p:nvSpPr>
          <p:cNvPr id="11" name="Text 8"/>
          <p:cNvSpPr/>
          <p:nvPr/>
        </p:nvSpPr>
        <p:spPr>
          <a:xfrm>
            <a:off x="6629400" y="2980944"/>
            <a:ext cx="4617720" cy="1280160"/>
          </a:xfrm>
          <a:prstGeom prst="rect">
            <a:avLst/>
          </a:prstGeom>
          <a:noFill/>
          <a:ln/>
        </p:spPr>
        <p:txBody>
          <a:bodyPr wrap="square" lIns="0" tIns="0" rIns="0" bIns="0" rtlCol="0" anchor="t"/>
          <a:lstStyle/>
          <a:p>
            <a:pPr marL="0" indent="0">
              <a:lnSpc>
                <a:spcPct val="112000"/>
              </a:lnSpc>
              <a:buNone/>
            </a:pPr>
            <a:r>
              <a:rPr lang="en-US" sz="1400" dirty="0">
                <a:solidFill>
                  <a:srgbClr val="1F2733"/>
                </a:solidFill>
                <a:latin typeface="Arial" pitchFamily="34" charset="0"/>
                <a:ea typeface="Arial" pitchFamily="34" charset="-122"/>
                <a:cs typeface="Arial" pitchFamily="34" charset="-120"/>
              </a:rPr>
              <a:t>The AI picks up the pattern from your examples and applies it to the new case.</a:t>
            </a:r>
            <a:endParaRPr lang="en-US" sz="1400" dirty="0"/>
          </a:p>
        </p:txBody>
      </p:sp>
      <p:sp>
        <p:nvSpPr>
          <p:cNvPr id="12" name="Text 9"/>
          <p:cNvSpPr/>
          <p:nvPr/>
        </p:nvSpPr>
        <p:spPr>
          <a:xfrm>
            <a:off x="640080" y="4846320"/>
            <a:ext cx="10881360" cy="384048"/>
          </a:xfrm>
          <a:prstGeom prst="rect">
            <a:avLst/>
          </a:prstGeom>
          <a:noFill/>
          <a:ln/>
        </p:spPr>
        <p:txBody>
          <a:bodyPr wrap="square" lIns="0" tIns="0" rIns="0" bIns="0" rtlCol="0" anchor="ctr"/>
          <a:lstStyle/>
          <a:p>
            <a:pPr marL="0" indent="0">
              <a:buNone/>
            </a:pPr>
            <a:r>
              <a:rPr lang="en-US" sz="1500" b="1" dirty="0">
                <a:solidFill>
                  <a:srgbClr val="D31242"/>
                </a:solidFill>
                <a:latin typeface="Arial" pitchFamily="34" charset="0"/>
                <a:ea typeface="Arial" pitchFamily="34" charset="-122"/>
                <a:cs typeface="Arial" pitchFamily="34" charset="-120"/>
              </a:rPr>
              <a:t>Apply this when the pattern is easier to demonstrate than to state.</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Some patterns exist only inside your organization</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Text 2"/>
          <p:cNvSpPr/>
          <p:nvPr/>
        </p:nvSpPr>
        <p:spPr>
          <a:xfrm>
            <a:off x="640080" y="1810512"/>
            <a:ext cx="5074920" cy="256032"/>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NO EXAMPLE GIVEN</a:t>
            </a:r>
            <a:endParaRPr lang="en-US" sz="1200" dirty="0"/>
          </a:p>
        </p:txBody>
      </p:sp>
      <p:sp>
        <p:nvSpPr>
          <p:cNvPr id="6" name="Shape 3"/>
          <p:cNvSpPr/>
          <p:nvPr/>
        </p:nvSpPr>
        <p:spPr>
          <a:xfrm>
            <a:off x="640080" y="2121408"/>
            <a:ext cx="5074920" cy="2395728"/>
          </a:xfrm>
          <a:prstGeom prst="roundRect">
            <a:avLst>
              <a:gd name="adj" fmla="val 1527"/>
            </a:avLst>
          </a:prstGeom>
          <a:solidFill>
            <a:srgbClr val="F5F6F8"/>
          </a:solidFill>
          <a:ln/>
        </p:spPr>
        <p:txBody>
          <a:bodyPr/>
          <a:lstStyle/>
          <a:p>
            <a:endParaRPr lang="en-US"/>
          </a:p>
        </p:txBody>
      </p:sp>
      <p:sp>
        <p:nvSpPr>
          <p:cNvPr id="7" name="Text 4"/>
          <p:cNvSpPr/>
          <p:nvPr/>
        </p:nvSpPr>
        <p:spPr>
          <a:xfrm>
            <a:off x="914400" y="2304288"/>
            <a:ext cx="452628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8" name="Text 5"/>
          <p:cNvSpPr/>
          <p:nvPr/>
        </p:nvSpPr>
        <p:spPr>
          <a:xfrm>
            <a:off x="914400" y="2615184"/>
            <a:ext cx="452628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Code these expenses for the monthly submission.
</a:t>
            </a:r>
            <a:r>
              <a:rPr lang="en-US" sz="1300" dirty="0">
                <a:solidFill>
                  <a:srgbClr val="3A4452"/>
                </a:solidFill>
                <a:latin typeface="Arial" pitchFamily="34" charset="0"/>
                <a:ea typeface="Arial" pitchFamily="34" charset="-122"/>
                <a:cs typeface="Arial" pitchFamily="34" charset="-120"/>
              </a:rPr>
              <a:t>Label printer ribbon  ·  Parking at vendor meeting  ·  Lunch on district walkthrough</a:t>
            </a:r>
            <a:endParaRPr lang="en-US" sz="1300" dirty="0"/>
          </a:p>
        </p:txBody>
      </p:sp>
      <p:sp>
        <p:nvSpPr>
          <p:cNvPr id="9" name="Shape 6"/>
          <p:cNvSpPr/>
          <p:nvPr/>
        </p:nvSpPr>
        <p:spPr>
          <a:xfrm>
            <a:off x="640080" y="4645152"/>
            <a:ext cx="5074920" cy="1627632"/>
          </a:xfrm>
          <a:prstGeom prst="roundRect">
            <a:avLst>
              <a:gd name="adj" fmla="val 2247"/>
            </a:avLst>
          </a:prstGeom>
          <a:solidFill>
            <a:srgbClr val="FEE2E2"/>
          </a:solidFill>
          <a:ln/>
        </p:spPr>
        <p:txBody>
          <a:bodyPr/>
          <a:lstStyle/>
          <a:p>
            <a:endParaRPr lang="en-US"/>
          </a:p>
        </p:txBody>
      </p:sp>
      <p:sp>
        <p:nvSpPr>
          <p:cNvPr id="10" name="Text 7"/>
          <p:cNvSpPr/>
          <p:nvPr/>
        </p:nvSpPr>
        <p:spPr>
          <a:xfrm>
            <a:off x="914400" y="4828032"/>
            <a:ext cx="4526280" cy="219456"/>
          </a:xfrm>
          <a:prstGeom prst="rect">
            <a:avLst/>
          </a:prstGeom>
          <a:noFill/>
          <a:ln/>
        </p:spPr>
        <p:txBody>
          <a:bodyPr wrap="square" lIns="0" tIns="0" rIns="0" bIns="0" rtlCol="0" anchor="ctr"/>
          <a:lstStyle/>
          <a:p>
            <a:pPr marL="0" indent="0">
              <a:buNone/>
            </a:pPr>
            <a:r>
              <a:rPr lang="en-US" sz="1200" b="1" dirty="0">
                <a:solidFill>
                  <a:srgbClr val="B91C1C"/>
                </a:solidFill>
                <a:latin typeface="Arial" pitchFamily="34" charset="0"/>
                <a:ea typeface="Arial" pitchFamily="34" charset="-122"/>
                <a:cs typeface="Arial" pitchFamily="34" charset="-120"/>
              </a:rPr>
              <a:t>RESPONSE</a:t>
            </a:r>
            <a:endParaRPr lang="en-US" sz="1200" dirty="0"/>
          </a:p>
        </p:txBody>
      </p:sp>
      <p:sp>
        <p:nvSpPr>
          <p:cNvPr id="11" name="Text 8"/>
          <p:cNvSpPr/>
          <p:nvPr/>
        </p:nvSpPr>
        <p:spPr>
          <a:xfrm>
            <a:off x="914400" y="5102352"/>
            <a:ext cx="452628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Ribbon — Office supplies</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Parking — Travel</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Lunch — Meals</a:t>
            </a:r>
            <a:endParaRPr lang="en-US" sz="1300" dirty="0"/>
          </a:p>
        </p:txBody>
      </p:sp>
      <p:sp>
        <p:nvSpPr>
          <p:cNvPr id="12" name="Text 9"/>
          <p:cNvSpPr/>
          <p:nvPr/>
        </p:nvSpPr>
        <p:spPr>
          <a:xfrm>
            <a:off x="6355080" y="1810512"/>
            <a:ext cx="5166360" cy="256032"/>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THREE CODED EXAMPLES ADDED</a:t>
            </a:r>
            <a:endParaRPr lang="en-US" sz="1200" dirty="0"/>
          </a:p>
        </p:txBody>
      </p:sp>
      <p:sp>
        <p:nvSpPr>
          <p:cNvPr id="13" name="Shape 10"/>
          <p:cNvSpPr/>
          <p:nvPr/>
        </p:nvSpPr>
        <p:spPr>
          <a:xfrm>
            <a:off x="6355080" y="2121408"/>
            <a:ext cx="5166360" cy="2395728"/>
          </a:xfrm>
          <a:prstGeom prst="roundRect">
            <a:avLst>
              <a:gd name="adj" fmla="val 1527"/>
            </a:avLst>
          </a:prstGeom>
          <a:solidFill>
            <a:srgbClr val="F5F6F8"/>
          </a:solidFill>
          <a:ln/>
        </p:spPr>
        <p:txBody>
          <a:bodyPr/>
          <a:lstStyle/>
          <a:p>
            <a:endParaRPr lang="en-US"/>
          </a:p>
        </p:txBody>
      </p:sp>
      <p:sp>
        <p:nvSpPr>
          <p:cNvPr id="14" name="Text 11"/>
          <p:cNvSpPr/>
          <p:nvPr/>
        </p:nvSpPr>
        <p:spPr>
          <a:xfrm>
            <a:off x="6629400" y="2304288"/>
            <a:ext cx="461772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15" name="Text 12"/>
          <p:cNvSpPr/>
          <p:nvPr/>
        </p:nvSpPr>
        <p:spPr>
          <a:xfrm>
            <a:off x="6629400" y="2615184"/>
            <a:ext cx="461772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Code these expenses for the monthly submission.
</a:t>
            </a:r>
            <a:r>
              <a:rPr lang="en-US" sz="1300" b="1" dirty="0">
                <a:solidFill>
                  <a:srgbClr val="15803D"/>
                </a:solidFill>
                <a:latin typeface="Arial" pitchFamily="34" charset="0"/>
                <a:ea typeface="Arial" pitchFamily="34" charset="-122"/>
                <a:cs typeface="Arial" pitchFamily="34" charset="-120"/>
              </a:rPr>
              <a:t>Code them the way we coded these:
Pallet wrap for the back room — 6410 Supplies
Uber to the Westborough club visit — 7220 Travel
Coffee for the Champions workshop — 6150 Meetings
</a:t>
            </a:r>
            <a:r>
              <a:rPr lang="en-US" sz="1300" dirty="0">
                <a:solidFill>
                  <a:srgbClr val="3A4452"/>
                </a:solidFill>
                <a:latin typeface="Arial" pitchFamily="34" charset="0"/>
                <a:ea typeface="Arial" pitchFamily="34" charset="-122"/>
                <a:cs typeface="Arial" pitchFamily="34" charset="-120"/>
              </a:rPr>
              <a:t>Label printer ribbon  ·  Parking at vendor meeting  ·  Lunch on district walkthrough</a:t>
            </a:r>
            <a:endParaRPr lang="en-US" sz="1300" dirty="0"/>
          </a:p>
        </p:txBody>
      </p:sp>
      <p:sp>
        <p:nvSpPr>
          <p:cNvPr id="16" name="Shape 13"/>
          <p:cNvSpPr/>
          <p:nvPr/>
        </p:nvSpPr>
        <p:spPr>
          <a:xfrm>
            <a:off x="6355080" y="4645152"/>
            <a:ext cx="5166360" cy="1627632"/>
          </a:xfrm>
          <a:prstGeom prst="roundRect">
            <a:avLst>
              <a:gd name="adj" fmla="val 2247"/>
            </a:avLst>
          </a:prstGeom>
          <a:solidFill>
            <a:srgbClr val="DCFCE7"/>
          </a:solidFill>
          <a:ln/>
        </p:spPr>
        <p:txBody>
          <a:bodyPr/>
          <a:lstStyle/>
          <a:p>
            <a:endParaRPr lang="en-US"/>
          </a:p>
        </p:txBody>
      </p:sp>
      <p:sp>
        <p:nvSpPr>
          <p:cNvPr id="17" name="Text 14"/>
          <p:cNvSpPr/>
          <p:nvPr/>
        </p:nvSpPr>
        <p:spPr>
          <a:xfrm>
            <a:off x="6629400" y="4828032"/>
            <a:ext cx="4617720" cy="219456"/>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RESPONSE</a:t>
            </a:r>
            <a:endParaRPr lang="en-US" sz="1200" dirty="0"/>
          </a:p>
        </p:txBody>
      </p:sp>
      <p:sp>
        <p:nvSpPr>
          <p:cNvPr id="18" name="Text 15"/>
          <p:cNvSpPr/>
          <p:nvPr/>
        </p:nvSpPr>
        <p:spPr>
          <a:xfrm>
            <a:off x="6629400" y="5102352"/>
            <a:ext cx="461772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Ribbon — 6410</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Parking — 7220</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Lunch — 6150</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615184"/>
            <a:ext cx="731520" cy="731520"/>
          </a:xfrm>
          <a:prstGeom prst="ellipse">
            <a:avLst/>
          </a:prstGeom>
          <a:solidFill>
            <a:srgbClr val="D31242"/>
          </a:solidFill>
          <a:ln/>
        </p:spPr>
        <p:txBody>
          <a:bodyPr/>
          <a:lstStyle/>
          <a:p>
            <a:endParaRPr lang="en-US"/>
          </a:p>
        </p:txBody>
      </p:sp>
      <p:sp>
        <p:nvSpPr>
          <p:cNvPr id="3" name="Text 1"/>
          <p:cNvSpPr/>
          <p:nvPr/>
        </p:nvSpPr>
        <p:spPr>
          <a:xfrm>
            <a:off x="822960" y="2615184"/>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5</a:t>
            </a:r>
            <a:endParaRPr lang="en-US" sz="2400" dirty="0"/>
          </a:p>
        </p:txBody>
      </p:sp>
      <p:sp>
        <p:nvSpPr>
          <p:cNvPr id="4" name="Text 2"/>
          <p:cNvSpPr/>
          <p:nvPr/>
        </p:nvSpPr>
        <p:spPr>
          <a:xfrm>
            <a:off x="1883664" y="2212848"/>
            <a:ext cx="9326880" cy="256032"/>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3  ·  SETTING RULES FOR THE AI</a:t>
            </a:r>
            <a:endParaRPr lang="en-US" sz="1200" dirty="0"/>
          </a:p>
        </p:txBody>
      </p:sp>
      <p:sp>
        <p:nvSpPr>
          <p:cNvPr id="5" name="Text 3"/>
          <p:cNvSpPr/>
          <p:nvPr/>
        </p:nvSpPr>
        <p:spPr>
          <a:xfrm>
            <a:off x="1883664" y="2542032"/>
            <a:ext cx="9326880" cy="877824"/>
          </a:xfrm>
          <a:prstGeom prst="rect">
            <a:avLst/>
          </a:prstGeom>
          <a:noFill/>
          <a:ln/>
        </p:spPr>
        <p:txBody>
          <a:bodyPr wrap="square" lIns="0" tIns="0" rIns="0" bIns="0" rtlCol="0" anchor="t"/>
          <a:lstStyle/>
          <a:p>
            <a:pPr marL="0" indent="0">
              <a:lnSpc>
                <a:spcPct val="104000"/>
              </a:lnSpc>
              <a:buNone/>
            </a:pPr>
            <a:r>
              <a:rPr lang="en-US" sz="3200" b="1" dirty="0">
                <a:solidFill>
                  <a:srgbClr val="1F2733"/>
                </a:solidFill>
                <a:latin typeface="Arial" pitchFamily="34" charset="0"/>
                <a:ea typeface="Arial" pitchFamily="34" charset="-122"/>
                <a:cs typeface="Arial" pitchFamily="34" charset="-120"/>
              </a:rPr>
              <a:t>Have the AI ask questions first</a:t>
            </a:r>
            <a:endParaRPr lang="en-US" sz="3200" dirty="0"/>
          </a:p>
        </p:txBody>
      </p:sp>
      <p:sp>
        <p:nvSpPr>
          <p:cNvPr id="6" name="Text 4"/>
          <p:cNvSpPr/>
          <p:nvPr/>
        </p:nvSpPr>
        <p:spPr>
          <a:xfrm>
            <a:off x="1883664" y="3529584"/>
            <a:ext cx="932688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Known as:  </a:t>
            </a:r>
            <a:r>
              <a:rPr lang="en-US" sz="1300" b="1" dirty="0">
                <a:solidFill>
                  <a:srgbClr val="1F2733"/>
                </a:solidFill>
                <a:latin typeface="Arial" pitchFamily="34" charset="0"/>
                <a:ea typeface="Arial" pitchFamily="34" charset="-122"/>
                <a:cs typeface="Arial" pitchFamily="34" charset="-120"/>
              </a:rPr>
              <a:t>Clarifying questions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The AI can tell you what it is missing before it starts</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Shape 2"/>
          <p:cNvSpPr/>
          <p:nvPr/>
        </p:nvSpPr>
        <p:spPr>
          <a:xfrm>
            <a:off x="640080" y="2377440"/>
            <a:ext cx="5074920" cy="2103120"/>
          </a:xfrm>
          <a:prstGeom prst="roundRect">
            <a:avLst>
              <a:gd name="adj" fmla="val 1739"/>
            </a:avLst>
          </a:prstGeom>
          <a:solidFill>
            <a:srgbClr val="F5F6F8"/>
          </a:solidFill>
          <a:ln/>
        </p:spPr>
        <p:txBody>
          <a:bodyPr/>
          <a:lstStyle/>
          <a:p>
            <a:endParaRPr lang="en-US"/>
          </a:p>
        </p:txBody>
      </p:sp>
      <p:sp>
        <p:nvSpPr>
          <p:cNvPr id="6" name="Text 3"/>
          <p:cNvSpPr/>
          <p:nvPr/>
        </p:nvSpPr>
        <p:spPr>
          <a:xfrm>
            <a:off x="914400" y="2615184"/>
            <a:ext cx="4526280" cy="274320"/>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THE AI DOES NOT ASK</a:t>
            </a:r>
            <a:endParaRPr lang="en-US" sz="1200" dirty="0"/>
          </a:p>
        </p:txBody>
      </p:sp>
      <p:sp>
        <p:nvSpPr>
          <p:cNvPr id="7" name="Text 4"/>
          <p:cNvSpPr/>
          <p:nvPr/>
        </p:nvSpPr>
        <p:spPr>
          <a:xfrm>
            <a:off x="914400" y="2980944"/>
            <a:ext cx="4526280" cy="1280160"/>
          </a:xfrm>
          <a:prstGeom prst="rect">
            <a:avLst/>
          </a:prstGeom>
          <a:noFill/>
          <a:ln/>
        </p:spPr>
        <p:txBody>
          <a:bodyPr wrap="square" lIns="0" tIns="0" rIns="0" bIns="0" rtlCol="0" anchor="t"/>
          <a:lstStyle/>
          <a:p>
            <a:pPr marL="0" indent="0">
              <a:lnSpc>
                <a:spcPct val="112000"/>
              </a:lnSpc>
              <a:buNone/>
            </a:pPr>
            <a:r>
              <a:rPr lang="en-US" sz="1400" dirty="0">
                <a:solidFill>
                  <a:srgbClr val="3A4452"/>
                </a:solidFill>
                <a:latin typeface="Arial" pitchFamily="34" charset="0"/>
                <a:ea typeface="Arial" pitchFamily="34" charset="-122"/>
                <a:cs typeface="Arial" pitchFamily="34" charset="-120"/>
              </a:rPr>
              <a:t>The AI answers anyway, and you find the missing pieces in the draft.</a:t>
            </a:r>
            <a:endParaRPr lang="en-US" sz="1400" dirty="0"/>
          </a:p>
        </p:txBody>
      </p:sp>
      <p:sp>
        <p:nvSpPr>
          <p:cNvPr id="8" name="Text 5"/>
          <p:cNvSpPr/>
          <p:nvPr/>
        </p:nvSpPr>
        <p:spPr>
          <a:xfrm>
            <a:off x="5760720" y="3218688"/>
            <a:ext cx="548640" cy="420624"/>
          </a:xfrm>
          <a:prstGeom prst="rect">
            <a:avLst/>
          </a:prstGeom>
          <a:noFill/>
          <a:ln/>
        </p:spPr>
        <p:txBody>
          <a:bodyPr wrap="square" lIns="0" tIns="0" rIns="0" bIns="0" rtlCol="0" anchor="ctr"/>
          <a:lstStyle/>
          <a:p>
            <a:pPr marL="0" indent="0" algn="ctr">
              <a:buNone/>
            </a:pPr>
            <a:r>
              <a:rPr lang="en-US" sz="2000" b="1" dirty="0">
                <a:solidFill>
                  <a:srgbClr val="D31242"/>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6355080" y="2377440"/>
            <a:ext cx="5166360" cy="2103120"/>
          </a:xfrm>
          <a:prstGeom prst="roundRect">
            <a:avLst>
              <a:gd name="adj" fmla="val 1739"/>
            </a:avLst>
          </a:prstGeom>
          <a:solidFill>
            <a:srgbClr val="DCFCE7"/>
          </a:solidFill>
          <a:ln/>
        </p:spPr>
        <p:txBody>
          <a:bodyPr/>
          <a:lstStyle/>
          <a:p>
            <a:endParaRPr lang="en-US"/>
          </a:p>
        </p:txBody>
      </p:sp>
      <p:sp>
        <p:nvSpPr>
          <p:cNvPr id="10" name="Text 7"/>
          <p:cNvSpPr/>
          <p:nvPr/>
        </p:nvSpPr>
        <p:spPr>
          <a:xfrm>
            <a:off x="6629400" y="2615184"/>
            <a:ext cx="4617720" cy="274320"/>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THE AI ASKS YOU FIRST</a:t>
            </a:r>
            <a:endParaRPr lang="en-US" sz="1200" dirty="0"/>
          </a:p>
        </p:txBody>
      </p:sp>
      <p:sp>
        <p:nvSpPr>
          <p:cNvPr id="11" name="Text 8"/>
          <p:cNvSpPr/>
          <p:nvPr/>
        </p:nvSpPr>
        <p:spPr>
          <a:xfrm>
            <a:off x="6629400" y="2980944"/>
            <a:ext cx="4617720" cy="1280160"/>
          </a:xfrm>
          <a:prstGeom prst="rect">
            <a:avLst/>
          </a:prstGeom>
          <a:noFill/>
          <a:ln/>
        </p:spPr>
        <p:txBody>
          <a:bodyPr wrap="square" lIns="0" tIns="0" rIns="0" bIns="0" rtlCol="0" anchor="t"/>
          <a:lstStyle/>
          <a:p>
            <a:pPr marL="0" indent="0">
              <a:lnSpc>
                <a:spcPct val="112000"/>
              </a:lnSpc>
              <a:buNone/>
            </a:pPr>
            <a:r>
              <a:rPr lang="en-US" sz="1400" dirty="0">
                <a:solidFill>
                  <a:srgbClr val="1F2733"/>
                </a:solidFill>
                <a:latin typeface="Arial" pitchFamily="34" charset="0"/>
                <a:ea typeface="Arial" pitchFamily="34" charset="-122"/>
                <a:cs typeface="Arial" pitchFamily="34" charset="-120"/>
              </a:rPr>
              <a:t>The AI names what it needs before writing, and you supply it in one reply.</a:t>
            </a:r>
            <a:endParaRPr lang="en-US" sz="1400" dirty="0"/>
          </a:p>
        </p:txBody>
      </p:sp>
      <p:sp>
        <p:nvSpPr>
          <p:cNvPr id="12" name="Text 9"/>
          <p:cNvSpPr/>
          <p:nvPr/>
        </p:nvSpPr>
        <p:spPr>
          <a:xfrm>
            <a:off x="640080" y="4846320"/>
            <a:ext cx="10881360" cy="384048"/>
          </a:xfrm>
          <a:prstGeom prst="rect">
            <a:avLst/>
          </a:prstGeom>
          <a:noFill/>
          <a:ln/>
        </p:spPr>
        <p:txBody>
          <a:bodyPr wrap="square" lIns="0" tIns="0" rIns="0" bIns="0" rtlCol="0" anchor="ctr"/>
          <a:lstStyle/>
          <a:p>
            <a:pPr marL="0" indent="0">
              <a:buNone/>
            </a:pPr>
            <a:r>
              <a:rPr lang="en-US" sz="1500" b="1" dirty="0">
                <a:solidFill>
                  <a:srgbClr val="D31242"/>
                </a:solidFill>
                <a:latin typeface="Arial" pitchFamily="34" charset="0"/>
                <a:ea typeface="Arial" pitchFamily="34" charset="-122"/>
                <a:cs typeface="Arial" pitchFamily="34" charset="-120"/>
              </a:rPr>
              <a:t>Apply this when the task is complicated or you are not certain what to include.</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Unless the AI clarifies first, it invents the details it does not have</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Text 2"/>
          <p:cNvSpPr/>
          <p:nvPr/>
        </p:nvSpPr>
        <p:spPr>
          <a:xfrm>
            <a:off x="640080" y="1810512"/>
            <a:ext cx="5074920" cy="256032"/>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THE AI DOES NOT ASK</a:t>
            </a:r>
            <a:endParaRPr lang="en-US" sz="1200" dirty="0"/>
          </a:p>
        </p:txBody>
      </p:sp>
      <p:sp>
        <p:nvSpPr>
          <p:cNvPr id="6" name="Shape 3"/>
          <p:cNvSpPr/>
          <p:nvPr/>
        </p:nvSpPr>
        <p:spPr>
          <a:xfrm>
            <a:off x="640080" y="2121408"/>
            <a:ext cx="5074920" cy="2395728"/>
          </a:xfrm>
          <a:prstGeom prst="roundRect">
            <a:avLst>
              <a:gd name="adj" fmla="val 1527"/>
            </a:avLst>
          </a:prstGeom>
          <a:solidFill>
            <a:srgbClr val="F5F6F8"/>
          </a:solidFill>
          <a:ln/>
        </p:spPr>
        <p:txBody>
          <a:bodyPr/>
          <a:lstStyle/>
          <a:p>
            <a:endParaRPr lang="en-US"/>
          </a:p>
        </p:txBody>
      </p:sp>
      <p:sp>
        <p:nvSpPr>
          <p:cNvPr id="7" name="Text 4"/>
          <p:cNvSpPr/>
          <p:nvPr/>
        </p:nvSpPr>
        <p:spPr>
          <a:xfrm>
            <a:off x="914400" y="2304288"/>
            <a:ext cx="452628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8" name="Text 5"/>
          <p:cNvSpPr/>
          <p:nvPr/>
        </p:nvSpPr>
        <p:spPr>
          <a:xfrm>
            <a:off x="914400" y="2615184"/>
            <a:ext cx="452628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Write a note to the club teams about the new inventory count schedule.</a:t>
            </a:r>
            <a:endParaRPr lang="en-US" sz="1300" dirty="0"/>
          </a:p>
        </p:txBody>
      </p:sp>
      <p:sp>
        <p:nvSpPr>
          <p:cNvPr id="9" name="Shape 6"/>
          <p:cNvSpPr/>
          <p:nvPr/>
        </p:nvSpPr>
        <p:spPr>
          <a:xfrm>
            <a:off x="640080" y="4645152"/>
            <a:ext cx="5074920" cy="1627632"/>
          </a:xfrm>
          <a:prstGeom prst="roundRect">
            <a:avLst>
              <a:gd name="adj" fmla="val 2247"/>
            </a:avLst>
          </a:prstGeom>
          <a:solidFill>
            <a:srgbClr val="FEE2E2"/>
          </a:solidFill>
          <a:ln/>
        </p:spPr>
        <p:txBody>
          <a:bodyPr/>
          <a:lstStyle/>
          <a:p>
            <a:endParaRPr lang="en-US"/>
          </a:p>
        </p:txBody>
      </p:sp>
      <p:sp>
        <p:nvSpPr>
          <p:cNvPr id="10" name="Text 7"/>
          <p:cNvSpPr/>
          <p:nvPr/>
        </p:nvSpPr>
        <p:spPr>
          <a:xfrm>
            <a:off x="914400" y="4828032"/>
            <a:ext cx="4526280" cy="219456"/>
          </a:xfrm>
          <a:prstGeom prst="rect">
            <a:avLst/>
          </a:prstGeom>
          <a:noFill/>
          <a:ln/>
        </p:spPr>
        <p:txBody>
          <a:bodyPr wrap="square" lIns="0" tIns="0" rIns="0" bIns="0" rtlCol="0" anchor="ctr"/>
          <a:lstStyle/>
          <a:p>
            <a:pPr marL="0" indent="0">
              <a:buNone/>
            </a:pPr>
            <a:r>
              <a:rPr lang="en-US" sz="1200" b="1" dirty="0">
                <a:solidFill>
                  <a:srgbClr val="B91C1C"/>
                </a:solidFill>
                <a:latin typeface="Arial" pitchFamily="34" charset="0"/>
                <a:ea typeface="Arial" pitchFamily="34" charset="-122"/>
                <a:cs typeface="Arial" pitchFamily="34" charset="-120"/>
              </a:rPr>
              <a:t>RESPONSE</a:t>
            </a:r>
            <a:endParaRPr lang="en-US" sz="1200" dirty="0"/>
          </a:p>
        </p:txBody>
      </p:sp>
      <p:sp>
        <p:nvSpPr>
          <p:cNvPr id="11" name="Text 8"/>
          <p:cNvSpPr/>
          <p:nvPr/>
        </p:nvSpPr>
        <p:spPr>
          <a:xfrm>
            <a:off x="914400" y="5102352"/>
            <a:ext cx="452628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Team, starting next month we are moving to a new inventory count schedule. Counts will run overnight and every department should prepare in advance. Please reach out to your manager with any questions.</a:t>
            </a:r>
            <a:endParaRPr lang="en-US" sz="1300" dirty="0"/>
          </a:p>
        </p:txBody>
      </p:sp>
      <p:sp>
        <p:nvSpPr>
          <p:cNvPr id="12" name="Text 9"/>
          <p:cNvSpPr/>
          <p:nvPr/>
        </p:nvSpPr>
        <p:spPr>
          <a:xfrm>
            <a:off x="6355080" y="1810512"/>
            <a:ext cx="5166360" cy="256032"/>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THE AI ASKS YOU FIRST</a:t>
            </a:r>
            <a:endParaRPr lang="en-US" sz="1200" dirty="0"/>
          </a:p>
        </p:txBody>
      </p:sp>
      <p:sp>
        <p:nvSpPr>
          <p:cNvPr id="13" name="Shape 10"/>
          <p:cNvSpPr/>
          <p:nvPr/>
        </p:nvSpPr>
        <p:spPr>
          <a:xfrm>
            <a:off x="6355080" y="2121408"/>
            <a:ext cx="5166360" cy="2395728"/>
          </a:xfrm>
          <a:prstGeom prst="roundRect">
            <a:avLst>
              <a:gd name="adj" fmla="val 1527"/>
            </a:avLst>
          </a:prstGeom>
          <a:solidFill>
            <a:srgbClr val="F5F6F8"/>
          </a:solidFill>
          <a:ln/>
        </p:spPr>
        <p:txBody>
          <a:bodyPr/>
          <a:lstStyle/>
          <a:p>
            <a:endParaRPr lang="en-US"/>
          </a:p>
        </p:txBody>
      </p:sp>
      <p:sp>
        <p:nvSpPr>
          <p:cNvPr id="14" name="Text 11"/>
          <p:cNvSpPr/>
          <p:nvPr/>
        </p:nvSpPr>
        <p:spPr>
          <a:xfrm>
            <a:off x="6629400" y="2304288"/>
            <a:ext cx="461772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15" name="Text 12"/>
          <p:cNvSpPr/>
          <p:nvPr/>
        </p:nvSpPr>
        <p:spPr>
          <a:xfrm>
            <a:off x="6629400" y="2615184"/>
            <a:ext cx="461772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Write a note to the club teams about the new inventory count schedule.
</a:t>
            </a:r>
            <a:r>
              <a:rPr lang="en-US" sz="1300" b="1" dirty="0">
                <a:solidFill>
                  <a:srgbClr val="15803D"/>
                </a:solidFill>
                <a:latin typeface="Arial" pitchFamily="34" charset="0"/>
                <a:ea typeface="Arial" pitchFamily="34" charset="-122"/>
                <a:cs typeface="Arial" pitchFamily="34" charset="-120"/>
              </a:rPr>
              <a:t>If you need more information from me, ask me the key questions first.</a:t>
            </a:r>
            <a:endParaRPr lang="en-US" sz="1300" dirty="0"/>
          </a:p>
        </p:txBody>
      </p:sp>
      <p:sp>
        <p:nvSpPr>
          <p:cNvPr id="16" name="Shape 13"/>
          <p:cNvSpPr/>
          <p:nvPr/>
        </p:nvSpPr>
        <p:spPr>
          <a:xfrm>
            <a:off x="6355080" y="4645152"/>
            <a:ext cx="5166360" cy="1627632"/>
          </a:xfrm>
          <a:prstGeom prst="roundRect">
            <a:avLst>
              <a:gd name="adj" fmla="val 2247"/>
            </a:avLst>
          </a:prstGeom>
          <a:solidFill>
            <a:srgbClr val="DCFCE7"/>
          </a:solidFill>
          <a:ln/>
        </p:spPr>
        <p:txBody>
          <a:bodyPr/>
          <a:lstStyle/>
          <a:p>
            <a:endParaRPr lang="en-US"/>
          </a:p>
        </p:txBody>
      </p:sp>
      <p:sp>
        <p:nvSpPr>
          <p:cNvPr id="17" name="Text 14"/>
          <p:cNvSpPr/>
          <p:nvPr/>
        </p:nvSpPr>
        <p:spPr>
          <a:xfrm>
            <a:off x="6629400" y="4828032"/>
            <a:ext cx="4617720" cy="219456"/>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RESPONSE</a:t>
            </a:r>
            <a:endParaRPr lang="en-US" sz="1200" dirty="0"/>
          </a:p>
        </p:txBody>
      </p:sp>
      <p:sp>
        <p:nvSpPr>
          <p:cNvPr id="18" name="Text 15"/>
          <p:cNvSpPr/>
          <p:nvPr/>
        </p:nvSpPr>
        <p:spPr>
          <a:xfrm>
            <a:off x="6629400" y="5102352"/>
            <a:ext cx="461772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1.  Which clubs does this apply to?</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2.  What is the effective date?</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3.  Does this replace the current weekly count?</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4.  Who should people contact with questions?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615184"/>
            <a:ext cx="731520" cy="731520"/>
          </a:xfrm>
          <a:prstGeom prst="ellipse">
            <a:avLst/>
          </a:prstGeom>
          <a:solidFill>
            <a:srgbClr val="D31242"/>
          </a:solidFill>
          <a:ln/>
        </p:spPr>
        <p:txBody>
          <a:bodyPr/>
          <a:lstStyle/>
          <a:p>
            <a:endParaRPr lang="en-US"/>
          </a:p>
        </p:txBody>
      </p:sp>
      <p:sp>
        <p:nvSpPr>
          <p:cNvPr id="3" name="Text 1"/>
          <p:cNvSpPr/>
          <p:nvPr/>
        </p:nvSpPr>
        <p:spPr>
          <a:xfrm>
            <a:off x="822960" y="2615184"/>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6</a:t>
            </a:r>
            <a:endParaRPr lang="en-US" sz="2400" dirty="0"/>
          </a:p>
        </p:txBody>
      </p:sp>
      <p:sp>
        <p:nvSpPr>
          <p:cNvPr id="4" name="Text 2"/>
          <p:cNvSpPr/>
          <p:nvPr/>
        </p:nvSpPr>
        <p:spPr>
          <a:xfrm>
            <a:off x="1883664" y="2212848"/>
            <a:ext cx="9326880" cy="256032"/>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3  ·  SETTING RULES FOR THE AI</a:t>
            </a:r>
            <a:endParaRPr lang="en-US" sz="1200" dirty="0"/>
          </a:p>
        </p:txBody>
      </p:sp>
      <p:sp>
        <p:nvSpPr>
          <p:cNvPr id="5" name="Text 3"/>
          <p:cNvSpPr/>
          <p:nvPr/>
        </p:nvSpPr>
        <p:spPr>
          <a:xfrm>
            <a:off x="1883664" y="2542032"/>
            <a:ext cx="9326880" cy="877824"/>
          </a:xfrm>
          <a:prstGeom prst="rect">
            <a:avLst/>
          </a:prstGeom>
          <a:noFill/>
          <a:ln/>
        </p:spPr>
        <p:txBody>
          <a:bodyPr wrap="square" lIns="0" tIns="0" rIns="0" bIns="0" rtlCol="0" anchor="t"/>
          <a:lstStyle/>
          <a:p>
            <a:pPr marL="0" indent="0">
              <a:lnSpc>
                <a:spcPct val="104000"/>
              </a:lnSpc>
              <a:buNone/>
            </a:pPr>
            <a:r>
              <a:rPr lang="en-US" sz="3200" b="1" dirty="0">
                <a:solidFill>
                  <a:srgbClr val="1F2733"/>
                </a:solidFill>
                <a:latin typeface="Arial" pitchFamily="34" charset="0"/>
                <a:ea typeface="Arial" pitchFamily="34" charset="-122"/>
                <a:cs typeface="Arial" pitchFamily="34" charset="-120"/>
              </a:rPr>
              <a:t>Allow the AI to say “I don’t know”</a:t>
            </a:r>
            <a:endParaRPr lang="en-US" sz="3200" dirty="0"/>
          </a:p>
        </p:txBody>
      </p:sp>
      <p:sp>
        <p:nvSpPr>
          <p:cNvPr id="6" name="Text 4"/>
          <p:cNvSpPr/>
          <p:nvPr/>
        </p:nvSpPr>
        <p:spPr>
          <a:xfrm>
            <a:off x="1883664" y="3529584"/>
            <a:ext cx="932688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Known as:  </a:t>
            </a:r>
            <a:r>
              <a:rPr lang="en-US" sz="1300" b="1" dirty="0">
                <a:solidFill>
                  <a:srgbClr val="1F2733"/>
                </a:solidFill>
                <a:latin typeface="Arial" pitchFamily="34" charset="0"/>
                <a:ea typeface="Arial" pitchFamily="34" charset="-122"/>
                <a:cs typeface="Arial" pitchFamily="34" charset="-120"/>
              </a:rPr>
              <a:t>Expressing uncertainty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The AI is trained to guess rather than leave an answer blank</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Shape 2"/>
          <p:cNvSpPr/>
          <p:nvPr/>
        </p:nvSpPr>
        <p:spPr>
          <a:xfrm>
            <a:off x="640080" y="2377440"/>
            <a:ext cx="5074920" cy="2103120"/>
          </a:xfrm>
          <a:prstGeom prst="roundRect">
            <a:avLst>
              <a:gd name="adj" fmla="val 1739"/>
            </a:avLst>
          </a:prstGeom>
          <a:solidFill>
            <a:srgbClr val="F5F6F8"/>
          </a:solidFill>
          <a:ln/>
        </p:spPr>
        <p:txBody>
          <a:bodyPr/>
          <a:lstStyle/>
          <a:p>
            <a:endParaRPr lang="en-US"/>
          </a:p>
        </p:txBody>
      </p:sp>
      <p:sp>
        <p:nvSpPr>
          <p:cNvPr id="6" name="Text 3"/>
          <p:cNvSpPr/>
          <p:nvPr/>
        </p:nvSpPr>
        <p:spPr>
          <a:xfrm>
            <a:off x="914400" y="2615184"/>
            <a:ext cx="4526280" cy="274320"/>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NO PERMISSION GIVEN</a:t>
            </a:r>
            <a:endParaRPr lang="en-US" sz="1200" dirty="0"/>
          </a:p>
        </p:txBody>
      </p:sp>
      <p:sp>
        <p:nvSpPr>
          <p:cNvPr id="7" name="Text 4"/>
          <p:cNvSpPr/>
          <p:nvPr/>
        </p:nvSpPr>
        <p:spPr>
          <a:xfrm>
            <a:off x="914400" y="2980944"/>
            <a:ext cx="4526280" cy="1280160"/>
          </a:xfrm>
          <a:prstGeom prst="rect">
            <a:avLst/>
          </a:prstGeom>
          <a:noFill/>
          <a:ln/>
        </p:spPr>
        <p:txBody>
          <a:bodyPr wrap="square" lIns="0" tIns="0" rIns="0" bIns="0" rtlCol="0" anchor="t"/>
          <a:lstStyle/>
          <a:p>
            <a:pPr marL="0" indent="0">
              <a:lnSpc>
                <a:spcPct val="112000"/>
              </a:lnSpc>
              <a:buNone/>
            </a:pPr>
            <a:r>
              <a:rPr lang="en-US" sz="1400" dirty="0">
                <a:solidFill>
                  <a:srgbClr val="3A4452"/>
                </a:solidFill>
                <a:latin typeface="Arial" pitchFamily="34" charset="0"/>
                <a:ea typeface="Arial" pitchFamily="34" charset="-122"/>
                <a:cs typeface="Arial" pitchFamily="34" charset="-120"/>
              </a:rPr>
              <a:t>The AI usually produces a confident answer, even where it has little to base one on.</a:t>
            </a:r>
            <a:endParaRPr lang="en-US" sz="1400" dirty="0"/>
          </a:p>
        </p:txBody>
      </p:sp>
      <p:sp>
        <p:nvSpPr>
          <p:cNvPr id="8" name="Text 5"/>
          <p:cNvSpPr/>
          <p:nvPr/>
        </p:nvSpPr>
        <p:spPr>
          <a:xfrm>
            <a:off x="5760720" y="3218688"/>
            <a:ext cx="548640" cy="420624"/>
          </a:xfrm>
          <a:prstGeom prst="rect">
            <a:avLst/>
          </a:prstGeom>
          <a:noFill/>
          <a:ln/>
        </p:spPr>
        <p:txBody>
          <a:bodyPr wrap="square" lIns="0" tIns="0" rIns="0" bIns="0" rtlCol="0" anchor="ctr"/>
          <a:lstStyle/>
          <a:p>
            <a:pPr marL="0" indent="0" algn="ctr">
              <a:buNone/>
            </a:pPr>
            <a:r>
              <a:rPr lang="en-US" sz="2000" b="1" dirty="0">
                <a:solidFill>
                  <a:srgbClr val="D31242"/>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6355080" y="2377440"/>
            <a:ext cx="5166360" cy="2103120"/>
          </a:xfrm>
          <a:prstGeom prst="roundRect">
            <a:avLst>
              <a:gd name="adj" fmla="val 1739"/>
            </a:avLst>
          </a:prstGeom>
          <a:solidFill>
            <a:srgbClr val="DCFCE7"/>
          </a:solidFill>
          <a:ln/>
        </p:spPr>
        <p:txBody>
          <a:bodyPr/>
          <a:lstStyle/>
          <a:p>
            <a:endParaRPr lang="en-US"/>
          </a:p>
        </p:txBody>
      </p:sp>
      <p:sp>
        <p:nvSpPr>
          <p:cNvPr id="10" name="Text 7"/>
          <p:cNvSpPr/>
          <p:nvPr/>
        </p:nvSpPr>
        <p:spPr>
          <a:xfrm>
            <a:off x="6629400" y="2615184"/>
            <a:ext cx="4617720" cy="274320"/>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ALLOWED TO SAY “I DON’T KNOW”</a:t>
            </a:r>
            <a:endParaRPr lang="en-US" sz="1200" dirty="0"/>
          </a:p>
        </p:txBody>
      </p:sp>
      <p:sp>
        <p:nvSpPr>
          <p:cNvPr id="11" name="Text 8"/>
          <p:cNvSpPr/>
          <p:nvPr/>
        </p:nvSpPr>
        <p:spPr>
          <a:xfrm>
            <a:off x="6629400" y="2980944"/>
            <a:ext cx="4617720" cy="1280160"/>
          </a:xfrm>
          <a:prstGeom prst="rect">
            <a:avLst/>
          </a:prstGeom>
          <a:noFill/>
          <a:ln/>
        </p:spPr>
        <p:txBody>
          <a:bodyPr wrap="square" lIns="0" tIns="0" rIns="0" bIns="0" rtlCol="0" anchor="t"/>
          <a:lstStyle/>
          <a:p>
            <a:pPr marL="0" indent="0">
              <a:lnSpc>
                <a:spcPct val="112000"/>
              </a:lnSpc>
              <a:buNone/>
            </a:pPr>
            <a:r>
              <a:rPr lang="en-US" sz="1400" dirty="0">
                <a:solidFill>
                  <a:srgbClr val="1F2733"/>
                </a:solidFill>
                <a:latin typeface="Arial" pitchFamily="34" charset="0"/>
                <a:ea typeface="Arial" pitchFamily="34" charset="-122"/>
                <a:cs typeface="Arial" pitchFamily="34" charset="-120"/>
              </a:rPr>
              <a:t>The AI tells you when the answer is not in what you gave it.</a:t>
            </a:r>
            <a:endParaRPr lang="en-US" sz="1400" dirty="0"/>
          </a:p>
        </p:txBody>
      </p:sp>
      <p:sp>
        <p:nvSpPr>
          <p:cNvPr id="12" name="Text 9"/>
          <p:cNvSpPr/>
          <p:nvPr/>
        </p:nvSpPr>
        <p:spPr>
          <a:xfrm>
            <a:off x="640080" y="4846320"/>
            <a:ext cx="10881360" cy="384048"/>
          </a:xfrm>
          <a:prstGeom prst="rect">
            <a:avLst/>
          </a:prstGeom>
          <a:noFill/>
          <a:ln/>
        </p:spPr>
        <p:txBody>
          <a:bodyPr wrap="square" lIns="0" tIns="0" rIns="0" bIns="0" rtlCol="0" anchor="ctr"/>
          <a:lstStyle/>
          <a:p>
            <a:pPr marL="0" indent="0">
              <a:buNone/>
            </a:pPr>
            <a:r>
              <a:rPr lang="en-US" sz="1500" b="1" dirty="0">
                <a:solidFill>
                  <a:srgbClr val="D31242"/>
                </a:solidFill>
                <a:latin typeface="Arial" pitchFamily="34" charset="0"/>
                <a:ea typeface="Arial" pitchFamily="34" charset="-122"/>
                <a:cs typeface="Arial" pitchFamily="34" charset="-120"/>
              </a:rPr>
              <a:t>Apply this when a wrong answer costs more than no answer.</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Unless you allow it, the AI usually fills the gap with a guess</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Text 2"/>
          <p:cNvSpPr/>
          <p:nvPr/>
        </p:nvSpPr>
        <p:spPr>
          <a:xfrm>
            <a:off x="640080" y="1810512"/>
            <a:ext cx="5074920" cy="256032"/>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NO PERMISSION GIVEN</a:t>
            </a:r>
            <a:endParaRPr lang="en-US" sz="1200" dirty="0"/>
          </a:p>
        </p:txBody>
      </p:sp>
      <p:sp>
        <p:nvSpPr>
          <p:cNvPr id="6" name="Shape 3"/>
          <p:cNvSpPr/>
          <p:nvPr/>
        </p:nvSpPr>
        <p:spPr>
          <a:xfrm>
            <a:off x="640080" y="2121408"/>
            <a:ext cx="5074920" cy="2395728"/>
          </a:xfrm>
          <a:prstGeom prst="roundRect">
            <a:avLst>
              <a:gd name="adj" fmla="val 1527"/>
            </a:avLst>
          </a:prstGeom>
          <a:solidFill>
            <a:srgbClr val="F5F6F8"/>
          </a:solidFill>
          <a:ln/>
        </p:spPr>
        <p:txBody>
          <a:bodyPr/>
          <a:lstStyle/>
          <a:p>
            <a:endParaRPr lang="en-US"/>
          </a:p>
        </p:txBody>
      </p:sp>
      <p:sp>
        <p:nvSpPr>
          <p:cNvPr id="7" name="Text 4"/>
          <p:cNvSpPr/>
          <p:nvPr/>
        </p:nvSpPr>
        <p:spPr>
          <a:xfrm>
            <a:off x="914400" y="2304288"/>
            <a:ext cx="452628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8" name="Text 5"/>
          <p:cNvSpPr/>
          <p:nvPr/>
        </p:nvSpPr>
        <p:spPr>
          <a:xfrm>
            <a:off x="914400" y="2615184"/>
            <a:ext cx="452628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What warranty comes with the UC-48 refrigerator?
</a:t>
            </a:r>
            <a:r>
              <a:rPr lang="en-US" sz="1300" dirty="0">
                <a:solidFill>
                  <a:srgbClr val="3A4452"/>
                </a:solidFill>
                <a:latin typeface="Arial" pitchFamily="34" charset="0"/>
                <a:ea typeface="Arial" pitchFamily="34" charset="-122"/>
                <a:cs typeface="Arial" pitchFamily="34" charset="-120"/>
              </a:rPr>
              <a:t>Spec sheet, Model UC-48: 48 in. undercounter refrigerator  ·  115V, 4.2 amps  ·  6.5 cu ft  ·  temperature range 33–41F  ·  stainless exterior  ·  self-closing door  ·  ships assembled</a:t>
            </a:r>
            <a:endParaRPr lang="en-US" sz="1300" dirty="0"/>
          </a:p>
        </p:txBody>
      </p:sp>
      <p:sp>
        <p:nvSpPr>
          <p:cNvPr id="9" name="Shape 6"/>
          <p:cNvSpPr/>
          <p:nvPr/>
        </p:nvSpPr>
        <p:spPr>
          <a:xfrm>
            <a:off x="640080" y="4645152"/>
            <a:ext cx="5074920" cy="1627632"/>
          </a:xfrm>
          <a:prstGeom prst="roundRect">
            <a:avLst>
              <a:gd name="adj" fmla="val 2247"/>
            </a:avLst>
          </a:prstGeom>
          <a:solidFill>
            <a:srgbClr val="FEE2E2"/>
          </a:solidFill>
          <a:ln/>
        </p:spPr>
        <p:txBody>
          <a:bodyPr/>
          <a:lstStyle/>
          <a:p>
            <a:endParaRPr lang="en-US"/>
          </a:p>
        </p:txBody>
      </p:sp>
      <p:sp>
        <p:nvSpPr>
          <p:cNvPr id="10" name="Text 7"/>
          <p:cNvSpPr/>
          <p:nvPr/>
        </p:nvSpPr>
        <p:spPr>
          <a:xfrm>
            <a:off x="914400" y="4828032"/>
            <a:ext cx="4526280" cy="219456"/>
          </a:xfrm>
          <a:prstGeom prst="rect">
            <a:avLst/>
          </a:prstGeom>
          <a:noFill/>
          <a:ln/>
        </p:spPr>
        <p:txBody>
          <a:bodyPr wrap="square" lIns="0" tIns="0" rIns="0" bIns="0" rtlCol="0" anchor="ctr"/>
          <a:lstStyle/>
          <a:p>
            <a:pPr marL="0" indent="0">
              <a:buNone/>
            </a:pPr>
            <a:r>
              <a:rPr lang="en-US" sz="1200" b="1" dirty="0">
                <a:solidFill>
                  <a:srgbClr val="B91C1C"/>
                </a:solidFill>
                <a:latin typeface="Arial" pitchFamily="34" charset="0"/>
                <a:ea typeface="Arial" pitchFamily="34" charset="-122"/>
                <a:cs typeface="Arial" pitchFamily="34" charset="-120"/>
              </a:rPr>
              <a:t>RESPONSE</a:t>
            </a:r>
            <a:endParaRPr lang="en-US" sz="1200" dirty="0"/>
          </a:p>
        </p:txBody>
      </p:sp>
      <p:sp>
        <p:nvSpPr>
          <p:cNvPr id="11" name="Text 8"/>
          <p:cNvSpPr/>
          <p:nvPr/>
        </p:nvSpPr>
        <p:spPr>
          <a:xfrm>
            <a:off x="914400" y="5102352"/>
            <a:ext cx="452628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Units in this class typically carry a two-year manufacturer warranty covering parts and labor, with five years on the compressor.</a:t>
            </a:r>
            <a:endParaRPr lang="en-US" sz="1300" dirty="0"/>
          </a:p>
        </p:txBody>
      </p:sp>
      <p:sp>
        <p:nvSpPr>
          <p:cNvPr id="12" name="Text 9"/>
          <p:cNvSpPr/>
          <p:nvPr/>
        </p:nvSpPr>
        <p:spPr>
          <a:xfrm>
            <a:off x="6355080" y="1810512"/>
            <a:ext cx="5166360" cy="256032"/>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ALLOWED TO SAY “I DON’T KNOW”</a:t>
            </a:r>
            <a:endParaRPr lang="en-US" sz="1200" dirty="0"/>
          </a:p>
        </p:txBody>
      </p:sp>
      <p:sp>
        <p:nvSpPr>
          <p:cNvPr id="13" name="Shape 10"/>
          <p:cNvSpPr/>
          <p:nvPr/>
        </p:nvSpPr>
        <p:spPr>
          <a:xfrm>
            <a:off x="6355080" y="2121408"/>
            <a:ext cx="5166360" cy="2395728"/>
          </a:xfrm>
          <a:prstGeom prst="roundRect">
            <a:avLst>
              <a:gd name="adj" fmla="val 1527"/>
            </a:avLst>
          </a:prstGeom>
          <a:solidFill>
            <a:srgbClr val="F5F6F8"/>
          </a:solidFill>
          <a:ln/>
        </p:spPr>
        <p:txBody>
          <a:bodyPr/>
          <a:lstStyle/>
          <a:p>
            <a:endParaRPr lang="en-US"/>
          </a:p>
        </p:txBody>
      </p:sp>
      <p:sp>
        <p:nvSpPr>
          <p:cNvPr id="14" name="Text 11"/>
          <p:cNvSpPr/>
          <p:nvPr/>
        </p:nvSpPr>
        <p:spPr>
          <a:xfrm>
            <a:off x="6629400" y="2304288"/>
            <a:ext cx="4617720" cy="219456"/>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PROMPT</a:t>
            </a:r>
            <a:endParaRPr lang="en-US" sz="1200" dirty="0"/>
          </a:p>
        </p:txBody>
      </p:sp>
      <p:sp>
        <p:nvSpPr>
          <p:cNvPr id="15" name="Text 12"/>
          <p:cNvSpPr/>
          <p:nvPr/>
        </p:nvSpPr>
        <p:spPr>
          <a:xfrm>
            <a:off x="6629400" y="2615184"/>
            <a:ext cx="4617720" cy="1810512"/>
          </a:xfrm>
          <a:prstGeom prst="rect">
            <a:avLst/>
          </a:prstGeom>
          <a:noFill/>
          <a:ln/>
        </p:spPr>
        <p:txBody>
          <a:bodyPr wrap="square" lIns="0" tIns="0" rIns="0" bIns="0" rtlCol="0" anchor="t"/>
          <a:lstStyle/>
          <a:p>
            <a:pPr marL="0" indent="0">
              <a:lnSpc>
                <a:spcPct val="115000"/>
              </a:lnSpc>
              <a:buNone/>
            </a:pPr>
            <a:r>
              <a:rPr lang="en-US" sz="1300" b="1" dirty="0">
                <a:solidFill>
                  <a:srgbClr val="1F2733"/>
                </a:solidFill>
                <a:latin typeface="Arial" pitchFamily="34" charset="0"/>
                <a:ea typeface="Arial" pitchFamily="34" charset="-122"/>
                <a:cs typeface="Arial" pitchFamily="34" charset="-120"/>
              </a:rPr>
              <a:t>What warranty comes with the UC-48 refrigerator?
</a:t>
            </a:r>
            <a:r>
              <a:rPr lang="en-US" sz="1300" b="1" dirty="0">
                <a:solidFill>
                  <a:srgbClr val="15803D"/>
                </a:solidFill>
                <a:latin typeface="Arial" pitchFamily="34" charset="0"/>
                <a:ea typeface="Arial" pitchFamily="34" charset="-122"/>
                <a:cs typeface="Arial" pitchFamily="34" charset="-120"/>
              </a:rPr>
              <a:t>Answer only from this spec sheet. If it is not stated there, say that.
</a:t>
            </a:r>
            <a:r>
              <a:rPr lang="en-US" sz="1300" dirty="0">
                <a:solidFill>
                  <a:srgbClr val="3A4452"/>
                </a:solidFill>
                <a:latin typeface="Arial" pitchFamily="34" charset="0"/>
                <a:ea typeface="Arial" pitchFamily="34" charset="-122"/>
                <a:cs typeface="Arial" pitchFamily="34" charset="-120"/>
              </a:rPr>
              <a:t>Spec sheet, Model UC-48: 48 in. undercounter refrigerator  ·  115V, 4.2 amps  ·  6.5 cu ft  ·  temperature range 33–41F  ·  stainless exterior  ·  self-closing door  ·  ships assembled</a:t>
            </a:r>
            <a:endParaRPr lang="en-US" sz="1300" dirty="0"/>
          </a:p>
        </p:txBody>
      </p:sp>
      <p:sp>
        <p:nvSpPr>
          <p:cNvPr id="16" name="Shape 13"/>
          <p:cNvSpPr/>
          <p:nvPr/>
        </p:nvSpPr>
        <p:spPr>
          <a:xfrm>
            <a:off x="6355080" y="4645152"/>
            <a:ext cx="5166360" cy="1627632"/>
          </a:xfrm>
          <a:prstGeom prst="roundRect">
            <a:avLst>
              <a:gd name="adj" fmla="val 2247"/>
            </a:avLst>
          </a:prstGeom>
          <a:solidFill>
            <a:srgbClr val="DCFCE7"/>
          </a:solidFill>
          <a:ln/>
        </p:spPr>
        <p:txBody>
          <a:bodyPr/>
          <a:lstStyle/>
          <a:p>
            <a:endParaRPr lang="en-US"/>
          </a:p>
        </p:txBody>
      </p:sp>
      <p:sp>
        <p:nvSpPr>
          <p:cNvPr id="17" name="Text 14"/>
          <p:cNvSpPr/>
          <p:nvPr/>
        </p:nvSpPr>
        <p:spPr>
          <a:xfrm>
            <a:off x="6629400" y="4828032"/>
            <a:ext cx="4617720" cy="219456"/>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RESPONSE</a:t>
            </a:r>
            <a:endParaRPr lang="en-US" sz="1200" dirty="0"/>
          </a:p>
        </p:txBody>
      </p:sp>
      <p:sp>
        <p:nvSpPr>
          <p:cNvPr id="18" name="Text 15"/>
          <p:cNvSpPr/>
          <p:nvPr/>
        </p:nvSpPr>
        <p:spPr>
          <a:xfrm>
            <a:off x="6629400" y="5102352"/>
            <a:ext cx="4617720" cy="106070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The spec sheet does not state a warranty. Request the warranty terms from the vendor.</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615184"/>
            <a:ext cx="731520" cy="731520"/>
          </a:xfrm>
          <a:prstGeom prst="ellipse">
            <a:avLst/>
          </a:prstGeom>
          <a:solidFill>
            <a:srgbClr val="D31242"/>
          </a:solidFill>
          <a:ln/>
        </p:spPr>
        <p:txBody>
          <a:bodyPr/>
          <a:lstStyle/>
          <a:p>
            <a:endParaRPr lang="en-US"/>
          </a:p>
        </p:txBody>
      </p:sp>
      <p:sp>
        <p:nvSpPr>
          <p:cNvPr id="3" name="Text 1"/>
          <p:cNvSpPr/>
          <p:nvPr/>
        </p:nvSpPr>
        <p:spPr>
          <a:xfrm>
            <a:off x="822960" y="2615184"/>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7</a:t>
            </a:r>
            <a:endParaRPr lang="en-US" sz="2400" dirty="0"/>
          </a:p>
        </p:txBody>
      </p:sp>
      <p:sp>
        <p:nvSpPr>
          <p:cNvPr id="4" name="Text 2"/>
          <p:cNvSpPr/>
          <p:nvPr/>
        </p:nvSpPr>
        <p:spPr>
          <a:xfrm>
            <a:off x="1883664" y="2212848"/>
            <a:ext cx="9326880" cy="256032"/>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4  ·  REVIEWING AND REFINING THE WORK</a:t>
            </a:r>
            <a:endParaRPr lang="en-US" sz="1200" dirty="0"/>
          </a:p>
        </p:txBody>
      </p:sp>
      <p:sp>
        <p:nvSpPr>
          <p:cNvPr id="5" name="Text 3"/>
          <p:cNvSpPr/>
          <p:nvPr/>
        </p:nvSpPr>
        <p:spPr>
          <a:xfrm>
            <a:off x="1883664" y="2542032"/>
            <a:ext cx="9326880" cy="877824"/>
          </a:xfrm>
          <a:prstGeom prst="rect">
            <a:avLst/>
          </a:prstGeom>
          <a:noFill/>
          <a:ln/>
        </p:spPr>
        <p:txBody>
          <a:bodyPr wrap="square" lIns="0" tIns="0" rIns="0" bIns="0" rtlCol="0" anchor="t"/>
          <a:lstStyle/>
          <a:p>
            <a:pPr marL="0" indent="0">
              <a:lnSpc>
                <a:spcPct val="104000"/>
              </a:lnSpc>
              <a:buNone/>
            </a:pPr>
            <a:r>
              <a:rPr lang="en-US" sz="3200" b="1" dirty="0">
                <a:solidFill>
                  <a:srgbClr val="1F2733"/>
                </a:solidFill>
                <a:latin typeface="Arial" pitchFamily="34" charset="0"/>
                <a:ea typeface="Arial" pitchFamily="34" charset="-122"/>
                <a:cs typeface="Arial" pitchFamily="34" charset="-120"/>
              </a:rPr>
              <a:t>Ask the AI to critique and improve the draft</a:t>
            </a:r>
            <a:endParaRPr lang="en-US" sz="3200" dirty="0"/>
          </a:p>
        </p:txBody>
      </p:sp>
      <p:sp>
        <p:nvSpPr>
          <p:cNvPr id="6" name="Text 4"/>
          <p:cNvSpPr/>
          <p:nvPr/>
        </p:nvSpPr>
        <p:spPr>
          <a:xfrm>
            <a:off x="1883664" y="3529584"/>
            <a:ext cx="932688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Known as:  </a:t>
            </a:r>
            <a:r>
              <a:rPr lang="en-US" sz="1300" b="1" dirty="0">
                <a:solidFill>
                  <a:srgbClr val="1F2733"/>
                </a:solidFill>
                <a:latin typeface="Arial" pitchFamily="34" charset="0"/>
                <a:ea typeface="Arial" pitchFamily="34" charset="-122"/>
                <a:cs typeface="Arial" pitchFamily="34" charset="-120"/>
              </a:rPr>
              <a:t>Self-refinement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The AI will improve its own draft if you ask it to</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Shape 2"/>
          <p:cNvSpPr/>
          <p:nvPr/>
        </p:nvSpPr>
        <p:spPr>
          <a:xfrm>
            <a:off x="640080" y="2377440"/>
            <a:ext cx="5074920" cy="2103120"/>
          </a:xfrm>
          <a:prstGeom prst="roundRect">
            <a:avLst>
              <a:gd name="adj" fmla="val 1739"/>
            </a:avLst>
          </a:prstGeom>
          <a:solidFill>
            <a:srgbClr val="F5F6F8"/>
          </a:solidFill>
          <a:ln/>
        </p:spPr>
        <p:txBody>
          <a:bodyPr/>
          <a:lstStyle/>
          <a:p>
            <a:endParaRPr lang="en-US"/>
          </a:p>
        </p:txBody>
      </p:sp>
      <p:sp>
        <p:nvSpPr>
          <p:cNvPr id="6" name="Text 3"/>
          <p:cNvSpPr/>
          <p:nvPr/>
        </p:nvSpPr>
        <p:spPr>
          <a:xfrm>
            <a:off x="914400" y="2615184"/>
            <a:ext cx="4526280" cy="274320"/>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FIRST DRAFT ACCEPTED</a:t>
            </a:r>
            <a:endParaRPr lang="en-US" sz="1200" dirty="0"/>
          </a:p>
        </p:txBody>
      </p:sp>
      <p:sp>
        <p:nvSpPr>
          <p:cNvPr id="7" name="Text 4"/>
          <p:cNvSpPr/>
          <p:nvPr/>
        </p:nvSpPr>
        <p:spPr>
          <a:xfrm>
            <a:off x="914400" y="2980944"/>
            <a:ext cx="4526280" cy="1280160"/>
          </a:xfrm>
          <a:prstGeom prst="rect">
            <a:avLst/>
          </a:prstGeom>
          <a:noFill/>
          <a:ln/>
        </p:spPr>
        <p:txBody>
          <a:bodyPr wrap="square" lIns="0" tIns="0" rIns="0" bIns="0" rtlCol="0" anchor="t"/>
          <a:lstStyle/>
          <a:p>
            <a:pPr marL="0" indent="0">
              <a:lnSpc>
                <a:spcPct val="112000"/>
              </a:lnSpc>
              <a:buNone/>
            </a:pPr>
            <a:r>
              <a:rPr lang="en-US" sz="1400" dirty="0">
                <a:solidFill>
                  <a:srgbClr val="3A4452"/>
                </a:solidFill>
                <a:latin typeface="Arial" pitchFamily="34" charset="0"/>
                <a:ea typeface="Arial" pitchFamily="34" charset="-122"/>
                <a:cs typeface="Arial" pitchFamily="34" charset="-120"/>
              </a:rPr>
              <a:t>The draft sounds finished, so it gets used as it is, weaknesses included.</a:t>
            </a:r>
            <a:endParaRPr lang="en-US" sz="1400" dirty="0"/>
          </a:p>
        </p:txBody>
      </p:sp>
      <p:sp>
        <p:nvSpPr>
          <p:cNvPr id="8" name="Text 5"/>
          <p:cNvSpPr/>
          <p:nvPr/>
        </p:nvSpPr>
        <p:spPr>
          <a:xfrm>
            <a:off x="5760720" y="3218688"/>
            <a:ext cx="548640" cy="420624"/>
          </a:xfrm>
          <a:prstGeom prst="rect">
            <a:avLst/>
          </a:prstGeom>
          <a:noFill/>
          <a:ln/>
        </p:spPr>
        <p:txBody>
          <a:bodyPr wrap="square" lIns="0" tIns="0" rIns="0" bIns="0" rtlCol="0" anchor="ctr"/>
          <a:lstStyle/>
          <a:p>
            <a:pPr marL="0" indent="0" algn="ctr">
              <a:buNone/>
            </a:pPr>
            <a:r>
              <a:rPr lang="en-US" sz="2000" b="1" dirty="0">
                <a:solidFill>
                  <a:srgbClr val="D31242"/>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6355080" y="2377440"/>
            <a:ext cx="5166360" cy="2103120"/>
          </a:xfrm>
          <a:prstGeom prst="roundRect">
            <a:avLst>
              <a:gd name="adj" fmla="val 1739"/>
            </a:avLst>
          </a:prstGeom>
          <a:solidFill>
            <a:srgbClr val="DCFCE7"/>
          </a:solidFill>
          <a:ln/>
        </p:spPr>
        <p:txBody>
          <a:bodyPr/>
          <a:lstStyle/>
          <a:p>
            <a:endParaRPr lang="en-US"/>
          </a:p>
        </p:txBody>
      </p:sp>
      <p:sp>
        <p:nvSpPr>
          <p:cNvPr id="10" name="Text 7"/>
          <p:cNvSpPr/>
          <p:nvPr/>
        </p:nvSpPr>
        <p:spPr>
          <a:xfrm>
            <a:off x="6629400" y="2615184"/>
            <a:ext cx="4617720" cy="274320"/>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DRAFT SENT BACK</a:t>
            </a:r>
            <a:endParaRPr lang="en-US" sz="1200" dirty="0"/>
          </a:p>
        </p:txBody>
      </p:sp>
      <p:sp>
        <p:nvSpPr>
          <p:cNvPr id="11" name="Text 8"/>
          <p:cNvSpPr/>
          <p:nvPr/>
        </p:nvSpPr>
        <p:spPr>
          <a:xfrm>
            <a:off x="6629400" y="2980944"/>
            <a:ext cx="4617720" cy="1280160"/>
          </a:xfrm>
          <a:prstGeom prst="rect">
            <a:avLst/>
          </a:prstGeom>
          <a:noFill/>
          <a:ln/>
        </p:spPr>
        <p:txBody>
          <a:bodyPr wrap="square" lIns="0" tIns="0" rIns="0" bIns="0" rtlCol="0" anchor="t"/>
          <a:lstStyle/>
          <a:p>
            <a:pPr marL="0" indent="0">
              <a:lnSpc>
                <a:spcPct val="112000"/>
              </a:lnSpc>
              <a:buNone/>
            </a:pPr>
            <a:r>
              <a:rPr lang="en-US" sz="1400" dirty="0">
                <a:solidFill>
                  <a:srgbClr val="1F2733"/>
                </a:solidFill>
                <a:latin typeface="Arial" pitchFamily="34" charset="0"/>
                <a:ea typeface="Arial" pitchFamily="34" charset="-122"/>
                <a:cs typeface="Arial" pitchFamily="34" charset="-120"/>
              </a:rPr>
              <a:t>The AI names the weaknesses in its own draft and rewrites it.</a:t>
            </a:r>
            <a:endParaRPr lang="en-US" sz="1400" dirty="0"/>
          </a:p>
        </p:txBody>
      </p:sp>
      <p:sp>
        <p:nvSpPr>
          <p:cNvPr id="12" name="Text 9"/>
          <p:cNvSpPr/>
          <p:nvPr/>
        </p:nvSpPr>
        <p:spPr>
          <a:xfrm>
            <a:off x="640080" y="4846320"/>
            <a:ext cx="10881360" cy="384048"/>
          </a:xfrm>
          <a:prstGeom prst="rect">
            <a:avLst/>
          </a:prstGeom>
          <a:noFill/>
          <a:ln/>
        </p:spPr>
        <p:txBody>
          <a:bodyPr wrap="square" lIns="0" tIns="0" rIns="0" bIns="0" rtlCol="0" anchor="ctr"/>
          <a:lstStyle/>
          <a:p>
            <a:pPr marL="0" indent="0">
              <a:buNone/>
            </a:pPr>
            <a:r>
              <a:rPr lang="en-US" sz="1500" b="1" dirty="0">
                <a:solidFill>
                  <a:srgbClr val="D31242"/>
                </a:solidFill>
                <a:latin typeface="Arial" pitchFamily="34" charset="0"/>
                <a:ea typeface="Arial" pitchFamily="34" charset="-122"/>
                <a:cs typeface="Arial" pitchFamily="34" charset="-120"/>
              </a:rPr>
              <a:t>Apply this to anything other people will read.</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Ask the AI what is wrong with its own draft</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Text 2"/>
          <p:cNvSpPr/>
          <p:nvPr/>
        </p:nvSpPr>
        <p:spPr>
          <a:xfrm>
            <a:off x="640080" y="1755648"/>
            <a:ext cx="5486400" cy="237744"/>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THE REQUEST</a:t>
            </a:r>
            <a:endParaRPr lang="en-US" sz="1200" dirty="0"/>
          </a:p>
        </p:txBody>
      </p:sp>
      <p:sp>
        <p:nvSpPr>
          <p:cNvPr id="6" name="Shape 3"/>
          <p:cNvSpPr/>
          <p:nvPr/>
        </p:nvSpPr>
        <p:spPr>
          <a:xfrm>
            <a:off x="640080" y="2029968"/>
            <a:ext cx="10881360" cy="896112"/>
          </a:xfrm>
          <a:prstGeom prst="roundRect">
            <a:avLst>
              <a:gd name="adj" fmla="val 4082"/>
            </a:avLst>
          </a:prstGeom>
          <a:solidFill>
            <a:srgbClr val="F5F6F8"/>
          </a:solidFill>
          <a:ln/>
        </p:spPr>
        <p:txBody>
          <a:bodyPr/>
          <a:lstStyle/>
          <a:p>
            <a:endParaRPr lang="en-US"/>
          </a:p>
        </p:txBody>
      </p:sp>
      <p:sp>
        <p:nvSpPr>
          <p:cNvPr id="7" name="Text 4"/>
          <p:cNvSpPr/>
          <p:nvPr/>
        </p:nvSpPr>
        <p:spPr>
          <a:xfrm>
            <a:off x="914400" y="2176272"/>
            <a:ext cx="10332720" cy="603504"/>
          </a:xfrm>
          <a:prstGeom prst="rect">
            <a:avLst/>
          </a:prstGeom>
          <a:noFill/>
          <a:ln/>
        </p:spPr>
        <p:txBody>
          <a:bodyPr wrap="square" lIns="0" tIns="0" rIns="0" bIns="0" rtlCol="0" anchor="ctr"/>
          <a:lstStyle/>
          <a:p>
            <a:pPr marL="0" indent="0">
              <a:lnSpc>
                <a:spcPct val="112000"/>
              </a:lnSpc>
              <a:buNone/>
            </a:pPr>
            <a:r>
              <a:rPr lang="en-US" sz="1300" b="1" dirty="0">
                <a:solidFill>
                  <a:srgbClr val="1F2733"/>
                </a:solidFill>
                <a:latin typeface="Arial" pitchFamily="34" charset="0"/>
                <a:ea typeface="Arial" pitchFamily="34" charset="-122"/>
                <a:cs typeface="Arial" pitchFamily="34" charset="-120"/>
              </a:rPr>
              <a:t>Write a short notice for club members about next week’s changes.  </a:t>
            </a:r>
            <a:r>
              <a:rPr lang="en-US" sz="1300" dirty="0">
                <a:solidFill>
                  <a:srgbClr val="3A4452"/>
                </a:solidFill>
                <a:latin typeface="Arial" pitchFamily="34" charset="0"/>
                <a:ea typeface="Arial" pitchFamily="34" charset="-122"/>
                <a:cs typeface="Arial" pitchFamily="34" charset="-120"/>
              </a:rPr>
              <a:t>Notes: aisles 4–6 closed Tuesday morning for planogram reset  ·  end caps moving to seasonal  ·  Member Services desk relocating near Exit 2</a:t>
            </a:r>
            <a:endParaRPr lang="en-US" sz="1300" dirty="0"/>
          </a:p>
        </p:txBody>
      </p:sp>
      <p:sp>
        <p:nvSpPr>
          <p:cNvPr id="8" name="Text 5"/>
          <p:cNvSpPr/>
          <p:nvPr/>
        </p:nvSpPr>
        <p:spPr>
          <a:xfrm>
            <a:off x="640080" y="3182112"/>
            <a:ext cx="5074920" cy="237744"/>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THE FIRST DRAFT</a:t>
            </a:r>
            <a:endParaRPr lang="en-US" sz="1200" dirty="0"/>
          </a:p>
        </p:txBody>
      </p:sp>
      <p:sp>
        <p:nvSpPr>
          <p:cNvPr id="9" name="Shape 6"/>
          <p:cNvSpPr/>
          <p:nvPr/>
        </p:nvSpPr>
        <p:spPr>
          <a:xfrm>
            <a:off x="640080" y="3474720"/>
            <a:ext cx="5074920" cy="2340864"/>
          </a:xfrm>
          <a:prstGeom prst="roundRect">
            <a:avLst>
              <a:gd name="adj" fmla="val 1563"/>
            </a:avLst>
          </a:prstGeom>
          <a:solidFill>
            <a:srgbClr val="FEE2E2"/>
          </a:solidFill>
          <a:ln/>
        </p:spPr>
        <p:txBody>
          <a:bodyPr/>
          <a:lstStyle/>
          <a:p>
            <a:endParaRPr lang="en-US"/>
          </a:p>
        </p:txBody>
      </p:sp>
      <p:sp>
        <p:nvSpPr>
          <p:cNvPr id="10" name="Text 7"/>
          <p:cNvSpPr/>
          <p:nvPr/>
        </p:nvSpPr>
        <p:spPr>
          <a:xfrm>
            <a:off x="914400" y="3675888"/>
            <a:ext cx="4526280" cy="1956816"/>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Members: aisles 4 through 6 will be closed Tuesday morning for a planogram reset. End caps are moving to seasonal, and the Member Services desk is relocating near Exit 2. We appreciate your patience.</a:t>
            </a:r>
            <a:endParaRPr lang="en-US" sz="1300" dirty="0"/>
          </a:p>
        </p:txBody>
      </p:sp>
      <p:sp>
        <p:nvSpPr>
          <p:cNvPr id="11" name="Text 8"/>
          <p:cNvSpPr/>
          <p:nvPr/>
        </p:nvSpPr>
        <p:spPr>
          <a:xfrm>
            <a:off x="6355080" y="3182112"/>
            <a:ext cx="5166360" cy="237744"/>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YOU REPLY ONCE</a:t>
            </a:r>
            <a:endParaRPr lang="en-US" sz="1200" dirty="0"/>
          </a:p>
        </p:txBody>
      </p:sp>
      <p:sp>
        <p:nvSpPr>
          <p:cNvPr id="12" name="Shape 9"/>
          <p:cNvSpPr/>
          <p:nvPr/>
        </p:nvSpPr>
        <p:spPr>
          <a:xfrm>
            <a:off x="6355080" y="3474720"/>
            <a:ext cx="5166360" cy="566928"/>
          </a:xfrm>
          <a:prstGeom prst="roundRect">
            <a:avLst>
              <a:gd name="adj" fmla="val 6452"/>
            </a:avLst>
          </a:prstGeom>
          <a:solidFill>
            <a:srgbClr val="F5F6F8"/>
          </a:solidFill>
          <a:ln/>
        </p:spPr>
        <p:txBody>
          <a:bodyPr/>
          <a:lstStyle/>
          <a:p>
            <a:endParaRPr lang="en-US"/>
          </a:p>
        </p:txBody>
      </p:sp>
      <p:sp>
        <p:nvSpPr>
          <p:cNvPr id="13" name="Text 10"/>
          <p:cNvSpPr/>
          <p:nvPr/>
        </p:nvSpPr>
        <p:spPr>
          <a:xfrm>
            <a:off x="6629400" y="3566160"/>
            <a:ext cx="4617720" cy="384048"/>
          </a:xfrm>
          <a:prstGeom prst="rect">
            <a:avLst/>
          </a:prstGeom>
          <a:noFill/>
          <a:ln/>
        </p:spPr>
        <p:txBody>
          <a:bodyPr wrap="square" lIns="0" tIns="0" rIns="0" bIns="0" rtlCol="0" anchor="ctr"/>
          <a:lstStyle/>
          <a:p>
            <a:pPr marL="0" indent="0">
              <a:buNone/>
            </a:pPr>
            <a:r>
              <a:rPr lang="en-US" sz="1300" b="1" dirty="0">
                <a:solidFill>
                  <a:srgbClr val="15803D"/>
                </a:solidFill>
                <a:latin typeface="Arial" pitchFamily="34" charset="0"/>
                <a:ea typeface="Arial" pitchFamily="34" charset="-122"/>
                <a:cs typeface="Arial" pitchFamily="34" charset="-120"/>
              </a:rPr>
              <a:t>What is wrong with that draft? Rewrite it.</a:t>
            </a:r>
            <a:endParaRPr lang="en-US" sz="1300" dirty="0"/>
          </a:p>
        </p:txBody>
      </p:sp>
      <p:sp>
        <p:nvSpPr>
          <p:cNvPr id="14" name="Shape 11"/>
          <p:cNvSpPr/>
          <p:nvPr/>
        </p:nvSpPr>
        <p:spPr>
          <a:xfrm>
            <a:off x="6355080" y="4187952"/>
            <a:ext cx="5166360" cy="1700784"/>
          </a:xfrm>
          <a:prstGeom prst="roundRect">
            <a:avLst>
              <a:gd name="adj" fmla="val 2151"/>
            </a:avLst>
          </a:prstGeom>
          <a:solidFill>
            <a:srgbClr val="DCFCE7"/>
          </a:solidFill>
          <a:ln/>
        </p:spPr>
        <p:txBody>
          <a:bodyPr/>
          <a:lstStyle/>
          <a:p>
            <a:endParaRPr lang="en-US"/>
          </a:p>
        </p:txBody>
      </p:sp>
      <p:sp>
        <p:nvSpPr>
          <p:cNvPr id="15" name="Text 12"/>
          <p:cNvSpPr/>
          <p:nvPr/>
        </p:nvSpPr>
        <p:spPr>
          <a:xfrm>
            <a:off x="6629400" y="4352544"/>
            <a:ext cx="4617720" cy="1335024"/>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What is wrong: planogram reset and end caps are internal terms. Members will not know them.
</a:t>
            </a:r>
            <a:r>
              <a:rPr lang="en-US" sz="1300" b="1" dirty="0">
                <a:solidFill>
                  <a:srgbClr val="1F2733"/>
                </a:solidFill>
                <a:latin typeface="Arial" pitchFamily="34" charset="0"/>
                <a:ea typeface="Arial" pitchFamily="34" charset="-122"/>
                <a:cs typeface="Arial" pitchFamily="34" charset="-120"/>
              </a:rPr>
              <a:t>Members: aisles 4 through 6 will be closed Tuesday morning while we rearrange shelves. Seasonal displays are moving, and Member Services is moving next to Exit 2.</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22960" y="2615184"/>
            <a:ext cx="731520" cy="731520"/>
          </a:xfrm>
          <a:prstGeom prst="ellipse">
            <a:avLst/>
          </a:prstGeom>
          <a:solidFill>
            <a:srgbClr val="D31242"/>
          </a:solidFill>
          <a:ln/>
        </p:spPr>
        <p:txBody>
          <a:bodyPr/>
          <a:lstStyle/>
          <a:p>
            <a:endParaRPr lang="en-US"/>
          </a:p>
        </p:txBody>
      </p:sp>
      <p:sp>
        <p:nvSpPr>
          <p:cNvPr id="3" name="Text 1"/>
          <p:cNvSpPr/>
          <p:nvPr/>
        </p:nvSpPr>
        <p:spPr>
          <a:xfrm>
            <a:off x="822960" y="2615184"/>
            <a:ext cx="73152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Arial" pitchFamily="34" charset="0"/>
                <a:ea typeface="Arial" pitchFamily="34" charset="-122"/>
                <a:cs typeface="Arial" pitchFamily="34" charset="-120"/>
              </a:rPr>
              <a:t>8</a:t>
            </a:r>
            <a:endParaRPr lang="en-US" sz="2400" dirty="0"/>
          </a:p>
        </p:txBody>
      </p:sp>
      <p:sp>
        <p:nvSpPr>
          <p:cNvPr id="4" name="Text 2"/>
          <p:cNvSpPr/>
          <p:nvPr/>
        </p:nvSpPr>
        <p:spPr>
          <a:xfrm>
            <a:off x="1883664" y="2212848"/>
            <a:ext cx="9326880" cy="256032"/>
          </a:xfrm>
          <a:prstGeom prst="rect">
            <a:avLst/>
          </a:prstGeom>
          <a:noFill/>
          <a:ln/>
        </p:spPr>
        <p:txBody>
          <a:bodyPr wrap="square" lIns="0" tIns="0" rIns="0" bIns="0" rtlCol="0" anchor="ctr"/>
          <a:lstStyle/>
          <a:p>
            <a:pPr marL="0" indent="0">
              <a:buNone/>
            </a:pPr>
            <a:r>
              <a:rPr lang="en-US" sz="1200" b="1" dirty="0">
                <a:solidFill>
                  <a:srgbClr val="D31242"/>
                </a:solidFill>
                <a:latin typeface="Arial" pitchFamily="34" charset="0"/>
                <a:ea typeface="Arial" pitchFamily="34" charset="-122"/>
                <a:cs typeface="Arial" pitchFamily="34" charset="-120"/>
              </a:rPr>
              <a:t>PART 4  ·  REVIEWING AND REFINING THE WORK</a:t>
            </a:r>
            <a:endParaRPr lang="en-US" sz="1200" dirty="0"/>
          </a:p>
        </p:txBody>
      </p:sp>
      <p:sp>
        <p:nvSpPr>
          <p:cNvPr id="5" name="Text 3"/>
          <p:cNvSpPr/>
          <p:nvPr/>
        </p:nvSpPr>
        <p:spPr>
          <a:xfrm>
            <a:off x="1883664" y="2542032"/>
            <a:ext cx="9326880" cy="877824"/>
          </a:xfrm>
          <a:prstGeom prst="rect">
            <a:avLst/>
          </a:prstGeom>
          <a:noFill/>
          <a:ln/>
        </p:spPr>
        <p:txBody>
          <a:bodyPr wrap="square" lIns="0" tIns="0" rIns="0" bIns="0" rtlCol="0" anchor="t"/>
          <a:lstStyle/>
          <a:p>
            <a:pPr marL="0" indent="0">
              <a:lnSpc>
                <a:spcPct val="104000"/>
              </a:lnSpc>
              <a:buNone/>
            </a:pPr>
            <a:r>
              <a:rPr lang="en-US" sz="3200" b="1" dirty="0">
                <a:solidFill>
                  <a:srgbClr val="1F2733"/>
                </a:solidFill>
                <a:latin typeface="Arial" pitchFamily="34" charset="0"/>
                <a:ea typeface="Arial" pitchFamily="34" charset="-122"/>
                <a:cs typeface="Arial" pitchFamily="34" charset="-120"/>
              </a:rPr>
              <a:t>Break the task into steps you can check</a:t>
            </a:r>
            <a:endParaRPr lang="en-US" sz="3200" dirty="0"/>
          </a:p>
        </p:txBody>
      </p:sp>
      <p:sp>
        <p:nvSpPr>
          <p:cNvPr id="6" name="Text 4"/>
          <p:cNvSpPr/>
          <p:nvPr/>
        </p:nvSpPr>
        <p:spPr>
          <a:xfrm>
            <a:off x="1883664" y="3529584"/>
            <a:ext cx="932688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Known as:  </a:t>
            </a:r>
            <a:r>
              <a:rPr lang="en-US" sz="1300" b="1" dirty="0">
                <a:solidFill>
                  <a:srgbClr val="1F2733"/>
                </a:solidFill>
                <a:latin typeface="Arial" pitchFamily="34" charset="0"/>
                <a:ea typeface="Arial" pitchFamily="34" charset="-122"/>
                <a:cs typeface="Arial" pitchFamily="34" charset="-120"/>
              </a:rPr>
              <a:t>Prompt chaining</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914400"/>
          </a:xfrm>
          <a:prstGeom prst="rect">
            <a:avLst/>
          </a:prstGeom>
          <a:noFill/>
          <a:ln/>
        </p:spPr>
        <p:txBody>
          <a:bodyPr wrap="square" lIns="0" tIns="0" rIns="0" bIns="0" rtlCol="0" anchor="t"/>
          <a:lstStyle/>
          <a:p>
            <a:pPr marL="0" indent="0">
              <a:lnSpc>
                <a:spcPct val="102000"/>
              </a:lnSpc>
              <a:buNone/>
            </a:pPr>
            <a:r>
              <a:rPr lang="en-US" sz="3000" b="1" dirty="0">
                <a:solidFill>
                  <a:srgbClr val="1F2733"/>
                </a:solidFill>
                <a:latin typeface="Arial" pitchFamily="34" charset="0"/>
                <a:ea typeface="Arial" pitchFamily="34" charset="-122"/>
                <a:cs typeface="Arial" pitchFamily="34" charset="-120"/>
              </a:rPr>
              <a:t>Smaller chunks of work produce better answers than one large request</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Shape 2"/>
          <p:cNvSpPr/>
          <p:nvPr/>
        </p:nvSpPr>
        <p:spPr>
          <a:xfrm>
            <a:off x="640080" y="2377440"/>
            <a:ext cx="5074920" cy="2103120"/>
          </a:xfrm>
          <a:prstGeom prst="roundRect">
            <a:avLst>
              <a:gd name="adj" fmla="val 1739"/>
            </a:avLst>
          </a:prstGeom>
          <a:solidFill>
            <a:srgbClr val="F5F6F8"/>
          </a:solidFill>
          <a:ln/>
        </p:spPr>
        <p:txBody>
          <a:bodyPr/>
          <a:lstStyle/>
          <a:p>
            <a:endParaRPr lang="en-US"/>
          </a:p>
        </p:txBody>
      </p:sp>
      <p:sp>
        <p:nvSpPr>
          <p:cNvPr id="6" name="Text 3"/>
          <p:cNvSpPr/>
          <p:nvPr/>
        </p:nvSpPr>
        <p:spPr>
          <a:xfrm>
            <a:off x="914400" y="2615184"/>
            <a:ext cx="4526280" cy="274320"/>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ONE PROMPT FOR THE WHOLE TASK</a:t>
            </a:r>
            <a:endParaRPr lang="en-US" sz="1200" dirty="0"/>
          </a:p>
        </p:txBody>
      </p:sp>
      <p:sp>
        <p:nvSpPr>
          <p:cNvPr id="7" name="Text 4"/>
          <p:cNvSpPr/>
          <p:nvPr/>
        </p:nvSpPr>
        <p:spPr>
          <a:xfrm>
            <a:off x="914400" y="2980944"/>
            <a:ext cx="4526280" cy="1280160"/>
          </a:xfrm>
          <a:prstGeom prst="rect">
            <a:avLst/>
          </a:prstGeom>
          <a:noFill/>
          <a:ln/>
        </p:spPr>
        <p:txBody>
          <a:bodyPr wrap="square" lIns="0" tIns="0" rIns="0" bIns="0" rtlCol="0" anchor="t"/>
          <a:lstStyle/>
          <a:p>
            <a:pPr marL="0" indent="0">
              <a:lnSpc>
                <a:spcPct val="112000"/>
              </a:lnSpc>
              <a:buNone/>
            </a:pPr>
            <a:r>
              <a:rPr lang="en-US" sz="1400" dirty="0">
                <a:solidFill>
                  <a:srgbClr val="3A4452"/>
                </a:solidFill>
                <a:latin typeface="Arial" pitchFamily="34" charset="0"/>
                <a:ea typeface="Arial" pitchFamily="34" charset="-122"/>
                <a:cs typeface="Arial" pitchFamily="34" charset="-120"/>
              </a:rPr>
              <a:t>The AI does everything at once, and the only thing you can check is the final answer.</a:t>
            </a:r>
            <a:endParaRPr lang="en-US" sz="1400" dirty="0"/>
          </a:p>
        </p:txBody>
      </p:sp>
      <p:sp>
        <p:nvSpPr>
          <p:cNvPr id="8" name="Text 5"/>
          <p:cNvSpPr/>
          <p:nvPr/>
        </p:nvSpPr>
        <p:spPr>
          <a:xfrm>
            <a:off x="5760720" y="3218688"/>
            <a:ext cx="548640" cy="420624"/>
          </a:xfrm>
          <a:prstGeom prst="rect">
            <a:avLst/>
          </a:prstGeom>
          <a:noFill/>
          <a:ln/>
        </p:spPr>
        <p:txBody>
          <a:bodyPr wrap="square" lIns="0" tIns="0" rIns="0" bIns="0" rtlCol="0" anchor="ctr"/>
          <a:lstStyle/>
          <a:p>
            <a:pPr marL="0" indent="0" algn="ctr">
              <a:buNone/>
            </a:pPr>
            <a:r>
              <a:rPr lang="en-US" sz="2000" b="1" dirty="0">
                <a:solidFill>
                  <a:srgbClr val="D31242"/>
                </a:solidFill>
                <a:latin typeface="Arial" pitchFamily="34" charset="0"/>
                <a:ea typeface="Arial" pitchFamily="34" charset="-122"/>
                <a:cs typeface="Arial" pitchFamily="34" charset="-120"/>
              </a:rPr>
              <a:t>→</a:t>
            </a:r>
            <a:endParaRPr lang="en-US" sz="2000" dirty="0"/>
          </a:p>
        </p:txBody>
      </p:sp>
      <p:sp>
        <p:nvSpPr>
          <p:cNvPr id="9" name="Shape 6"/>
          <p:cNvSpPr/>
          <p:nvPr/>
        </p:nvSpPr>
        <p:spPr>
          <a:xfrm>
            <a:off x="6355080" y="2377440"/>
            <a:ext cx="5166360" cy="2103120"/>
          </a:xfrm>
          <a:prstGeom prst="roundRect">
            <a:avLst>
              <a:gd name="adj" fmla="val 1739"/>
            </a:avLst>
          </a:prstGeom>
          <a:solidFill>
            <a:srgbClr val="DCFCE7"/>
          </a:solidFill>
          <a:ln/>
        </p:spPr>
        <p:txBody>
          <a:bodyPr/>
          <a:lstStyle/>
          <a:p>
            <a:endParaRPr lang="en-US"/>
          </a:p>
        </p:txBody>
      </p:sp>
      <p:sp>
        <p:nvSpPr>
          <p:cNvPr id="10" name="Text 7"/>
          <p:cNvSpPr/>
          <p:nvPr/>
        </p:nvSpPr>
        <p:spPr>
          <a:xfrm>
            <a:off x="6629400" y="2615184"/>
            <a:ext cx="4617720" cy="274320"/>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ONE PROMPT PER STEP</a:t>
            </a:r>
            <a:endParaRPr lang="en-US" sz="1200" dirty="0"/>
          </a:p>
        </p:txBody>
      </p:sp>
      <p:sp>
        <p:nvSpPr>
          <p:cNvPr id="11" name="Text 8"/>
          <p:cNvSpPr/>
          <p:nvPr/>
        </p:nvSpPr>
        <p:spPr>
          <a:xfrm>
            <a:off x="6629400" y="2980944"/>
            <a:ext cx="4617720" cy="1280160"/>
          </a:xfrm>
          <a:prstGeom prst="rect">
            <a:avLst/>
          </a:prstGeom>
          <a:noFill/>
          <a:ln/>
        </p:spPr>
        <p:txBody>
          <a:bodyPr wrap="square" lIns="0" tIns="0" rIns="0" bIns="0" rtlCol="0" anchor="t"/>
          <a:lstStyle/>
          <a:p>
            <a:pPr marL="0" indent="0">
              <a:lnSpc>
                <a:spcPct val="112000"/>
              </a:lnSpc>
              <a:buNone/>
            </a:pPr>
            <a:r>
              <a:rPr lang="en-US" sz="1400" dirty="0">
                <a:solidFill>
                  <a:srgbClr val="1F2733"/>
                </a:solidFill>
                <a:latin typeface="Arial" pitchFamily="34" charset="0"/>
                <a:ea typeface="Arial" pitchFamily="34" charset="-122"/>
                <a:cs typeface="Arial" pitchFamily="34" charset="-120"/>
              </a:rPr>
              <a:t>Each prompt does one step, and you check its answer before sending the next.</a:t>
            </a:r>
            <a:endParaRPr lang="en-US" sz="1400" dirty="0"/>
          </a:p>
        </p:txBody>
      </p:sp>
      <p:sp>
        <p:nvSpPr>
          <p:cNvPr id="12" name="Text 9"/>
          <p:cNvSpPr/>
          <p:nvPr/>
        </p:nvSpPr>
        <p:spPr>
          <a:xfrm>
            <a:off x="640080" y="4846320"/>
            <a:ext cx="10881360" cy="384048"/>
          </a:xfrm>
          <a:prstGeom prst="rect">
            <a:avLst/>
          </a:prstGeom>
          <a:noFill/>
          <a:ln/>
        </p:spPr>
        <p:txBody>
          <a:bodyPr wrap="square" lIns="0" tIns="0" rIns="0" bIns="0" rtlCol="0" anchor="ctr"/>
          <a:lstStyle/>
          <a:p>
            <a:pPr marL="0" indent="0">
              <a:buNone/>
            </a:pPr>
            <a:r>
              <a:rPr lang="en-US" sz="1500" b="1" dirty="0">
                <a:solidFill>
                  <a:srgbClr val="D31242"/>
                </a:solidFill>
                <a:latin typeface="Arial" pitchFamily="34" charset="0"/>
                <a:ea typeface="Arial" pitchFamily="34" charset="-122"/>
                <a:cs typeface="Arial" pitchFamily="34" charset="-120"/>
              </a:rPr>
              <a:t>Apply this when the task is large, or when an early mistake would spoil everything after it.</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731520"/>
            <a:ext cx="9966960" cy="640080"/>
          </a:xfrm>
          <a:prstGeom prst="rect">
            <a:avLst/>
          </a:prstGeom>
          <a:noFill/>
          <a:ln/>
        </p:spPr>
        <p:txBody>
          <a:bodyPr wrap="square" lIns="0" tIns="0" rIns="0" bIns="0" rtlCol="0" anchor="t"/>
          <a:lstStyle/>
          <a:p>
            <a:pPr marL="0" indent="0">
              <a:buNone/>
            </a:pPr>
            <a:r>
              <a:rPr lang="en-US" sz="3000" b="1" dirty="0">
                <a:solidFill>
                  <a:srgbClr val="1F2733"/>
                </a:solidFill>
                <a:latin typeface="Arial" pitchFamily="34" charset="0"/>
                <a:ea typeface="Arial" pitchFamily="34" charset="-122"/>
                <a:cs typeface="Arial" pitchFamily="34" charset="-120"/>
              </a:rPr>
              <a:t>The first prompt gives you a list to check</a:t>
            </a:r>
            <a:endParaRPr lang="en-US" sz="3000" dirty="0"/>
          </a:p>
        </p:txBody>
      </p:sp>
      <p:sp>
        <p:nvSpPr>
          <p:cNvPr id="3" name="Shape 1"/>
          <p:cNvSpPr/>
          <p:nvPr/>
        </p:nvSpPr>
        <p:spPr>
          <a:xfrm>
            <a:off x="10863072" y="786384"/>
            <a:ext cx="658368" cy="658368"/>
          </a:xfrm>
          <a:prstGeom prst="ellipse">
            <a:avLst/>
          </a:prstGeom>
          <a:solidFill>
            <a:srgbClr val="FCE4EA"/>
          </a:solidFill>
          <a:ln/>
        </p:spPr>
        <p:txBody>
          <a:bodyPr/>
          <a:lstStyle/>
          <a:p>
            <a:endParaRPr lang="en-US"/>
          </a:p>
        </p:txBody>
      </p:sp>
      <p:pic>
        <p:nvPicPr>
          <p:cNvPr id="4" name="Image 0" descr="preencoded.png"/>
          <p:cNvPicPr>
            <a:picLocks noChangeAspect="1"/>
          </p:cNvPicPr>
          <p:nvPr/>
        </p:nvPicPr>
        <p:blipFill>
          <a:blip r:embed="rId3"/>
          <a:stretch>
            <a:fillRect/>
          </a:stretch>
        </p:blipFill>
        <p:spPr>
          <a:xfrm>
            <a:off x="11027664" y="950976"/>
            <a:ext cx="329184" cy="329184"/>
          </a:xfrm>
          <a:prstGeom prst="rect">
            <a:avLst/>
          </a:prstGeom>
        </p:spPr>
      </p:pic>
      <p:sp>
        <p:nvSpPr>
          <p:cNvPr id="5" name="Text 2"/>
          <p:cNvSpPr/>
          <p:nvPr/>
        </p:nvSpPr>
        <p:spPr>
          <a:xfrm>
            <a:off x="640080" y="1700784"/>
            <a:ext cx="5074920" cy="237744"/>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ONE PROMPT FOR THE WHOLE TASK</a:t>
            </a:r>
            <a:endParaRPr lang="en-US" sz="1200" dirty="0"/>
          </a:p>
        </p:txBody>
      </p:sp>
      <p:sp>
        <p:nvSpPr>
          <p:cNvPr id="6" name="Shape 3"/>
          <p:cNvSpPr/>
          <p:nvPr/>
        </p:nvSpPr>
        <p:spPr>
          <a:xfrm>
            <a:off x="640080" y="1993392"/>
            <a:ext cx="5074920" cy="1517904"/>
          </a:xfrm>
          <a:prstGeom prst="roundRect">
            <a:avLst>
              <a:gd name="adj" fmla="val 2410"/>
            </a:avLst>
          </a:prstGeom>
          <a:solidFill>
            <a:srgbClr val="F5F6F8"/>
          </a:solidFill>
          <a:ln/>
        </p:spPr>
        <p:txBody>
          <a:bodyPr/>
          <a:lstStyle/>
          <a:p>
            <a:endParaRPr lang="en-US"/>
          </a:p>
        </p:txBody>
      </p:sp>
      <p:sp>
        <p:nvSpPr>
          <p:cNvPr id="7" name="Text 4"/>
          <p:cNvSpPr/>
          <p:nvPr/>
        </p:nvSpPr>
        <p:spPr>
          <a:xfrm>
            <a:off x="914400" y="2157984"/>
            <a:ext cx="4526280" cy="1225296"/>
          </a:xfrm>
          <a:prstGeom prst="rect">
            <a:avLst/>
          </a:prstGeom>
          <a:noFill/>
          <a:ln/>
        </p:spPr>
        <p:txBody>
          <a:bodyPr wrap="square" lIns="0" tIns="0" rIns="0" bIns="0" rtlCol="0" anchor="t"/>
          <a:lstStyle/>
          <a:p>
            <a:pPr marL="0" indent="0">
              <a:lnSpc>
                <a:spcPct val="112000"/>
              </a:lnSpc>
              <a:buNone/>
            </a:pPr>
            <a:r>
              <a:rPr lang="en-US" sz="1300" b="1" dirty="0">
                <a:solidFill>
                  <a:srgbClr val="1F2733"/>
                </a:solidFill>
                <a:latin typeface="Arial" pitchFamily="34" charset="0"/>
                <a:ea typeface="Arial" pitchFamily="34" charset="-122"/>
                <a:cs typeface="Arial" pitchFamily="34" charset="-120"/>
              </a:rPr>
              <a:t>Write the leadership summary from these four club visits.
</a:t>
            </a:r>
            <a:r>
              <a:rPr lang="en-US" sz="1300" dirty="0">
                <a:solidFill>
                  <a:srgbClr val="3A4452"/>
                </a:solidFill>
                <a:latin typeface="Arial" pitchFamily="34" charset="0"/>
                <a:ea typeface="Arial" pitchFamily="34" charset="-122"/>
                <a:cs typeface="Arial" pitchFamily="34" charset="-120"/>
              </a:rPr>
              <a:t>Notes: 428 freezer alarm twice this week  ·  512 carts short at open  ·  133 spill response slow  ·  207 freezer alarm Monday, wet-floor signs missing</a:t>
            </a:r>
            <a:endParaRPr lang="en-US" sz="1300" dirty="0"/>
          </a:p>
        </p:txBody>
      </p:sp>
      <p:sp>
        <p:nvSpPr>
          <p:cNvPr id="8" name="Shape 5"/>
          <p:cNvSpPr/>
          <p:nvPr/>
        </p:nvSpPr>
        <p:spPr>
          <a:xfrm>
            <a:off x="640080" y="3675888"/>
            <a:ext cx="5074920" cy="2139696"/>
          </a:xfrm>
          <a:prstGeom prst="roundRect">
            <a:avLst>
              <a:gd name="adj" fmla="val 1709"/>
            </a:avLst>
          </a:prstGeom>
          <a:solidFill>
            <a:srgbClr val="FEE2E2"/>
          </a:solidFill>
          <a:ln/>
        </p:spPr>
        <p:txBody>
          <a:bodyPr/>
          <a:lstStyle/>
          <a:p>
            <a:endParaRPr lang="en-US"/>
          </a:p>
        </p:txBody>
      </p:sp>
      <p:sp>
        <p:nvSpPr>
          <p:cNvPr id="9" name="Text 6"/>
          <p:cNvSpPr/>
          <p:nvPr/>
        </p:nvSpPr>
        <p:spPr>
          <a:xfrm>
            <a:off x="914400" y="3840480"/>
            <a:ext cx="4526280" cy="219456"/>
          </a:xfrm>
          <a:prstGeom prst="rect">
            <a:avLst/>
          </a:prstGeom>
          <a:noFill/>
          <a:ln/>
        </p:spPr>
        <p:txBody>
          <a:bodyPr wrap="square" lIns="0" tIns="0" rIns="0" bIns="0" rtlCol="0" anchor="ctr"/>
          <a:lstStyle/>
          <a:p>
            <a:pPr marL="0" indent="0">
              <a:buNone/>
            </a:pPr>
            <a:r>
              <a:rPr lang="en-US" sz="1200" b="1" dirty="0">
                <a:solidFill>
                  <a:srgbClr val="B91C1C"/>
                </a:solidFill>
                <a:latin typeface="Arial" pitchFamily="34" charset="0"/>
                <a:ea typeface="Arial" pitchFamily="34" charset="-122"/>
                <a:cs typeface="Arial" pitchFamily="34" charset="-120"/>
              </a:rPr>
              <a:t>RESPONSE</a:t>
            </a:r>
            <a:endParaRPr lang="en-US" sz="1200" dirty="0"/>
          </a:p>
        </p:txBody>
      </p:sp>
      <p:sp>
        <p:nvSpPr>
          <p:cNvPr id="10" name="Text 7"/>
          <p:cNvSpPr/>
          <p:nvPr/>
        </p:nvSpPr>
        <p:spPr>
          <a:xfrm>
            <a:off x="914400" y="4133088"/>
            <a:ext cx="4526280" cy="1536192"/>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This week's visits surfaced equipment and safety concerns across the district, including refrigeration issues and floor-safety gaps, alongside a cart availability problem at opening. Follow-ups are underway.</a:t>
            </a:r>
            <a:endParaRPr lang="en-US" sz="1300" dirty="0"/>
          </a:p>
        </p:txBody>
      </p:sp>
      <p:sp>
        <p:nvSpPr>
          <p:cNvPr id="11" name="Text 8"/>
          <p:cNvSpPr/>
          <p:nvPr/>
        </p:nvSpPr>
        <p:spPr>
          <a:xfrm>
            <a:off x="6355080" y="1700784"/>
            <a:ext cx="5166360" cy="237744"/>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PROMPT 1</a:t>
            </a:r>
            <a:endParaRPr lang="en-US" sz="1200" dirty="0"/>
          </a:p>
        </p:txBody>
      </p:sp>
      <p:sp>
        <p:nvSpPr>
          <p:cNvPr id="12" name="Shape 9"/>
          <p:cNvSpPr/>
          <p:nvPr/>
        </p:nvSpPr>
        <p:spPr>
          <a:xfrm>
            <a:off x="6355080" y="1993392"/>
            <a:ext cx="5166360" cy="566928"/>
          </a:xfrm>
          <a:prstGeom prst="roundRect">
            <a:avLst>
              <a:gd name="adj" fmla="val 6452"/>
            </a:avLst>
          </a:prstGeom>
          <a:solidFill>
            <a:srgbClr val="F5F6F8"/>
          </a:solidFill>
          <a:ln/>
        </p:spPr>
        <p:txBody>
          <a:bodyPr/>
          <a:lstStyle/>
          <a:p>
            <a:endParaRPr lang="en-US"/>
          </a:p>
        </p:txBody>
      </p:sp>
      <p:sp>
        <p:nvSpPr>
          <p:cNvPr id="13" name="Text 10"/>
          <p:cNvSpPr/>
          <p:nvPr/>
        </p:nvSpPr>
        <p:spPr>
          <a:xfrm>
            <a:off x="6629400" y="2084832"/>
            <a:ext cx="4617720" cy="384048"/>
          </a:xfrm>
          <a:prstGeom prst="rect">
            <a:avLst/>
          </a:prstGeom>
          <a:noFill/>
          <a:ln/>
        </p:spPr>
        <p:txBody>
          <a:bodyPr wrap="square" lIns="0" tIns="0" rIns="0" bIns="0" rtlCol="0" anchor="ctr"/>
          <a:lstStyle/>
          <a:p>
            <a:pPr marL="0" indent="0">
              <a:buNone/>
            </a:pPr>
            <a:r>
              <a:rPr lang="en-US" sz="1300" b="1" dirty="0">
                <a:solidFill>
                  <a:srgbClr val="15803D"/>
                </a:solidFill>
                <a:latin typeface="Arial" pitchFamily="34" charset="0"/>
                <a:ea typeface="Arial" pitchFamily="34" charset="-122"/>
                <a:cs typeface="Arial" pitchFamily="34" charset="-120"/>
              </a:rPr>
              <a:t>List every issue from these notes, one line per issue.</a:t>
            </a:r>
            <a:endParaRPr lang="en-US" sz="1300" dirty="0"/>
          </a:p>
        </p:txBody>
      </p:sp>
      <p:sp>
        <p:nvSpPr>
          <p:cNvPr id="14" name="Shape 11"/>
          <p:cNvSpPr/>
          <p:nvPr/>
        </p:nvSpPr>
        <p:spPr>
          <a:xfrm>
            <a:off x="6355080" y="2688336"/>
            <a:ext cx="5166360" cy="1737360"/>
          </a:xfrm>
          <a:prstGeom prst="roundRect">
            <a:avLst>
              <a:gd name="adj" fmla="val 2105"/>
            </a:avLst>
          </a:prstGeom>
          <a:solidFill>
            <a:srgbClr val="DCFCE7"/>
          </a:solidFill>
          <a:ln/>
        </p:spPr>
        <p:txBody>
          <a:bodyPr/>
          <a:lstStyle/>
          <a:p>
            <a:endParaRPr lang="en-US"/>
          </a:p>
        </p:txBody>
      </p:sp>
      <p:sp>
        <p:nvSpPr>
          <p:cNvPr id="15" name="Text 12"/>
          <p:cNvSpPr/>
          <p:nvPr/>
        </p:nvSpPr>
        <p:spPr>
          <a:xfrm>
            <a:off x="6629400" y="2852928"/>
            <a:ext cx="4617720" cy="1444752"/>
          </a:xfrm>
          <a:prstGeom prst="rect">
            <a:avLst/>
          </a:prstGeom>
          <a:noFill/>
          <a:ln/>
        </p:spPr>
        <p:txBody>
          <a:bodyPr wrap="square" lIns="0" tIns="0" rIns="0" bIns="0" rtlCol="0" anchor="t"/>
          <a:lstStyle/>
          <a:p>
            <a:pPr marL="0" indent="0">
              <a:lnSpc>
                <a:spcPct val="115000"/>
              </a:lnSpc>
              <a:buNone/>
            </a:pPr>
            <a:r>
              <a:rPr lang="en-US" sz="1300" dirty="0">
                <a:solidFill>
                  <a:srgbClr val="1F2733"/>
                </a:solidFill>
                <a:latin typeface="Arial" pitchFamily="34" charset="0"/>
                <a:ea typeface="Arial" pitchFamily="34" charset="-122"/>
                <a:cs typeface="Arial" pitchFamily="34" charset="-120"/>
              </a:rPr>
              <a:t>1.  Club 428 — freezer alarm, twice</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2.  Club 207 — freezer alarm, Monday</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3.  Club 207 — wet-floor signs missing</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4.  Club 512 — carts short at open</a:t>
            </a:r>
            <a:endParaRPr lang="en-US" sz="1300" dirty="0"/>
          </a:p>
          <a:p>
            <a:pPr marL="0" indent="0">
              <a:lnSpc>
                <a:spcPct val="115000"/>
              </a:lnSpc>
              <a:buNone/>
            </a:pPr>
            <a:r>
              <a:rPr lang="en-US" sz="1300" dirty="0">
                <a:solidFill>
                  <a:srgbClr val="1F2733"/>
                </a:solidFill>
                <a:latin typeface="Arial" pitchFamily="34" charset="0"/>
                <a:ea typeface="Arial" pitchFamily="34" charset="-122"/>
                <a:cs typeface="Arial" pitchFamily="34" charset="-120"/>
              </a:rPr>
              <a:t>5.  Club 133 — spill response slow</a:t>
            </a:r>
            <a:endParaRPr lang="en-US" sz="1300" dirty="0"/>
          </a:p>
        </p:txBody>
      </p:sp>
      <p:sp>
        <p:nvSpPr>
          <p:cNvPr id="16" name="Text 13"/>
          <p:cNvSpPr/>
          <p:nvPr/>
        </p:nvSpPr>
        <p:spPr>
          <a:xfrm>
            <a:off x="6355080" y="4590288"/>
            <a:ext cx="5166360" cy="237744"/>
          </a:xfrm>
          <a:prstGeom prst="rect">
            <a:avLst/>
          </a:prstGeom>
          <a:noFill/>
          <a:ln/>
        </p:spPr>
        <p:txBody>
          <a:bodyPr wrap="square" lIns="0" tIns="0" rIns="0" bIns="0" rtlCol="0" anchor="ctr"/>
          <a:lstStyle/>
          <a:p>
            <a:pPr marL="0" indent="0">
              <a:buNone/>
            </a:pPr>
            <a:r>
              <a:rPr lang="en-US" sz="1200" b="1" dirty="0">
                <a:solidFill>
                  <a:srgbClr val="5E6A78"/>
                </a:solidFill>
                <a:latin typeface="Arial" pitchFamily="34" charset="0"/>
                <a:ea typeface="Arial" pitchFamily="34" charset="-122"/>
                <a:cs typeface="Arial" pitchFamily="34" charset="-120"/>
              </a:rPr>
              <a:t>YOU CHECK THE LIST AGAINST THE NOTES, THEN:</a:t>
            </a:r>
            <a:endParaRPr lang="en-US" sz="1200" dirty="0"/>
          </a:p>
        </p:txBody>
      </p:sp>
      <p:sp>
        <p:nvSpPr>
          <p:cNvPr id="17" name="Text 14"/>
          <p:cNvSpPr/>
          <p:nvPr/>
        </p:nvSpPr>
        <p:spPr>
          <a:xfrm>
            <a:off x="6355080" y="4901184"/>
            <a:ext cx="5166360" cy="237744"/>
          </a:xfrm>
          <a:prstGeom prst="rect">
            <a:avLst/>
          </a:prstGeom>
          <a:noFill/>
          <a:ln/>
        </p:spPr>
        <p:txBody>
          <a:bodyPr wrap="square" lIns="0" tIns="0" rIns="0" bIns="0" rtlCol="0" anchor="ctr"/>
          <a:lstStyle/>
          <a:p>
            <a:pPr marL="0" indent="0">
              <a:buNone/>
            </a:pPr>
            <a:r>
              <a:rPr lang="en-US" sz="1200" b="1" dirty="0">
                <a:solidFill>
                  <a:srgbClr val="15803D"/>
                </a:solidFill>
                <a:latin typeface="Arial" pitchFamily="34" charset="0"/>
                <a:ea typeface="Arial" pitchFamily="34" charset="-122"/>
                <a:cs typeface="Arial" pitchFamily="34" charset="-120"/>
              </a:rPr>
              <a:t>PROMPT 2</a:t>
            </a:r>
            <a:endParaRPr lang="en-US" sz="1200" dirty="0"/>
          </a:p>
        </p:txBody>
      </p:sp>
      <p:sp>
        <p:nvSpPr>
          <p:cNvPr id="18" name="Shape 15"/>
          <p:cNvSpPr/>
          <p:nvPr/>
        </p:nvSpPr>
        <p:spPr>
          <a:xfrm>
            <a:off x="6355080" y="5193792"/>
            <a:ext cx="5166360" cy="621792"/>
          </a:xfrm>
          <a:prstGeom prst="roundRect">
            <a:avLst>
              <a:gd name="adj" fmla="val 5882"/>
            </a:avLst>
          </a:prstGeom>
          <a:solidFill>
            <a:srgbClr val="F5F6F8"/>
          </a:solidFill>
          <a:ln/>
        </p:spPr>
        <p:txBody>
          <a:bodyPr/>
          <a:lstStyle/>
          <a:p>
            <a:endParaRPr lang="en-US"/>
          </a:p>
        </p:txBody>
      </p:sp>
      <p:sp>
        <p:nvSpPr>
          <p:cNvPr id="19" name="Text 16"/>
          <p:cNvSpPr/>
          <p:nvPr/>
        </p:nvSpPr>
        <p:spPr>
          <a:xfrm>
            <a:off x="6629400" y="5303520"/>
            <a:ext cx="4617720" cy="402336"/>
          </a:xfrm>
          <a:prstGeom prst="rect">
            <a:avLst/>
          </a:prstGeom>
          <a:noFill/>
          <a:ln/>
        </p:spPr>
        <p:txBody>
          <a:bodyPr wrap="square" lIns="0" tIns="0" rIns="0" bIns="0" rtlCol="0" anchor="ctr"/>
          <a:lstStyle/>
          <a:p>
            <a:pPr marL="0" indent="0">
              <a:buNone/>
            </a:pPr>
            <a:r>
              <a:rPr lang="en-US" sz="1300" b="1" dirty="0">
                <a:solidFill>
                  <a:srgbClr val="15803D"/>
                </a:solidFill>
                <a:latin typeface="Arial" pitchFamily="34" charset="0"/>
                <a:ea typeface="Arial" pitchFamily="34" charset="-122"/>
                <a:cs typeface="Arial" pitchFamily="34" charset="-120"/>
              </a:rPr>
              <a:t>Group these issues and write the leadership summary.</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66928"/>
            <a:ext cx="10881360" cy="548640"/>
          </a:xfrm>
          <a:prstGeom prst="rect">
            <a:avLst/>
          </a:prstGeom>
          <a:noFill/>
          <a:ln/>
        </p:spPr>
        <p:txBody>
          <a:bodyPr wrap="square" lIns="0" tIns="0" rIns="0" bIns="0" rtlCol="0" anchor="ctr"/>
          <a:lstStyle/>
          <a:p>
            <a:pPr marL="0" indent="0">
              <a:buNone/>
            </a:pPr>
            <a:r>
              <a:rPr lang="en-US" sz="3000" b="1" dirty="0">
                <a:solidFill>
                  <a:srgbClr val="1F2733"/>
                </a:solidFill>
                <a:latin typeface="Arial" pitchFamily="34" charset="0"/>
                <a:ea typeface="Arial" pitchFamily="34" charset="-122"/>
                <a:cs typeface="Arial" pitchFamily="34" charset="-120"/>
              </a:rPr>
              <a:t>Where these eight techniques come from</a:t>
            </a:r>
            <a:endParaRPr lang="en-US" sz="3000" dirty="0"/>
          </a:p>
        </p:txBody>
      </p:sp>
      <p:sp>
        <p:nvSpPr>
          <p:cNvPr id="3" name="Text 1"/>
          <p:cNvSpPr/>
          <p:nvPr/>
        </p:nvSpPr>
        <p:spPr>
          <a:xfrm>
            <a:off x="640080" y="1170432"/>
            <a:ext cx="1088136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Every technique in this course is documented by established sources. Nothing here was invented for this session.</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1609344"/>
          <a:ext cx="10881360" cy="914400"/>
        </p:xfrm>
        <a:graphic>
          <a:graphicData uri="http://schemas.openxmlformats.org/drawingml/2006/table">
            <a:tbl>
              <a:tblPr/>
              <a:tblGrid>
                <a:gridCol w="384048">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7342632">
                  <a:extLst>
                    <a:ext uri="{9D8B030D-6E8A-4147-A177-3AD203B41FA5}">
                      <a16:colId xmlns:a16="http://schemas.microsoft.com/office/drawing/2014/main" val="20002"/>
                    </a:ext>
                  </a:extLst>
                </a:gridCol>
              </a:tblGrid>
              <a:tr h="475488">
                <a:tc>
                  <a:txBody>
                    <a:bodyPr/>
                    <a:lstStyle/>
                    <a:p>
                      <a:pPr marL="0" indent="0">
                        <a:buNone/>
                      </a:pPr>
                      <a:r>
                        <a:rPr lang="en-US" sz="12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31242"/>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TECHNIQUE</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31242"/>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WHAT THE SOURCES DOCUMENT</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D31242"/>
                    </a:solidFill>
                  </a:tcPr>
                </a:tc>
                <a:extLst>
                  <a:ext uri="{0D108BD9-81ED-4DB2-BD59-A6C34878D82A}">
                    <a16:rowId xmlns:a16="http://schemas.microsoft.com/office/drawing/2014/main" val="10000"/>
                  </a:ext>
                </a:extLst>
              </a:tr>
              <a:tr h="475488">
                <a:tc>
                  <a:txBody>
                    <a:bodyPr/>
                    <a:lstStyle/>
                    <a:p>
                      <a:pPr marL="0" indent="0">
                        <a:buNone/>
                      </a:pPr>
                      <a:r>
                        <a:rPr lang="en-US" sz="1200" b="1" dirty="0">
                          <a:solidFill>
                            <a:srgbClr val="D31242"/>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733"/>
                          </a:solidFill>
                          <a:latin typeface="Arial" pitchFamily="34" charset="0"/>
                          <a:ea typeface="Arial" pitchFamily="34" charset="-122"/>
                          <a:cs typeface="Arial" pitchFamily="34" charset="-120"/>
                        </a:rPr>
                        <a:t>Define the task, the reader, and the purpose</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452"/>
                          </a:solidFill>
                          <a:latin typeface="Arial" pitchFamily="34" charset="0"/>
                          <a:ea typeface="Arial" pitchFamily="34" charset="-122"/>
                          <a:cs typeface="Arial" pitchFamily="34" charset="-120"/>
                        </a:rPr>
                        <a:t>Anthropic: be explicit, provide context and motivation  ·  OpenAI: write clear instructions  ·  Google: task, context, audience, format</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00" b="1" dirty="0">
                          <a:solidFill>
                            <a:srgbClr val="D31242"/>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733"/>
                          </a:solidFill>
                          <a:latin typeface="Arial" pitchFamily="34" charset="0"/>
                          <a:ea typeface="Arial" pitchFamily="34" charset="-122"/>
                          <a:cs typeface="Arial" pitchFamily="34" charset="-120"/>
                        </a:rPr>
                        <a:t>Provide the source material</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452"/>
                          </a:solidFill>
                          <a:latin typeface="Arial" pitchFamily="34" charset="0"/>
                          <a:ea typeface="Arial" pitchFamily="34" charset="-122"/>
                          <a:cs typeface="Arial" pitchFamily="34" charset="-120"/>
                        </a:rPr>
                        <a:t>OpenAI: provide reference text  ·  Anthropic: long-context grounding  ·  Google: ground the response in your files</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200" b="1" dirty="0">
                          <a:solidFill>
                            <a:srgbClr val="D31242"/>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733"/>
                          </a:solidFill>
                          <a:latin typeface="Arial" pitchFamily="34" charset="0"/>
                          <a:ea typeface="Arial" pitchFamily="34" charset="-122"/>
                          <a:cs typeface="Arial" pitchFamily="34" charset="-120"/>
                        </a:rPr>
                        <a:t>Specify the response format</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452"/>
                          </a:solidFill>
                          <a:latin typeface="Arial" pitchFamily="34" charset="0"/>
                          <a:ea typeface="Arial" pitchFamily="34" charset="-122"/>
                          <a:cs typeface="Arial" pitchFamily="34" charset="-120"/>
                        </a:rPr>
                        <a:t>Anthropic: control output format  ·  OpenAI: specify the format  ·  Google: format element of its prompt frame</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00" b="1" dirty="0">
                          <a:solidFill>
                            <a:srgbClr val="D31242"/>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733"/>
                          </a:solidFill>
                          <a:latin typeface="Arial" pitchFamily="34" charset="0"/>
                          <a:ea typeface="Arial" pitchFamily="34" charset="-122"/>
                          <a:cs typeface="Arial" pitchFamily="34" charset="-120"/>
                        </a:rPr>
                        <a:t>Show a finished example</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452"/>
                          </a:solidFill>
                          <a:latin typeface="Arial" pitchFamily="34" charset="0"/>
                          <a:ea typeface="Arial" pitchFamily="34" charset="-122"/>
                          <a:cs typeface="Arial" pitchFamily="34" charset="-120"/>
                        </a:rPr>
                        <a:t>The Prompt Report: few-shot, the most reliably effective family  ·  Anthropic: show rather than tell  ·  OpenAI: the model picks up the pattern from the examples</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200" b="1" dirty="0">
                          <a:solidFill>
                            <a:srgbClr val="D31242"/>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733"/>
                          </a:solidFill>
                          <a:latin typeface="Arial" pitchFamily="34" charset="0"/>
                          <a:ea typeface="Arial" pitchFamily="34" charset="-122"/>
                          <a:cs typeface="Arial" pitchFamily="34" charset="-120"/>
                        </a:rPr>
                        <a:t>Have the AI ask questions first</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452"/>
                          </a:solidFill>
                          <a:latin typeface="Arial" pitchFamily="34" charset="0"/>
                          <a:ea typeface="Arial" pitchFamily="34" charset="-122"/>
                          <a:cs typeface="Arial" pitchFamily="34" charset="-120"/>
                        </a:rPr>
                        <a:t>Anthropic: “if you need more information from me, ask me 1–2 key questions right away”</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00" b="1" dirty="0">
                          <a:solidFill>
                            <a:srgbClr val="D31242"/>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733"/>
                          </a:solidFill>
                          <a:latin typeface="Arial" pitchFamily="34" charset="0"/>
                          <a:ea typeface="Arial" pitchFamily="34" charset="-122"/>
                          <a:cs typeface="Arial" pitchFamily="34" charset="-120"/>
                        </a:rPr>
                        <a:t>Allow the AI to say “I don’t know”</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452"/>
                          </a:solidFill>
                          <a:latin typeface="Arial" pitchFamily="34" charset="0"/>
                          <a:ea typeface="Arial" pitchFamily="34" charset="-122"/>
                          <a:cs typeface="Arial" pitchFamily="34" charset="-120"/>
                        </a:rPr>
                        <a:t>Anthropic: permission to express uncertainty reduces hallucinations  ·  OpenAI (2025): models are trained to guess rather than abstain</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200" b="1" dirty="0">
                          <a:solidFill>
                            <a:srgbClr val="D31242"/>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733"/>
                          </a:solidFill>
                          <a:latin typeface="Arial" pitchFamily="34" charset="0"/>
                          <a:ea typeface="Arial" pitchFamily="34" charset="-122"/>
                          <a:cs typeface="Arial" pitchFamily="34" charset="-120"/>
                        </a:rPr>
                        <a:t>Ask the AI to critique and improve the draft</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452"/>
                          </a:solidFill>
                          <a:latin typeface="Arial" pitchFamily="34" charset="0"/>
                          <a:ea typeface="Arial" pitchFamily="34" charset="-122"/>
                          <a:cs typeface="Arial" pitchFamily="34" charset="-120"/>
                        </a:rPr>
                        <a:t>Self-Refine, NeurIPS 2023: ~20% average improvement across seven tasks  ·  Anthropic: review, then improve  ·  The Prompt Report: Self-Criticism</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75488">
                <a:tc>
                  <a:txBody>
                    <a:bodyPr/>
                    <a:lstStyle/>
                    <a:p>
                      <a:pPr marL="0" indent="0">
                        <a:buNone/>
                      </a:pPr>
                      <a:r>
                        <a:rPr lang="en-US" sz="1200" b="1" dirty="0">
                          <a:solidFill>
                            <a:srgbClr val="D31242"/>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b="1" dirty="0">
                          <a:solidFill>
                            <a:srgbClr val="1F2733"/>
                          </a:solidFill>
                          <a:latin typeface="Arial" pitchFamily="34" charset="0"/>
                          <a:ea typeface="Arial" pitchFamily="34" charset="-122"/>
                          <a:cs typeface="Arial" pitchFamily="34" charset="-120"/>
                        </a:rPr>
                        <a:t>Break the task into steps you can check</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tc>
                  <a:txBody>
                    <a:bodyPr/>
                    <a:lstStyle/>
                    <a:p>
                      <a:pPr marL="0" indent="0">
                        <a:buNone/>
                      </a:pPr>
                      <a:r>
                        <a:rPr lang="en-US" sz="1200" dirty="0">
                          <a:solidFill>
                            <a:srgbClr val="3A4452"/>
                          </a:solidFill>
                          <a:latin typeface="Arial" pitchFamily="34" charset="0"/>
                          <a:ea typeface="Arial" pitchFamily="34" charset="-122"/>
                          <a:cs typeface="Arial" pitchFamily="34" charset="-120"/>
                        </a:rPr>
                        <a:t>Anthropic: chaining breaks complex tasks into sequential steps  ·  OpenAI: split complex tasks into subtasks  ·  The Prompt Report: Decomposition</a:t>
                      </a:r>
                      <a:endParaRPr lang="en-US" sz="1200" dirty="0">
                        <a:latin typeface="Arial" charset="0"/>
                        <a:ea typeface="Arial" charset="0"/>
                        <a:cs typeface="Arial" charset="0"/>
                      </a:endParaRPr>
                    </a:p>
                  </a:txBody>
                  <a:tcPr marL="54864" marR="54864" marT="54864" marB="54864" anchor="ctr">
                    <a:lnL w="6350" cap="flat" cmpd="sng" algn="ctr">
                      <a:solidFill>
                        <a:srgbClr val="E3E6EA"/>
                      </a:solidFill>
                      <a:prstDash val="solid"/>
                      <a:round/>
                      <a:headEnd type="none" w="med" len="med"/>
                      <a:tailEnd type="none" w="med" len="med"/>
                    </a:lnL>
                    <a:lnR w="6350" cap="flat" cmpd="sng" algn="ctr">
                      <a:solidFill>
                        <a:srgbClr val="E3E6EA"/>
                      </a:solidFill>
                      <a:prstDash val="solid"/>
                      <a:round/>
                      <a:headEnd type="none" w="med" len="med"/>
                      <a:tailEnd type="none" w="med" len="med"/>
                    </a:lnR>
                    <a:lnT w="6350" cap="flat" cmpd="sng" algn="ctr">
                      <a:solidFill>
                        <a:srgbClr val="E3E6EA"/>
                      </a:solidFill>
                      <a:prstDash val="solid"/>
                      <a:round/>
                      <a:headEnd type="none" w="med" len="med"/>
                      <a:tailEnd type="none" w="med" len="med"/>
                    </a:lnT>
                    <a:lnB w="6350" cap="flat" cmpd="sng" algn="ctr">
                      <a:solidFill>
                        <a:srgbClr val="E3E6EA"/>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Text 2"/>
          <p:cNvSpPr/>
          <p:nvPr/>
        </p:nvSpPr>
        <p:spPr>
          <a:xfrm>
            <a:off x="640080" y="5961888"/>
            <a:ext cx="10881360" cy="274320"/>
          </a:xfrm>
          <a:prstGeom prst="rect">
            <a:avLst/>
          </a:prstGeom>
          <a:noFill/>
          <a:ln/>
        </p:spPr>
        <p:txBody>
          <a:bodyPr wrap="square" lIns="0" tIns="0" rIns="0" bIns="0" rtlCol="0" anchor="ctr"/>
          <a:lstStyle/>
          <a:p>
            <a:pPr marL="0" indent="0">
              <a:buNone/>
            </a:pPr>
            <a:r>
              <a:rPr lang="en-US" sz="1200" i="1" dirty="0">
                <a:solidFill>
                  <a:srgbClr val="5E6A78"/>
                </a:solidFill>
                <a:latin typeface="Arial" pitchFamily="34" charset="0"/>
                <a:ea typeface="Arial" pitchFamily="34" charset="-122"/>
                <a:cs typeface="Arial" pitchFamily="34" charset="-120"/>
              </a:rPr>
              <a:t>Technique 5 rests on a single source. It is included because Anthropic documents it directly, and it is the least evidence-backed of the eight.</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66928"/>
            <a:ext cx="10881360" cy="548640"/>
          </a:xfrm>
          <a:prstGeom prst="rect">
            <a:avLst/>
          </a:prstGeom>
          <a:noFill/>
          <a:ln/>
        </p:spPr>
        <p:txBody>
          <a:bodyPr wrap="square" lIns="0" tIns="0" rIns="0" bIns="0" rtlCol="0" anchor="ctr"/>
          <a:lstStyle/>
          <a:p>
            <a:pPr marL="0" indent="0">
              <a:buNone/>
            </a:pPr>
            <a:r>
              <a:rPr lang="en-US" sz="3000" b="1" dirty="0">
                <a:solidFill>
                  <a:srgbClr val="1F2733"/>
                </a:solidFill>
                <a:latin typeface="Arial" pitchFamily="34" charset="0"/>
                <a:ea typeface="Arial" pitchFamily="34" charset="-122"/>
                <a:cs typeface="Arial" pitchFamily="34" charset="-120"/>
              </a:rPr>
              <a:t>The sources, and why they count</a:t>
            </a:r>
            <a:endParaRPr lang="en-US" sz="3000" dirty="0"/>
          </a:p>
        </p:txBody>
      </p:sp>
      <p:sp>
        <p:nvSpPr>
          <p:cNvPr id="3" name="Text 1"/>
          <p:cNvSpPr/>
          <p:nvPr/>
        </p:nvSpPr>
        <p:spPr>
          <a:xfrm>
            <a:off x="640080" y="1170432"/>
            <a:ext cx="1088136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Two vendor guides for the tools BJ's actually uses, one systematic academic survey, and three peer-reviewed papers.</a:t>
            </a:r>
            <a:endParaRPr lang="en-US" sz="1300" dirty="0"/>
          </a:p>
        </p:txBody>
      </p:sp>
      <p:sp>
        <p:nvSpPr>
          <p:cNvPr id="4" name="Shape 2"/>
          <p:cNvSpPr/>
          <p:nvPr/>
        </p:nvSpPr>
        <p:spPr>
          <a:xfrm>
            <a:off x="640080" y="1664208"/>
            <a:ext cx="10881360" cy="822960"/>
          </a:xfrm>
          <a:prstGeom prst="roundRect">
            <a:avLst>
              <a:gd name="adj" fmla="val 4444"/>
            </a:avLst>
          </a:prstGeom>
          <a:solidFill>
            <a:srgbClr val="F5F6F8"/>
          </a:solidFill>
          <a:ln/>
        </p:spPr>
        <p:txBody>
          <a:bodyPr/>
          <a:lstStyle/>
          <a:p>
            <a:endParaRPr lang="en-US"/>
          </a:p>
        </p:txBody>
      </p:sp>
      <p:sp>
        <p:nvSpPr>
          <p:cNvPr id="5" name="Text 3"/>
          <p:cNvSpPr/>
          <p:nvPr/>
        </p:nvSpPr>
        <p:spPr>
          <a:xfrm>
            <a:off x="914400" y="1755648"/>
            <a:ext cx="2377440" cy="256032"/>
          </a:xfrm>
          <a:prstGeom prst="rect">
            <a:avLst/>
          </a:prstGeom>
          <a:noFill/>
          <a:ln/>
        </p:spPr>
        <p:txBody>
          <a:bodyPr wrap="square" lIns="0" tIns="0" rIns="0" bIns="0" rtlCol="0" anchor="ctr"/>
          <a:lstStyle/>
          <a:p>
            <a:pPr marL="0" indent="0">
              <a:buNone/>
            </a:pPr>
            <a:r>
              <a:rPr lang="en-US" sz="1300" b="1" dirty="0">
                <a:solidFill>
                  <a:srgbClr val="D31242"/>
                </a:solidFill>
                <a:latin typeface="Arial" pitchFamily="34" charset="0"/>
                <a:ea typeface="Arial" pitchFamily="34" charset="-122"/>
                <a:cs typeface="Arial" pitchFamily="34" charset="-120"/>
              </a:rPr>
              <a:t>Anthropic</a:t>
            </a:r>
            <a:endParaRPr lang="en-US" sz="1300" dirty="0"/>
          </a:p>
        </p:txBody>
      </p:sp>
      <p:sp>
        <p:nvSpPr>
          <p:cNvPr id="6" name="Text 4"/>
          <p:cNvSpPr/>
          <p:nvPr/>
        </p:nvSpPr>
        <p:spPr>
          <a:xfrm>
            <a:off x="914400" y="2029968"/>
            <a:ext cx="2743200" cy="402336"/>
          </a:xfrm>
          <a:prstGeom prst="rect">
            <a:avLst/>
          </a:prstGeom>
          <a:noFill/>
          <a:ln/>
        </p:spPr>
        <p:txBody>
          <a:bodyPr wrap="square" lIns="0" tIns="0" rIns="0" bIns="0" rtlCol="0" anchor="t"/>
          <a:lstStyle/>
          <a:p>
            <a:pPr marL="0" indent="0">
              <a:lnSpc>
                <a:spcPct val="105000"/>
              </a:lnSpc>
              <a:buNone/>
            </a:pPr>
            <a:r>
              <a:rPr lang="en-US" sz="1200" dirty="0">
                <a:solidFill>
                  <a:srgbClr val="5E6A78"/>
                </a:solidFill>
                <a:latin typeface="Arial" pitchFamily="34" charset="0"/>
                <a:ea typeface="Arial" pitchFamily="34" charset="-122"/>
                <a:cs typeface="Arial" pitchFamily="34" charset="-120"/>
              </a:rPr>
              <a:t>Prompt engineering best practices, 2026</a:t>
            </a:r>
            <a:endParaRPr lang="en-US" sz="1200" dirty="0"/>
          </a:p>
        </p:txBody>
      </p:sp>
      <p:sp>
        <p:nvSpPr>
          <p:cNvPr id="7" name="Text 5"/>
          <p:cNvSpPr/>
          <p:nvPr/>
        </p:nvSpPr>
        <p:spPr>
          <a:xfrm>
            <a:off x="4023360" y="1810512"/>
            <a:ext cx="7223760" cy="566928"/>
          </a:xfrm>
          <a:prstGeom prst="rect">
            <a:avLst/>
          </a:prstGeom>
          <a:noFill/>
          <a:ln/>
        </p:spPr>
        <p:txBody>
          <a:bodyPr wrap="square" lIns="0" tIns="0" rIns="0" bIns="0" rtlCol="0" anchor="ctr"/>
          <a:lstStyle/>
          <a:p>
            <a:pPr marL="0" indent="0">
              <a:lnSpc>
                <a:spcPct val="110000"/>
              </a:lnSpc>
              <a:buNone/>
            </a:pPr>
            <a:r>
              <a:rPr lang="en-US" sz="1300" dirty="0">
                <a:solidFill>
                  <a:srgbClr val="3A4452"/>
                </a:solidFill>
                <a:latin typeface="Arial" pitchFamily="34" charset="0"/>
                <a:ea typeface="Arial" pitchFamily="34" charset="-122"/>
                <a:cs typeface="Arial" pitchFamily="34" charset="-120"/>
              </a:rPr>
              <a:t>The vendor of Claude, one of the two AI tools approved at BJ's.</a:t>
            </a:r>
            <a:endParaRPr lang="en-US" sz="1300" dirty="0"/>
          </a:p>
        </p:txBody>
      </p:sp>
      <p:sp>
        <p:nvSpPr>
          <p:cNvPr id="8" name="Shape 6"/>
          <p:cNvSpPr/>
          <p:nvPr/>
        </p:nvSpPr>
        <p:spPr>
          <a:xfrm>
            <a:off x="640080" y="2578608"/>
            <a:ext cx="10881360" cy="822960"/>
          </a:xfrm>
          <a:prstGeom prst="roundRect">
            <a:avLst>
              <a:gd name="adj" fmla="val 4444"/>
            </a:avLst>
          </a:prstGeom>
          <a:solidFill>
            <a:srgbClr val="F5F6F8"/>
          </a:solidFill>
          <a:ln/>
        </p:spPr>
        <p:txBody>
          <a:bodyPr/>
          <a:lstStyle/>
          <a:p>
            <a:endParaRPr lang="en-US"/>
          </a:p>
        </p:txBody>
      </p:sp>
      <p:sp>
        <p:nvSpPr>
          <p:cNvPr id="9" name="Text 7"/>
          <p:cNvSpPr/>
          <p:nvPr/>
        </p:nvSpPr>
        <p:spPr>
          <a:xfrm>
            <a:off x="914400" y="2670048"/>
            <a:ext cx="2377440" cy="256032"/>
          </a:xfrm>
          <a:prstGeom prst="rect">
            <a:avLst/>
          </a:prstGeom>
          <a:noFill/>
          <a:ln/>
        </p:spPr>
        <p:txBody>
          <a:bodyPr wrap="square" lIns="0" tIns="0" rIns="0" bIns="0" rtlCol="0" anchor="ctr"/>
          <a:lstStyle/>
          <a:p>
            <a:pPr marL="0" indent="0">
              <a:buNone/>
            </a:pPr>
            <a:r>
              <a:rPr lang="en-US" sz="1300" b="1" dirty="0">
                <a:solidFill>
                  <a:srgbClr val="D31242"/>
                </a:solidFill>
                <a:latin typeface="Arial" pitchFamily="34" charset="0"/>
                <a:ea typeface="Arial" pitchFamily="34" charset="-122"/>
                <a:cs typeface="Arial" pitchFamily="34" charset="-120"/>
              </a:rPr>
              <a:t>OpenAI</a:t>
            </a:r>
            <a:endParaRPr lang="en-US" sz="1300" dirty="0"/>
          </a:p>
        </p:txBody>
      </p:sp>
      <p:sp>
        <p:nvSpPr>
          <p:cNvPr id="10" name="Text 8"/>
          <p:cNvSpPr/>
          <p:nvPr/>
        </p:nvSpPr>
        <p:spPr>
          <a:xfrm>
            <a:off x="914400" y="2944368"/>
            <a:ext cx="2743200" cy="402336"/>
          </a:xfrm>
          <a:prstGeom prst="rect">
            <a:avLst/>
          </a:prstGeom>
          <a:noFill/>
          <a:ln/>
        </p:spPr>
        <p:txBody>
          <a:bodyPr wrap="square" lIns="0" tIns="0" rIns="0" bIns="0" rtlCol="0" anchor="t"/>
          <a:lstStyle/>
          <a:p>
            <a:pPr marL="0" indent="0">
              <a:lnSpc>
                <a:spcPct val="105000"/>
              </a:lnSpc>
              <a:buNone/>
            </a:pPr>
            <a:r>
              <a:rPr lang="en-US" sz="1200" dirty="0">
                <a:solidFill>
                  <a:srgbClr val="5E6A78"/>
                </a:solidFill>
                <a:latin typeface="Arial" pitchFamily="34" charset="0"/>
                <a:ea typeface="Arial" pitchFamily="34" charset="-122"/>
                <a:cs typeface="Arial" pitchFamily="34" charset="-120"/>
              </a:rPr>
              <a:t>Prompt engineering guide, and Why Language Models Hallucinate, 2025</a:t>
            </a:r>
            <a:endParaRPr lang="en-US" sz="1200" dirty="0"/>
          </a:p>
        </p:txBody>
      </p:sp>
      <p:sp>
        <p:nvSpPr>
          <p:cNvPr id="11" name="Text 9"/>
          <p:cNvSpPr/>
          <p:nvPr/>
        </p:nvSpPr>
        <p:spPr>
          <a:xfrm>
            <a:off x="4023360" y="2724912"/>
            <a:ext cx="7223760" cy="566928"/>
          </a:xfrm>
          <a:prstGeom prst="rect">
            <a:avLst/>
          </a:prstGeom>
          <a:noFill/>
          <a:ln/>
        </p:spPr>
        <p:txBody>
          <a:bodyPr wrap="square" lIns="0" tIns="0" rIns="0" bIns="0" rtlCol="0" anchor="ctr"/>
          <a:lstStyle/>
          <a:p>
            <a:pPr marL="0" indent="0">
              <a:lnSpc>
                <a:spcPct val="110000"/>
              </a:lnSpc>
              <a:buNone/>
            </a:pPr>
            <a:r>
              <a:rPr lang="en-US" sz="1300" dirty="0">
                <a:solidFill>
                  <a:srgbClr val="3A4452"/>
                </a:solidFill>
                <a:latin typeface="Arial" pitchFamily="34" charset="0"/>
                <a:ea typeface="Arial" pitchFamily="34" charset="-122"/>
                <a:cs typeface="Arial" pitchFamily="34" charset="-120"/>
              </a:rPr>
              <a:t>The vendor of ChatGPT, the other approved tool. The 2025 paper explains why models guess rather than abstain.</a:t>
            </a:r>
            <a:endParaRPr lang="en-US" sz="1300" dirty="0"/>
          </a:p>
        </p:txBody>
      </p:sp>
      <p:sp>
        <p:nvSpPr>
          <p:cNvPr id="12" name="Shape 10"/>
          <p:cNvSpPr/>
          <p:nvPr/>
        </p:nvSpPr>
        <p:spPr>
          <a:xfrm>
            <a:off x="640080" y="3493008"/>
            <a:ext cx="10881360" cy="822960"/>
          </a:xfrm>
          <a:prstGeom prst="roundRect">
            <a:avLst>
              <a:gd name="adj" fmla="val 4444"/>
            </a:avLst>
          </a:prstGeom>
          <a:solidFill>
            <a:srgbClr val="F5F6F8"/>
          </a:solidFill>
          <a:ln/>
        </p:spPr>
        <p:txBody>
          <a:bodyPr/>
          <a:lstStyle/>
          <a:p>
            <a:endParaRPr lang="en-US"/>
          </a:p>
        </p:txBody>
      </p:sp>
      <p:sp>
        <p:nvSpPr>
          <p:cNvPr id="13" name="Text 11"/>
          <p:cNvSpPr/>
          <p:nvPr/>
        </p:nvSpPr>
        <p:spPr>
          <a:xfrm>
            <a:off x="914400" y="3584448"/>
            <a:ext cx="2377440" cy="256032"/>
          </a:xfrm>
          <a:prstGeom prst="rect">
            <a:avLst/>
          </a:prstGeom>
          <a:noFill/>
          <a:ln/>
        </p:spPr>
        <p:txBody>
          <a:bodyPr wrap="square" lIns="0" tIns="0" rIns="0" bIns="0" rtlCol="0" anchor="ctr"/>
          <a:lstStyle/>
          <a:p>
            <a:pPr marL="0" indent="0">
              <a:buNone/>
            </a:pPr>
            <a:r>
              <a:rPr lang="en-US" sz="1300" b="1" dirty="0">
                <a:solidFill>
                  <a:srgbClr val="D31242"/>
                </a:solidFill>
                <a:latin typeface="Arial" pitchFamily="34" charset="0"/>
                <a:ea typeface="Arial" pitchFamily="34" charset="-122"/>
                <a:cs typeface="Arial" pitchFamily="34" charset="-120"/>
              </a:rPr>
              <a:t>Google</a:t>
            </a:r>
            <a:endParaRPr lang="en-US" sz="1300" dirty="0"/>
          </a:p>
        </p:txBody>
      </p:sp>
      <p:sp>
        <p:nvSpPr>
          <p:cNvPr id="14" name="Text 12"/>
          <p:cNvSpPr/>
          <p:nvPr/>
        </p:nvSpPr>
        <p:spPr>
          <a:xfrm>
            <a:off x="914400" y="3858768"/>
            <a:ext cx="2743200" cy="402336"/>
          </a:xfrm>
          <a:prstGeom prst="rect">
            <a:avLst/>
          </a:prstGeom>
          <a:noFill/>
          <a:ln/>
        </p:spPr>
        <p:txBody>
          <a:bodyPr wrap="square" lIns="0" tIns="0" rIns="0" bIns="0" rtlCol="0" anchor="t"/>
          <a:lstStyle/>
          <a:p>
            <a:pPr marL="0" indent="0">
              <a:lnSpc>
                <a:spcPct val="105000"/>
              </a:lnSpc>
              <a:buNone/>
            </a:pPr>
            <a:r>
              <a:rPr lang="en-US" sz="1200" dirty="0">
                <a:solidFill>
                  <a:srgbClr val="5E6A78"/>
                </a:solidFill>
                <a:latin typeface="Arial" pitchFamily="34" charset="0"/>
                <a:ea typeface="Arial" pitchFamily="34" charset="-122"/>
                <a:cs typeface="Arial" pitchFamily="34" charset="-120"/>
              </a:rPr>
              <a:t>Gemini for Google Workspace Prompting Guide, 2nd edition</a:t>
            </a:r>
            <a:endParaRPr lang="en-US" sz="1200" dirty="0"/>
          </a:p>
        </p:txBody>
      </p:sp>
      <p:sp>
        <p:nvSpPr>
          <p:cNvPr id="15" name="Text 13"/>
          <p:cNvSpPr/>
          <p:nvPr/>
        </p:nvSpPr>
        <p:spPr>
          <a:xfrm>
            <a:off x="4023360" y="3639312"/>
            <a:ext cx="7223760" cy="566928"/>
          </a:xfrm>
          <a:prstGeom prst="rect">
            <a:avLst/>
          </a:prstGeom>
          <a:noFill/>
          <a:ln/>
        </p:spPr>
        <p:txBody>
          <a:bodyPr wrap="square" lIns="0" tIns="0" rIns="0" bIns="0" rtlCol="0" anchor="ctr"/>
          <a:lstStyle/>
          <a:p>
            <a:pPr marL="0" indent="0">
              <a:lnSpc>
                <a:spcPct val="110000"/>
              </a:lnSpc>
              <a:buNone/>
            </a:pPr>
            <a:r>
              <a:rPr lang="en-US" sz="1300" dirty="0">
                <a:solidFill>
                  <a:srgbClr val="3A4452"/>
                </a:solidFill>
                <a:latin typeface="Arial" pitchFamily="34" charset="0"/>
                <a:ea typeface="Arial" pitchFamily="34" charset="-122"/>
                <a:cs typeface="Arial" pitchFamily="34" charset="-120"/>
              </a:rPr>
              <a:t>A third independent vendor. Used to confirm a technique is not vendor-specific.</a:t>
            </a:r>
            <a:endParaRPr lang="en-US" sz="1300" dirty="0"/>
          </a:p>
        </p:txBody>
      </p:sp>
      <p:sp>
        <p:nvSpPr>
          <p:cNvPr id="16" name="Shape 14"/>
          <p:cNvSpPr/>
          <p:nvPr/>
        </p:nvSpPr>
        <p:spPr>
          <a:xfrm>
            <a:off x="640080" y="4407408"/>
            <a:ext cx="10881360" cy="822960"/>
          </a:xfrm>
          <a:prstGeom prst="roundRect">
            <a:avLst>
              <a:gd name="adj" fmla="val 4444"/>
            </a:avLst>
          </a:prstGeom>
          <a:solidFill>
            <a:srgbClr val="F5F6F8"/>
          </a:solidFill>
          <a:ln/>
        </p:spPr>
        <p:txBody>
          <a:bodyPr/>
          <a:lstStyle/>
          <a:p>
            <a:endParaRPr lang="en-US"/>
          </a:p>
        </p:txBody>
      </p:sp>
      <p:sp>
        <p:nvSpPr>
          <p:cNvPr id="17" name="Text 15"/>
          <p:cNvSpPr/>
          <p:nvPr/>
        </p:nvSpPr>
        <p:spPr>
          <a:xfrm>
            <a:off x="914400" y="4498848"/>
            <a:ext cx="2377440" cy="256032"/>
          </a:xfrm>
          <a:prstGeom prst="rect">
            <a:avLst/>
          </a:prstGeom>
          <a:noFill/>
          <a:ln/>
        </p:spPr>
        <p:txBody>
          <a:bodyPr wrap="square" lIns="0" tIns="0" rIns="0" bIns="0" rtlCol="0" anchor="ctr"/>
          <a:lstStyle/>
          <a:p>
            <a:pPr marL="0" indent="0">
              <a:buNone/>
            </a:pPr>
            <a:r>
              <a:rPr lang="en-US" sz="1300" b="1" dirty="0">
                <a:solidFill>
                  <a:srgbClr val="D31242"/>
                </a:solidFill>
                <a:latin typeface="Arial" pitchFamily="34" charset="0"/>
                <a:ea typeface="Arial" pitchFamily="34" charset="-122"/>
                <a:cs typeface="Arial" pitchFamily="34" charset="-120"/>
              </a:rPr>
              <a:t>The Prompt Report</a:t>
            </a:r>
            <a:endParaRPr lang="en-US" sz="1300" dirty="0"/>
          </a:p>
        </p:txBody>
      </p:sp>
      <p:sp>
        <p:nvSpPr>
          <p:cNvPr id="18" name="Text 16"/>
          <p:cNvSpPr/>
          <p:nvPr/>
        </p:nvSpPr>
        <p:spPr>
          <a:xfrm>
            <a:off x="914400" y="4773168"/>
            <a:ext cx="2743200" cy="402336"/>
          </a:xfrm>
          <a:prstGeom prst="rect">
            <a:avLst/>
          </a:prstGeom>
          <a:noFill/>
          <a:ln/>
        </p:spPr>
        <p:txBody>
          <a:bodyPr wrap="square" lIns="0" tIns="0" rIns="0" bIns="0" rtlCol="0" anchor="t"/>
          <a:lstStyle/>
          <a:p>
            <a:pPr marL="0" indent="0">
              <a:lnSpc>
                <a:spcPct val="105000"/>
              </a:lnSpc>
              <a:buNone/>
            </a:pPr>
            <a:r>
              <a:rPr lang="en-US" sz="1200" dirty="0">
                <a:solidFill>
                  <a:srgbClr val="5E6A78"/>
                </a:solidFill>
                <a:latin typeface="Arial" pitchFamily="34" charset="0"/>
                <a:ea typeface="Arial" pitchFamily="34" charset="-122"/>
                <a:cs typeface="Arial" pitchFamily="34" charset="-120"/>
              </a:rPr>
              <a:t>Schulhoff et al., arXiv 2406.06608</a:t>
            </a:r>
            <a:endParaRPr lang="en-US" sz="1200" dirty="0"/>
          </a:p>
        </p:txBody>
      </p:sp>
      <p:sp>
        <p:nvSpPr>
          <p:cNvPr id="19" name="Text 17"/>
          <p:cNvSpPr/>
          <p:nvPr/>
        </p:nvSpPr>
        <p:spPr>
          <a:xfrm>
            <a:off x="4023360" y="4553712"/>
            <a:ext cx="7223760" cy="566928"/>
          </a:xfrm>
          <a:prstGeom prst="rect">
            <a:avLst/>
          </a:prstGeom>
          <a:noFill/>
          <a:ln/>
        </p:spPr>
        <p:txBody>
          <a:bodyPr wrap="square" lIns="0" tIns="0" rIns="0" bIns="0" rtlCol="0" anchor="ctr"/>
          <a:lstStyle/>
          <a:p>
            <a:pPr marL="0" indent="0">
              <a:lnSpc>
                <a:spcPct val="110000"/>
              </a:lnSpc>
              <a:buNone/>
            </a:pPr>
            <a:r>
              <a:rPr lang="en-US" sz="1300" dirty="0">
                <a:solidFill>
                  <a:srgbClr val="3A4452"/>
                </a:solidFill>
                <a:latin typeface="Arial" pitchFamily="34" charset="0"/>
                <a:ea typeface="Arial" pitchFamily="34" charset="-122"/>
                <a:cs typeface="Arial" pitchFamily="34" charset="-120"/>
              </a:rPr>
              <a:t>A systematic academic survey of 58 documented LLM prompting techniques.</a:t>
            </a:r>
            <a:endParaRPr lang="en-US" sz="1300" dirty="0"/>
          </a:p>
        </p:txBody>
      </p:sp>
      <p:sp>
        <p:nvSpPr>
          <p:cNvPr id="20" name="Shape 18"/>
          <p:cNvSpPr/>
          <p:nvPr/>
        </p:nvSpPr>
        <p:spPr>
          <a:xfrm>
            <a:off x="640080" y="5321808"/>
            <a:ext cx="10881360" cy="822960"/>
          </a:xfrm>
          <a:prstGeom prst="roundRect">
            <a:avLst>
              <a:gd name="adj" fmla="val 4444"/>
            </a:avLst>
          </a:prstGeom>
          <a:solidFill>
            <a:srgbClr val="F5F6F8"/>
          </a:solidFill>
          <a:ln/>
        </p:spPr>
        <p:txBody>
          <a:bodyPr/>
          <a:lstStyle/>
          <a:p>
            <a:endParaRPr lang="en-US"/>
          </a:p>
        </p:txBody>
      </p:sp>
      <p:sp>
        <p:nvSpPr>
          <p:cNvPr id="21" name="Text 19"/>
          <p:cNvSpPr/>
          <p:nvPr/>
        </p:nvSpPr>
        <p:spPr>
          <a:xfrm>
            <a:off x="914400" y="5413248"/>
            <a:ext cx="2377440" cy="256032"/>
          </a:xfrm>
          <a:prstGeom prst="rect">
            <a:avLst/>
          </a:prstGeom>
          <a:noFill/>
          <a:ln/>
        </p:spPr>
        <p:txBody>
          <a:bodyPr wrap="square" lIns="0" tIns="0" rIns="0" bIns="0" rtlCol="0" anchor="ctr"/>
          <a:lstStyle/>
          <a:p>
            <a:pPr marL="0" indent="0">
              <a:buNone/>
            </a:pPr>
            <a:r>
              <a:rPr lang="en-US" sz="1300" b="1" dirty="0">
                <a:solidFill>
                  <a:srgbClr val="D31242"/>
                </a:solidFill>
                <a:latin typeface="Arial" pitchFamily="34" charset="0"/>
                <a:ea typeface="Arial" pitchFamily="34" charset="-122"/>
                <a:cs typeface="Arial" pitchFamily="34" charset="-120"/>
              </a:rPr>
              <a:t>Peer-reviewed papers</a:t>
            </a:r>
            <a:endParaRPr lang="en-US" sz="1300" dirty="0"/>
          </a:p>
        </p:txBody>
      </p:sp>
      <p:sp>
        <p:nvSpPr>
          <p:cNvPr id="22" name="Text 20"/>
          <p:cNvSpPr/>
          <p:nvPr/>
        </p:nvSpPr>
        <p:spPr>
          <a:xfrm>
            <a:off x="914400" y="5687568"/>
            <a:ext cx="2743200" cy="402336"/>
          </a:xfrm>
          <a:prstGeom prst="rect">
            <a:avLst/>
          </a:prstGeom>
          <a:noFill/>
          <a:ln/>
        </p:spPr>
        <p:txBody>
          <a:bodyPr wrap="square" lIns="0" tIns="0" rIns="0" bIns="0" rtlCol="0" anchor="t"/>
          <a:lstStyle/>
          <a:p>
            <a:pPr marL="0" indent="0">
              <a:lnSpc>
                <a:spcPct val="105000"/>
              </a:lnSpc>
              <a:buNone/>
            </a:pPr>
            <a:r>
              <a:rPr lang="en-US" sz="1200" dirty="0">
                <a:solidFill>
                  <a:srgbClr val="5E6A78"/>
                </a:solidFill>
                <a:latin typeface="Arial" pitchFamily="34" charset="0"/>
                <a:ea typeface="Arial" pitchFamily="34" charset="-122"/>
                <a:cs typeface="Arial" pitchFamily="34" charset="-120"/>
              </a:rPr>
              <a:t>Self-Refine (NeurIPS 2023)  ·  LLMs Cannot Self-Correct Reasoning Yet (ICLR 2024)  ·  Wharton Prompting Science Reports</a:t>
            </a:r>
            <a:endParaRPr lang="en-US" sz="1200" dirty="0"/>
          </a:p>
        </p:txBody>
      </p:sp>
      <p:sp>
        <p:nvSpPr>
          <p:cNvPr id="23" name="Text 21"/>
          <p:cNvSpPr/>
          <p:nvPr/>
        </p:nvSpPr>
        <p:spPr>
          <a:xfrm>
            <a:off x="4023360" y="5468112"/>
            <a:ext cx="7223760" cy="566928"/>
          </a:xfrm>
          <a:prstGeom prst="rect">
            <a:avLst/>
          </a:prstGeom>
          <a:noFill/>
          <a:ln/>
        </p:spPr>
        <p:txBody>
          <a:bodyPr wrap="square" lIns="0" tIns="0" rIns="0" bIns="0" rtlCol="0" anchor="ctr"/>
          <a:lstStyle/>
          <a:p>
            <a:pPr marL="0" indent="0">
              <a:lnSpc>
                <a:spcPct val="110000"/>
              </a:lnSpc>
              <a:buNone/>
            </a:pPr>
            <a:r>
              <a:rPr lang="en-US" sz="1300" dirty="0">
                <a:solidFill>
                  <a:srgbClr val="3A4452"/>
                </a:solidFill>
                <a:latin typeface="Arial" pitchFamily="34" charset="0"/>
                <a:ea typeface="Arial" pitchFamily="34" charset="-122"/>
                <a:cs typeface="Arial" pitchFamily="34" charset="-120"/>
              </a:rPr>
              <a:t>Used for the evidence behind technique 7, and for the limits stated in the speaker notes.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566928"/>
            <a:ext cx="10881360" cy="548640"/>
          </a:xfrm>
          <a:prstGeom prst="rect">
            <a:avLst/>
          </a:prstGeom>
          <a:noFill/>
          <a:ln/>
        </p:spPr>
        <p:txBody>
          <a:bodyPr wrap="square" lIns="0" tIns="0" rIns="0" bIns="0" rtlCol="0" anchor="ctr"/>
          <a:lstStyle/>
          <a:p>
            <a:pPr marL="0" indent="0">
              <a:buNone/>
            </a:pPr>
            <a:r>
              <a:rPr lang="en-US" sz="3000" b="1" dirty="0">
                <a:solidFill>
                  <a:srgbClr val="1F2733"/>
                </a:solidFill>
                <a:latin typeface="Arial" pitchFamily="34" charset="0"/>
                <a:ea typeface="Arial" pitchFamily="34" charset="-122"/>
                <a:cs typeface="Arial" pitchFamily="34" charset="-120"/>
              </a:rPr>
              <a:t>What was deliberately left out</a:t>
            </a:r>
            <a:endParaRPr lang="en-US" sz="3000" dirty="0"/>
          </a:p>
        </p:txBody>
      </p:sp>
      <p:sp>
        <p:nvSpPr>
          <p:cNvPr id="3" name="Text 1"/>
          <p:cNvSpPr/>
          <p:nvPr/>
        </p:nvSpPr>
        <p:spPr>
          <a:xfrm>
            <a:off x="640080" y="1170432"/>
            <a:ext cx="10881360" cy="274320"/>
          </a:xfrm>
          <a:prstGeom prst="rect">
            <a:avLst/>
          </a:prstGeom>
          <a:noFill/>
          <a:ln/>
        </p:spPr>
        <p:txBody>
          <a:bodyPr wrap="square" lIns="0" tIns="0" rIns="0" bIns="0" rtlCol="0" anchor="ctr"/>
          <a:lstStyle/>
          <a:p>
            <a:pPr marL="0" indent="0">
              <a:buNone/>
            </a:pPr>
            <a:r>
              <a:rPr lang="en-US" sz="1300" dirty="0">
                <a:solidFill>
                  <a:srgbClr val="5E6A78"/>
                </a:solidFill>
                <a:latin typeface="Arial" pitchFamily="34" charset="0"/>
                <a:ea typeface="Arial" pitchFamily="34" charset="-122"/>
                <a:cs typeface="Arial" pitchFamily="34" charset="-120"/>
              </a:rPr>
              <a:t>Three widely taught prompting habits were excluded from this course because the evidence does not support them.</a:t>
            </a:r>
            <a:endParaRPr lang="en-US" sz="1300" dirty="0"/>
          </a:p>
        </p:txBody>
      </p:sp>
      <p:sp>
        <p:nvSpPr>
          <p:cNvPr id="4" name="Shape 2"/>
          <p:cNvSpPr/>
          <p:nvPr/>
        </p:nvSpPr>
        <p:spPr>
          <a:xfrm>
            <a:off x="640080" y="1737360"/>
            <a:ext cx="10881360" cy="1243584"/>
          </a:xfrm>
          <a:prstGeom prst="roundRect">
            <a:avLst>
              <a:gd name="adj" fmla="val 2941"/>
            </a:avLst>
          </a:prstGeom>
          <a:solidFill>
            <a:srgbClr val="F5F6F8"/>
          </a:solidFill>
          <a:ln/>
        </p:spPr>
        <p:txBody>
          <a:bodyPr/>
          <a:lstStyle/>
          <a:p>
            <a:endParaRPr lang="en-US"/>
          </a:p>
        </p:txBody>
      </p:sp>
      <p:sp>
        <p:nvSpPr>
          <p:cNvPr id="5" name="Text 3"/>
          <p:cNvSpPr/>
          <p:nvPr/>
        </p:nvSpPr>
        <p:spPr>
          <a:xfrm>
            <a:off x="914400" y="1865376"/>
            <a:ext cx="3108960" cy="475488"/>
          </a:xfrm>
          <a:prstGeom prst="rect">
            <a:avLst/>
          </a:prstGeom>
          <a:noFill/>
          <a:ln/>
        </p:spPr>
        <p:txBody>
          <a:bodyPr wrap="square" lIns="0" tIns="0" rIns="0" bIns="0" rtlCol="0" anchor="t"/>
          <a:lstStyle/>
          <a:p>
            <a:pPr marL="0" indent="0">
              <a:lnSpc>
                <a:spcPct val="104000"/>
              </a:lnSpc>
              <a:buNone/>
            </a:pPr>
            <a:r>
              <a:rPr lang="en-US" sz="1500" b="1" dirty="0">
                <a:solidFill>
                  <a:srgbClr val="1F2733"/>
                </a:solidFill>
                <a:latin typeface="Arial" pitchFamily="34" charset="0"/>
                <a:ea typeface="Arial" pitchFamily="34" charset="-122"/>
                <a:cs typeface="Arial" pitchFamily="34" charset="-120"/>
              </a:rPr>
              <a:t>Expert personas and role prompting</a:t>
            </a:r>
            <a:endParaRPr lang="en-US" sz="1500" dirty="0"/>
          </a:p>
        </p:txBody>
      </p:sp>
      <p:sp>
        <p:nvSpPr>
          <p:cNvPr id="6" name="Text 4"/>
          <p:cNvSpPr/>
          <p:nvPr/>
        </p:nvSpPr>
        <p:spPr>
          <a:xfrm>
            <a:off x="914400" y="2395728"/>
            <a:ext cx="3108960" cy="365760"/>
          </a:xfrm>
          <a:prstGeom prst="rect">
            <a:avLst/>
          </a:prstGeom>
          <a:noFill/>
          <a:ln/>
        </p:spPr>
        <p:txBody>
          <a:bodyPr wrap="square" lIns="0" tIns="0" rIns="0" bIns="0" rtlCol="0" anchor="t"/>
          <a:lstStyle/>
          <a:p>
            <a:pPr marL="0" indent="0">
              <a:buNone/>
            </a:pPr>
            <a:r>
              <a:rPr lang="en-US" sz="1200" i="1" dirty="0">
                <a:solidFill>
                  <a:srgbClr val="5E6A78"/>
                </a:solidFill>
                <a:latin typeface="Arial" pitchFamily="34" charset="0"/>
                <a:ea typeface="Arial" pitchFamily="34" charset="-122"/>
                <a:cs typeface="Arial" pitchFamily="34" charset="-120"/>
              </a:rPr>
              <a:t>“You are a world-class analyst…”</a:t>
            </a:r>
            <a:endParaRPr lang="en-US" sz="1200" dirty="0"/>
          </a:p>
        </p:txBody>
      </p:sp>
      <p:sp>
        <p:nvSpPr>
          <p:cNvPr id="7" name="Text 5"/>
          <p:cNvSpPr/>
          <p:nvPr/>
        </p:nvSpPr>
        <p:spPr>
          <a:xfrm>
            <a:off x="4297680" y="1883664"/>
            <a:ext cx="6949440" cy="585216"/>
          </a:xfrm>
          <a:prstGeom prst="rect">
            <a:avLst/>
          </a:prstGeom>
          <a:noFill/>
          <a:ln/>
        </p:spPr>
        <p:txBody>
          <a:bodyPr wrap="square" lIns="0" tIns="0" rIns="0" bIns="0" rtlCol="0" anchor="t"/>
          <a:lstStyle/>
          <a:p>
            <a:pPr marL="0" indent="0">
              <a:lnSpc>
                <a:spcPct val="112000"/>
              </a:lnSpc>
              <a:buNone/>
            </a:pPr>
            <a:r>
              <a:rPr lang="en-US" sz="1300" dirty="0">
                <a:solidFill>
                  <a:srgbClr val="3A4452"/>
                </a:solidFill>
                <a:latin typeface="Arial" pitchFamily="34" charset="0"/>
                <a:ea typeface="Arial" pitchFamily="34" charset="-122"/>
                <a:cs typeface="Arial" pitchFamily="34" charset="-120"/>
              </a:rPr>
              <a:t>Assigning expert personas “does not reliably improve accuracy.” Low-knowledge personas harmed performance, and mismatched experts sometimes caused refusals.</a:t>
            </a:r>
            <a:endParaRPr lang="en-US" sz="1300" dirty="0"/>
          </a:p>
        </p:txBody>
      </p:sp>
      <p:sp>
        <p:nvSpPr>
          <p:cNvPr id="8" name="Text 6"/>
          <p:cNvSpPr/>
          <p:nvPr/>
        </p:nvSpPr>
        <p:spPr>
          <a:xfrm>
            <a:off x="4297680" y="2560320"/>
            <a:ext cx="6949440" cy="310896"/>
          </a:xfrm>
          <a:prstGeom prst="rect">
            <a:avLst/>
          </a:prstGeom>
          <a:noFill/>
          <a:ln/>
        </p:spPr>
        <p:txBody>
          <a:bodyPr wrap="square" lIns="0" tIns="0" rIns="0" bIns="0" rtlCol="0" anchor="t"/>
          <a:lstStyle/>
          <a:p>
            <a:pPr marL="0" indent="0">
              <a:lnSpc>
                <a:spcPct val="105000"/>
              </a:lnSpc>
              <a:buNone/>
            </a:pPr>
            <a:r>
              <a:rPr lang="en-US" sz="1200" dirty="0">
                <a:solidFill>
                  <a:srgbClr val="5E6A78"/>
                </a:solidFill>
                <a:latin typeface="Arial" pitchFamily="34" charset="0"/>
                <a:ea typeface="Arial" pitchFamily="34" charset="-122"/>
                <a:cs typeface="Arial" pitchFamily="34" charset="-120"/>
              </a:rPr>
              <a:t>Wharton Prompting Science Report 4, Playing Pretend, December 2025 (arXiv 2512.05858)</a:t>
            </a:r>
            <a:endParaRPr lang="en-US" sz="1200" dirty="0"/>
          </a:p>
        </p:txBody>
      </p:sp>
      <p:sp>
        <p:nvSpPr>
          <p:cNvPr id="9" name="Shape 7"/>
          <p:cNvSpPr/>
          <p:nvPr/>
        </p:nvSpPr>
        <p:spPr>
          <a:xfrm>
            <a:off x="640080" y="3127248"/>
            <a:ext cx="10881360" cy="1243584"/>
          </a:xfrm>
          <a:prstGeom prst="roundRect">
            <a:avLst>
              <a:gd name="adj" fmla="val 2941"/>
            </a:avLst>
          </a:prstGeom>
          <a:solidFill>
            <a:srgbClr val="F5F6F8"/>
          </a:solidFill>
          <a:ln/>
        </p:spPr>
        <p:txBody>
          <a:bodyPr/>
          <a:lstStyle/>
          <a:p>
            <a:endParaRPr lang="en-US"/>
          </a:p>
        </p:txBody>
      </p:sp>
      <p:sp>
        <p:nvSpPr>
          <p:cNvPr id="10" name="Text 8"/>
          <p:cNvSpPr/>
          <p:nvPr/>
        </p:nvSpPr>
        <p:spPr>
          <a:xfrm>
            <a:off x="914400" y="3255264"/>
            <a:ext cx="3108960" cy="475488"/>
          </a:xfrm>
          <a:prstGeom prst="rect">
            <a:avLst/>
          </a:prstGeom>
          <a:noFill/>
          <a:ln/>
        </p:spPr>
        <p:txBody>
          <a:bodyPr wrap="square" lIns="0" tIns="0" rIns="0" bIns="0" rtlCol="0" anchor="t"/>
          <a:lstStyle/>
          <a:p>
            <a:pPr marL="0" indent="0">
              <a:lnSpc>
                <a:spcPct val="104000"/>
              </a:lnSpc>
              <a:buNone/>
            </a:pPr>
            <a:r>
              <a:rPr lang="en-US" sz="1500" b="1" dirty="0">
                <a:solidFill>
                  <a:srgbClr val="1F2733"/>
                </a:solidFill>
                <a:latin typeface="Arial" pitchFamily="34" charset="0"/>
                <a:ea typeface="Arial" pitchFamily="34" charset="-122"/>
                <a:cs typeface="Arial" pitchFamily="34" charset="-120"/>
              </a:rPr>
              <a:t>“Think step by step”</a:t>
            </a:r>
            <a:endParaRPr lang="en-US" sz="1500" dirty="0"/>
          </a:p>
        </p:txBody>
      </p:sp>
      <p:sp>
        <p:nvSpPr>
          <p:cNvPr id="11" name="Text 9"/>
          <p:cNvSpPr/>
          <p:nvPr/>
        </p:nvSpPr>
        <p:spPr>
          <a:xfrm>
            <a:off x="914400" y="3785616"/>
            <a:ext cx="3108960" cy="365760"/>
          </a:xfrm>
          <a:prstGeom prst="rect">
            <a:avLst/>
          </a:prstGeom>
          <a:noFill/>
          <a:ln/>
        </p:spPr>
        <p:txBody>
          <a:bodyPr wrap="square" lIns="0" tIns="0" rIns="0" bIns="0" rtlCol="0" anchor="t"/>
          <a:lstStyle/>
          <a:p>
            <a:pPr marL="0" indent="0">
              <a:buNone/>
            </a:pPr>
            <a:r>
              <a:rPr lang="en-US" sz="1200" i="1" dirty="0">
                <a:solidFill>
                  <a:srgbClr val="5E6A78"/>
                </a:solidFill>
                <a:latin typeface="Arial" pitchFamily="34" charset="0"/>
                <a:ea typeface="Arial" pitchFamily="34" charset="-122"/>
                <a:cs typeface="Arial" pitchFamily="34" charset="-120"/>
              </a:rPr>
              <a:t>Added to the end of a prompt</a:t>
            </a:r>
            <a:endParaRPr lang="en-US" sz="1200" dirty="0"/>
          </a:p>
        </p:txBody>
      </p:sp>
      <p:sp>
        <p:nvSpPr>
          <p:cNvPr id="12" name="Text 10"/>
          <p:cNvSpPr/>
          <p:nvPr/>
        </p:nvSpPr>
        <p:spPr>
          <a:xfrm>
            <a:off x="4297680" y="3273552"/>
            <a:ext cx="6949440" cy="585216"/>
          </a:xfrm>
          <a:prstGeom prst="rect">
            <a:avLst/>
          </a:prstGeom>
          <a:noFill/>
          <a:ln/>
        </p:spPr>
        <p:txBody>
          <a:bodyPr wrap="square" lIns="0" tIns="0" rIns="0" bIns="0" rtlCol="0" anchor="t"/>
          <a:lstStyle/>
          <a:p>
            <a:pPr marL="0" indent="0">
              <a:lnSpc>
                <a:spcPct val="112000"/>
              </a:lnSpc>
              <a:buNone/>
            </a:pPr>
            <a:r>
              <a:rPr lang="en-US" sz="1300" dirty="0">
                <a:solidFill>
                  <a:srgbClr val="3A4452"/>
                </a:solidFill>
                <a:latin typeface="Arial" pitchFamily="34" charset="0"/>
                <a:ea typeface="Arial" pitchFamily="34" charset="-122"/>
                <a:cs typeface="Arial" pitchFamily="34" charset="-120"/>
              </a:rPr>
              <a:t>On modern reasoning models, “only marginal, if any, gains in answer accuracy” while it “significantly increases the time and tokens needed to generate a response.”</a:t>
            </a:r>
            <a:endParaRPr lang="en-US" sz="1300" dirty="0"/>
          </a:p>
        </p:txBody>
      </p:sp>
      <p:sp>
        <p:nvSpPr>
          <p:cNvPr id="13" name="Text 11"/>
          <p:cNvSpPr/>
          <p:nvPr/>
        </p:nvSpPr>
        <p:spPr>
          <a:xfrm>
            <a:off x="4297680" y="3950208"/>
            <a:ext cx="6949440" cy="310896"/>
          </a:xfrm>
          <a:prstGeom prst="rect">
            <a:avLst/>
          </a:prstGeom>
          <a:noFill/>
          <a:ln/>
        </p:spPr>
        <p:txBody>
          <a:bodyPr wrap="square" lIns="0" tIns="0" rIns="0" bIns="0" rtlCol="0" anchor="t"/>
          <a:lstStyle/>
          <a:p>
            <a:pPr marL="0" indent="0">
              <a:lnSpc>
                <a:spcPct val="105000"/>
              </a:lnSpc>
              <a:buNone/>
            </a:pPr>
            <a:r>
              <a:rPr lang="en-US" sz="1200" dirty="0">
                <a:solidFill>
                  <a:srgbClr val="5E6A78"/>
                </a:solidFill>
                <a:latin typeface="Arial" pitchFamily="34" charset="0"/>
                <a:ea typeface="Arial" pitchFamily="34" charset="-122"/>
                <a:cs typeface="Arial" pitchFamily="34" charset="-120"/>
              </a:rPr>
              <a:t>Wharton Prompting Science Report 2, The Decreasing Value of Chain of Thought, June 2025 (arXiv 2506.07142)</a:t>
            </a:r>
            <a:endParaRPr lang="en-US" sz="1200" dirty="0"/>
          </a:p>
        </p:txBody>
      </p:sp>
      <p:sp>
        <p:nvSpPr>
          <p:cNvPr id="14" name="Shape 12"/>
          <p:cNvSpPr/>
          <p:nvPr/>
        </p:nvSpPr>
        <p:spPr>
          <a:xfrm>
            <a:off x="640080" y="4517136"/>
            <a:ext cx="10881360" cy="1243584"/>
          </a:xfrm>
          <a:prstGeom prst="roundRect">
            <a:avLst>
              <a:gd name="adj" fmla="val 2941"/>
            </a:avLst>
          </a:prstGeom>
          <a:solidFill>
            <a:srgbClr val="F5F6F8"/>
          </a:solidFill>
          <a:ln/>
        </p:spPr>
        <p:txBody>
          <a:bodyPr/>
          <a:lstStyle/>
          <a:p>
            <a:endParaRPr lang="en-US"/>
          </a:p>
        </p:txBody>
      </p:sp>
      <p:sp>
        <p:nvSpPr>
          <p:cNvPr id="15" name="Text 13"/>
          <p:cNvSpPr/>
          <p:nvPr/>
        </p:nvSpPr>
        <p:spPr>
          <a:xfrm>
            <a:off x="914400" y="4645152"/>
            <a:ext cx="3108960" cy="475488"/>
          </a:xfrm>
          <a:prstGeom prst="rect">
            <a:avLst/>
          </a:prstGeom>
          <a:noFill/>
          <a:ln/>
        </p:spPr>
        <p:txBody>
          <a:bodyPr wrap="square" lIns="0" tIns="0" rIns="0" bIns="0" rtlCol="0" anchor="t"/>
          <a:lstStyle/>
          <a:p>
            <a:pPr marL="0" indent="0">
              <a:lnSpc>
                <a:spcPct val="104000"/>
              </a:lnSpc>
              <a:buNone/>
            </a:pPr>
            <a:r>
              <a:rPr lang="en-US" sz="1500" b="1" dirty="0">
                <a:solidFill>
                  <a:srgbClr val="1F2733"/>
                </a:solidFill>
                <a:latin typeface="Arial" pitchFamily="34" charset="0"/>
                <a:ea typeface="Arial" pitchFamily="34" charset="-122"/>
                <a:cs typeface="Arial" pitchFamily="34" charset="-120"/>
              </a:rPr>
              <a:t>Politeness rituals</a:t>
            </a:r>
            <a:endParaRPr lang="en-US" sz="1500" dirty="0"/>
          </a:p>
        </p:txBody>
      </p:sp>
      <p:sp>
        <p:nvSpPr>
          <p:cNvPr id="16" name="Text 14"/>
          <p:cNvSpPr/>
          <p:nvPr/>
        </p:nvSpPr>
        <p:spPr>
          <a:xfrm>
            <a:off x="914400" y="5175504"/>
            <a:ext cx="3108960" cy="365760"/>
          </a:xfrm>
          <a:prstGeom prst="rect">
            <a:avLst/>
          </a:prstGeom>
          <a:noFill/>
          <a:ln/>
        </p:spPr>
        <p:txBody>
          <a:bodyPr wrap="square" lIns="0" tIns="0" rIns="0" bIns="0" rtlCol="0" anchor="t"/>
          <a:lstStyle/>
          <a:p>
            <a:pPr marL="0" indent="0">
              <a:buNone/>
            </a:pPr>
            <a:r>
              <a:rPr lang="en-US" sz="1200" i="1" dirty="0">
                <a:solidFill>
                  <a:srgbClr val="5E6A78"/>
                </a:solidFill>
                <a:latin typeface="Arial" pitchFamily="34" charset="0"/>
                <a:ea typeface="Arial" pitchFamily="34" charset="-122"/>
                <a:cs typeface="Arial" pitchFamily="34" charset="-120"/>
              </a:rPr>
              <a:t>“Please” and “thank you” as technique</a:t>
            </a:r>
            <a:endParaRPr lang="en-US" sz="1200" dirty="0"/>
          </a:p>
        </p:txBody>
      </p:sp>
      <p:sp>
        <p:nvSpPr>
          <p:cNvPr id="17" name="Text 15"/>
          <p:cNvSpPr/>
          <p:nvPr/>
        </p:nvSpPr>
        <p:spPr>
          <a:xfrm>
            <a:off x="4297680" y="4663440"/>
            <a:ext cx="6949440" cy="585216"/>
          </a:xfrm>
          <a:prstGeom prst="rect">
            <a:avLst/>
          </a:prstGeom>
          <a:noFill/>
          <a:ln/>
        </p:spPr>
        <p:txBody>
          <a:bodyPr wrap="square" lIns="0" tIns="0" rIns="0" bIns="0" rtlCol="0" anchor="t"/>
          <a:lstStyle/>
          <a:p>
            <a:pPr marL="0" indent="0">
              <a:lnSpc>
                <a:spcPct val="112000"/>
              </a:lnSpc>
              <a:buNone/>
            </a:pPr>
            <a:r>
              <a:rPr lang="en-US" sz="1300" dirty="0">
                <a:solidFill>
                  <a:srgbClr val="3A4452"/>
                </a:solidFill>
                <a:latin typeface="Arial" pitchFamily="34" charset="0"/>
                <a:ea typeface="Arial" pitchFamily="34" charset="-122"/>
                <a:cs typeface="Arial" pitchFamily="34" charset="-120"/>
              </a:rPr>
              <a:t>Effects are inconsistent across studies. Not worth teaching as a technique either way.</a:t>
            </a:r>
            <a:endParaRPr lang="en-US" sz="1300" dirty="0"/>
          </a:p>
        </p:txBody>
      </p:sp>
      <p:sp>
        <p:nvSpPr>
          <p:cNvPr id="18" name="Text 16"/>
          <p:cNvSpPr/>
          <p:nvPr/>
        </p:nvSpPr>
        <p:spPr>
          <a:xfrm>
            <a:off x="4297680" y="5340096"/>
            <a:ext cx="6949440" cy="310896"/>
          </a:xfrm>
          <a:prstGeom prst="rect">
            <a:avLst/>
          </a:prstGeom>
          <a:noFill/>
          <a:ln/>
        </p:spPr>
        <p:txBody>
          <a:bodyPr wrap="square" lIns="0" tIns="0" rIns="0" bIns="0" rtlCol="0" anchor="t"/>
          <a:lstStyle/>
          <a:p>
            <a:pPr marL="0" indent="0">
              <a:lnSpc>
                <a:spcPct val="105000"/>
              </a:lnSpc>
              <a:buNone/>
            </a:pPr>
            <a:r>
              <a:rPr lang="en-US" sz="1200" dirty="0">
                <a:solidFill>
                  <a:srgbClr val="5E6A78"/>
                </a:solidFill>
                <a:latin typeface="Arial" pitchFamily="34" charset="0"/>
                <a:ea typeface="Arial" pitchFamily="34" charset="-122"/>
                <a:cs typeface="Arial" pitchFamily="34" charset="-120"/>
              </a:rPr>
              <a:t>Wharton Prompting Science Reports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5353</Words>
  <Application>Microsoft Macintosh PowerPoint</Application>
  <PresentationFormat>Widescreen</PresentationFormat>
  <Paragraphs>364</Paragraphs>
  <Slides>30</Slides>
  <Notes>30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30</vt:i4>
      </vt:variant>
    </vt:vector>
  </HeadingPairs>
  <TitlesOfParts>
    <vt:vector size="3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Sudeep Kochi</cp:lastModifiedBy>
  <cp:revision>1</cp:revision>
  <dcterms:created xsi:type="dcterms:W3CDTF">2026-08-23T23:42:31Z</dcterms:created>
  <dcterms:modified xsi:type="dcterms:W3CDTF">2026-08-23T23:43:09Z</dcterms:modified>
</cp:coreProperties>
</file>