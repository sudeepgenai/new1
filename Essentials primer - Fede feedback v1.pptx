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BJ's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75488" y="65836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WHOLESALE CLUB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7772400" y="384048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CONNECT ESSENTIALS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training is a basic primer for AI Champions/Connect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this session you will know how to…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2615184" cy="2697480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542032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2798064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the approved tools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3456432"/>
            <a:ext cx="22494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approved tools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Signing in to the enterprise versions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090672" y="333756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343686" y="2286000"/>
            <a:ext cx="2615184" cy="2697480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44854" y="2542032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544854" y="2798064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the problem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44854" y="3456432"/>
            <a:ext cx="22494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best use cases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the tasks AI does best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977158" y="333756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30173" y="2286000"/>
            <a:ext cx="2615184" cy="2697480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31341" y="2542032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31341" y="2798064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 the AI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31341" y="3456432"/>
            <a:ext cx="22494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choice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63645" y="333756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116659" y="2286000"/>
            <a:ext cx="2615184" cy="2697480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17827" y="2542032"/>
            <a:ext cx="2212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317827" y="2798064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the results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17827" y="3456432"/>
            <a:ext cx="22494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for accuracy and gaps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accountable for the outcome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57200" y="5440680"/>
            <a:ext cx="11274552" cy="749808"/>
          </a:xfrm>
          <a:prstGeom prst="roundRect">
            <a:avLst>
              <a:gd name="adj" fmla="val 8537"/>
            </a:avLst>
          </a:prstGeom>
          <a:solidFill>
            <a:srgbClr val="D31242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5440680"/>
            <a:ext cx="107259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is not to become an AI expert in one hour.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to leave with a safe, practical way to start on real work.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Illustrative, not an official BJ's publication.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BJ's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75488" y="65836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WHOLESALE CLUB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7772400" y="384048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approved AI tools, always the enterprise versions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in this session happens inside these three. Personal accounts have no BJ's data protections, so they stay out of BJ's work.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3639312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24871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76656" y="2770632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PLAN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76656" y="29992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Deep, multi-step work: analysis, long documents, structured writing.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76656" y="3419856"/>
            <a:ext cx="2834640" cy="292608"/>
          </a:xfrm>
          <a:prstGeom prst="roundRect">
            <a:avLst>
              <a:gd name="adj" fmla="val 15625"/>
            </a:avLst>
          </a:prstGeom>
          <a:solidFill>
            <a:srgbClr val="FCE4EA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" y="341985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60E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Cowork is not enabled in Claude today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274820" y="2286000"/>
            <a:ext cx="3639312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94276" y="24871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94276" y="2770632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PLAN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494276" y="29992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questions, quick drafts, brainstorming.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92440" y="2286000"/>
            <a:ext cx="3639312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11896" y="24871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365 Copilot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11896" y="2770632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 WITH M365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311896" y="29992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inside Outlook, Teams, Word, and Excel.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4114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438912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connector gives AI access to another system, like your email or files. Granting one is a data decision, not a convenience.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4773168"/>
            <a:ext cx="16002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77316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365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240280" y="4773168"/>
            <a:ext cx="9601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40280" y="477316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383280" y="4773168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83280" y="477316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monday.com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83480" y="4773168"/>
            <a:ext cx="12344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83480" y="47731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Atlassian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0" y="4773168"/>
            <a:ext cx="18288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0" y="47731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in Chrome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458200" y="477316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these five today. Anything else starts with an IT request.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5440680"/>
            <a:ext cx="11274552" cy="749808"/>
          </a:xfrm>
          <a:prstGeom prst="roundRect">
            <a:avLst>
              <a:gd name="adj" fmla="val 8537"/>
            </a:avLst>
          </a:prstGeom>
          <a:solidFill>
            <a:srgbClr val="D3124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440680"/>
            <a:ext cx="107259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in doubt,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before adding more context or enabling more access.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Illustrative, not an official BJ's publication.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BJ's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75488" y="65836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WHOLESALE CLUB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7772400" y="384048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THE PROBLEM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AI the right choice for the task?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any task through this test before you open the tool.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2128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TASK-FIT TEST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578608"/>
            <a:ext cx="402336" cy="402336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578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2551176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Information-based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005840" y="2825496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Writing, summarizing, comparing, or analyzing.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145536"/>
            <a:ext cx="402336" cy="402336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1455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3118104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005840" y="3392424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report, summary, or email keeps coming back.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12464"/>
            <a:ext cx="402336" cy="402336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7124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3685032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Reviewable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005840" y="3959352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know enough to judge whether the result is useful.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279392"/>
            <a:ext cx="402336" cy="402336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279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05840" y="425196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High-volume or time-consuming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005840" y="452628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by hand, work stacks up behind it, people invent workarounds.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846320"/>
            <a:ext cx="402336" cy="402336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46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05840" y="4818888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pieces to pull together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005840" y="509320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 to weigh, or context spread across emails, notes, and handoffs.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812280" y="2212848"/>
            <a:ext cx="4919472" cy="2212848"/>
          </a:xfrm>
          <a:prstGeom prst="roundRect">
            <a:avLst>
              <a:gd name="adj" fmla="val 2479"/>
            </a:avLst>
          </a:prstGeom>
          <a:solidFill>
            <a:srgbClr val="EAF4EC"/>
          </a:solidFill>
          <a:ln w="15875">
            <a:solidFill>
              <a:srgbClr val="9CCFA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31736" y="2377440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1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031736" y="258775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“Summarize this week’s member survey comments into themes.”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31736" y="2962656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0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Information-based: </a:t>
            </a:r>
            <a:pPr indent="0" marL="0">
              <a:buNone/>
            </a:pPr>
            <a:r>
              <a:rPr lang="en-US" sz="10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comments are text to synthesize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031736" y="3182112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0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Recurring: </a:t>
            </a:r>
            <a:pPr indent="0" marL="0">
              <a:buNone/>
            </a:pPr>
            <a:r>
              <a:rPr lang="en-US" sz="10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surveys land every week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031736" y="3401568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0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Reviewable: </a:t>
            </a:r>
            <a:pPr indent="0" marL="0">
              <a:buNone/>
            </a:pPr>
            <a:r>
              <a:rPr lang="en-US" sz="10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know the club and can judge the themes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031736" y="3621024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0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Time-consuming: </a:t>
            </a:r>
            <a:pPr indent="0" marL="0">
              <a:buNone/>
            </a:pPr>
            <a:r>
              <a:rPr lang="en-US" sz="10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25+ open-text comments by hand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031736" y="384048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0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pieces: </a:t>
            </a:r>
            <a:pPr indent="0" marL="0">
              <a:buNone/>
            </a:pPr>
            <a:r>
              <a:rPr lang="en-US" sz="10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dozens of voices pulled into one view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031736" y="4114800"/>
            <a:ext cx="4480560" cy="256032"/>
          </a:xfrm>
          <a:prstGeom prst="roundRect">
            <a:avLst>
              <a:gd name="adj" fmla="val 17857"/>
            </a:avLst>
          </a:prstGeom>
          <a:solidFill>
            <a:srgbClr val="217A3C"/>
          </a:solidFill>
          <a:ln/>
        </p:spPr>
      </p:sp>
      <p:sp>
        <p:nvSpPr>
          <p:cNvPr id="37" name="Text 35"/>
          <p:cNvSpPr/>
          <p:nvPr/>
        </p:nvSpPr>
        <p:spPr>
          <a:xfrm>
            <a:off x="7031736" y="411480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Passes all five. Strong candidate for AI.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12280" y="4526280"/>
            <a:ext cx="4919472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031736" y="4617720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AI DOESN’T MAKE MUCH SENSE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31736" y="4809744"/>
            <a:ext cx="4526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</a:t>
            </a:r>
            <a:pPr indent="0" marL="0">
              <a:buNone/>
            </a:pPr>
            <a:r>
              <a:rPr lang="en-US" sz="9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about people, pay, or performance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031736" y="4978908"/>
            <a:ext cx="4526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</a:t>
            </a:r>
            <a:pPr indent="0" marL="0">
              <a:buNone/>
            </a:pPr>
            <a:r>
              <a:rPr lang="en-US" sz="9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you can’t check yourself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031736" y="5148072"/>
            <a:ext cx="4526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</a:t>
            </a:r>
            <a:pPr indent="0" marL="0">
              <a:buNone/>
            </a:pPr>
            <a:r>
              <a:rPr lang="en-US" sz="9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tasks you’d finish faster on your own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57200" y="5440680"/>
            <a:ext cx="11274552" cy="749808"/>
          </a:xfrm>
          <a:prstGeom prst="roundRect">
            <a:avLst>
              <a:gd name="adj" fmla="val 8537"/>
            </a:avLst>
          </a:prstGeom>
          <a:solidFill>
            <a:srgbClr val="D31242"/>
          </a:solidFill>
          <a:ln/>
        </p:spPr>
      </p:sp>
      <p:sp>
        <p:nvSpPr>
          <p:cNvPr id="44" name="Text 42"/>
          <p:cNvSpPr/>
          <p:nvPr/>
        </p:nvSpPr>
        <p:spPr>
          <a:xfrm>
            <a:off x="731520" y="5440680"/>
            <a:ext cx="107259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task deserves AI.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first, then engage the tool.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Illustrative, not an official BJ's publication.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BJ's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75488" y="65836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WHOLESALE CLUB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7772400" y="384048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THE PROBLEM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74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do you know about the problem you’re trying to solve?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one question decides your first prompt. Clear problem: ask for the answer. Fuzzy problem: use AI to define it first.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5522976" cy="26060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76656" y="2852928"/>
            <a:ext cx="2651760" cy="274320"/>
          </a:xfrm>
          <a:prstGeom prst="roundRect">
            <a:avLst>
              <a:gd name="adj" fmla="val 16667"/>
            </a:avLst>
          </a:prstGeom>
          <a:solidFill>
            <a:srgbClr val="FCE4EA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28529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60E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FUZZY, ASKED ANYWAY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76656" y="3273552"/>
            <a:ext cx="5084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“Explain why membership renewals dipped this quarter.”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6656" y="3950208"/>
            <a:ext cx="5084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0E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 </a:t>
            </a:r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to guess at what actually matters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76656" y="4261104"/>
            <a:ext cx="5084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0E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 </a:t>
            </a:r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miss the real driver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76656" y="4572000"/>
            <a:ext cx="5084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0E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 </a:t>
            </a:r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Often needs heavy cleanup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08776" y="2651760"/>
            <a:ext cx="5522976" cy="2606040"/>
          </a:xfrm>
          <a:prstGeom prst="roundRect">
            <a:avLst>
              <a:gd name="adj" fmla="val 2105"/>
            </a:avLst>
          </a:prstGeom>
          <a:solidFill>
            <a:srgbClr val="EAF4EC"/>
          </a:solidFill>
          <a:ln w="15875">
            <a:solidFill>
              <a:srgbClr val="9CCFA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28232" y="2852928"/>
            <a:ext cx="2651760" cy="274320"/>
          </a:xfrm>
          <a:prstGeom prst="roundRect">
            <a:avLst>
              <a:gd name="adj" fmla="val 16667"/>
            </a:avLst>
          </a:prstGeom>
          <a:solidFill>
            <a:srgbClr val="217A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28232" y="28529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REFINED FIRST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28232" y="3273552"/>
            <a:ext cx="5084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“I’m trying to understand why renewals dipped. Walk me through the possible drivers before you land on one.”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28232" y="4078224"/>
            <a:ext cx="5084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Clarifies the problem first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28232" y="4389120"/>
            <a:ext cx="5084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Explores more than one driver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28232" y="4700016"/>
            <a:ext cx="5084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assumptions before landing on an answer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5440680"/>
            <a:ext cx="11274552" cy="749808"/>
          </a:xfrm>
          <a:prstGeom prst="roundRect">
            <a:avLst>
              <a:gd name="adj" fmla="val 8537"/>
            </a:avLst>
          </a:prstGeom>
          <a:solidFill>
            <a:srgbClr val="D31242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5440680"/>
            <a:ext cx="107259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Routine and clear? A quick prompt is fine.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not defined yet? Refine it with AI first.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Illustrative, not an official BJ's publication.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BJ's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75488" y="65836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WHOLESALE CLUB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7772400" y="384048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THE RESULTS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You’re at both ends of every AI task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machine works the middle. The start and the finish belong to you.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11580" y="2487168"/>
            <a:ext cx="1051560" cy="105156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8" name="Image 0" descr="icon_u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9616" y="2775204"/>
            <a:ext cx="475488" cy="4754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366674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DIRECT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394106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task, the context, what good looks like.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450592" y="2884932"/>
            <a:ext cx="1435608" cy="256032"/>
          </a:xfrm>
          <a:prstGeom prst="rightArrow">
            <a:avLst/>
          </a:prstGeom>
          <a:solidFill>
            <a:srgbClr val="D31242"/>
          </a:solidFill>
          <a:ln/>
        </p:spPr>
      </p:sp>
      <p:sp>
        <p:nvSpPr>
          <p:cNvPr id="12" name="Shape 9"/>
          <p:cNvSpPr/>
          <p:nvPr/>
        </p:nvSpPr>
        <p:spPr>
          <a:xfrm>
            <a:off x="4073652" y="2487168"/>
            <a:ext cx="1051560" cy="105156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13" name="Image 1" descr="icon_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688" y="2775204"/>
            <a:ext cx="475488" cy="47548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64992" y="366674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364992" y="394106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fast first version, and only a first version.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312664" y="2884932"/>
            <a:ext cx="1435608" cy="256032"/>
          </a:xfrm>
          <a:prstGeom prst="rightArrow">
            <a:avLst/>
          </a:prstGeom>
          <a:solidFill>
            <a:srgbClr val="D31242"/>
          </a:solidFill>
          <a:ln/>
        </p:spPr>
      </p:sp>
      <p:sp>
        <p:nvSpPr>
          <p:cNvPr id="17" name="Shape 13"/>
          <p:cNvSpPr/>
          <p:nvPr/>
        </p:nvSpPr>
        <p:spPr>
          <a:xfrm>
            <a:off x="6935724" y="2487168"/>
            <a:ext cx="1051560" cy="105156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18" name="Image 2" descr="icon_user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775204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27064" y="366674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REVIEW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227064" y="394106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Facts, fit, gaps, risk.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174736" y="2884932"/>
            <a:ext cx="1444752" cy="256032"/>
          </a:xfrm>
          <a:prstGeom prst="rightArrow">
            <a:avLst/>
          </a:prstGeom>
          <a:solidFill>
            <a:srgbClr val="D31242"/>
          </a:solidFill>
          <a:ln/>
        </p:spPr>
      </p:sp>
      <p:sp>
        <p:nvSpPr>
          <p:cNvPr id="22" name="Shape 17"/>
          <p:cNvSpPr/>
          <p:nvPr/>
        </p:nvSpPr>
        <p:spPr>
          <a:xfrm>
            <a:off x="9806940" y="2487168"/>
            <a:ext cx="1051560" cy="1051560"/>
          </a:xfrm>
          <a:prstGeom prst="ellipse">
            <a:avLst/>
          </a:prstGeom>
          <a:solidFill>
            <a:srgbClr val="D31242"/>
          </a:solidFill>
          <a:ln/>
        </p:spPr>
      </p:sp>
      <p:pic>
        <p:nvPicPr>
          <p:cNvPr id="23" name="Image 3" descr="icon_pla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4976" y="2775204"/>
            <a:ext cx="475488" cy="47548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098280" y="366674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GOES OUT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9098280" y="394106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your name, on your judgment.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461504" y="4498848"/>
            <a:ext cx="0" cy="329184"/>
          </a:xfrm>
          <a:prstGeom prst="line">
            <a:avLst/>
          </a:prstGeom>
          <a:noFill/>
          <a:ln w="25400">
            <a:solidFill>
              <a:srgbClr val="D3124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828032"/>
            <a:ext cx="2862072" cy="0"/>
          </a:xfrm>
          <a:prstGeom prst="line">
            <a:avLst/>
          </a:prstGeom>
          <a:noFill/>
          <a:ln w="25400">
            <a:solidFill>
              <a:srgbClr val="D31242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4599432" y="4498848"/>
            <a:ext cx="0" cy="329184"/>
          </a:xfrm>
          <a:prstGeom prst="line">
            <a:avLst/>
          </a:prstGeom>
          <a:noFill/>
          <a:ln w="25400">
            <a:solidFill>
              <a:srgbClr val="D31242"/>
            </a:solidFill>
            <a:prstDash val="solid"/>
            <a:headEnd type="triangle"/>
          </a:ln>
        </p:spPr>
      </p:sp>
      <p:sp>
        <p:nvSpPr>
          <p:cNvPr id="29" name="Text 23"/>
          <p:cNvSpPr/>
          <p:nvPr/>
        </p:nvSpPr>
        <p:spPr>
          <a:xfrm>
            <a:off x="4873752" y="4882896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right yet? Send it back with direction.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457200" y="5440680"/>
            <a:ext cx="11274552" cy="749808"/>
          </a:xfrm>
          <a:prstGeom prst="roundRect">
            <a:avLst>
              <a:gd name="adj" fmla="val 8537"/>
            </a:avLst>
          </a:prstGeom>
          <a:solidFill>
            <a:srgbClr val="D31242"/>
          </a:solidFill>
          <a:ln/>
        </p:spPr>
      </p:sp>
      <p:sp>
        <p:nvSpPr>
          <p:cNvPr id="31" name="Text 25"/>
          <p:cNvSpPr/>
          <p:nvPr/>
        </p:nvSpPr>
        <p:spPr>
          <a:xfrm>
            <a:off x="731520" y="5440680"/>
            <a:ext cx="107259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hands you is a draft.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leaves your hands is your work.</a:t>
            </a:r>
            <a:endParaRPr lang="en-US" sz="1350" dirty="0"/>
          </a:p>
        </p:txBody>
      </p:sp>
      <p:sp>
        <p:nvSpPr>
          <p:cNvPr id="32" name="Text 26"/>
          <p:cNvSpPr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Illustrative, not an official BJ's publication.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2026-07-21T14:28:18Z</dcterms:created>
  <dcterms:modified xsi:type="dcterms:W3CDTF">2026-07-21T14:28:18Z</dcterms:modified>
</cp:coreProperties>
</file>