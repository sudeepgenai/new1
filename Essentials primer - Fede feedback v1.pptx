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BJ's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WHOLESALE CLUB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7772400" y="384048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spc="2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CONNECT ESSENTIALS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training is a basic primer for AI Champions/Connect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this session you will know how to…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2615184" cy="2697480"/>
          </a:xfrm>
          <a:prstGeom prst="roundRect">
            <a:avLst>
              <a:gd name="adj" fmla="val 2098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2542032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58368" y="2798064"/>
            <a:ext cx="2212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the approved tools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8368" y="3456432"/>
            <a:ext cx="224942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three approved tools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Signing in to the enterprise versions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090672" y="333756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343686" y="2286000"/>
            <a:ext cx="2615184" cy="2697480"/>
          </a:xfrm>
          <a:prstGeom prst="roundRect">
            <a:avLst>
              <a:gd name="adj" fmla="val 2098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44854" y="2542032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544854" y="2798064"/>
            <a:ext cx="2212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the problem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544854" y="3456432"/>
            <a:ext cx="224942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the best use cases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 the tasks AI does best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977158" y="333756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30173" y="2286000"/>
            <a:ext cx="2615184" cy="2697480"/>
          </a:xfrm>
          <a:prstGeom prst="roundRect">
            <a:avLst>
              <a:gd name="adj" fmla="val 2098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31341" y="2542032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431341" y="2798064"/>
            <a:ext cx="2212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 the AI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31341" y="3456432"/>
            <a:ext cx="224942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Prompting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choice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863645" y="333756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116659" y="2286000"/>
            <a:ext cx="2615184" cy="2697480"/>
          </a:xfrm>
          <a:prstGeom prst="roundRect">
            <a:avLst>
              <a:gd name="adj" fmla="val 2098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17827" y="2542032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9317827" y="2798064"/>
            <a:ext cx="2212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 the results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317827" y="3456432"/>
            <a:ext cx="224942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for accuracy and gaps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Stay accountable for the outcome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57200" y="5440680"/>
            <a:ext cx="11274552" cy="749808"/>
          </a:xfrm>
          <a:prstGeom prst="roundRect">
            <a:avLst>
              <a:gd name="adj" fmla="val 8537"/>
            </a:avLst>
          </a:prstGeom>
          <a:solidFill>
            <a:srgbClr val="D31242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5440680"/>
            <a:ext cx="107259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goal is not to become an AI expert in one hour. </a:t>
            </a:r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to leave with a safe, practical way to start on real work.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5720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Illustrative, not an official BJ's publication.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BJ's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WHOLESALE CLUB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7772400" y="384048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spc="2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STARTED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approved AI tools, always the enterprise versions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in this session happens inside these three. Personal accounts have no BJ's data protections, so they stay out of BJ's work.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3639312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6656" y="24871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76656" y="277063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PLAN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76656" y="299923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Deep, multi-step work: analysis, long documents, structured writing.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76656" y="3419856"/>
            <a:ext cx="2834640" cy="292608"/>
          </a:xfrm>
          <a:prstGeom prst="roundRect">
            <a:avLst>
              <a:gd name="adj" fmla="val 15625"/>
            </a:avLst>
          </a:prstGeom>
          <a:solidFill>
            <a:srgbClr val="FCE4EA"/>
          </a:solidFill>
          <a:ln/>
        </p:spPr>
      </p:sp>
      <p:sp>
        <p:nvSpPr>
          <p:cNvPr id="12" name="Text 10"/>
          <p:cNvSpPr/>
          <p:nvPr/>
        </p:nvSpPr>
        <p:spPr>
          <a:xfrm>
            <a:off x="676656" y="3419856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60E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Cowork is not enabled in Claude today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274820" y="2286000"/>
            <a:ext cx="3639312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94276" y="24871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494276" y="277063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PLAN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494276" y="299923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Everyday questions, quick drafts, brainstorming.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092440" y="2286000"/>
            <a:ext cx="3639312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11896" y="24871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365 Copilot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311896" y="277063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INCLUDED WITH M365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311896" y="299923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inside Outlook, Teams, Word, and Excel.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4114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CONNECTORS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438912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connector gives AI access to another system, like your email or files. Granting one is a data decision, not a convenience.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57200" y="4773168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773168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365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240280" y="4773168"/>
            <a:ext cx="96012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40280" y="477316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Figma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383280" y="4773168"/>
            <a:ext cx="141732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83280" y="477316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monday.com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983480" y="4773168"/>
            <a:ext cx="12344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83480" y="477316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Atlassian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00800" y="4773168"/>
            <a:ext cx="182880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0" y="477316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in Chrome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458200" y="4773168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these five today. Anything else starts with an IT request.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57200" y="5440680"/>
            <a:ext cx="11274552" cy="749808"/>
          </a:xfrm>
          <a:prstGeom prst="roundRect">
            <a:avLst>
              <a:gd name="adj" fmla="val 8537"/>
            </a:avLst>
          </a:prstGeom>
          <a:solidFill>
            <a:srgbClr val="D31242"/>
          </a:solidFill>
          <a:ln/>
        </p:spPr>
      </p:sp>
      <p:sp>
        <p:nvSpPr>
          <p:cNvPr id="35" name="Text 33"/>
          <p:cNvSpPr/>
          <p:nvPr/>
        </p:nvSpPr>
        <p:spPr>
          <a:xfrm>
            <a:off x="731520" y="5440680"/>
            <a:ext cx="107259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in doubt, </a:t>
            </a:r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before adding more context or enabling more access.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45720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Illustrative, not an official BJ's publication.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BJ's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WHOLESALE CLUB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7772400" y="384048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spc="2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THE PROBLEM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AI the right choice for the task?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any task through this test before you open the tool.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221284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TASK-FIT TEST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2578608"/>
            <a:ext cx="402336" cy="402336"/>
          </a:xfrm>
          <a:prstGeom prst="ellipse">
            <a:avLst/>
          </a:prstGeom>
          <a:solidFill>
            <a:srgbClr val="D31242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5786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2551176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Information-based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005840" y="2825496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Writing, summarizing, comparing, or analyzing.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145536"/>
            <a:ext cx="402336" cy="402336"/>
          </a:xfrm>
          <a:prstGeom prst="ellipse">
            <a:avLst/>
          </a:prstGeom>
          <a:solidFill>
            <a:srgbClr val="D31242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1455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3118104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Recurring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005840" y="3392424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report, summary, or email keeps coming back.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12464"/>
            <a:ext cx="402336" cy="402336"/>
          </a:xfrm>
          <a:prstGeom prst="ellipse">
            <a:avLst/>
          </a:prstGeom>
          <a:solidFill>
            <a:srgbClr val="D31242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712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3685032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Reviewable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005840" y="3959352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know enough to judge whether the result is useful.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279392"/>
            <a:ext cx="402336" cy="402336"/>
          </a:xfrm>
          <a:prstGeom prst="ellipse">
            <a:avLst/>
          </a:prstGeom>
          <a:solidFill>
            <a:srgbClr val="D31242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2793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05840" y="425196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High-volume or time-consuming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005840" y="4526280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 by hand, work stacks up behind it, people invent workarounds.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846320"/>
            <a:ext cx="402336" cy="402336"/>
          </a:xfrm>
          <a:prstGeom prst="ellipse">
            <a:avLst/>
          </a:prstGeom>
          <a:solidFill>
            <a:srgbClr val="D31242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846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05840" y="4818888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Scattered pieces to pull together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1005840" y="5093208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Options to weigh, or context spread across emails, notes, and handoffs.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812280" y="2212848"/>
            <a:ext cx="4919472" cy="2212848"/>
          </a:xfrm>
          <a:prstGeom prst="roundRect">
            <a:avLst>
              <a:gd name="adj" fmla="val 2479"/>
            </a:avLst>
          </a:prstGeom>
          <a:solidFill>
            <a:srgbClr val="EAF4EC"/>
          </a:solidFill>
          <a:ln w="15875">
            <a:solidFill>
              <a:srgbClr val="9CCFA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31736" y="2377440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217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031736" y="258775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“Summarize this week’s member survey comments into themes.”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031736" y="2962656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7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0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Information-based: </a:t>
            </a:r>
            <a:pPr indent="0" marL="0">
              <a:buNone/>
            </a:pPr>
            <a:r>
              <a:rPr lang="en-US" sz="10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comments are text to synthesize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031736" y="3182112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7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0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Recurring: </a:t>
            </a:r>
            <a:pPr indent="0" marL="0">
              <a:buNone/>
            </a:pPr>
            <a:r>
              <a:rPr lang="en-US" sz="10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surveys land every week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031736" y="3401568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7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0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Reviewable: </a:t>
            </a:r>
            <a:pPr indent="0" marL="0">
              <a:buNone/>
            </a:pPr>
            <a:r>
              <a:rPr lang="en-US" sz="10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know the club and can judge the themes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031736" y="3621024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7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0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Time-consuming: </a:t>
            </a:r>
            <a:pPr indent="0" marL="0">
              <a:buNone/>
            </a:pPr>
            <a:r>
              <a:rPr lang="en-US" sz="10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25+ open-text comments by hand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031736" y="3840480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7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0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Scattered pieces: </a:t>
            </a:r>
            <a:pPr indent="0" marL="0">
              <a:buNone/>
            </a:pPr>
            <a:r>
              <a:rPr lang="en-US" sz="10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dozens of voices pulled into one view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031736" y="4114800"/>
            <a:ext cx="4480560" cy="256032"/>
          </a:xfrm>
          <a:prstGeom prst="roundRect">
            <a:avLst>
              <a:gd name="adj" fmla="val 17857"/>
            </a:avLst>
          </a:prstGeom>
          <a:solidFill>
            <a:srgbClr val="217A3C"/>
          </a:solidFill>
          <a:ln/>
        </p:spPr>
      </p:sp>
      <p:sp>
        <p:nvSpPr>
          <p:cNvPr id="37" name="Text 35"/>
          <p:cNvSpPr/>
          <p:nvPr/>
        </p:nvSpPr>
        <p:spPr>
          <a:xfrm>
            <a:off x="7031736" y="411480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Passes all five. Strong candidate for AI.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812280" y="4526280"/>
            <a:ext cx="4919472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031736" y="4617720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AI DOESN’T MAKE MUCH SENSE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031736" y="4809744"/>
            <a:ext cx="4526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</a:t>
            </a:r>
            <a:pPr indent="0" marL="0">
              <a:buNone/>
            </a:pPr>
            <a:r>
              <a:rPr lang="en-US" sz="9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Decisions about people, pay, or performance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7031736" y="4978908"/>
            <a:ext cx="4526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</a:t>
            </a:r>
            <a:pPr indent="0" marL="0">
              <a:buNone/>
            </a:pPr>
            <a:r>
              <a:rPr lang="en-US" sz="9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you can’t check yourself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7031736" y="5148072"/>
            <a:ext cx="4526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</a:t>
            </a:r>
            <a:pPr indent="0" marL="0">
              <a:buNone/>
            </a:pPr>
            <a:r>
              <a:rPr lang="en-US" sz="9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tasks you’d finish faster on your own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57200" y="5440680"/>
            <a:ext cx="11274552" cy="749808"/>
          </a:xfrm>
          <a:prstGeom prst="roundRect">
            <a:avLst>
              <a:gd name="adj" fmla="val 8537"/>
            </a:avLst>
          </a:prstGeom>
          <a:solidFill>
            <a:srgbClr val="D31242"/>
          </a:solidFill>
          <a:ln/>
        </p:spPr>
      </p:sp>
      <p:sp>
        <p:nvSpPr>
          <p:cNvPr id="44" name="Text 42"/>
          <p:cNvSpPr/>
          <p:nvPr/>
        </p:nvSpPr>
        <p:spPr>
          <a:xfrm>
            <a:off x="731520" y="5440680"/>
            <a:ext cx="107259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every task deserves AI. </a:t>
            </a:r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first, then engage the tool.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45720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Illustrative, not an official BJ's publication.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BJ's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WHOLESALE CLUB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7772400" y="384048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spc="2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THE PROBLEM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2745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much do you know about the problem you’re trying to solve?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one question decides your first prompt. Clear problem: ask for the answer. Fuzzy problem: use AI to define it first.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651760"/>
            <a:ext cx="5522976" cy="26060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2852928"/>
            <a:ext cx="2651760" cy="274320"/>
          </a:xfrm>
          <a:prstGeom prst="roundRect">
            <a:avLst>
              <a:gd name="adj" fmla="val 16667"/>
            </a:avLst>
          </a:prstGeom>
          <a:solidFill>
            <a:srgbClr val="FCE4EA"/>
          </a:solidFill>
          <a:ln/>
        </p:spPr>
      </p:sp>
      <p:sp>
        <p:nvSpPr>
          <p:cNvPr id="9" name="Text 7"/>
          <p:cNvSpPr/>
          <p:nvPr/>
        </p:nvSpPr>
        <p:spPr>
          <a:xfrm>
            <a:off x="676656" y="28529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A60E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FUZZY, ASKED ANYWAY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76656" y="3273552"/>
            <a:ext cx="5084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“Explain why membership renewals dipped this quarter.”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76656" y="3950208"/>
            <a:ext cx="5084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0E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 </a:t>
            </a:r>
            <a:pPr indent="0" marL="0">
              <a:buNone/>
            </a:pPr>
            <a:r>
              <a:rPr lang="en-US" sz="120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 to guess at what actually matters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76656" y="4261104"/>
            <a:ext cx="5084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0E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 </a:t>
            </a:r>
            <a:pPr indent="0" marL="0">
              <a:buNone/>
            </a:pPr>
            <a:r>
              <a:rPr lang="en-US" sz="120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miss the real driver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76656" y="4572000"/>
            <a:ext cx="5084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0E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 </a:t>
            </a:r>
            <a:pPr indent="0" marL="0">
              <a:buNone/>
            </a:pPr>
            <a:r>
              <a:rPr lang="en-US" sz="120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Often needs heavy cleanup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08776" y="2651760"/>
            <a:ext cx="5522976" cy="2606040"/>
          </a:xfrm>
          <a:prstGeom prst="roundRect">
            <a:avLst>
              <a:gd name="adj" fmla="val 2105"/>
            </a:avLst>
          </a:prstGeom>
          <a:solidFill>
            <a:srgbClr val="EAF4EC"/>
          </a:solidFill>
          <a:ln w="15875">
            <a:solidFill>
              <a:srgbClr val="9CCFA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28232" y="2852928"/>
            <a:ext cx="2651760" cy="274320"/>
          </a:xfrm>
          <a:prstGeom prst="roundRect">
            <a:avLst>
              <a:gd name="adj" fmla="val 16667"/>
            </a:avLst>
          </a:prstGeom>
          <a:solidFill>
            <a:srgbClr val="217A3C"/>
          </a:solidFill>
          <a:ln/>
        </p:spPr>
      </p:sp>
      <p:sp>
        <p:nvSpPr>
          <p:cNvPr id="16" name="Text 14"/>
          <p:cNvSpPr/>
          <p:nvPr/>
        </p:nvSpPr>
        <p:spPr>
          <a:xfrm>
            <a:off x="6428232" y="28529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REFINED FIRST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28232" y="3273552"/>
            <a:ext cx="50840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“I’m trying to understand why renewals dipped. Walk me through the possible drivers before you land on one.”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28232" y="4078224"/>
            <a:ext cx="5084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7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Clarifies the problem first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28232" y="4389120"/>
            <a:ext cx="5084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7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Explores more than one driver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28232" y="4700016"/>
            <a:ext cx="5084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7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assumptions before landing on an answer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5440680"/>
            <a:ext cx="11274552" cy="749808"/>
          </a:xfrm>
          <a:prstGeom prst="roundRect">
            <a:avLst>
              <a:gd name="adj" fmla="val 8537"/>
            </a:avLst>
          </a:prstGeom>
          <a:solidFill>
            <a:srgbClr val="D31242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5440680"/>
            <a:ext cx="107259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Routine and clear? A quick prompt is fine. </a:t>
            </a:r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not defined yet? Refine it with AI first.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5720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Illustrative, not an official BJ's publication.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2026-07-21T01:05:10Z</dcterms:created>
  <dcterms:modified xsi:type="dcterms:W3CDTF">2026-07-21T01:05:10Z</dcterms:modified>
</cp:coreProperties>
</file>